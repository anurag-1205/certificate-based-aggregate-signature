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investigated one IEEE paper end to end: we ran its attack, tested its repair, and recomputed its performance numbers. Two of the results you will see are the paper's own, reproduced. One is a discrepancy the paper does not mention.</a:t>
            </a:r>
          </a:p>
          <a:p>
            <a:r>
              <a:t>AUDIENCE SHOULD GET: this is an investigation with a question, not a paper summary.</a:t>
            </a:r>
          </a:p>
          <a:p>
            <a:r>
              <a:t>        NEXT: start with where this scheme is meant to run.</a:t>
            </a:r>
          </a:p>
          <a:p>
            <a:r>
              <a:t>IF ASKED 'what is your contribution?': the attack and the repair are the paper's; what we add is the causal ablation, the cost audit and its independent timing check (slide 31 has the full list).</a:t>
            </a:r>
          </a:p>
          <a:p>
            <a:r>
              <a:t>20-MINUTE ROUTE: KEEP (30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Why is this paper interesting? One question: can a malicious key authority forge sensor data? To see why it matters, here is the system the paper targets. Smart sensors on a production line produce readings. An aggregator in their area collects them. A cloud server analyses them. The KGC, the key generation centre, is a trusted authority that is involved only at the start: it publishes parameters and enrols each sensor once.</a:t>
            </a:r>
          </a:p>
          <a:p>
            <a:r>
              <a:t>AUDIENCE SHOULD GET: who the four parties are, and the six algorithms in order: Setup, KeyGen, CertGen, Sign, AggSign, AggVerify. Colours are fixed for the whole talk: violet KGC, blue sensors, amber aggregator, slate cloud.</a:t>
            </a:r>
          </a:p>
          <a:p>
            <a:r>
              <a:t>Algorithm names are exactly the paper's: Setup, KeyGen, CertGen, Sign, AggSign, AggVerify.</a:t>
            </a:r>
          </a:p>
          <a:p>
            <a:r>
              <a:t>NOTE: parameters reach users through the cloud server (paper section I-A); we draw no other communication than the paper does.</a:t>
            </a:r>
          </a:p>
          <a:p>
            <a:r>
              <a:t>NEXT: why does the aggregator combine signatures at all?</a:t>
            </a:r>
          </a:p>
          <a:p>
            <a:r>
              <a:t>IF ASKED 'what is a KGC?': the key generation centre, called a trusted authority (TA) in the paper. It has a master secret key and issues certificates.</a:t>
            </a:r>
          </a:p>
          <a:p>
            <a:r>
              <a:t>20-MINUTE ROUTE: KEEP, quick (45 s): name the four parties and the six algorithms in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Each sensor signs its own reading. The aggregator takes the n signatures and combines them into one aggregate signature. The cloud then runs one check and either accepts all n readings or rejects.</a:t>
            </a:r>
          </a:p>
          <a:p>
            <a:r>
              <a:t>AUDIENCE SHOULD GET: what AggSign and AggVerify are for, informally. The paper's motivation is lower communication overhead, and a single decision at the verifier.</a:t>
            </a:r>
          </a:p>
          <a:p>
            <a:r>
              <a:t>Do not say aggregation makes verification faster. In our own measurements one aggregate verification is slower than n separate Ed25519 checks; what aggregation buys is fewer signature bytes and one accept/reject decision. Part VI measures the cost of the schemes against each other.</a:t>
            </a:r>
          </a:p>
          <a:p>
            <a:r>
              <a:t>NEXT: signatures need keys, so who holds them?</a:t>
            </a:r>
          </a:p>
          <a:p>
            <a:r>
              <a:t>IF ASKED 'how much smaller is the aggregate?': it depends on the scheme. Verma's is one point plus one scalar for any n; Qiao's keeps all n commitments T_i, so only the scalar half compresses (paper Table VI).</a:t>
            </a:r>
          </a:p>
          <a:p>
            <a:r>
              <a:t>20-MINUTE ROUTE: SKIP: say it while on slide 2 ('the aggregator combines n signatures into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ways to arrange keys. In a public-key infrastructure the user makes a key and a certificate authority certifies it, which brings certificate distribution and revocation overhead. In identity-based signatures the authority computes the whole private key, so it can sign as anyone: that is key escrow. In certificate-based signatures the sensor makes its own key pair, and the KGC issues a certificate; signing needs both.</a:t>
            </a:r>
          </a:p>
          <a:p>
            <a:r>
              <a:t>AUDIENCE SHOULD GET: the design goal. Neither party alone should be able to sign. A scheme in which the KGC alone can sign has collapsed back into identity-based signatures with escrow.</a:t>
            </a:r>
          </a:p>
          <a:p>
            <a:r>
              <a:t>The paper frames it as: the certificate is part of the user's private information, used together with the secret key (section III).</a:t>
            </a:r>
          </a:p>
          <a:p>
            <a:r>
              <a:t>NEXT: what if the KGC itself goes bad?</a:t>
            </a:r>
          </a:p>
          <a:p>
            <a:r>
              <a:t>IF ASKED 'why certificate-based?' (professor question 10): no key escrow, because the KGC never sees sk_i, and no separate certificate lookup or revocation channel, because the certificate is implicit in signing.</a:t>
            </a:r>
          </a:p>
          <a:p>
            <a:r>
              <a:t>20-MINUTE ROUTE: QUICK (30 s): one sentence per column; end on 'the KGC alone must not be able to 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paper motivates the threat with a real incident: an employee at South Africa's Postbank took the master secret key of the data centre and stole 3.2 million dollars. Whoever holds the master key can act for every user. The paper's requirement: a practical CBAS scheme must remain secure even when the KGC is malicious.</a:t>
            </a:r>
          </a:p>
          <a:p>
            <a:r>
              <a:t>AUDIENCE SHOULD GET: why the malicious-KGC model is not an exotic assumption, and the three questions the rest of the talk answers.</a:t>
            </a:r>
          </a:p>
          <a:p>
            <a:r>
              <a:t>Q1: can a malicious KGC forge in Verma et al.'s scheme? The paper says yes (its section IV); we run it. Q2: does Qiao et al.'s repair stop that attack, and which change is responsible? Q3: Qiao et al. report the same cost as Verma's scheme; does the algorithm they print agree?</a:t>
            </a:r>
          </a:p>
          <a:p>
            <a:r>
              <a:t>Point out the five coloured tags at the bottom: every slide says whose claim it shows.</a:t>
            </a:r>
          </a:p>
          <a:p>
            <a:r>
              <a:t>IF ASKED 'is the Postbank case evidence about CBAS?' (professor question 11): no, it is the paper's example of why a master key can leak; it motivates the threat model.</a:t>
            </a:r>
          </a:p>
          <a:p>
            <a:r>
              <a:t>20-MINUTE ROUTE: KEEP (1 min): the threat and the three questions.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 is the same system as an event diagram. Time runs left to right; each row is a party. Setup runs at the KGC and produces public parameters and a master secret. Each sensor runs KeyGen, then sends its public key to the KGC, which runs CertGen and returns a certificate. Sensors sign their readings with Sign. The aggregator runs AggSign on the n signatures. The cloud runs AggVerify and gets 1 or 0.</a:t>
            </a:r>
          </a:p>
          <a:p>
            <a:r>
              <a:t>AUDIENCE SHOULD GET: which party generates each object. The padlocks mark secrets. Grey dashed items are steps the paper does not specify: how the certificate reaches the sensor, and how the verifier obtains each signer's public key. We show them as abstracted rather than inventing a protocol.</a:t>
            </a:r>
          </a:p>
          <a:p>
            <a:r>
              <a:t>The paper calls AggVerify 'Very' in its sections IV and V; it is the same algorithm.</a:t>
            </a:r>
          </a:p>
          <a:p>
            <a:r>
              <a:t>NEXT: a first concrete scheme: Verma et al.'s.</a:t>
            </a:r>
          </a:p>
          <a:p>
            <a:r>
              <a:t>IF ASKED 'why is Cert_i private?': the paper says the certificate is part of the user's private information, used together with the secret key (section III).</a:t>
            </a:r>
          </a:p>
          <a:p>
            <a:r>
              <a:t>20-MINUTE ROUTE: SKIP: slide 2 already shows who does what; say 'grey dashed steps are not specified by the paper' there.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Notation first, only what we need: P generates a group G of prime order p; aP means P added to itself a times; H0 hashes strings into integers mod p. The sensor picks a random s_i, sets its secret key sk_i = s_i and publishes pk_i = s_i times P. The KGC has a master secret s with public key P_TA. For each sensor it picks a random r_1i, forms R_1i = r_1i P, and computes c_i = r_1i + s times H0 of id_i and pk_i. The certificate is the pair (R_1i, c_i).</a:t>
            </a:r>
          </a:p>
          <a:p>
            <a:r>
              <a:t>AUDIENCE SHOULD GET: two facts. The certificate c_i is known to the KGC because the KGC computed it. The secret key sk_i is known only to the sensor.</a:t>
            </a:r>
          </a:p>
          <a:p>
            <a:r>
              <a:t>The check c_i P = R_1i + H0(id_i || pk_i) P_TA lets anyone verify a certificate using only public values.</a:t>
            </a:r>
          </a:p>
          <a:p>
            <a:r>
              <a:t>This is Verma et al.'s scheme as Qiao et al. review it in their section IV-A; our code follows that description (verma.py). We did not cross-check Verma's original paper.</a:t>
            </a:r>
          </a:p>
          <a:p>
            <a:r>
              <a:t>NEXT: how a sensor signs.</a:t>
            </a:r>
          </a:p>
          <a:p>
            <a:r>
              <a:t>IF ASKED 'why two random values r_1i and r_2i later?': r_1i belongs to the certificate (chosen by the KGC); r_2i is chosen by the sensor afresh for every signature.</a:t>
            </a:r>
          </a:p>
          <a:p>
            <a:r>
              <a:t>20-MINUTE ROUTE: QUICK (45 s): keys and certificate; only say 'the KGC knows the certificate'.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 sign a reading m_i the sensor picks a fresh random r_2i and forms R_i = R_1i + r_2i P, a commitment to its randomness that also carries the certificate point. It hashes the message with its public key, its identity and the state information Delta, giving v_i. The response is z_i = r_2i + c_i + sk_i times v_i. The signature is the pair (R_i, z_i).</a:t>
            </a:r>
          </a:p>
          <a:p>
            <a:r>
              <a:t>AUDIENCE SHOULD GET: z_i is a sum of three terms: a fresh nonce only the sensor knows, the certificate which the KGC also knows, and the secret key scaled by a hash that anyone can compute.</a:t>
            </a:r>
          </a:p>
          <a:p>
            <a:r>
              <a:t>Look at the bottom: the hash v_i takes m_i, pk_i, id_i and Delta. It does not take R_i, and it does not depend on r_2i. Hold that thought; the whole attack follows from it.</a:t>
            </a:r>
          </a:p>
          <a:p>
            <a:r>
              <a:t>Delta is public state information; the paper does not say more, and our code uses an epoch label.</a:t>
            </a:r>
          </a:p>
          <a:p>
            <a:r>
              <a:t>NEXT: how verification works, and why this design was attractive.</a:t>
            </a:r>
          </a:p>
          <a:p>
            <a:r>
              <a:t>IF ASKED 'what is Delta?': public state information published with the parameters. The paper leaves it open; if it changes per epoch it also separates epochs, which a test of ours confirms.</a:t>
            </a:r>
          </a:p>
          <a:p>
            <a:r>
              <a:t>20-MINUTE ROUTE: KEEP (1 min): this is where v_i not seeing R_i is planted.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aggregator just adds up: R is the sum of the R_i and z is the sum of the z_i. The aggregate is one point and one scalar, whatever n is; that is the scheme's selling point, 'compact aggregation'. The verifier recomputes h_0 and v_i for every signer and checks one equation: zP equals R plus the sum of the h_0 times the KGC public key plus the sum of v_i times pk_i.</a:t>
            </a:r>
          </a:p>
          <a:p>
            <a:r>
              <a:t>AUDIENCE SHOULD GET: why this was attractive, and the trade-off the authors made. The paper says it directly: to obtain an aggregate of fixed length, Verma et al. remove the random value from the hash, and because of that the construction is insecure.</a:t>
            </a:r>
          </a:p>
          <a:p>
            <a:r>
              <a:t>Why does it verify? For one signer, z_i P = r_2i P + c_i P + sk_i v_i P, and c_i P = R_1i + h_0 P_TA, so z_i P = R_i + h_0 P_TA + v_i pk_i. Summing over signers gives the verification equation. The full derivation is in backup B4.</a:t>
            </a:r>
          </a:p>
          <a:p>
            <a:r>
              <a:t>NEXT: now the attacker.</a:t>
            </a:r>
          </a:p>
          <a:p>
            <a:r>
              <a:t>IF ASKED 'is the aggregate really constant size?': yes for Verma: one group element and one scalar (paper Table VI; our test checks it). Qiao's repaired scheme gives that up: its aggregate carries all n commitments T_i.</a:t>
            </a:r>
          </a:p>
          <a:p>
            <a:r>
              <a:t>20-MINUTE ROUTE: QUICK (30 s): constant-size aggregate; read the paper quote.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Now the attacker: a malicious KGC. It knows the master secret, so it knows every certificate, including this sensor's, because it issued them. And it has seen one valid signature from this sensor.</a:t>
            </a:r>
          </a:p>
          <a:p>
            <a:r>
              <a:t>THE KEY POINT: Everything on the violet card, the KGC has. The two red sealed values it does not have: the sensor's secret key sk_i and this signature's nonce r_2i. Its goal is a valid signature on a new message for the same sensor. This is the paper's adversary F2; the attack needs one observed signature per victim.</a:t>
            </a:r>
          </a:p>
          <a:p>
            <a:r>
              <a:t>TAKEAWAY: The KGC holds everything except the two secrets inside z_i.</a:t>
            </a:r>
          </a:p>
          <a:p>
            <a:r>
              <a:t>NEXT: So how can it forge at all? That is the puzzle.</a:t>
            </a:r>
          </a:p>
          <a:p>
            <a:r>
              <a:t>IF ASKED 'does it need the master secret or only the certificate?': the attack uses the certificate (R_1i, c_i) the KGC issued, plus one signature. The master secret is how the KGC has the certificate.</a:t>
            </a:r>
          </a:p>
          <a:p>
            <a:r>
              <a:t>20-MINUTE ROUTE: KEEP (45 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Read the question aloud, then pause for a few seconds.</a:t>
            </a:r>
          </a:p>
          <a:p>
            <a:r>
              <a:t>THE EQUATIONS MEAN: Left box, what the KGC can compute. R_i minus R_1i equals r_2i P: a point; getting r_2i out of it would mean taking a discrete logarithm, which is infeasible. And z_i minus c_i equals r_2i plus sk_i v_i: one number made of two unknowns, drawn sealed. Right box: a forgery on a new message needs a matching commitment and response for a new hash value v-prime, with both secrets still unknown.</a:t>
            </a:r>
          </a:p>
          <a:p>
            <a:r>
              <a:t>TAKEAWAY: It does not have to open the sealed number. It only has to rescale it.</a:t>
            </a:r>
          </a:p>
          <a:p>
            <a:r>
              <a:t>NEXT: Three small steps, one slide each.</a:t>
            </a:r>
          </a:p>
          <a:p>
            <a:r>
              <a:t>IF ASKED 'why does the KGC not need r_2i?' (professor question 1): the forged signature uses a new nonce, v-prime r_2i over v_i, which is just a rescaled copy of the old one. The attacker never has to know it; it only has to produce a commitment and a response that are consistent with each other, and linearity guarantees that.</a:t>
            </a:r>
          </a:p>
          <a:p>
            <a:r>
              <a:t>20-MINUTE ROUTE: KEEP (30 s): the question, then the pause.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The KGC issued R_1i and c_i, so it can simply subtract them.</a:t>
            </a:r>
          </a:p>
          <a:p>
            <a:r>
              <a:t>THE EQUATIONS MEAN: R_i minus R_1i equals r_2i P: a group element, computable but not invertible. z_i minus c_i equals r_2i plus sk_i v_i: one number, two unknowns, so we draw it sealed. v_i itself is public: anyone can hash m_i, pk_i, id_i and Delta.</a:t>
            </a:r>
          </a:p>
          <a:p>
            <a:r>
              <a:t>TAKEAWAY: Known: the point r_2i P. Sealed: the number r_2i + sk_i v_i. Nothing has been solved.</a:t>
            </a:r>
          </a:p>
          <a:p>
            <a:r>
              <a:t>NEXT: Divide by v_i.</a:t>
            </a:r>
          </a:p>
          <a:p>
            <a:r>
              <a:t>IF ASKED 'is r_2i P enough to get r_2i?': no; that would be a discrete logarithm.</a:t>
            </a:r>
          </a:p>
          <a:p>
            <a:r>
              <a:t>Code: attack.py lines 73 to 74 (this is step 2a of the paper's section IV-B).</a:t>
            </a:r>
          </a:p>
          <a:p>
            <a:r>
              <a:t>20-MINUTE ROUTE: COMBINE verbally with 13 and 14: about 40 s each, equations only.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Divide by v_i. It is a public hash value, non-zero with overwhelming probability, so it has an inverse mod p; that is where the prime-order group matters.</a:t>
            </a:r>
          </a:p>
          <a:p>
            <a:r>
              <a:t>THE EQUATIONS MEAN: alpha is (z_i minus c_i) over v_i, which equals r_2i over v_i plus sk_i. The KGC holds the number alpha but not its two parts, so what it is made of stays sealed. A is (R_i minus R_1i) over v_i, which equals (r_2i over v_i) times P: a point it holds. Neither reveals r_2i or sk_i on its own.</a:t>
            </a:r>
          </a:p>
          <a:p>
            <a:r>
              <a:t>TAKEAWAY: Both are just scaled by one over v_i. The attacker does not separate the two parts.</a:t>
            </a:r>
          </a:p>
          <a:p>
            <a:r>
              <a:t>NEXT: Choose a new message.</a:t>
            </a:r>
          </a:p>
          <a:p>
            <a:r>
              <a:t>IF ASKED 'how does alpha help the attacker?' (professor question 2): alpha packages the secret-bearing part so that it can be rescaled. Multiplying alpha by a new hash value v-prime gives r_2i v-prime / v_i plus sk_i v-prime, exactly the secret-bearing part a signature on the new message needs. It works only because v_i does not depend on r_2i.</a:t>
            </a:r>
          </a:p>
          <a:p>
            <a:r>
              <a:t>Code: attack.py lines 77 to 78.</a:t>
            </a:r>
          </a:p>
          <a:p>
            <a:r>
              <a:t>20-MINUTE ROUTE: COMBINE verbally with 12 and 14: about 40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Pick any new message m-prime. Compute v-prime, the hash of m-prime with pk_i, id_i and Delta. That is possible immediately, because R-prime is not an input to the hash.</a:t>
            </a:r>
          </a:p>
          <a:p>
            <a:r>
              <a:t>THE EQUATIONS MEAN: R-prime is R_1i plus v-prime times A; z-prime is v-prime times alpha plus c_i. Expand them: R-prime is R_1i plus (v-prime r_2i over v_i) times P, and z-prime is v-prime r_2i over v_i plus c_i plus sk_i v-prime. That is exactly the shape of an honest signature, with a new nonce v-prime r_2i over v_i that nobody knows, the attacker included.</a:t>
            </a:r>
          </a:p>
          <a:p>
            <a:r>
              <a:t>TAKEAWAY: The result has exactly the form of an honest signature. Do not read three equations; point at v-prime, R-prime and z-prime in turn.</a:t>
            </a:r>
          </a:p>
          <a:p>
            <a:r>
              <a:t>NEXT: Everything on one diagram, and the verifier's verdict.</a:t>
            </a:r>
          </a:p>
          <a:p>
            <a:r>
              <a:t>IF ASKED 'is the forged signature distinguishable?': no; it has the form of an honest signature, and our tests check that its encoded size matches.</a:t>
            </a:r>
          </a:p>
          <a:p>
            <a:r>
              <a:t>Code: attack.py lines 81 to 83.</a:t>
            </a:r>
          </a:p>
          <a:p>
            <a:r>
              <a:t>20-MINUTE ROUTE: COMBINE verbally with 12 and 13: about 40 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Left to right. One valid signature goes in. The malicious KGC knows the master secret, the certificate and that signature, but not sk_i or r_2i. It runs five steps, all of them arithmetic on values it holds.</a:t>
            </a:r>
          </a:p>
          <a:p>
            <a:r>
              <a:t>THE DIAGRAM MEANS: Look only at the two red sealed boxes. They are the only places the two unknowns appear, and the later steps multiply them but never open them. The forged signature goes to the verifier, which checks the ordinary verification equation and accepts. It also passes aggregate verification alongside honest signatures.</a:t>
            </a:r>
          </a:p>
          <a:p>
            <a:r>
              <a:t>TAKEAWAY: The attacker never learns r_2i or sk_i. It rescales the sealed combination. It never decrypts or recovers anything.</a:t>
            </a:r>
          </a:p>
          <a:p>
            <a:r>
              <a:t>WHY IT VERIFIES (only if asked): z-prime P equals (v-prime r_2i over v_i) P plus c_i P plus sk_i v-prime P. With c_i P equal to R_1i plus H_0 P_TA this equals R-prime plus H_0 P_TA plus v-prime pk_i. The whole attack in one line: with lambda equal to v-prime over v_i, R-prime is R_1i plus lambda (R_i minus R_1i), and z-prime is c_i plus lambda (z_i minus c_i). Full derivation: backup B3.</a:t>
            </a:r>
          </a:p>
          <a:p>
            <a:r>
              <a:t>This attack is the paper's section IV-B. Our contribution is the reproduction, next.</a:t>
            </a:r>
          </a:p>
          <a:p>
            <a:r>
              <a:t>NEXT: We ran it.</a:t>
            </a:r>
          </a:p>
          <a:p>
            <a:r>
              <a:t>IF ASKED 'what exactly did you reproduce?' (professor question 6): the paper's malicious-KGC forgery against Verma et al.'s scheme, executed end to end on two group implementations.</a:t>
            </a:r>
          </a:p>
          <a:p>
            <a:r>
              <a:t>20-MINUTE ROUTE: KEEP (1 min): the recap diagram.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run `make attack` from the repository, on branch presentation-1-work (tag presentation-1-interim). It takes about a second and prints two targets; today we look at Target 1 only, and come back to Target 2 shortly. Keep a screenshot ready as a fallback.</a:t>
            </a:r>
          </a:p>
          <a:p>
            <a:r>
              <a:t>POINT AT: (1) the honest signature verifies; (2) the attacker is the KGC and does not know sk_i; (3) the forged signature on the SHUTDOWN message verifies, and it also survives aggregation.</a:t>
            </a:r>
          </a:p>
          <a:p>
            <a:r>
              <a:t>EVIDENCE BEHIND THE DEMO: 8 of 8 forgeries verify (4 target messages including an empty and a binary one, on 2 group backends); 8 of 8 forged signatures also pass aggregate verification together with an honest one; a test checks that the forging function takes no secret key as an argument. Run `make selftest` first on a new machine.</a:t>
            </a:r>
          </a:p>
          <a:p>
            <a:r>
              <a:t>AUDIENCE SHOULD GET: this is a reproduction of the paper's attack, not our discovery. What we add is that it executes against an independent implementation on two different curves.</a:t>
            </a:r>
          </a:p>
          <a:p>
            <a:r>
              <a:t>NEXT: how Qiao et al. repaired the scheme.</a:t>
            </a:r>
          </a:p>
          <a:p>
            <a:r>
              <a:t>IF ASKED 'what did you reproduce?' (professor question 6): the paper's malicious-KGC forgery against Verma et al.'s scheme (its section IV-B), executed end to end.</a:t>
            </a:r>
          </a:p>
          <a:p>
            <a:r>
              <a:t>FALLBACK: terminal fails, the command errors or it is slow: open Backup B11 (captured output) and say 'here is the output from my earlier run'. The slide's own panel shows the same lines.</a:t>
            </a:r>
          </a:p>
          <a:p>
            <a:r>
              <a:t>20-MINUTE ROUTE: KEEP (1 min): Demo 1 live, or show the screenshot (Backup B11).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Same system, same six algorithms, now with Qiao et al.'s objects. Setup is unchanged in spirit: a master secret and public parameters. The certificate changes: the KGC picks r_i, forms R_i = r_i P, and computes c_i using a hash that includes R_i. R_i is public, treated as part of the public key; c_i stays secret. At signing the sensor picks a fresh t_i and commits to it as T_i = t_i P, and T_i goes into the hashes. The signature is (T_i, z_i). The aggregator sums the z_i but must keep every T_i, so the aggregate is (T, z) with T the list of all commitments. The verifier recomputes every hash and checks one equation.</a:t>
            </a:r>
          </a:p>
          <a:p>
            <a:r>
              <a:t>AUDIENCE SHOULD GET: who generates what, what is secret (padlocks), and that T_i, in green, is the new object that travels with every signature.</a:t>
            </a:r>
          </a:p>
          <a:p>
            <a:r>
              <a:t>Grey dashed steps are unspecified in the paper: certificate delivery and how the verifier gets id_i, pk_i and R_i. We have not invented them.</a:t>
            </a:r>
          </a:p>
          <a:p>
            <a:r>
              <a:t>The price of the repair: the aggregate is no longer constant size; only the scalar half compresses (paper Table VI: n|G| + |Z_q*|).</a:t>
            </a:r>
          </a:p>
          <a:p>
            <a:r>
              <a:t>NEXT: exactly which equations changed.</a:t>
            </a:r>
          </a:p>
          <a:p>
            <a:r>
              <a:t>IF ASKED 'why is R_i included in the new hashes?' (professor question 9): the paper says R_i is part of the public key and is hashed so that 'the effect of the certificate for the signature will not be removed by public key replacement' (its section V-A). It targets a different attacker, a malicious user replacing public keys. Our ablation does not test that; it removes only T_i.</a:t>
            </a:r>
          </a:p>
          <a:p>
            <a:r>
              <a:t>20-MINUTE ROUTE: SKIP: mention T_i verbally on slide 18.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Left Verma, right Qiao, one row per change. Look at the middle three rows; the grey rows are context.</a:t>
            </a:r>
          </a:p>
          <a:p>
            <a:r>
              <a:t>THE EQUATIONS MEAN: Commitment: R_i = R_1i + r_2i P becomes T_i = t_i P. Hash inputs: v_i now includes R_i and T_i, and there is a second hash H_2 giving u_i from the same input. Response: z_i = t_i + c_i u_i + sk_i v_i. In grey: the certificate now binds R_i, the aggregate keeps every T_i, and verification gains the term u_i R_i.</a:t>
            </a:r>
          </a:p>
          <a:p>
            <a:r>
              <a:t>TAKEAWAY: Several things change. We do not say 'the difference is one line'. For this attack, what matters is that T_i now enters the hashes; the ablation is how we know.</a:t>
            </a:r>
          </a:p>
          <a:p>
            <a:r>
              <a:t>NEXT: Why does that matter so much?</a:t>
            </a:r>
          </a:p>
          <a:p>
            <a:r>
              <a:t>IF ASKED 'why two hash functions H_1 and H_2?' (professor question 8): in the paper, the certificate term and the secret-key term carry independent random-oracle coefficients u_i and v_i; its proof forks H_0 for the user adversary and H_1 for the KGC adversary. In our own audit check, a variant with one hash for both coefficients still resisted the KGC rescaling, so we do not claim the separation is needed to block this attack (backup B6).</a:t>
            </a:r>
          </a:p>
          <a:p>
            <a:r>
              <a:t>IF ASKED 'why is R_i in the new hash?' (professor question 9): the paper says R_i is part of the public key and is hashed so the effect of the certificate cannot be removed by public-key replacement (section V-A). That targets a different attacker; our ablation does not test it.</a:t>
            </a:r>
          </a:p>
          <a:p>
            <a:r>
              <a:t>Two printed typos in the paper's section V-A are corrected in our code: KeyGen prints pk_i = s_i (we use s_i P) and the certificate check prints R_1i (we use R_i).</a:t>
            </a:r>
          </a:p>
          <a:p>
            <a:r>
              <a:t>20-MINUTE ROUTE: QUICK (45 s): only the three middle rows.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Left, the old scheme. The message goes into the hash and gives v. The randomness r_2i goes into R_i. The two are not coupled through the hash: the red dashed line is the missing edge. So the attacker can pick a message, compute v-prime, and only then build R-prime and z-prime.</a:t>
            </a:r>
          </a:p>
          <a:p>
            <a:r>
              <a:t>THE PICTURE MEANS: Right, the new scheme. The commitment T_i = t_i P goes into the same hash as the message. Now rescaling needs a new commitment T-prime equal to (v-prime over v_i) times T_i, but v-prime is the hash of a string that contains T-prime. T-prime affects v-prime, and v-prime affects T-prime. The old direct route is gone.</a:t>
            </a:r>
          </a:p>
          <a:p>
            <a:r>
              <a:t>TAKEAWAY: This explains why the reproduced rescaling route no longer applies. It does not prove the scheme secure.</a:t>
            </a:r>
          </a:p>
          <a:p>
            <a:r>
              <a:t>IF ASKED for the exact statement: the attacker would need a scalar lambda with H_1(m-prime, pk, R, id, lambda T, Delta) equal to lambda times v_i: a search over hash outputs, not algebra (backup B6).</a:t>
            </a:r>
          </a:p>
          <a:p>
            <a:r>
              <a:t>WORDING (professor questions 3, 4, 5): the paper proves EUF-CMA security under the discrete logarithm assumption in the random-oracle model; we have not audited that proof. The paper states the principle itself in its section V-A: the commitment T_i should be hashed into the core element of the signature, otherwise a malicious KGC can forge from a known signature.</a:t>
            </a:r>
          </a:p>
          <a:p>
            <a:r>
              <a:t>IF ASKED 'why does T_i prevent the old attack?' (professor question 3): the attack must fix the new commitment before it can compute the new coefficient, but the new commitment is defined in terms of that coefficient. The circularity is the missing route.</a:t>
            </a:r>
          </a:p>
          <a:p>
            <a:r>
              <a:t>NEXT: We tested it.</a:t>
            </a:r>
          </a:p>
          <a:p>
            <a:r>
              <a:t>20-MINUTE ROUTE: KEEP (1 min 15 s): the key idea.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scroll the same `make attack` output to Target 2. The program's banner says 'same attacker, same capabilities, same attack'. Precisely, it is the same strategy adapted to Qiao's equation: the attacker strips c_i u_i instead of c_i, and there is no R_1i. It is a different function (attempt_forge_fixed in attack.py), not literally the same code.</a:t>
            </a:r>
          </a:p>
          <a:p>
            <a:r>
              <a:t>POINT AT: (1) the honest signature still verifies; (2) the attempt iterates 16 times: each round computes the coefficient a candidate T-prime would induce, then the T-prime the attack actually requires; (3) every candidate is different and none verifies. The candidate prefixes change on every run because the keys are random; the demo prints 'all distinct', and a test checks it (24 rounds, 24 distinct).</a:t>
            </a:r>
          </a:p>
          <a:p>
            <a:r>
              <a:t>EVIDENCE: 0 of 8 attempts succeed (4 messages x 2 backends); all 16 candidates are distinct in every one.</a:t>
            </a:r>
          </a:p>
          <a:p>
            <a:r>
              <a:t>WORDING: the paper proves EUF-CMA security under the discrete logarithm assumption in the random-oracle model. Our experiment reproduces the specific malicious-KGC attack against the previous construction, and the repaired implementation does not admit this same algebraic forgery route. A failed attack is not a proof of security (professor question 4).</a:t>
            </a:r>
          </a:p>
          <a:p>
            <a:r>
              <a:t>What did the paper prove (professor question 5)? Theorem 1: if DL is hard, the CBAS scheme is EUF-CMA secure in the random-oracle model, via Lemma 2 (user adversary, forking on H_0) and Lemma 3 (malicious-KGC adversary, forking on H_1); aggregate security follows because AggSign uses no secret. We did not audit these proofs.</a:t>
            </a:r>
          </a:p>
          <a:p>
            <a:r>
              <a:t>NEXT: which of the changes is responsible? An ablation.</a:t>
            </a:r>
          </a:p>
          <a:p>
            <a:r>
              <a:t>FALLBACK: as for Demo 1: Backup B11 shows Target 2 beside Target 1.</a:t>
            </a:r>
          </a:p>
          <a:p>
            <a:r>
              <a:t>20-MINUTE ROUTE: QUICK (30 s): show Target 2 as the screenshot (Backup B11).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Failing against the repaired scheme does not say which of its changes is responsible. So we built a control: the repaired scheme with exactly one thing removed.</a:t>
            </a:r>
          </a:p>
          <a:p>
            <a:r>
              <a:t>THE TABLE MEANS: Row A is Verma: the commitment R_i is not hashed. Row B is Qiao: T_i is hashed. Row C is Qiao with T_i dropped from H_1 and H_2, and nothing else touched. The ablated variant imports the real Setup, KeyGen, CertGen, AggSign and verification equation from the repaired code; R_i is still hashed into H_0, H_1 and H_2; u and v still come from separate hash functions. Only the hash labels are renamed, and one hash input is gone.</a:t>
            </a:r>
          </a:p>
          <a:p>
            <a:r>
              <a:t>TAKEAWAY: Between B and C, only the T_i binding differs. C is a working scheme: honest signatures verify and other messages are rejected, in all 8 trials.</a:t>
            </a:r>
          </a:p>
          <a:p>
            <a:r>
              <a:t>This ablation is our design (an implementation choice, tagged); its result is an experiment. The code calls the T_i binding 'Fix #2' in comments; those labels are ours, not the paper's.</a:t>
            </a:r>
          </a:p>
          <a:p>
            <a:r>
              <a:t>NEXT: The result.</a:t>
            </a:r>
          </a:p>
          <a:p>
            <a:r>
              <a:t>IF ASKED 'does the ablation remove only T_i?': yes. Same H_0 function object, R_i still in H_1 and H_2, separate u and v; a test checks the last two (test_ablated_variant_still_has_fixes_1_and_3).</a:t>
            </a:r>
          </a:p>
          <a:p>
            <a:r>
              <a:t>20-MINUTE ROUTE: QUICK (30 s): say it together with slide 22.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Three cases, same attacker, same strategy, same four target messages on two group backends. A, Verma: the forgery verifies in 8 of 8 trials. B, Qiao: it fails in 8 of 8, with 16 distinct candidates each. C, Qiao with only the T_i binding removed: it verifies again in 8 of 8.</a:t>
            </a:r>
          </a:p>
          <a:p>
            <a:r>
              <a:t>WHAT IT MEANS: The ablation isolates the T_i binding as the critical difference for blocking the reproduced rescaling attack. It does not show that the other changes are unnecessary (R_i in H_0 targets a different attacker, public-key replacement, which we did not test), nor that the full scheme is secure. 0 of 8 is an observation about this route, not a mathematical impossibility.</a:t>
            </a:r>
          </a:p>
          <a:p>
            <a:r>
              <a:t>TAKEAWAY: Full repair: attack fails. Remove only T_i: attack succeeds.</a:t>
            </a:r>
          </a:p>
          <a:p>
            <a:r>
              <a:t>DEMO 3: run `.venv/bin/python -m pytest tests/test_forgery.py -k ablat -vv`. It prints ten test names ending PASSED and '10 passed': eight forgery-restored cases (4 messages x 2 backends) and two checks that the ablated variant is still a working scheme. Use -vv because the project's pytest configuration adds -q.</a:t>
            </a:r>
          </a:p>
          <a:p>
            <a:r>
              <a:t>FALLBACK: terminal fails or is slow: open Backup B12 (captured output), or just talk to the three cards.</a:t>
            </a:r>
          </a:p>
          <a:p>
            <a:r>
              <a:t>NEXT: before measuring performance, why trust our implementation?</a:t>
            </a:r>
          </a:p>
          <a:p>
            <a:r>
              <a:t>IF ASKED 'what does the ablation prove?' (professor question 12): necessity of the T_i binding against this attack, everything else held fixed. Not sufficiency, not security. IF ASKED 'is that original?': yes for the ablation as a causal test; the attack and the repair are the paper's.</a:t>
            </a:r>
          </a:p>
          <a:p>
            <a:r>
              <a:t>20-MINUTE ROUTE: KEEP (1 min 15 s): the three cards; Demo 3 only if time allows (Backup B12).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Everything is written against one group interface. scheme.py is a direct transliteration of the six algorithms, with names matching the paper. verma.py is Verma et al.'s scheme as Qiao et al. describe it. attack.py has the forgery and the failed attempt. ablation.py is the weakened variant. Below them, hashing is SHA-512 reduced to integers mod p, with a separate domain label for each of H_0, H_1 and H_2 and length-prefixed fields so concatenation is unambiguous. Below that, one backend interface through which every group operation and hash passes, which is how we count operations. At the bottom, two unrelated prime-order groups: Ristretto255 via libsodium, and NIST P-256 via OpenSSL.</a:t>
            </a:r>
          </a:p>
          <a:p>
            <a:r>
              <a:t>WHY TWO BACKENDS (professor question 15): the results cannot be an artefact of one curve or library, and two independent implementations must agree on every accept/reject outcome and every operation count. Ristretto255 gives a prime-order group, which the algebra needs, since the attack divides by hash values; plain Curve25519 has cofactor 8. P-256 is also what real industrial stacks deploy.</a:t>
            </a:r>
          </a:p>
          <a:p>
            <a:r>
              <a:t>NUMBERS: the standalone self-test has 62 checks (31 per backend); the test suite has 221 tests, which is 101 tests run on each of two backends plus 19 that do not use a backend. Both backends give identical operation counts. Do not say the backends 'agree on every signature': different groups produce different signatures; they agree on outcomes and counts.</a:t>
            </a:r>
          </a:p>
          <a:p>
            <a:r>
              <a:t>Implementation choices of ours, not the paper's: the group instantiation, the hash construction, the epoch label for Delta, and correcting two printed typos.</a:t>
            </a:r>
          </a:p>
          <a:p>
            <a:r>
              <a:t>NEXT: now the performance claim.</a:t>
            </a:r>
          </a:p>
          <a:p>
            <a:r>
              <a:t>IF ASKED 'is the domain separation essential for security?': we do not claim that. It matches the paper's three distinct hash functions.</a:t>
            </a:r>
          </a:p>
          <a:p>
            <a:r>
              <a:t>20-MINUTE ROUTE: QUICK (30 s): two backends, 221 tests, identical counts.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Now the third question. The paper compares computation costs in its Tables II and III using three units: T_e, a scalar multiplication in the group; T_a, a point addition; T_h, one hash. Look at the two rows: Verma et al.'s scheme, which the paper shows is insecure, and the paper's own repaired scheme. Every cost is identical: Sign, single Verify, AggSign and AggVerify. The introduction says the proposal has the same high computational efficiency as Verma et al.'s scheme but is more secure; and Fig. 4 reports 12.729 ms for both at n = 100.</a:t>
            </a:r>
          </a:p>
          <a:p>
            <a:r>
              <a:t>AUDIENCE SHOULD GET: the claim under test, in the paper's own words and numbers: it comes straight from the paper. We are not yet saying it is wrong.</a:t>
            </a:r>
          </a:p>
          <a:p>
            <a:r>
              <a:t>THE QUESTION: the repaired Sign computes two hashes, v_i and u_i; the repaired verification has an extra term u_i R_i for every signer and an extra hash. Can the cost still be identical?</a:t>
            </a:r>
          </a:p>
          <a:p>
            <a:r>
              <a:t>Table IV, the unit costs on the paper's own PC (Core i5-4200H, PBC library): T_e = 0.112 ms, T_a = 0.005 ms, T_h = 0.004 ms. The paper does not name its curve.</a:t>
            </a:r>
          </a:p>
          <a:p>
            <a:r>
              <a:t>NEXT: how we test this, step by step.</a:t>
            </a:r>
          </a:p>
          <a:p>
            <a:r>
              <a:t>IF ASKED 'why does the discrepancy matter?' (professor question 13): the paper's central comparative argument, secure and as cheap as the insecure scheme, rests on these tables, and Figs. 3 to 5 are computed from them.</a:t>
            </a:r>
          </a:p>
          <a:p>
            <a:r>
              <a:t>20-MINUTE ROUTE: QUICK (30 s): the identical rows and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We do not jump from '12.729 ms' to 'the paper is wrong'. We follow a chain, and every step can be checked on its own.</a:t>
            </a:r>
          </a:p>
          <a:p>
            <a:r>
              <a:t>THE CHAIN MEANS: One, the paper's formula for aggregate verification. Two, a count of the operations in the paper's own printed verification equation, by an instrumented counter that also reproduces Verma's printed rows. Three, the paper's own cost model, its Table IV. Four, the expected time that follows: 12.729 ms printed against 25.324 ms at n = 100. Five, measured time on three configurations; we compare per-signer slopes of the two schemes. Six, the comparison: the printed rows imply a ratio of 1.00, the counts predict 1.99 to 2.14, measurement gives 2.12 to 2.37.</a:t>
            </a:r>
          </a:p>
          <a:p>
            <a:r>
              <a:t>TAKEAWAY: Equation, count, cost, measurement. The colour bar on each box says whose it is: grey the paper's, magenta our audit, indigo an experiment.</a:t>
            </a:r>
          </a:p>
          <a:p>
            <a:r>
              <a:t>NEXT: Step two, the count. A tracker in each slide's eyebrow line shows where we are.</a:t>
            </a:r>
          </a:p>
          <a:p>
            <a:r>
              <a:t>IF ASKED 'could this be a convention difference?': the same convention applied to Verma's equation reproduces Verma's printed row; that is the calibration on the next slide.</a:t>
            </a:r>
          </a:p>
          <a:p>
            <a:r>
              <a:t>20-MINUTE ROUTE: QUICK (30 s): the chain, once.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Left, the paper's own verification equation, term by term. Right, what that count is, against what the paper prints.</a:t>
            </a:r>
          </a:p>
          <a:p>
            <a:r>
              <a:t>THE TABLE MEANS: zP is one scalar multiplication. The sum of T_i is n minus 1 additions. The sum of u_i R_i is n scalar multiplications and n minus 1 additions; this term exists only in the repaired scheme, which is why n is in red. The master-key term is one multiplication. The sum of v_i pk_i is n multiplications. Combining the four terms: 3 additions. Total (2n+2) multiplications and 3n additions; per signer three hashes. Right: Sign has two hashes, not one, because the paper's own step (b) computes both v_i and u_i; single Verify is 4, 3, 3; AggVerify is (2n+2), 3n, 3n; and AggSign is no group operation at all.</a:t>
            </a:r>
          </a:p>
          <a:p>
            <a:r>
              <a:t>TAKEAWAY: The paper's own equation needs two scalar multiplications per signer, not one. The calibration box is the key: the same counter reproduces Verma's printed rows exactly, so the discrepancy is in the printed row, not in the method.</a:t>
            </a:r>
          </a:p>
          <a:p>
            <a:r>
              <a:t>On AggSign the paper overstates its own cost: that is in the paper's favour and we report it. Verma's printed Sign omits one point addition; negligible (backup B7).</a:t>
            </a:r>
          </a:p>
          <a:p>
            <a:r>
              <a:t>NEXT: Is there any convention under which the printed row is right?</a:t>
            </a:r>
          </a:p>
          <a:p>
            <a:r>
              <a:t>IF ASKED 'why does the paper's formula differ from the implementation?' (professor question 16): we compare against the paper's own printed verification equation (section V-A(6)); the implementation follows it term by term. Its Table III row equals Verma's row, which fits Verma's equation, not this one. How the row arose we do not know; the likeliest reading is that Verma's row was reused.</a:t>
            </a:r>
          </a:p>
          <a:p>
            <a:r>
              <a:t>20-MINUTE ROUTE: KEEP (1 min): the table and the calibration box.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The strongest objection is that the verifier could precompute per-signer constants, so we tested it, and we say the result up front.</a:t>
            </a:r>
          </a:p>
          <a:p>
            <a:r>
              <a:t>THE TABLE MEANS: With every per-signer constant cached, the repaired scheme's single verification drops to 3, 2, 2: exactly the printed Table II row. But under the same caching Verma's single verification drops too, to 2, 2, 1, so the two rows still cannot be identical. And the aggregate: with caching the repaired scheme still needs 2n+1 scalar multiplications, 201 at n = 100, against the printed n+2, which is 102. The hash count matches the printed 2n; the multiplication count does not.</a:t>
            </a:r>
          </a:p>
          <a:p>
            <a:r>
              <a:t>TAKEAWAY: Caching reproduces the single-signature row, but aggregate verification still needs at least 2n+1 scalar multiplications, against the printed n+2.</a:t>
            </a:r>
          </a:p>
          <a:p>
            <a:r>
              <a:t>NEXT: What does this mean in milliseconds?</a:t>
            </a:r>
          </a:p>
          <a:p>
            <a:r>
              <a:t>IF ASKED about the other objections (professor question 14): folding the sum of u_i R_i into one multiplication is possible algebraically but needs the secret certificate c_i, which a verifier does not have. Multi-scalar multiplication is a different cost model that applies to both schemes; Table III is plainly a naive count. Both are in backup B8.</a:t>
            </a:r>
          </a:p>
          <a:p>
            <a:r>
              <a:t>STATUS: the h_0 caching and folding objections are repository tests; the full-constant caching counts come from presentation/audit/verify_claims.py (both backends) and are not yet a repository test.</a:t>
            </a:r>
          </a:p>
          <a:p>
            <a:r>
              <a:t>20-MINUTE ROUTE: QUICK (30 s): caching explains the single row, not the aggregate row.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Take the paper's own unit costs and apply them to each count. The printed row gives 12.729 milliseconds, which is exactly the bar in the paper's own Fig. 4. The recount gives 25.324 milliseconds: a factor of 1.99.</a:t>
            </a:r>
          </a:p>
          <a:p>
            <a:r>
              <a:t>THE CHART MEANS: Three bars. Grey: the printed row. Middle: the recount if the verifier caches every per-signer constant, 24.807, a factor of 1.95. Dark: the recount from the paper's algorithm. Per signer the cost goes from 125 to 251 microseconds under Table IV. These are model values, not measurements.</a:t>
            </a:r>
          </a:p>
          <a:p>
            <a:r>
              <a:t>TAKEAWAY: This is not a one-off typo. The printed row agrees with Fig. 4, which was therefore computed from Table III, and disagrees with the printed verification equation.</a:t>
            </a:r>
          </a:p>
          <a:p>
            <a:r>
              <a:t>NEXT: The same arithmetic against the other scheme in the paper's comparison.</a:t>
            </a:r>
          </a:p>
          <a:p>
            <a:r>
              <a:t>IF ASKED 'does this invalidate the construction?' (professor question 17): no. The attack and repair results are separate from the cost rows; this affects the comparative efficiency claim only.</a:t>
            </a:r>
          </a:p>
          <a:p>
            <a:r>
              <a:t>IF ASKED 'why does it matter?' (professor question 13): the paper's central comparative argument, secure and as cheap as the insecure scheme, rests on these tables, and its figures are computed from them.</a:t>
            </a:r>
          </a:p>
          <a:p>
            <a:r>
              <a:t>20-MINUTE ROUTE: KEEP (45 s): the n = 100 bars.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We recomputed the paper's Figs. 3, 4 and 5 from its tables and Table IV. Every value printed on Figs. 3 and 4 reproduces exactly; Fig. 5 has no printed values, and its two lines end where the formulas say, about 63 and 126 ms at n = 500 (we read the endpoints from the plot rather than extracting its data).</a:t>
            </a:r>
          </a:p>
          <a:p>
            <a:r>
              <a:t>THE CHART MEANS: Grey: the repaired scheme as printed. The wide pale line: the paper's own row for scheme [6]. The dashed line: the repaired scheme recounted from its algorithm; it lies on top of [6]'s line. At n = 100 that is 25.324 against 25.319 ms: one point addition apart.</a:t>
            </a:r>
          </a:p>
          <a:p>
            <a:r>
              <a:t>TAKEAWAY: Only from the paper's own numbers: its roughly 49 percent computational advantage over [6], 13.224 against 25.814 ms in Fig. 4, is not supported; its bandwidth advantage, n group elements against 2n (Table VI), is unaffected.</a:t>
            </a:r>
          </a:p>
          <a:p>
            <a:r>
              <a:t>SAY ALOUD: We have not implemented or verified scheme [6]. We make no claim about [6]'s real speed; its row is the paper's, taken as printed.</a:t>
            </a:r>
          </a:p>
          <a:p>
            <a:r>
              <a:t>NEXT: Does a clock agree with the count?</a:t>
            </a:r>
          </a:p>
          <a:p>
            <a:r>
              <a:t>IF ASKED 'is [6]'s AggSign overstated too?': Table VI shows its aggregate keeps 2n group elements, which suggests so, but we have not read [6].</a:t>
            </a:r>
          </a:p>
          <a:p>
            <a:r>
              <a:t>20-MINUTE ROUTE: QUICK (45 s): the [6] caveat must still be said aloud.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Counting is one instrument; timing is a second, independent one. We timed aggregate verification of both schemes for n from 50 to 500, fitted straight lines and compared the per-signer slopes.</a:t>
            </a:r>
          </a:p>
          <a:p>
            <a:r>
              <a:t>THE CHARTS MEAN: Left, one machine, an Intel Xeon on Kaggle: Qiao's slope is 356 microseconds per signer and Verma's 168. The dotted red line is what Qiao would look like if its row equalled Verma's, as Table III says; the measured points are nowhere near it. Right, all 11 recorded runs on three configurations: every ratio lies between 1.99 and 2.48, never near the 1.00 the printed rows require. Diamonds are the ratios predicted from the operation counts.</a:t>
            </a:r>
          </a:p>
          <a:p>
            <a:r>
              <a:t>TAKEAWAY: Independent measurements are consistent with the higher cost: about twice Verma's, not equal. We compare ratios, because our curve, library and language differ from the paper's; we make no claim about the paper's absolute hardware timings.</a:t>
            </a:r>
          </a:p>
          <a:p>
            <a:r>
              <a:t>METHOD (backup B9): the laptop's clock ramps about 2x under load, so the CPU is warmed first, workloads are interleaved, medians are taken, and runs with a poor fit are excluded from the median; the medians are the same with or without the exclusion.</a:t>
            </a:r>
          </a:p>
          <a:p>
            <a:r>
              <a:t>THE P-256 GAP: the simple model predicts 1.99 on P-256 but measurement gives about 2.37. Our audit found why: real hash calls also serialise points, 8 per signer for Qiao and 2 for Verma, which is expensive in OpenSSL; pricing them predicts about 2.37 (three fresh repeats). An audit result, not yet a repository test; do not call it interpreter overhead.</a:t>
            </a:r>
          </a:p>
          <a:p>
            <a:r>
              <a:t>LIMITS: three of four machine-and-backend combinations; the Xeon is one sweep; P-256 on one machine.</a:t>
            </a:r>
          </a:p>
          <a:p>
            <a:r>
              <a:t>NEXT: What we established.</a:t>
            </a:r>
          </a:p>
          <a:p>
            <a:r>
              <a:t>IF ASKED 'why is aggregate verification slower than n Ed25519 checks?': our aggregate verification makes about five ctypes calls per signer from Python; Ed25519 is one native call. Aggregation buys bandwidth, not verifier CPU.</a:t>
            </a:r>
          </a:p>
          <a:p>
            <a:r>
              <a:t>20-MINUTE ROUTE: KEEP (1 min): both charts.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columns. Reproduced from the paper: the malicious-KGC forgery against Verma et al.'s scheme works, 8 of 8 on two backends; the same strategy fails against the repaired scheme, 0 of 8. Our own audit: the ablation shows that removing only the T_i binding brings the attack back; the cost row the paper gives for its own scheme does not follow from its own algorithm, about twice at n = 100, Fig. 4 repeats it, and timing agrees; and we tested the caching objection. Not established: the formal security of the repaired scheme, which is the paper's proof and which we have not audited; fidelity to Verma's original paper, because we implemented Qiao et al.'s description of it; and anything about scheme [6]'s real cost.</a:t>
            </a:r>
          </a:p>
          <a:p>
            <a:r>
              <a:t>Leave with three things: how the KGC forges without r_2i or sk_i; why binding T_i changes the algebra; why the cost rows do not follow from the algorithm.</a:t>
            </a:r>
          </a:p>
          <a:p>
            <a:r>
              <a:t>NEXT STEPS, as questions only: does the repaired scheme have weaknesses of its own that its proof does not rule out in practice? We do not present findings on that today.</a:t>
            </a:r>
          </a:p>
          <a:p>
            <a:r>
              <a:t>---- Q&amp;A PREPARATION ----</a:t>
            </a:r>
          </a:p>
          <a:p>
            <a:r>
              <a:t>1. Why does the KGC not need r_2i? The new nonce is v'r_2i/v; the attacker only has to produce a commitment and a response that are consistent, and linearity guarantees that. It never needs the value itself.</a:t>
            </a:r>
          </a:p>
          <a:p>
            <a:r>
              <a:t>2. How does alpha help? It packages the secret-bearing part so it can be rescaled by v'.</a:t>
            </a:r>
          </a:p>
          <a:p>
            <a:r>
              <a:t>3. Why does T_i prevent the old attack? The new commitment must be fixed before the new coefficient can be computed, but it is defined in terms of that coefficient: circular.</a:t>
            </a:r>
          </a:p>
          <a:p>
            <a:r>
              <a:t>4. Does a failed attack prove security? No. One failed attack is evidence about one attack.</a:t>
            </a:r>
          </a:p>
          <a:p>
            <a:r>
              <a:t>5. What did the paper prove? Theorem 1: if DL is hard, the CBAS scheme is EUF-CMA secure in the random-oracle model, via Lemma 2 (user adversary, fork on H_0) and Lemma 3 (malicious KGC, fork on H_1); aggregate security because AggSign uses no secret. Not audited by us.</a:t>
            </a:r>
          </a:p>
          <a:p>
            <a:r>
              <a:t>6. What did we reproduce? The section IV-B forgery against Verma et al.'s scheme, executed end to end on two group backends; the repaired scheme's resistance to that attack.</a:t>
            </a:r>
          </a:p>
          <a:p>
            <a:r>
              <a:t>7. What is our original contribution? The ablation as a causal test; the cost audit (recount, calibration, caching stress test); the independent timing confirmation. The attack and the repair are the paper's.</a:t>
            </a:r>
          </a:p>
          <a:p>
            <a:r>
              <a:t>8. Why two hash functions H_1 and H_2? Independent coefficients on the certificate and secret-key terms, which the paper's two-adversary proof uses. In our audit a single-hash variant still resisted the KGC rescaling, so we do not claim it is needed against this attack.</a:t>
            </a:r>
          </a:p>
          <a:p>
            <a:r>
              <a:t>9. Why is R_i in the new hash? The paper: R_i is part of the public key, and hashing it stops public-key replacement from detaching the certificate. We did not test that.</a:t>
            </a:r>
          </a:p>
          <a:p>
            <a:r>
              <a:t>10. Why certificate-based signatures? No key escrow, and no certificate lookup or revocation channel.</a:t>
            </a:r>
          </a:p>
          <a:p>
            <a:r>
              <a:t>11. Is a malicious KGC realistic? The paper's Postbank example: a master key taken from a data centre.</a:t>
            </a:r>
          </a:p>
          <a:p>
            <a:r>
              <a:t>12. What does the ablation prove? The T_i binding is necessary against this attack, everything else fixed. Not sufficiency, not security.</a:t>
            </a:r>
          </a:p>
          <a:p>
            <a:r>
              <a:t>13. Why does the discrepancy matter? The paper's comparative claim, as cheap as the insecure scheme, rests on the tables, and Figs. 3 to 5 are computed from them.</a:t>
            </a:r>
          </a:p>
          <a:p>
            <a:r>
              <a:t>14. Could caching explain it? It reproduces the single-Verify row but not the aggregate row, and it changes Verma's row too.</a:t>
            </a:r>
          </a:p>
          <a:p>
            <a:r>
              <a:t>15. Why both Ristretto255 and P-256? Independent implementations must agree; results are not an artefact of one curve or library; P-256 is what industrial stacks deploy; Ristretto255 gives a prime-order group.</a:t>
            </a:r>
          </a:p>
          <a:p>
            <a:r>
              <a:t>16. Why does the paper's formula differ from the implementation? We compare against the paper's own printed verification equation; its Table III row equals Verma's, which fits Verma's equation, not this one. How it arose we do not know.</a:t>
            </a:r>
          </a:p>
          <a:p>
            <a:r>
              <a:t>17. Does the discrepancy invalidate the construction? No; cost rows only.</a:t>
            </a:r>
          </a:p>
          <a:p>
            <a:r>
              <a:t>18. Reproduction versus original contribution? Reproduction: re-running the paper's attack and claims. Original: results the paper does not contain: the ablation, the recount, the caching test, the measurements.</a:t>
            </a:r>
          </a:p>
          <a:p>
            <a:r>
              <a:t>20-MINUTE ROUTE: KEEP (45 s): three things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Today we reproduced the paper's attack, tested its repair, and audited its cost claims. For the final presentation we plan to go one step further and test the repaired scheme itself. Four pieces of work.</a:t>
            </a:r>
          </a:p>
          <a:p>
            <a:r>
              <a:t>THE FOUR ITEMS: One, faster verification: does batching and precomputation (multi-scalar multiplication, cached signer data) change the cost comparison when both schemes get exactly the same treatment? Two, the aggregator in practice: what happens to availability when one signature in a batch is bad, and can the faulty signature be located? Three, a second look at the attack: is the paper's attack the weakest one against Verma's scheme, and which change in the repair closes which door? Four, open analysis: nonce reuse on sensors, and the paper's forward-security claim, which we have not examined yet.</a:t>
            </a:r>
          </a:p>
          <a:p>
            <a:r>
              <a:t>TAKEAWAY: Next we move from reproducing the paper to testing the repaired scheme itself.</a:t>
            </a:r>
          </a:p>
          <a:p>
            <a:r>
              <a:t>STATUS (for you, not for the slide; from PRESENTATION_2_FINAL.md on main): items one to three already have code, tests and write-ups in the repository (OPTIMIZATION.md, AGGREGATOR.md, KEYONLY_FORGERY.md). Item four is not started. Optional if time allows: the bandwidth cost of the aggregate, and a small MQTT simulation.</a:t>
            </a:r>
          </a:p>
          <a:p>
            <a:r>
              <a:t>IF PRESSED about results for items one to three: say honestly that the code exists and the results will be presented in the final talk. Do not improvise numbers or claims today; today's claims are the ones on the earlier slides.</a:t>
            </a:r>
          </a:p>
          <a:p>
            <a:r>
              <a:t>NEXT: Thank you and questions.</a:t>
            </a:r>
          </a:p>
          <a:p>
            <a:r>
              <a:t>20-MINUTE ROUTE: KEEP, quick (30 s): read the four headings, then stop.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HERE. The main presentation ends on this slide.</a:t>
            </a:r>
          </a:p>
          <a:p>
            <a:r>
              <a:t>SAY: Thank you. I am happy to take questions.</a:t>
            </a:r>
          </a:p>
          <a:p>
            <a:r>
              <a:t>Do NOT advance into the appendix unless a question needs it. Backup slides are for questions only. Jump to them by slide number or from the list on the next slide.</a:t>
            </a:r>
          </a:p>
          <a:p>
            <a:r>
              <a:t>WHICH BACKUP FOR WHICH QUESTION: the full attack algebra: B3. Both complete schemes: B1 and B2. Correctness of aggregate verification: B4. The adversaries and the paper's proof (not audited by us): B5. Why T_i is in both hashes: B6. The complete operation counts: B7. Caching objections in full: B8. Benchmark method and the P-256 gap: B9. Tests and commands: B10. The terminal demo failed or took too long: B11 (Demos 1 and 2) and B12 (Demo 3).</a:t>
            </a:r>
          </a:p>
          <a:p>
            <a:r>
              <a:t>The Q&amp;A preparation for the 18 likely questions is in the notes of slide 31.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SLIDES. Use only if a question calls for them; do not present them as part of the talk.</a:t>
            </a:r>
          </a:p>
          <a:p>
            <a:r>
              <a:t>B1 and B2: the complete Verma and Qiao schemes. B3: the full attack derivation. B4: correctness of aggregate verification. B5: the two adversaries and the paper's proof, which we did not audit. B6: why T_i is hashed into both H_1 and H_2. B7: the complete operation-count table. B8: caching and precomputation in full. B9: benchmark method and the P-256 gap. B10: tests and reproducibility. B11 and B12: captured demo output, if the terminal fails.</a:t>
            </a:r>
          </a:p>
          <a:p>
            <a:r>
              <a:t>Each backup slide has its own speaker notes.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scheme as Qiao et al. review it in their section IV-A; our implementation follows this description (src/cbas/verma.py). We did not cross-check Verma et al.'s original paper.</a:t>
            </a:r>
          </a:p>
          <a:p>
            <a:r>
              <a:t>Notation: s^k_TA is the master secret key, P^k_TA the KGC public key, h^i_0 the per-signer certificate hash, Delta the public state information. 'Very' is the paper's name for the aggregate verification algorithm.</a:t>
            </a:r>
          </a:p>
          <a:p>
            <a:r>
              <a:t>The certificate check c_i P = R_1i + H_0(id_i||pk_i) P_TA lets anyone verify a certificate from public values.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repaired scheme from the paper's section V-A; our implementation is src/cbas/scheme.py, a direct transliteration.</a:t>
            </a:r>
          </a:p>
          <a:p>
            <a:r>
              <a:t>Two printed typos in the paper are corrected in our code: KeyGen prints pk_i = s_i, which we implement as s_i P; and the certificate check prints R_1i, which we implement as R_i.</a:t>
            </a:r>
          </a:p>
          <a:p>
            <a:r>
              <a:t>Other inconsistencies we noticed in the paper's text: Setup declares H_1 and H_2 over five inputs with no slot for T_i, while Sign and Very hash six fields including T_i; we follow Sign and Very. Lemma 3's H_1 table omits T_i. Z*_q and Z*_p are used interchangeably.</a:t>
            </a:r>
          </a:p>
          <a:p>
            <a:r>
              <a:t>Hash instantiation (ours): SHA-512 over a length-prefixed encoding with a distinct domain label for each of H_0, H_1, H_2, reduced mod p.</a:t>
            </a:r>
          </a:p>
          <a:p>
            <a:r>
              <a:t>Notation map: s^k_TA is s in code, P^k_TA is pk_ta, h^i_0 is h0, Delta is delta, 'Very' is agg_verify.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(2a) to (2d) and the check (3) are the paper's section IV-B. The right-hand column also shows the one-line form with lambda = v-prime over v_i, which is ours: R-prime = R_1i + lambda (R_i - R_1i) and z-prime = c_i + lambda (z_i - c_i). It works because, once the certificate is removed, (z_i - c_i) P = (R_i - R_1i) + v_i pk_i, and multiplying both sides by lambda turns the coefficient v_i into v-prime.</a:t>
            </a:r>
          </a:p>
          <a:p>
            <a:r>
              <a:t>The table maps each paper step to the lines of forge_verma in src/cbas/attack.py. The function takes no secret key as an argument; a test checks this.</a:t>
            </a:r>
          </a:p>
          <a:p>
            <a:r>
              <a:t>Why it verifies: z-prime P = (v-prime r_2i / v_i) P + c_i P + sk_i v-prime P; substitute c_i P = R_1i + H_0 P_TA and pk_i = sk_i 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derivations are one-line substitutions. For Qiao et al., c_i = r_i + s h^i_0 and R_i = r_i P, T_i = t_i P, pk_i = sk_i P. For Verma et al., c_i P = R_1i + h^i_0 P_TA and R_i = R_1i + r_2i P.</a:t>
            </a:r>
          </a:p>
          <a:p>
            <a:r>
              <a:t>These are the paper's own derivations (section V-A for Qiao et al.). Our tests check correctness for n up to 17 and tamper rejection on both backends.</a:t>
            </a:r>
          </a:p>
          <a:p>
            <a:r>
              <a:t>The operation count of the Qiao equation is on slide 26; this slide is only about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security games are the paper's section III-B; the proof is its section V-B. We have NOT audited the proofs. The bounds are quoted as printed.</a:t>
            </a:r>
          </a:p>
          <a:p>
            <a:r>
              <a:t>F1, the malicious user, models public-key replacement: it can know sk* but never the certificate of the challenge identity. F2, the malicious KGC, knows the master key, so every certificate, but never sk*.</a:t>
            </a:r>
          </a:p>
          <a:p>
            <a:r>
              <a:t>Theorem 1 follows from two lemmas on the single-signer scheme; aggregate security follows because the aggregator uses no secret. Lemma 2 forks the random oracle H_0 and Lemma 3 forks H_1.</a:t>
            </a:r>
          </a:p>
          <a:p>
            <a:r>
              <a:t>Inconsistencies we noticed in the lemma texts: Lemma 3's H_1 table omits T_i although signing hashes it; Lemma 3 declares H_0 over {0,1}* x G while the construction uses x G x G; Z*_q and Z*_p are mixed; Lemma 3's secret-key query returns pk_i. We do not claim these invalidate the proof; we simply did not audit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audit check of ours (presentation/audit/dagger_checks.py), run on both backends; it is not part of the repository's test suite. It tests two one-shot rescaling attacks against four placements of T_i.</a:t>
            </a:r>
          </a:p>
          <a:p>
            <a:r>
              <a:t>The KGC attack strips c_i u_i and rescales the part carrying sk_i v_i. It needs v-prime to be computable before the new commitment, so it succeeds exactly when T_i is not in H_1. The mirror attack is by a malicious user who knows sk_i but not c_i; it strips sk_i v_i and rescales the part carrying c_i u_i, and succeeds exactly when T_i is not in H_2. So each hash protects the coefficient of one secret.</a:t>
            </a:r>
          </a:p>
          <a:p>
            <a:r>
              <a:t>Also checked: a variant that uses a single hash for both coefficients (u equal to v) with T_i bound still resisted the KGC rescaling. So we do NOT claim that separating H_1 and H_2 is needed to block this attack; it matches the paper's three-hash model, and the proof structure uses two independent coefficients.</a:t>
            </a:r>
          </a:p>
          <a:p>
            <a:r>
              <a:t>The mirror attack is a forgery by an adversary of the paper's type F1 (knows sk, not the certificate); it is not described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tables are printed row against counted row. Counts come from the instrumented backend and are identical on Ristretto255 and P-256; Verma's counted rows reproduce the printed rows except Sign, where the printed row omits one point addition (R_i = R_1i + r_2i P): negligible, and it does not affect the argument, since the Table III rows carry it.</a:t>
            </a:r>
          </a:p>
          <a:p>
            <a:r>
              <a:t>Qiao's AggSign is zero group operations: n minus 1 scalar additions modulo p. The paper's (n-1) T_a overstates it; in the paper's favour, and we report it.</a:t>
            </a:r>
          </a:p>
          <a:p>
            <a:r>
              <a:t>The chart: per-signer cost under the paper's Table IV: 125 microseconds printed against 251 recounted (ratio 2.008). The scalar multiplication T_e dominates in both.</a:t>
            </a:r>
          </a:p>
          <a:p>
            <a:r>
              <a:t>Source for the counts: presentation/audit/verify_claims.py (reads the code), regression-tested in tests/test_opcount.py and tests/test_verma.py.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table behind the caching slide. 'Cache h_0' stores the hash h^i_0 per signer: derived by subtracting one hash per signer from each scheme (the repository's test covers this objection). 'Cache C_i' stores the per-signer point C_i = R_i + h^i_0 P_TA (for Verma, h^i_0 P_TA); the counts in the last row were measured by our audit script on both backends and are not yet a repository test.</a:t>
            </a:r>
          </a:p>
          <a:p>
            <a:r>
              <a:t>Under every row the two schemes still differ, and aggregate verification stays above the printed n + 2 scalar multiplications.</a:t>
            </a:r>
          </a:p>
          <a:p>
            <a:r>
              <a:t>Folding: sum of u_i R_i + (sum of u_i h^i_0) P_TA equals (sum of u_i c_i) P, a single multiplication, but c_i is the signer's secret certificate, unavailable to a verifier; the identity itself is checked by a repository test.</a:t>
            </a:r>
          </a:p>
          <a:p>
            <a:r>
              <a:t>Multi-scalar multiplication (Straus, Pippenger) lowers the cost of a sum of products but is a different cost model and applies equally to both schemes.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 from bench/harness.py and bench/sweep.py. The laptop (Ryzen 5 7520U, powersave governor, boost on) ramps its clock by about 2.07x once loaded; a first sweep reported n = 100 as cheaper than n = 50 for that reason. stabilize() spins on real group operations until the cost is steady for several chunks and at least four seconds have passed. measure_many() times every workload once per round, interleaved across schemes as well as n, because the headline result is a ratio.</a:t>
            </a:r>
          </a:p>
          <a:p>
            <a:r>
              <a:t>Runs with r squared under 0.99 are reported but excluded from the median: for both Ryzen backends the medians (2.153 and 2.366) are the same with all five runs. Machines: Ryzen 5 7520U (Python 3.12.3) and an Intel Xeon at 2.20 GHz on Kaggle (Python 3.12.13), both libsodium 1.0.18. All timings are Python plus ctypes plus the library; ratios and slopes are the defensible quantities.</a:t>
            </a:r>
          </a:p>
          <a:p>
            <a:r>
              <a:t>P-256: the Te/Ta/Th model predicts 1.99 on P-256 but the measured median is 2.37 (range 2.18 to 2.40). Our audit prices the real hash calls, which also serialise points: 8 point serialisations per Qiao signer against 2 for Verma, about 2.2 point additions each on OpenSSL; the predicted ratio becomes 2.37 (three fresh repeats: 2.365, 2.372, 2.374). It is an audit result and not yet a repository test.</a:t>
            </a:r>
          </a:p>
          <a:p>
            <a:r>
              <a:t>On absolute cost: n independent Ed25519 verifications are faster here than one aggregate verification (47.3 ms against 177.7 ms at n = 500 on the Xeon): aggregation buys bandwidth, not verifier CPU, in this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commands run from the repository root with the project's virtual environment. Code checkpoint: git tag presentation-1-interim (commit 881b7b0), branch presentation-1-work. On main, `make attack` prints a third target that belongs to a later presentation.</a:t>
            </a:r>
          </a:p>
          <a:p>
            <a:r>
              <a:t>Test counts are collected by pytest: 221 in total. Every fixture runs on both backends (101 tests each) except 19 that do not use a backend (encoding, harness and one hashing test). The self-test has 62 checks: 31 per backend.</a:t>
            </a:r>
          </a:p>
          <a:p>
            <a:r>
              <a:t>The audit scripts under presentation/audit/ recompute every number used in this deck from the code and the tracked benchmark JSON files, with assertions; the figures are drawn from the data they write (presentation/data/).</a:t>
            </a:r>
          </a:p>
          <a:p>
            <a:r>
              <a:t>Not in the repository's test-suite: the C_i-caching counts, the recomputation of the paper's Figs. 3 to 5, the T_i placement checks and the P-256 real-hash prediction; they are in presentation/audit/.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if the terminal fails, the command errors, or the environment is slow. Say: 'here is the output from my earlier run' and walk the same three points as the live demo.</a:t>
            </a:r>
          </a:p>
          <a:p>
            <a:r>
              <a:t>LEFT, Demo 1 (Target 1, Verma et al.): the honest signature verifies; the attacker is the KGC and does not know sk_i; the forged signature on the SHUTDOWN message verifies; it also survives aggregation.</a:t>
            </a:r>
          </a:p>
          <a:p>
            <a:r>
              <a:t>RIGHT, Demo 2 (Target 2, Qiao et al.): the honest signature verifies; the forgery attempt does not succeed; 16 candidates T-prime are tried and all are different. The candidate prefixes differ on every run because the keys are random.</a:t>
            </a:r>
          </a:p>
          <a:p>
            <a:r>
              <a:t>These are the actual stdout lines of `make attack` captured on 2026-10-07 on branch presentation-1-work (tag presentation-1-interim); nothing is edited. The files are also in presentation/demo_fallback/.</a:t>
            </a:r>
          </a:p>
          <a:p>
            <a:r>
              <a:t>WORDING: the repaired implementation does not admit this forgery route. That is evidence, not a proof of security.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if the pytest command fails or is slow. Say: 'here is the output from my earlier run.'</a:t>
            </a:r>
          </a:p>
          <a:p>
            <a:r>
              <a:t>What to point at: ten tests, all PASSED. Eight are the forgery-restored cases of the ablated variant (4 target messages on each of 2 backends); two check that the ablated variant is still a working scheme that keeps R_i in the hashes and separate u and v.</a:t>
            </a:r>
          </a:p>
          <a:p>
            <a:r>
              <a:t>The line at the bottom says 10 passed. Long test ids are shortened with an ellipsis in this screenshot; nothing else is edited. The file is also presentation/demo_fallback/demo3_ablation.png.</a:t>
            </a:r>
          </a:p>
          <a:p>
            <a:r>
              <a:t>WORDING: the ablation isolates the T_i binding as the critical difference for blocking the reproduced rescaling attack. It does not show that the other changes are unnecessary, or that the full scheme is secure.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4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slide" Target="slide4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png"/><Relationship Id="rId4" Type="http://schemas.openxmlformats.org/officeDocument/2006/relationships/image" Target="../media/image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spcBef>
                <a:spcPts val="0"/>
              </a:spcBef>
              <a:spcAft>
                <a:spcPts val="0"/>
              </a:spcAft>
            </a:pPr>
            <a:r>
              <a:rPr sz="1300" b="1" i="0" spc="140">
                <a:solidFill>
                  <a:srgbClr val="9FB3C8"/>
                </a:solidFill>
                <a:latin typeface="Calibri"/>
              </a:rPr>
              <a:t>MTECH INTERIM RESEARCH PRESENTATION</a:t>
            </a:r>
          </a:p>
        </p:txBody>
      </p:sp>
      <p:sp>
        <p:nvSpPr>
          <p:cNvPr id="3" name="TextBox 2"/>
          <p:cNvSpPr txBox="1"/>
          <p:nvPr/>
        </p:nvSpPr>
        <p:spPr>
          <a:xfrm>
            <a:off x="731520" y="1097280"/>
            <a:ext cx="8229600" cy="2468880"/>
          </a:xfrm>
          <a:prstGeom prst="rect">
            <a:avLst/>
          </a:prstGeom>
          <a:noFill/>
        </p:spPr>
        <p:txBody>
          <a:bodyPr wrap="square" lIns="0" rIns="0" tIns="0" bIns="0" anchor="t">
            <a:spAutoFit/>
          </a:bodyPr>
          <a:lstStyle/>
          <a:p>
            <a:pPr algn="l">
              <a:lnSpc>
                <a:spcPct val="95000"/>
              </a:lnSpc>
              <a:spcBef>
                <a:spcPts val="0"/>
              </a:spcBef>
              <a:spcAft>
                <a:spcPts val="0"/>
              </a:spcAft>
            </a:pPr>
            <a:r>
              <a:rPr sz="4000" b="1" i="0">
                <a:solidFill>
                  <a:srgbClr val="FFFFFF"/>
                </a:solidFill>
                <a:latin typeface="Cambria"/>
              </a:rPr>
              <a:t>An Efficient Certificate-Based</a:t>
            </a:r>
          </a:p>
          <a:p>
            <a:pPr algn="l">
              <a:lnSpc>
                <a:spcPct val="95000"/>
              </a:lnSpc>
              <a:spcBef>
                <a:spcPts val="0"/>
              </a:spcBef>
              <a:spcAft>
                <a:spcPts val="0"/>
              </a:spcAft>
            </a:pPr>
            <a:r>
              <a:rPr sz="4000" b="1" i="0">
                <a:solidFill>
                  <a:srgbClr val="FFFFFF"/>
                </a:solidFill>
                <a:latin typeface="Cambria"/>
              </a:rPr>
              <a:t>Aggregate Signature Scheme With</a:t>
            </a:r>
          </a:p>
          <a:p>
            <a:pPr algn="l">
              <a:lnSpc>
                <a:spcPct val="95000"/>
              </a:lnSpc>
              <a:spcBef>
                <a:spcPts val="0"/>
              </a:spcBef>
              <a:spcAft>
                <a:spcPts val="0"/>
              </a:spcAft>
            </a:pPr>
            <a:r>
              <a:rPr sz="4000" b="1" i="0">
                <a:solidFill>
                  <a:srgbClr val="FFFFFF"/>
                </a:solidFill>
                <a:latin typeface="Cambria"/>
              </a:rPr>
              <a:t>Provable Security for Industrial</a:t>
            </a:r>
          </a:p>
          <a:p>
            <a:pPr algn="l">
              <a:lnSpc>
                <a:spcPct val="95000"/>
              </a:lnSpc>
              <a:spcBef>
                <a:spcPts val="0"/>
              </a:spcBef>
              <a:spcAft>
                <a:spcPts val="0"/>
              </a:spcAft>
            </a:pPr>
            <a:r>
              <a:rPr sz="4000" b="1" i="0">
                <a:solidFill>
                  <a:srgbClr val="FFFFFF"/>
                </a:solidFill>
                <a:latin typeface="Cambria"/>
              </a:rPr>
              <a:t>Internet of Things</a:t>
            </a:r>
          </a:p>
        </p:txBody>
      </p:sp>
      <p:sp>
        <p:nvSpPr>
          <p:cNvPr id="4" name="TextBox 3"/>
          <p:cNvSpPr txBox="1"/>
          <p:nvPr/>
        </p:nvSpPr>
        <p:spPr>
          <a:xfrm>
            <a:off x="731520" y="3703320"/>
            <a:ext cx="8412480" cy="411480"/>
          </a:xfrm>
          <a:prstGeom prst="rect">
            <a:avLst/>
          </a:prstGeom>
          <a:noFill/>
        </p:spPr>
        <p:txBody>
          <a:bodyPr wrap="square" lIns="0" rIns="0" tIns="0" bIns="0" anchor="t">
            <a:spAutoFit/>
          </a:bodyPr>
          <a:lstStyle/>
          <a:p>
            <a:pPr algn="l">
              <a:spcBef>
                <a:spcPts val="0"/>
              </a:spcBef>
              <a:spcAft>
                <a:spcPts val="0"/>
              </a:spcAft>
            </a:pPr>
            <a:r>
              <a:rPr sz="2000" b="0" i="0">
                <a:solidFill>
                  <a:srgbClr val="C3D0DF"/>
                </a:solidFill>
                <a:latin typeface="Calibri"/>
              </a:rPr>
              <a:t>Reproducing an attack, testing its repair, and auditing the cost claims</a:t>
            </a:r>
          </a:p>
        </p:txBody>
      </p:sp>
      <p:sp>
        <p:nvSpPr>
          <p:cNvPr id="5" name="Rounded Rectangle 4"/>
          <p:cNvSpPr/>
          <p:nvPr/>
        </p:nvSpPr>
        <p:spPr>
          <a:xfrm>
            <a:off x="731520" y="4434840"/>
            <a:ext cx="6949440" cy="1051560"/>
          </a:xfrm>
          <a:prstGeom prst="roundRect">
            <a:avLst>
              <a:gd name="adj" fmla="val 8695"/>
            </a:avLst>
          </a:prstGeom>
          <a:solidFill>
            <a:srgbClr val="17283B"/>
          </a:solidFill>
          <a:ln w="12700">
            <a:solidFill>
              <a:srgbClr val="2B3F55"/>
            </a:solidFill>
          </a:ln>
          <a:effectLst/>
        </p:spPr>
        <p:txBody>
          <a:bodyPr rtlCol="0" anchor="ctr" wrap="square" lIns="73152" rIns="73152" tIns="36576" bIns="36576"/>
          <a:lstStyle/>
          <a:p>
            <a:pPr algn="ctr"/>
          </a:p>
        </p:txBody>
      </p:sp>
      <p:sp>
        <p:nvSpPr>
          <p:cNvPr id="6" name="TextBox 5"/>
          <p:cNvSpPr txBox="1"/>
          <p:nvPr/>
        </p:nvSpPr>
        <p:spPr>
          <a:xfrm>
            <a:off x="960120" y="4526280"/>
            <a:ext cx="6492240" cy="228600"/>
          </a:xfrm>
          <a:prstGeom prst="rect">
            <a:avLst/>
          </a:prstGeom>
          <a:noFill/>
        </p:spPr>
        <p:txBody>
          <a:bodyPr wrap="square" lIns="0" rIns="0" tIns="0" bIns="0" anchor="t">
            <a:spAutoFit/>
          </a:bodyPr>
          <a:lstStyle/>
          <a:p>
            <a:pPr algn="l">
              <a:spcBef>
                <a:spcPts val="0"/>
              </a:spcBef>
              <a:spcAft>
                <a:spcPts val="0"/>
              </a:spcAft>
            </a:pPr>
            <a:r>
              <a:rPr sz="1150" b="1" i="0" spc="120">
                <a:solidFill>
                  <a:srgbClr val="8FA1B3"/>
                </a:solidFill>
                <a:latin typeface="Calibri"/>
              </a:rPr>
              <a:t>PAPER UNDER STUDY</a:t>
            </a:r>
          </a:p>
        </p:txBody>
      </p:sp>
      <p:sp>
        <p:nvSpPr>
          <p:cNvPr id="7" name="TextBox 6"/>
          <p:cNvSpPr txBox="1"/>
          <p:nvPr/>
        </p:nvSpPr>
        <p:spPr>
          <a:xfrm>
            <a:off x="960120" y="4800600"/>
            <a:ext cx="6492240" cy="274320"/>
          </a:xfrm>
          <a:prstGeom prst="rect">
            <a:avLst/>
          </a:prstGeom>
          <a:noFill/>
        </p:spPr>
        <p:txBody>
          <a:bodyPr wrap="square" lIns="0" rIns="0" tIns="0" bIns="0" anchor="t">
            <a:spAutoFit/>
          </a:bodyPr>
          <a:lstStyle/>
          <a:p>
            <a:pPr algn="l">
              <a:spcBef>
                <a:spcPts val="0"/>
              </a:spcBef>
              <a:spcAft>
                <a:spcPts val="0"/>
              </a:spcAft>
            </a:pPr>
            <a:r>
              <a:rPr sz="1500" b="0" i="0">
                <a:solidFill>
                  <a:srgbClr val="FFFFFF"/>
                </a:solidFill>
                <a:latin typeface="Calibri"/>
              </a:rPr>
              <a:t>Zirui Qiao et al.  ·  IEEE Systems Journal, Vol. 17, No. 1, 2023</a:t>
            </a:r>
          </a:p>
        </p:txBody>
      </p:sp>
      <p:sp>
        <p:nvSpPr>
          <p:cNvPr id="8" name="TextBox 7"/>
          <p:cNvSpPr txBox="1"/>
          <p:nvPr/>
        </p:nvSpPr>
        <p:spPr>
          <a:xfrm>
            <a:off x="960120" y="5102352"/>
            <a:ext cx="6492240" cy="274320"/>
          </a:xfrm>
          <a:prstGeom prst="rect">
            <a:avLst/>
          </a:prstGeom>
          <a:noFill/>
        </p:spPr>
        <p:txBody>
          <a:bodyPr wrap="square" lIns="0" rIns="0" tIns="0" bIns="0" anchor="t">
            <a:spAutoFit/>
          </a:bodyPr>
          <a:lstStyle/>
          <a:p>
            <a:pPr algn="l">
              <a:spcBef>
                <a:spcPts val="0"/>
              </a:spcBef>
              <a:spcAft>
                <a:spcPts val="0"/>
              </a:spcAft>
            </a:pPr>
            <a:r>
              <a:rPr sz="1350" b="0" i="0">
                <a:solidFill>
                  <a:srgbClr val="B4C3D4"/>
                </a:solidFill>
                <a:latin typeface="Calibri"/>
              </a:rPr>
              <a:t>DOI: 10.1109/JSYST.2022.3188012</a:t>
            </a:r>
          </a:p>
        </p:txBody>
      </p:sp>
      <p:sp>
        <p:nvSpPr>
          <p:cNvPr id="9" name="TextBox 8"/>
          <p:cNvSpPr txBox="1"/>
          <p:nvPr/>
        </p:nvSpPr>
        <p:spPr>
          <a:xfrm>
            <a:off x="731520" y="5852160"/>
            <a:ext cx="10789920" cy="310896"/>
          </a:xfrm>
          <a:prstGeom prst="rect">
            <a:avLst/>
          </a:prstGeom>
          <a:noFill/>
        </p:spPr>
        <p:txBody>
          <a:bodyPr wrap="square" lIns="0" rIns="0" tIns="0" bIns="0" anchor="t">
            <a:spAutoFit/>
          </a:bodyPr>
          <a:lstStyle/>
          <a:p>
            <a:pPr algn="l">
              <a:spcBef>
                <a:spcPts val="0"/>
              </a:spcBef>
              <a:spcAft>
                <a:spcPts val="0"/>
              </a:spcAft>
            </a:pPr>
            <a:r>
              <a:rPr sz="1600" b="1" i="0">
                <a:solidFill>
                  <a:srgbClr val="DDE5EE"/>
                </a:solidFill>
                <a:latin typeface="Calibri"/>
              </a:rPr>
              <a:t>Anurag Kaushal (2025202013)  ·  Pranav Vyas (2025202015)  ·  Taufique (2025202007)</a:t>
            </a:r>
          </a:p>
        </p:txBody>
      </p:sp>
      <p:sp>
        <p:nvSpPr>
          <p:cNvPr id="10" name="TextBox 9"/>
          <p:cNvSpPr txBox="1"/>
          <p:nvPr/>
        </p:nvSpPr>
        <p:spPr>
          <a:xfrm>
            <a:off x="731520" y="6217920"/>
            <a:ext cx="10789920" cy="274320"/>
          </a:xfrm>
          <a:prstGeom prst="rect">
            <a:avLst/>
          </a:prstGeom>
          <a:noFill/>
        </p:spPr>
        <p:txBody>
          <a:bodyPr wrap="square" lIns="0" rIns="0" tIns="0" bIns="0" anchor="t">
            <a:spAutoFit/>
          </a:bodyPr>
          <a:lstStyle/>
          <a:p>
            <a:pPr algn="l">
              <a:spcBef>
                <a:spcPts val="0"/>
              </a:spcBef>
              <a:spcAft>
                <a:spcPts val="0"/>
              </a:spcAft>
            </a:pPr>
            <a:r>
              <a:rPr sz="1400" b="0" i="0">
                <a:solidFill>
                  <a:srgbClr val="9FB3C8"/>
                </a:solidFill>
                <a:latin typeface="Calibri"/>
              </a:rPr>
              <a:t>Research in Information Security  ·  IIIT Hyderabad</a:t>
            </a:r>
          </a:p>
        </p:txBody>
      </p:sp>
      <p:sp>
        <p:nvSpPr>
          <p:cNvPr id="11" name="Rounded Rectangle 10"/>
          <p:cNvSpPr/>
          <p:nvPr/>
        </p:nvSpPr>
        <p:spPr>
          <a:xfrm>
            <a:off x="9601200" y="1600200"/>
            <a:ext cx="1920240" cy="475488"/>
          </a:xfrm>
          <a:prstGeom prst="roundRect">
            <a:avLst>
              <a:gd name="adj" fmla="val 19230"/>
            </a:avLst>
          </a:prstGeom>
          <a:solidFill>
            <a:srgbClr val="352C59"/>
          </a:solidFill>
          <a:ln w="19050">
            <a:solidFill>
              <a:srgbClr val="6B3FA0"/>
            </a:solidFill>
          </a:ln>
          <a:effectLst/>
        </p:spPr>
        <p:txBody>
          <a:bodyPr rtlCol="0" anchor="ctr" wrap="square" lIns="73152" rIns="73152" tIns="36576" bIns="36576"/>
          <a:lstStyle/>
          <a:p>
            <a:pPr algn="ctr">
              <a:spcBef>
                <a:spcPts val="0"/>
              </a:spcBef>
              <a:spcAft>
                <a:spcPts val="0"/>
              </a:spcAft>
            </a:pPr>
            <a:r>
              <a:rPr sz="1500" b="1" i="0">
                <a:solidFill>
                  <a:srgbClr val="E4EAF0"/>
                </a:solidFill>
                <a:latin typeface="Calibri"/>
              </a:rPr>
              <a:t>KGC</a:t>
            </a:r>
          </a:p>
        </p:txBody>
      </p:sp>
      <p:sp>
        <p:nvSpPr>
          <p:cNvPr id="12" name="Rounded Rectangle 11"/>
          <p:cNvSpPr/>
          <p:nvPr/>
        </p:nvSpPr>
        <p:spPr>
          <a:xfrm>
            <a:off x="9601200" y="2377440"/>
            <a:ext cx="1920240" cy="475488"/>
          </a:xfrm>
          <a:prstGeom prst="roundRect">
            <a:avLst>
              <a:gd name="adj" fmla="val 19230"/>
            </a:avLst>
          </a:prstGeom>
          <a:solidFill>
            <a:srgbClr val="17385C"/>
          </a:solidFill>
          <a:ln w="19050">
            <a:solidFill>
              <a:srgbClr val="1D5EA8"/>
            </a:solidFill>
          </a:ln>
          <a:effectLst/>
        </p:spPr>
        <p:txBody>
          <a:bodyPr rtlCol="0" anchor="ctr" wrap="square" lIns="73152" rIns="73152" tIns="36576" bIns="36576"/>
          <a:lstStyle/>
          <a:p>
            <a:pPr algn="ctr">
              <a:spcBef>
                <a:spcPts val="0"/>
              </a:spcBef>
              <a:spcAft>
                <a:spcPts val="0"/>
              </a:spcAft>
            </a:pPr>
            <a:r>
              <a:rPr sz="1500" b="1" i="0">
                <a:solidFill>
                  <a:srgbClr val="E4EAF0"/>
                </a:solidFill>
                <a:latin typeface="Calibri"/>
              </a:rPr>
              <a:t>Sensors</a:t>
            </a:r>
          </a:p>
        </p:txBody>
      </p:sp>
      <p:sp>
        <p:nvSpPr>
          <p:cNvPr id="13" name="Rounded Rectangle 12"/>
          <p:cNvSpPr/>
          <p:nvPr/>
        </p:nvSpPr>
        <p:spPr>
          <a:xfrm>
            <a:off x="9601200" y="3154680"/>
            <a:ext cx="1920240" cy="475488"/>
          </a:xfrm>
          <a:prstGeom prst="roundRect">
            <a:avLst>
              <a:gd name="adj" fmla="val 19230"/>
            </a:avLst>
          </a:prstGeom>
          <a:solidFill>
            <a:srgbClr val="503C1D"/>
          </a:solidFill>
          <a:ln w="19050">
            <a:solidFill>
              <a:srgbClr val="B26A00"/>
            </a:solidFill>
          </a:ln>
          <a:effectLst/>
        </p:spPr>
        <p:txBody>
          <a:bodyPr rtlCol="0" anchor="ctr" wrap="square" lIns="73152" rIns="73152" tIns="36576" bIns="36576"/>
          <a:lstStyle/>
          <a:p>
            <a:pPr algn="ctr">
              <a:spcBef>
                <a:spcPts val="0"/>
              </a:spcBef>
              <a:spcAft>
                <a:spcPts val="0"/>
              </a:spcAft>
            </a:pPr>
            <a:r>
              <a:rPr sz="1500" b="1" i="0">
                <a:solidFill>
                  <a:srgbClr val="E4EAF0"/>
                </a:solidFill>
                <a:latin typeface="Calibri"/>
              </a:rPr>
              <a:t>Aggregator</a:t>
            </a:r>
          </a:p>
        </p:txBody>
      </p:sp>
      <p:sp>
        <p:nvSpPr>
          <p:cNvPr id="14" name="Rounded Rectangle 13"/>
          <p:cNvSpPr/>
          <p:nvPr/>
        </p:nvSpPr>
        <p:spPr>
          <a:xfrm>
            <a:off x="9601200" y="3931920"/>
            <a:ext cx="1920240" cy="475488"/>
          </a:xfrm>
          <a:prstGeom prst="roundRect">
            <a:avLst>
              <a:gd name="adj" fmla="val 19230"/>
            </a:avLst>
          </a:prstGeom>
          <a:solidFill>
            <a:srgbClr val="273646"/>
          </a:solidFill>
          <a:ln w="19050">
            <a:solidFill>
              <a:srgbClr val="455A6E"/>
            </a:solidFill>
          </a:ln>
          <a:effectLst/>
        </p:spPr>
        <p:txBody>
          <a:bodyPr rtlCol="0" anchor="ctr" wrap="square" lIns="73152" rIns="73152" tIns="36576" bIns="36576"/>
          <a:lstStyle/>
          <a:p>
            <a:pPr algn="ctr">
              <a:spcBef>
                <a:spcPts val="0"/>
              </a:spcBef>
              <a:spcAft>
                <a:spcPts val="0"/>
              </a:spcAft>
            </a:pPr>
            <a:r>
              <a:rPr sz="1500" b="1" i="0">
                <a:solidFill>
                  <a:srgbClr val="E4EAF0"/>
                </a:solidFill>
                <a:latin typeface="Calibri"/>
              </a:rPr>
              <a:t>Cloud verifier</a:t>
            </a:r>
          </a:p>
        </p:txBody>
      </p:sp>
      <p:cxnSp>
        <p:nvCxnSpPr>
          <p:cNvPr id="15" name="Connector 14"/>
          <p:cNvCxnSpPr/>
          <p:nvPr/>
        </p:nvCxnSpPr>
        <p:spPr>
          <a:xfrm>
            <a:off x="10561320" y="2075688"/>
            <a:ext cx="0" cy="301752"/>
          </a:xfrm>
          <a:prstGeom prst="line">
            <a:avLst/>
          </a:prstGeom>
          <a:ln w="19050">
            <a:solidFill>
              <a:srgbClr val="6F8195"/>
            </a:solidFill>
            <a:tailEnd type="triangle" w="med" len="med"/>
          </a:ln>
        </p:spPr>
      </p:cxnSp>
      <p:cxnSp>
        <p:nvCxnSpPr>
          <p:cNvPr id="16" name="Connector 15"/>
          <p:cNvCxnSpPr/>
          <p:nvPr/>
        </p:nvCxnSpPr>
        <p:spPr>
          <a:xfrm>
            <a:off x="10561320" y="2852928"/>
            <a:ext cx="0" cy="301752"/>
          </a:xfrm>
          <a:prstGeom prst="line">
            <a:avLst/>
          </a:prstGeom>
          <a:ln w="19050">
            <a:solidFill>
              <a:srgbClr val="6F8195"/>
            </a:solidFill>
            <a:tailEnd type="triangle" w="med" len="med"/>
          </a:ln>
        </p:spPr>
      </p:cxnSp>
      <p:cxnSp>
        <p:nvCxnSpPr>
          <p:cNvPr id="17" name="Connector 16"/>
          <p:cNvCxnSpPr/>
          <p:nvPr/>
        </p:nvCxnSpPr>
        <p:spPr>
          <a:xfrm>
            <a:off x="10561320" y="3630168"/>
            <a:ext cx="0" cy="301752"/>
          </a:xfrm>
          <a:prstGeom prst="line">
            <a:avLst/>
          </a:prstGeom>
          <a:ln w="19050">
            <a:solidFill>
              <a:srgbClr val="6F8195"/>
            </a:solidFill>
            <a:tailEnd type="triangle" w="med" len="med"/>
          </a:ln>
        </p:spPr>
      </p:cxnSp>
      <p:sp>
        <p:nvSpPr>
          <p:cNvPr id="18" name="TextBox 17"/>
          <p:cNvSpPr txBox="1"/>
          <p:nvPr/>
        </p:nvSpPr>
        <p:spPr>
          <a:xfrm>
            <a:off x="9464040" y="4553712"/>
            <a:ext cx="2194560" cy="457200"/>
          </a:xfrm>
          <a:prstGeom prst="rect">
            <a:avLst/>
          </a:prstGeom>
          <a:noFill/>
        </p:spPr>
        <p:txBody>
          <a:bodyPr wrap="square" lIns="0" rIns="0" tIns="0" bIns="0" anchor="t">
            <a:spAutoFit/>
          </a:bodyPr>
          <a:lstStyle/>
          <a:p>
            <a:pPr algn="ctr">
              <a:spcBef>
                <a:spcPts val="0"/>
              </a:spcBef>
              <a:spcAft>
                <a:spcPts val="0"/>
              </a:spcAft>
            </a:pPr>
            <a:r>
              <a:rPr sz="1150" b="0" i="0">
                <a:solidFill>
                  <a:srgbClr val="8FA1B3"/>
                </a:solidFill>
                <a:latin typeface="Calibri"/>
              </a:rPr>
              <a:t>the four parties, with one colour each throughout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 · THE SETTING</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Can a malicious key authority forge sensor data?</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2 / 32</a:t>
            </a:r>
          </a:p>
        </p:txBody>
      </p:sp>
      <p:sp>
        <p:nvSpPr>
          <p:cNvPr id="8" name="TextBox 7"/>
          <p:cNvSpPr txBox="1"/>
          <p:nvPr/>
        </p:nvSpPr>
        <p:spPr>
          <a:xfrm>
            <a:off x="548640" y="987552"/>
            <a:ext cx="8229600" cy="320040"/>
          </a:xfrm>
          <a:prstGeom prst="rect">
            <a:avLst/>
          </a:prstGeom>
          <a:noFill/>
        </p:spPr>
        <p:txBody>
          <a:bodyPr wrap="square" lIns="0" rIns="0" tIns="0" bIns="0" anchor="t">
            <a:spAutoFit/>
          </a:bodyPr>
          <a:lstStyle/>
          <a:p>
            <a:pPr algn="l">
              <a:spcBef>
                <a:spcPts val="0"/>
              </a:spcBef>
              <a:spcAft>
                <a:spcPts val="0"/>
              </a:spcAft>
            </a:pPr>
            <a:r>
              <a:rPr sz="1700" b="0" i="0">
                <a:solidFill>
                  <a:srgbClr val="5B6675"/>
                </a:solidFill>
                <a:latin typeface="Calibri"/>
              </a:rPr>
              <a:t>Sensors sign, an aggregator combines, the cloud verifies</a:t>
            </a:r>
          </a:p>
        </p:txBody>
      </p:sp>
      <p:sp>
        <p:nvSpPr>
          <p:cNvPr id="9" name="Rounded Rectangle 8"/>
          <p:cNvSpPr/>
          <p:nvPr/>
        </p:nvSpPr>
        <p:spPr>
          <a:xfrm>
            <a:off x="548640" y="2880360"/>
            <a:ext cx="6355080" cy="2743200"/>
          </a:xfrm>
          <a:prstGeom prst="roundRect">
            <a:avLst>
              <a:gd name="adj" fmla="val 5000"/>
            </a:avLst>
          </a:prstGeom>
          <a:noFill/>
          <a:ln w="15875">
            <a:solidFill>
              <a:srgbClr val="5B6675"/>
            </a:solidFill>
            <a:prstDash val="dash"/>
          </a:ln>
          <a:effectLst/>
        </p:spPr>
        <p:txBody>
          <a:bodyPr rtlCol="0" anchor="ctr" wrap="square" lIns="73152" rIns="73152" tIns="36576" bIns="36576"/>
          <a:lstStyle/>
          <a:p>
            <a:pPr algn="ctr"/>
          </a:p>
        </p:txBody>
      </p:sp>
      <p:sp>
        <p:nvSpPr>
          <p:cNvPr id="10" name="TextBox 9"/>
          <p:cNvSpPr txBox="1"/>
          <p:nvPr/>
        </p:nvSpPr>
        <p:spPr>
          <a:xfrm>
            <a:off x="713232" y="2926080"/>
            <a:ext cx="2743200" cy="274320"/>
          </a:xfrm>
          <a:prstGeom prst="rect">
            <a:avLst/>
          </a:prstGeom>
          <a:noFill/>
        </p:spPr>
        <p:txBody>
          <a:bodyPr wrap="square" lIns="0" rIns="0" tIns="0" bIns="0" anchor="t">
            <a:spAutoFit/>
          </a:bodyPr>
          <a:lstStyle/>
          <a:p>
            <a:pPr algn="l">
              <a:spcBef>
                <a:spcPts val="0"/>
              </a:spcBef>
              <a:spcAft>
                <a:spcPts val="0"/>
              </a:spcAft>
            </a:pPr>
            <a:r>
              <a:rPr sz="1300" b="0" i="0">
                <a:solidFill>
                  <a:srgbClr val="5B6675"/>
                </a:solidFill>
                <a:latin typeface="Calibri"/>
              </a:rPr>
              <a:t>factory area</a:t>
            </a:r>
          </a:p>
        </p:txBody>
      </p:sp>
      <p:sp>
        <p:nvSpPr>
          <p:cNvPr id="11" name="Rounded Rectangle 10"/>
          <p:cNvSpPr/>
          <p:nvPr/>
        </p:nvSpPr>
        <p:spPr>
          <a:xfrm>
            <a:off x="822960" y="3246120"/>
            <a:ext cx="2148840" cy="621792"/>
          </a:xfrm>
          <a:prstGeom prst="roundRect">
            <a:avLst>
              <a:gd name="adj" fmla="val 11764"/>
            </a:avLst>
          </a:prstGeom>
          <a:solidFill>
            <a:srgbClr val="E4EEF9"/>
          </a:solidFill>
          <a:ln w="19050">
            <a:solidFill>
              <a:srgbClr val="1D5EA8"/>
            </a:solidFill>
          </a:ln>
          <a:effectLst/>
        </p:spPr>
        <p:txBody>
          <a:bodyPr rtlCol="0" anchor="ctr" wrap="square" lIns="73152" rIns="73152" tIns="36576" bIns="36576"/>
          <a:lstStyle/>
          <a:p>
            <a:pPr algn="ctr">
              <a:spcBef>
                <a:spcPts val="0"/>
              </a:spcBef>
              <a:spcAft>
                <a:spcPts val="0"/>
              </a:spcAft>
            </a:pPr>
            <a:r>
              <a:rPr sz="1700" b="1" i="0">
                <a:solidFill>
                  <a:srgbClr val="14202E"/>
                </a:solidFill>
                <a:latin typeface="Calibri"/>
              </a:rPr>
              <a:t>Sensor 1</a:t>
            </a:r>
          </a:p>
          <a:p>
            <a:pPr algn="ctr">
              <a:spcBef>
                <a:spcPts val="0"/>
              </a:spcBef>
              <a:spcAft>
                <a:spcPts val="0"/>
              </a:spcAft>
            </a:pPr>
            <a:r>
              <a:rPr sz="1300" b="0" i="0">
                <a:solidFill>
                  <a:srgbClr val="1D5EA8"/>
                </a:solidFill>
                <a:latin typeface="Calibri"/>
              </a:rPr>
              <a:t>② KeyGen · ④ Sign</a:t>
            </a:r>
          </a:p>
        </p:txBody>
      </p:sp>
      <p:sp>
        <p:nvSpPr>
          <p:cNvPr id="12" name="Rounded Rectangle 11"/>
          <p:cNvSpPr/>
          <p:nvPr/>
        </p:nvSpPr>
        <p:spPr>
          <a:xfrm>
            <a:off x="822960" y="3977639"/>
            <a:ext cx="2148840" cy="621792"/>
          </a:xfrm>
          <a:prstGeom prst="roundRect">
            <a:avLst>
              <a:gd name="adj" fmla="val 11764"/>
            </a:avLst>
          </a:prstGeom>
          <a:solidFill>
            <a:srgbClr val="E4EEF9"/>
          </a:solidFill>
          <a:ln w="19050">
            <a:solidFill>
              <a:srgbClr val="1D5EA8"/>
            </a:solidFill>
          </a:ln>
          <a:effectLst/>
        </p:spPr>
        <p:txBody>
          <a:bodyPr rtlCol="0" anchor="ctr" wrap="square" lIns="73152" rIns="73152" tIns="36576" bIns="36576"/>
          <a:lstStyle/>
          <a:p>
            <a:pPr algn="ctr">
              <a:spcBef>
                <a:spcPts val="0"/>
              </a:spcBef>
              <a:spcAft>
                <a:spcPts val="0"/>
              </a:spcAft>
            </a:pPr>
            <a:r>
              <a:rPr sz="1700" b="1" i="0">
                <a:solidFill>
                  <a:srgbClr val="14202E"/>
                </a:solidFill>
                <a:latin typeface="Calibri"/>
              </a:rPr>
              <a:t>Sensor 2</a:t>
            </a:r>
          </a:p>
          <a:p>
            <a:pPr algn="ctr">
              <a:spcBef>
                <a:spcPts val="0"/>
              </a:spcBef>
              <a:spcAft>
                <a:spcPts val="0"/>
              </a:spcAft>
            </a:pPr>
            <a:r>
              <a:rPr sz="1300" b="0" i="0">
                <a:solidFill>
                  <a:srgbClr val="1D5EA8"/>
                </a:solidFill>
                <a:latin typeface="Calibri"/>
              </a:rPr>
              <a:t>② KeyGen · ④ Sign</a:t>
            </a:r>
          </a:p>
        </p:txBody>
      </p:sp>
      <p:sp>
        <p:nvSpPr>
          <p:cNvPr id="13" name="Rounded Rectangle 12"/>
          <p:cNvSpPr/>
          <p:nvPr/>
        </p:nvSpPr>
        <p:spPr>
          <a:xfrm>
            <a:off x="822960" y="4937760"/>
            <a:ext cx="2148840" cy="621792"/>
          </a:xfrm>
          <a:prstGeom prst="roundRect">
            <a:avLst>
              <a:gd name="adj" fmla="val 11764"/>
            </a:avLst>
          </a:prstGeom>
          <a:solidFill>
            <a:srgbClr val="E4EEF9"/>
          </a:solidFill>
          <a:ln w="19050">
            <a:solidFill>
              <a:srgbClr val="1D5EA8"/>
            </a:solidFill>
          </a:ln>
          <a:effectLst/>
        </p:spPr>
        <p:txBody>
          <a:bodyPr rtlCol="0" anchor="ctr" wrap="square" lIns="73152" rIns="73152" tIns="36576" bIns="36576"/>
          <a:lstStyle/>
          <a:p>
            <a:pPr algn="ctr">
              <a:spcBef>
                <a:spcPts val="0"/>
              </a:spcBef>
              <a:spcAft>
                <a:spcPts val="0"/>
              </a:spcAft>
            </a:pPr>
            <a:r>
              <a:rPr sz="1700" b="1" i="0">
                <a:solidFill>
                  <a:srgbClr val="14202E"/>
                </a:solidFill>
                <a:latin typeface="Calibri"/>
              </a:rPr>
              <a:t>Sensor n</a:t>
            </a:r>
          </a:p>
          <a:p>
            <a:pPr algn="ctr">
              <a:spcBef>
                <a:spcPts val="0"/>
              </a:spcBef>
              <a:spcAft>
                <a:spcPts val="0"/>
              </a:spcAft>
            </a:pPr>
            <a:r>
              <a:rPr sz="1300" b="0" i="0">
                <a:solidFill>
                  <a:srgbClr val="1D5EA8"/>
                </a:solidFill>
                <a:latin typeface="Calibri"/>
              </a:rPr>
              <a:t>② KeyGen · ④ Sign</a:t>
            </a:r>
          </a:p>
        </p:txBody>
      </p:sp>
      <p:sp>
        <p:nvSpPr>
          <p:cNvPr id="14" name="TextBox 13"/>
          <p:cNvSpPr txBox="1"/>
          <p:nvPr/>
        </p:nvSpPr>
        <p:spPr>
          <a:xfrm>
            <a:off x="822960" y="4636008"/>
            <a:ext cx="2148840" cy="274320"/>
          </a:xfrm>
          <a:prstGeom prst="rect">
            <a:avLst/>
          </a:prstGeom>
          <a:noFill/>
        </p:spPr>
        <p:txBody>
          <a:bodyPr wrap="square" lIns="0" rIns="0" tIns="0" bIns="0" anchor="t">
            <a:spAutoFit/>
          </a:bodyPr>
          <a:lstStyle/>
          <a:p>
            <a:pPr algn="ctr">
              <a:spcBef>
                <a:spcPts val="0"/>
              </a:spcBef>
              <a:spcAft>
                <a:spcPts val="0"/>
              </a:spcAft>
            </a:pPr>
            <a:r>
              <a:rPr sz="2000" b="0" i="0">
                <a:solidFill>
                  <a:srgbClr val="5B6675"/>
                </a:solidFill>
                <a:latin typeface="Calibri"/>
              </a:rPr>
              <a:t>⋮</a:t>
            </a:r>
          </a:p>
        </p:txBody>
      </p:sp>
      <p:sp>
        <p:nvSpPr>
          <p:cNvPr id="15" name="Rounded Rectangle 14"/>
          <p:cNvSpPr/>
          <p:nvPr/>
        </p:nvSpPr>
        <p:spPr>
          <a:xfrm>
            <a:off x="4343400" y="3840480"/>
            <a:ext cx="2240280" cy="914400"/>
          </a:xfrm>
          <a:prstGeom prst="roundRect">
            <a:avLst>
              <a:gd name="adj" fmla="val 8000"/>
            </a:avLst>
          </a:prstGeom>
          <a:solidFill>
            <a:srgbClr val="FBF0DC"/>
          </a:solidFill>
          <a:ln w="19050">
            <a:solidFill>
              <a:srgbClr val="B26A00"/>
            </a:solidFill>
          </a:ln>
          <a:effectLst/>
        </p:spPr>
        <p:txBody>
          <a:bodyPr rtlCol="0" anchor="ctr" wrap="square" lIns="73152" rIns="73152" tIns="36576" bIns="36576"/>
          <a:lstStyle/>
          <a:p>
            <a:pPr algn="ctr">
              <a:spcBef>
                <a:spcPts val="0"/>
              </a:spcBef>
              <a:spcAft>
                <a:spcPts val="0"/>
              </a:spcAft>
            </a:pPr>
            <a:r>
              <a:rPr sz="1800" b="1" i="0">
                <a:solidFill>
                  <a:srgbClr val="14202E"/>
                </a:solidFill>
                <a:latin typeface="Calibri"/>
              </a:rPr>
              <a:t>Aggregator</a:t>
            </a:r>
          </a:p>
          <a:p>
            <a:pPr algn="ctr">
              <a:spcBef>
                <a:spcPts val="0"/>
              </a:spcBef>
              <a:spcAft>
                <a:spcPts val="0"/>
              </a:spcAft>
            </a:pPr>
            <a:r>
              <a:rPr sz="1400" b="0" i="0">
                <a:solidFill>
                  <a:srgbClr val="B26A00"/>
                </a:solidFill>
                <a:latin typeface="Calibri"/>
              </a:rPr>
              <a:t>⑤ AggSign</a:t>
            </a:r>
          </a:p>
        </p:txBody>
      </p:sp>
      <p:sp>
        <p:nvSpPr>
          <p:cNvPr id="16" name="Rounded Rectangle 15"/>
          <p:cNvSpPr/>
          <p:nvPr/>
        </p:nvSpPr>
        <p:spPr>
          <a:xfrm>
            <a:off x="4754880" y="1508760"/>
            <a:ext cx="2651760" cy="960120"/>
          </a:xfrm>
          <a:prstGeom prst="roundRect">
            <a:avLst>
              <a:gd name="adj" fmla="val 7619"/>
            </a:avLst>
          </a:prstGeom>
          <a:solidFill>
            <a:srgbClr val="EFE8F8"/>
          </a:solidFill>
          <a:ln w="19050">
            <a:solidFill>
              <a:srgbClr val="6B3FA0"/>
            </a:solidFill>
          </a:ln>
          <a:effectLst/>
        </p:spPr>
        <p:txBody>
          <a:bodyPr rtlCol="0" anchor="ctr" wrap="square" lIns="73152" rIns="73152" tIns="36576" bIns="36576"/>
          <a:lstStyle/>
          <a:p>
            <a:pPr algn="ctr">
              <a:spcBef>
                <a:spcPts val="0"/>
              </a:spcBef>
              <a:spcAft>
                <a:spcPts val="0"/>
              </a:spcAft>
            </a:pPr>
            <a:r>
              <a:rPr sz="1800" b="1" i="0">
                <a:solidFill>
                  <a:srgbClr val="14202E"/>
                </a:solidFill>
                <a:latin typeface="Calibri"/>
              </a:rPr>
              <a:t>KGC</a:t>
            </a:r>
          </a:p>
          <a:p>
            <a:pPr algn="ctr">
              <a:spcBef>
                <a:spcPts val="0"/>
              </a:spcBef>
              <a:spcAft>
                <a:spcPts val="0"/>
              </a:spcAft>
            </a:pPr>
            <a:r>
              <a:rPr sz="1300" b="0" i="0">
                <a:solidFill>
                  <a:srgbClr val="5B6675"/>
                </a:solidFill>
                <a:latin typeface="Calibri"/>
              </a:rPr>
              <a:t>trusted authority</a:t>
            </a:r>
          </a:p>
          <a:p>
            <a:pPr algn="ctr">
              <a:spcBef>
                <a:spcPts val="0"/>
              </a:spcBef>
              <a:spcAft>
                <a:spcPts val="0"/>
              </a:spcAft>
            </a:pPr>
            <a:r>
              <a:rPr sz="1400" b="0" i="0">
                <a:solidFill>
                  <a:srgbClr val="6B3FA0"/>
                </a:solidFill>
                <a:latin typeface="Calibri"/>
              </a:rPr>
              <a:t>① Setup · ③ CertGen</a:t>
            </a:r>
          </a:p>
        </p:txBody>
      </p:sp>
      <p:sp>
        <p:nvSpPr>
          <p:cNvPr id="17" name="Rounded Rectangle 16"/>
          <p:cNvSpPr/>
          <p:nvPr/>
        </p:nvSpPr>
        <p:spPr>
          <a:xfrm>
            <a:off x="8732520" y="3749039"/>
            <a:ext cx="2834640" cy="1143000"/>
          </a:xfrm>
          <a:prstGeom prst="roundRect">
            <a:avLst>
              <a:gd name="adj" fmla="val 6400"/>
            </a:avLst>
          </a:prstGeom>
          <a:solidFill>
            <a:srgbClr val="E6EBF0"/>
          </a:solidFill>
          <a:ln w="19050">
            <a:solidFill>
              <a:srgbClr val="455A6E"/>
            </a:solidFill>
          </a:ln>
          <a:effectLst/>
        </p:spPr>
        <p:txBody>
          <a:bodyPr rtlCol="0" anchor="ctr" wrap="square" lIns="73152" rIns="73152" tIns="36576" bIns="36576"/>
          <a:lstStyle/>
          <a:p>
            <a:pPr algn="ctr">
              <a:spcBef>
                <a:spcPts val="0"/>
              </a:spcBef>
              <a:spcAft>
                <a:spcPts val="0"/>
              </a:spcAft>
            </a:pPr>
            <a:r>
              <a:rPr sz="1800" b="1" i="0">
                <a:solidFill>
                  <a:srgbClr val="14202E"/>
                </a:solidFill>
                <a:latin typeface="Calibri"/>
              </a:rPr>
              <a:t>Cloud server</a:t>
            </a:r>
          </a:p>
          <a:p>
            <a:pPr algn="ctr">
              <a:spcBef>
                <a:spcPts val="0"/>
              </a:spcBef>
              <a:spcAft>
                <a:spcPts val="0"/>
              </a:spcAft>
            </a:pPr>
            <a:r>
              <a:rPr sz="1400" b="0" i="0">
                <a:solidFill>
                  <a:srgbClr val="455A6E"/>
                </a:solidFill>
                <a:latin typeface="Calibri"/>
              </a:rPr>
              <a:t>⑥ AggVerify</a:t>
            </a:r>
          </a:p>
        </p:txBody>
      </p:sp>
      <p:sp>
        <p:nvSpPr>
          <p:cNvPr id="18" name="Rounded Rectangle 17"/>
          <p:cNvSpPr/>
          <p:nvPr/>
        </p:nvSpPr>
        <p:spPr>
          <a:xfrm>
            <a:off x="8778240" y="5138928"/>
            <a:ext cx="1325880" cy="420624"/>
          </a:xfrm>
          <a:prstGeom prst="roundRect">
            <a:avLst>
              <a:gd name="adj" fmla="val 26086"/>
            </a:avLst>
          </a:prstGeom>
          <a:solidFill>
            <a:srgbClr val="E2F3EA"/>
          </a:solidFill>
          <a:ln w="15240">
            <a:solidFill>
              <a:srgbClr val="1E7B4F"/>
            </a:solidFill>
          </a:ln>
          <a:effectLst/>
        </p:spPr>
        <p:txBody>
          <a:bodyPr rtlCol="0" anchor="ctr" wrap="square" lIns="73152" rIns="73152" tIns="36576" bIns="36576"/>
          <a:lstStyle/>
          <a:p>
            <a:pPr algn="ctr">
              <a:spcBef>
                <a:spcPts val="0"/>
              </a:spcBef>
              <a:spcAft>
                <a:spcPts val="0"/>
              </a:spcAft>
            </a:pPr>
            <a:r>
              <a:rPr sz="1300" b="1" i="0">
                <a:solidFill>
                  <a:srgbClr val="14202E"/>
                </a:solidFill>
                <a:latin typeface="Calibri"/>
              </a:rPr>
              <a:t>1 · all n valid</a:t>
            </a:r>
          </a:p>
        </p:txBody>
      </p:sp>
      <p:sp>
        <p:nvSpPr>
          <p:cNvPr id="19" name="Rounded Rectangle 18"/>
          <p:cNvSpPr/>
          <p:nvPr/>
        </p:nvSpPr>
        <p:spPr>
          <a:xfrm>
            <a:off x="10241280" y="5138928"/>
            <a:ext cx="1325880" cy="420624"/>
          </a:xfrm>
          <a:prstGeom prst="roundRect">
            <a:avLst>
              <a:gd name="adj" fmla="val 26086"/>
            </a:avLst>
          </a:prstGeom>
          <a:solidFill>
            <a:srgbClr val="FCE9E7"/>
          </a:solidFill>
          <a:ln w="15240">
            <a:solidFill>
              <a:srgbClr val="B3261E"/>
            </a:solidFill>
          </a:ln>
          <a:effectLst/>
        </p:spPr>
        <p:txBody>
          <a:bodyPr rtlCol="0" anchor="ctr" wrap="square" lIns="73152" rIns="73152" tIns="36576" bIns="36576"/>
          <a:lstStyle/>
          <a:p>
            <a:pPr algn="ctr">
              <a:spcBef>
                <a:spcPts val="0"/>
              </a:spcBef>
              <a:spcAft>
                <a:spcPts val="0"/>
              </a:spcAft>
            </a:pPr>
            <a:r>
              <a:rPr sz="1300" b="1" i="0">
                <a:solidFill>
                  <a:srgbClr val="14202E"/>
                </a:solidFill>
                <a:latin typeface="Calibri"/>
              </a:rPr>
              <a:t>0 · reject</a:t>
            </a:r>
          </a:p>
        </p:txBody>
      </p:sp>
      <p:cxnSp>
        <p:nvCxnSpPr>
          <p:cNvPr id="20" name="Connector 19"/>
          <p:cNvCxnSpPr/>
          <p:nvPr/>
        </p:nvCxnSpPr>
        <p:spPr>
          <a:xfrm>
            <a:off x="10149840" y="4892040"/>
            <a:ext cx="0" cy="246888"/>
          </a:xfrm>
          <a:prstGeom prst="line">
            <a:avLst/>
          </a:prstGeom>
          <a:ln w="22225">
            <a:solidFill>
              <a:srgbClr val="455A6E"/>
            </a:solidFill>
            <a:tailEnd type="triangle" w="med" len="med"/>
          </a:ln>
        </p:spPr>
      </p:cxnSp>
      <p:cxnSp>
        <p:nvCxnSpPr>
          <p:cNvPr id="21" name="Connector 20"/>
          <p:cNvCxnSpPr/>
          <p:nvPr/>
        </p:nvCxnSpPr>
        <p:spPr>
          <a:xfrm>
            <a:off x="7406640" y="2011680"/>
            <a:ext cx="2743200" cy="0"/>
          </a:xfrm>
          <a:prstGeom prst="line">
            <a:avLst/>
          </a:prstGeom>
          <a:ln w="22225">
            <a:solidFill>
              <a:srgbClr val="6B3FA0"/>
            </a:solidFill>
          </a:ln>
        </p:spPr>
      </p:cxnSp>
      <p:cxnSp>
        <p:nvCxnSpPr>
          <p:cNvPr id="22" name="Connector 21"/>
          <p:cNvCxnSpPr/>
          <p:nvPr/>
        </p:nvCxnSpPr>
        <p:spPr>
          <a:xfrm>
            <a:off x="10149840" y="2011680"/>
            <a:ext cx="0" cy="1737359"/>
          </a:xfrm>
          <a:prstGeom prst="line">
            <a:avLst/>
          </a:prstGeom>
          <a:ln w="22225">
            <a:solidFill>
              <a:srgbClr val="6B3FA0"/>
            </a:solidFill>
            <a:tailEnd type="triangle" w="med" len="med"/>
          </a:ln>
        </p:spPr>
      </p:cxnSp>
      <p:sp>
        <p:nvSpPr>
          <p:cNvPr id="23" name="TextBox 22"/>
          <p:cNvSpPr txBox="1"/>
          <p:nvPr/>
        </p:nvSpPr>
        <p:spPr>
          <a:xfrm>
            <a:off x="7589520" y="1645920"/>
            <a:ext cx="2468880" cy="320040"/>
          </a:xfrm>
          <a:prstGeom prst="rect">
            <a:avLst/>
          </a:prstGeom>
          <a:noFill/>
        </p:spPr>
        <p:txBody>
          <a:bodyPr wrap="square" lIns="0" rIns="0" tIns="0" bIns="0" anchor="t">
            <a:spAutoFit/>
          </a:bodyPr>
          <a:lstStyle/>
          <a:p>
            <a:pPr algn="l">
              <a:spcBef>
                <a:spcPts val="0"/>
              </a:spcBef>
              <a:spcAft>
                <a:spcPts val="0"/>
              </a:spcAft>
            </a:pPr>
            <a:r>
              <a:rPr sz="1500" b="1" i="0">
                <a:solidFill>
                  <a:srgbClr val="6B3FA0"/>
                </a:solidFill>
                <a:latin typeface="Calibri"/>
              </a:rPr>
              <a:t>① public parameters</a:t>
            </a:r>
          </a:p>
        </p:txBody>
      </p:sp>
      <p:sp>
        <p:nvSpPr>
          <p:cNvPr id="24" name="TextBox 23"/>
          <p:cNvSpPr txBox="1"/>
          <p:nvPr/>
        </p:nvSpPr>
        <p:spPr>
          <a:xfrm>
            <a:off x="7589520" y="2075688"/>
            <a:ext cx="2468880" cy="274320"/>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published through the cloud</a:t>
            </a:r>
          </a:p>
        </p:txBody>
      </p:sp>
      <p:cxnSp>
        <p:nvCxnSpPr>
          <p:cNvPr id="25" name="Connector 24"/>
          <p:cNvCxnSpPr/>
          <p:nvPr/>
        </p:nvCxnSpPr>
        <p:spPr>
          <a:xfrm flipH="1">
            <a:off x="1737360" y="1783080"/>
            <a:ext cx="3017520" cy="0"/>
          </a:xfrm>
          <a:prstGeom prst="line">
            <a:avLst/>
          </a:prstGeom>
          <a:ln w="22225">
            <a:solidFill>
              <a:srgbClr val="6B3FA0"/>
            </a:solidFill>
          </a:ln>
        </p:spPr>
      </p:cxnSp>
      <p:cxnSp>
        <p:nvCxnSpPr>
          <p:cNvPr id="26" name="Connector 25"/>
          <p:cNvCxnSpPr/>
          <p:nvPr/>
        </p:nvCxnSpPr>
        <p:spPr>
          <a:xfrm>
            <a:off x="1737360" y="1783080"/>
            <a:ext cx="0" cy="1463040"/>
          </a:xfrm>
          <a:prstGeom prst="line">
            <a:avLst/>
          </a:prstGeom>
          <a:ln w="22225">
            <a:solidFill>
              <a:srgbClr val="6B3FA0"/>
            </a:solidFill>
            <a:tailEnd type="triangle" w="med" len="med"/>
          </a:ln>
        </p:spPr>
      </p:cxnSp>
      <p:sp>
        <p:nvSpPr>
          <p:cNvPr id="27" name="TextBox 26"/>
          <p:cNvSpPr txBox="1"/>
          <p:nvPr/>
        </p:nvSpPr>
        <p:spPr>
          <a:xfrm>
            <a:off x="1965960" y="1444752"/>
            <a:ext cx="2651760" cy="320040"/>
          </a:xfrm>
          <a:prstGeom prst="rect">
            <a:avLst/>
          </a:prstGeom>
          <a:noFill/>
        </p:spPr>
        <p:txBody>
          <a:bodyPr wrap="square" lIns="0" rIns="0" tIns="0" bIns="0" anchor="t">
            <a:spAutoFit/>
          </a:bodyPr>
          <a:lstStyle/>
          <a:p>
            <a:pPr algn="l">
              <a:spcBef>
                <a:spcPts val="0"/>
              </a:spcBef>
              <a:spcAft>
                <a:spcPts val="0"/>
              </a:spcAft>
            </a:pPr>
            <a:r>
              <a:rPr sz="1500" b="1" i="0">
                <a:solidFill>
                  <a:srgbClr val="6B3FA0"/>
                </a:solidFill>
                <a:latin typeface="Calibri"/>
              </a:rPr>
              <a:t>③ certificate → sensor</a:t>
            </a:r>
          </a:p>
        </p:txBody>
      </p:sp>
      <p:cxnSp>
        <p:nvCxnSpPr>
          <p:cNvPr id="28" name="Connector 27"/>
          <p:cNvCxnSpPr/>
          <p:nvPr/>
        </p:nvCxnSpPr>
        <p:spPr>
          <a:xfrm flipV="1">
            <a:off x="2377440" y="2240280"/>
            <a:ext cx="0" cy="1005840"/>
          </a:xfrm>
          <a:prstGeom prst="line">
            <a:avLst/>
          </a:prstGeom>
          <a:ln w="22225">
            <a:solidFill>
              <a:srgbClr val="1D5EA8"/>
            </a:solidFill>
          </a:ln>
        </p:spPr>
      </p:cxnSp>
      <p:cxnSp>
        <p:nvCxnSpPr>
          <p:cNvPr id="29" name="Connector 28"/>
          <p:cNvCxnSpPr/>
          <p:nvPr/>
        </p:nvCxnSpPr>
        <p:spPr>
          <a:xfrm>
            <a:off x="2377440" y="2240280"/>
            <a:ext cx="2377440" cy="0"/>
          </a:xfrm>
          <a:prstGeom prst="line">
            <a:avLst/>
          </a:prstGeom>
          <a:ln w="22225">
            <a:solidFill>
              <a:srgbClr val="1D5EA8"/>
            </a:solidFill>
            <a:tailEnd type="triangle" w="med" len="med"/>
          </a:ln>
        </p:spPr>
      </p:cxnSp>
      <p:sp>
        <p:nvSpPr>
          <p:cNvPr id="30" name="TextBox 29"/>
          <p:cNvSpPr txBox="1"/>
          <p:nvPr/>
        </p:nvSpPr>
        <p:spPr>
          <a:xfrm>
            <a:off x="2560320" y="2286000"/>
            <a:ext cx="2103120" cy="320040"/>
          </a:xfrm>
          <a:prstGeom prst="rect">
            <a:avLst/>
          </a:prstGeom>
          <a:noFill/>
        </p:spPr>
        <p:txBody>
          <a:bodyPr wrap="square" lIns="0" rIns="0" tIns="0" bIns="0" anchor="t">
            <a:spAutoFit/>
          </a:bodyPr>
          <a:lstStyle/>
          <a:p>
            <a:pPr algn="l">
              <a:spcBef>
                <a:spcPts val="0"/>
              </a:spcBef>
              <a:spcAft>
                <a:spcPts val="0"/>
              </a:spcAft>
            </a:pPr>
            <a:r>
              <a:rPr sz="1500" b="1" i="0">
                <a:solidFill>
                  <a:srgbClr val="1D5EA8"/>
                </a:solidFill>
                <a:latin typeface="Calibri"/>
              </a:rPr>
              <a:t>② public key → KGC</a:t>
            </a:r>
          </a:p>
        </p:txBody>
      </p:sp>
      <p:cxnSp>
        <p:nvCxnSpPr>
          <p:cNvPr id="31" name="Connector 30"/>
          <p:cNvCxnSpPr/>
          <p:nvPr/>
        </p:nvCxnSpPr>
        <p:spPr>
          <a:xfrm>
            <a:off x="2971800" y="3557016"/>
            <a:ext cx="685800" cy="0"/>
          </a:xfrm>
          <a:prstGeom prst="line">
            <a:avLst/>
          </a:prstGeom>
          <a:ln w="22225">
            <a:solidFill>
              <a:srgbClr val="1D5EA8"/>
            </a:solidFill>
          </a:ln>
        </p:spPr>
      </p:cxnSp>
      <p:cxnSp>
        <p:nvCxnSpPr>
          <p:cNvPr id="32" name="Connector 31"/>
          <p:cNvCxnSpPr/>
          <p:nvPr/>
        </p:nvCxnSpPr>
        <p:spPr>
          <a:xfrm>
            <a:off x="3657600" y="3557016"/>
            <a:ext cx="0" cy="512064"/>
          </a:xfrm>
          <a:prstGeom prst="line">
            <a:avLst/>
          </a:prstGeom>
          <a:ln w="22225">
            <a:solidFill>
              <a:srgbClr val="1D5EA8"/>
            </a:solidFill>
          </a:ln>
        </p:spPr>
      </p:cxnSp>
      <p:cxnSp>
        <p:nvCxnSpPr>
          <p:cNvPr id="33" name="Connector 32"/>
          <p:cNvCxnSpPr/>
          <p:nvPr/>
        </p:nvCxnSpPr>
        <p:spPr>
          <a:xfrm>
            <a:off x="3657600" y="4069080"/>
            <a:ext cx="685800" cy="0"/>
          </a:xfrm>
          <a:prstGeom prst="line">
            <a:avLst/>
          </a:prstGeom>
          <a:ln w="22225">
            <a:solidFill>
              <a:srgbClr val="1D5EA8"/>
            </a:solidFill>
            <a:tailEnd type="triangle" w="med" len="med"/>
          </a:ln>
        </p:spPr>
      </p:cxnSp>
      <p:cxnSp>
        <p:nvCxnSpPr>
          <p:cNvPr id="34" name="Connector 33"/>
          <p:cNvCxnSpPr/>
          <p:nvPr/>
        </p:nvCxnSpPr>
        <p:spPr>
          <a:xfrm>
            <a:off x="2971800" y="4288536"/>
            <a:ext cx="1371600" cy="0"/>
          </a:xfrm>
          <a:prstGeom prst="line">
            <a:avLst/>
          </a:prstGeom>
          <a:ln w="22225">
            <a:solidFill>
              <a:srgbClr val="1D5EA8"/>
            </a:solidFill>
            <a:tailEnd type="triangle" w="med" len="med"/>
          </a:ln>
        </p:spPr>
      </p:cxnSp>
      <p:cxnSp>
        <p:nvCxnSpPr>
          <p:cNvPr id="35" name="Connector 34"/>
          <p:cNvCxnSpPr/>
          <p:nvPr/>
        </p:nvCxnSpPr>
        <p:spPr>
          <a:xfrm>
            <a:off x="2971800" y="5248656"/>
            <a:ext cx="685800" cy="0"/>
          </a:xfrm>
          <a:prstGeom prst="line">
            <a:avLst/>
          </a:prstGeom>
          <a:ln w="22225">
            <a:solidFill>
              <a:srgbClr val="1D5EA8"/>
            </a:solidFill>
          </a:ln>
        </p:spPr>
      </p:cxnSp>
      <p:cxnSp>
        <p:nvCxnSpPr>
          <p:cNvPr id="36" name="Connector 35"/>
          <p:cNvCxnSpPr/>
          <p:nvPr/>
        </p:nvCxnSpPr>
        <p:spPr>
          <a:xfrm flipV="1">
            <a:off x="3657600" y="4526280"/>
            <a:ext cx="0" cy="722376"/>
          </a:xfrm>
          <a:prstGeom prst="line">
            <a:avLst/>
          </a:prstGeom>
          <a:ln w="22225">
            <a:solidFill>
              <a:srgbClr val="1D5EA8"/>
            </a:solidFill>
          </a:ln>
        </p:spPr>
      </p:cxnSp>
      <p:cxnSp>
        <p:nvCxnSpPr>
          <p:cNvPr id="37" name="Connector 36"/>
          <p:cNvCxnSpPr/>
          <p:nvPr/>
        </p:nvCxnSpPr>
        <p:spPr>
          <a:xfrm>
            <a:off x="3657600" y="4526280"/>
            <a:ext cx="685800" cy="0"/>
          </a:xfrm>
          <a:prstGeom prst="line">
            <a:avLst/>
          </a:prstGeom>
          <a:ln w="22225">
            <a:solidFill>
              <a:srgbClr val="1D5EA8"/>
            </a:solidFill>
            <a:tailEnd type="triangle" w="med" len="med"/>
          </a:ln>
        </p:spPr>
      </p:cxnSp>
      <p:sp>
        <p:nvSpPr>
          <p:cNvPr id="38" name="TextBox 37"/>
          <p:cNvSpPr txBox="1"/>
          <p:nvPr/>
        </p:nvSpPr>
        <p:spPr>
          <a:xfrm>
            <a:off x="3108960" y="3154680"/>
            <a:ext cx="3657600" cy="320040"/>
          </a:xfrm>
          <a:prstGeom prst="rect">
            <a:avLst/>
          </a:prstGeom>
          <a:noFill/>
        </p:spPr>
        <p:txBody>
          <a:bodyPr wrap="square" lIns="0" rIns="0" tIns="0" bIns="0" anchor="t">
            <a:spAutoFit/>
          </a:bodyPr>
          <a:lstStyle/>
          <a:p>
            <a:pPr algn="l">
              <a:spcBef>
                <a:spcPts val="0"/>
              </a:spcBef>
              <a:spcAft>
                <a:spcPts val="0"/>
              </a:spcAft>
            </a:pPr>
            <a:r>
              <a:rPr sz="1500" b="1" i="0">
                <a:solidFill>
                  <a:srgbClr val="1D5EA8"/>
                </a:solidFill>
                <a:latin typeface="Calibri"/>
              </a:rPr>
              <a:t>④ reading </a:t>
            </a:r>
            <a:r>
              <a:rPr sz="1500" b="1" i="1">
                <a:solidFill>
                  <a:srgbClr val="1D5EA8"/>
                </a:solidFill>
                <a:latin typeface="Cambria"/>
              </a:rPr>
              <a:t>m</a:t>
            </a:r>
            <a:r>
              <a:rPr sz="1500" b="1" i="1" baseline="-25000">
                <a:solidFill>
                  <a:srgbClr val="1D5EA8"/>
                </a:solidFill>
                <a:latin typeface="Cambria"/>
              </a:rPr>
              <a:t>i</a:t>
            </a:r>
            <a:r>
              <a:rPr sz="1500" b="1" i="0">
                <a:solidFill>
                  <a:srgbClr val="1D5EA8"/>
                </a:solidFill>
                <a:latin typeface="Calibri"/>
              </a:rPr>
              <a:t> + signature </a:t>
            </a:r>
            <a:r>
              <a:rPr sz="1500" b="1" i="1">
                <a:solidFill>
                  <a:srgbClr val="1D5EA8"/>
                </a:solidFill>
                <a:latin typeface="Cambria"/>
              </a:rPr>
              <a:t>δ</a:t>
            </a:r>
            <a:r>
              <a:rPr sz="1500" b="1" i="1" baseline="-25000">
                <a:solidFill>
                  <a:srgbClr val="1D5EA8"/>
                </a:solidFill>
                <a:latin typeface="Cambria"/>
              </a:rPr>
              <a:t>i</a:t>
            </a:r>
          </a:p>
        </p:txBody>
      </p:sp>
      <p:cxnSp>
        <p:nvCxnSpPr>
          <p:cNvPr id="39" name="Connector 38"/>
          <p:cNvCxnSpPr/>
          <p:nvPr/>
        </p:nvCxnSpPr>
        <p:spPr>
          <a:xfrm>
            <a:off x="6583680" y="4297680"/>
            <a:ext cx="2148840" cy="0"/>
          </a:xfrm>
          <a:prstGeom prst="line">
            <a:avLst/>
          </a:prstGeom>
          <a:ln w="28575">
            <a:solidFill>
              <a:srgbClr val="B26A00"/>
            </a:solidFill>
            <a:tailEnd type="triangle" w="med" len="med"/>
          </a:ln>
        </p:spPr>
      </p:cxnSp>
      <p:sp>
        <p:nvSpPr>
          <p:cNvPr id="40" name="TextBox 39"/>
          <p:cNvSpPr txBox="1"/>
          <p:nvPr/>
        </p:nvSpPr>
        <p:spPr>
          <a:xfrm>
            <a:off x="6967728" y="3401568"/>
            <a:ext cx="1737360" cy="777240"/>
          </a:xfrm>
          <a:prstGeom prst="rect">
            <a:avLst/>
          </a:prstGeom>
          <a:noFill/>
        </p:spPr>
        <p:txBody>
          <a:bodyPr wrap="square" lIns="0" rIns="0" tIns="0" bIns="0" anchor="t">
            <a:spAutoFit/>
          </a:bodyPr>
          <a:lstStyle/>
          <a:p>
            <a:pPr algn="l">
              <a:spcBef>
                <a:spcPts val="0"/>
              </a:spcBef>
              <a:spcAft>
                <a:spcPts val="0"/>
              </a:spcAft>
            </a:pPr>
            <a:r>
              <a:rPr sz="1400" b="1" i="0">
                <a:solidFill>
                  <a:srgbClr val="B26A00"/>
                </a:solidFill>
                <a:latin typeface="Calibri"/>
              </a:rPr>
              <a:t>⑤ n readings + 1 aggregate signature</a:t>
            </a:r>
          </a:p>
        </p:txBody>
      </p:sp>
      <p:sp>
        <p:nvSpPr>
          <p:cNvPr id="41" name="TextBox 40"/>
          <p:cNvSpPr txBox="1"/>
          <p:nvPr/>
        </p:nvSpPr>
        <p:spPr>
          <a:xfrm>
            <a:off x="6967728" y="4370832"/>
            <a:ext cx="1737360" cy="274320"/>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over the Internet</a:t>
            </a:r>
          </a:p>
        </p:txBody>
      </p:sp>
      <p:sp>
        <p:nvSpPr>
          <p:cNvPr id="42" name="Rounded Rectangle 41"/>
          <p:cNvSpPr/>
          <p:nvPr/>
        </p:nvSpPr>
        <p:spPr>
          <a:xfrm>
            <a:off x="548640" y="5760720"/>
            <a:ext cx="1772107" cy="548640"/>
          </a:xfrm>
          <a:prstGeom prst="roundRect">
            <a:avLst>
              <a:gd name="adj" fmla="val 20000"/>
            </a:avLst>
          </a:prstGeom>
          <a:solidFill>
            <a:srgbClr val="EFE8F8"/>
          </a:solidFill>
          <a:ln w="15240">
            <a:solidFill>
              <a:srgbClr val="6B3FA0"/>
            </a:solidFill>
          </a:ln>
          <a:effectLst/>
        </p:spPr>
        <p:txBody>
          <a:bodyPr rtlCol="0" anchor="ctr" wrap="square" lIns="73152" rIns="73152" tIns="36576" bIns="36576"/>
          <a:lstStyle/>
          <a:p>
            <a:pPr algn="ctr">
              <a:spcBef>
                <a:spcPts val="0"/>
              </a:spcBef>
              <a:spcAft>
                <a:spcPts val="0"/>
              </a:spcAft>
            </a:pPr>
            <a:r>
              <a:rPr sz="1500" b="1" i="0">
                <a:solidFill>
                  <a:srgbClr val="14202E"/>
                </a:solidFill>
                <a:latin typeface="Calibri"/>
              </a:rPr>
              <a:t>① Setup</a:t>
            </a:r>
          </a:p>
          <a:p>
            <a:pPr algn="ctr">
              <a:spcBef>
                <a:spcPts val="0"/>
              </a:spcBef>
              <a:spcAft>
                <a:spcPts val="0"/>
              </a:spcAft>
            </a:pPr>
            <a:r>
              <a:rPr sz="1200" b="0" i="0">
                <a:solidFill>
                  <a:srgbClr val="5B6675"/>
                </a:solidFill>
                <a:latin typeface="Calibri"/>
              </a:rPr>
              <a:t>KGC</a:t>
            </a:r>
          </a:p>
        </p:txBody>
      </p:sp>
      <p:sp>
        <p:nvSpPr>
          <p:cNvPr id="43" name="Rounded Rectangle 42"/>
          <p:cNvSpPr/>
          <p:nvPr/>
        </p:nvSpPr>
        <p:spPr>
          <a:xfrm>
            <a:off x="2412187" y="5760720"/>
            <a:ext cx="1772107" cy="548640"/>
          </a:xfrm>
          <a:prstGeom prst="roundRect">
            <a:avLst>
              <a:gd name="adj" fmla="val 20000"/>
            </a:avLst>
          </a:prstGeom>
          <a:solidFill>
            <a:srgbClr val="E4EEF9"/>
          </a:solidFill>
          <a:ln w="15240">
            <a:solidFill>
              <a:srgbClr val="1D5EA8"/>
            </a:solidFill>
          </a:ln>
          <a:effectLst/>
        </p:spPr>
        <p:txBody>
          <a:bodyPr rtlCol="0" anchor="ctr" wrap="square" lIns="73152" rIns="73152" tIns="36576" bIns="36576"/>
          <a:lstStyle/>
          <a:p>
            <a:pPr algn="ctr">
              <a:spcBef>
                <a:spcPts val="0"/>
              </a:spcBef>
              <a:spcAft>
                <a:spcPts val="0"/>
              </a:spcAft>
            </a:pPr>
            <a:r>
              <a:rPr sz="1500" b="1" i="0">
                <a:solidFill>
                  <a:srgbClr val="14202E"/>
                </a:solidFill>
                <a:latin typeface="Calibri"/>
              </a:rPr>
              <a:t>② KeyGen</a:t>
            </a:r>
          </a:p>
          <a:p>
            <a:pPr algn="ctr">
              <a:spcBef>
                <a:spcPts val="0"/>
              </a:spcBef>
              <a:spcAft>
                <a:spcPts val="0"/>
              </a:spcAft>
            </a:pPr>
            <a:r>
              <a:rPr sz="1200" b="0" i="0">
                <a:solidFill>
                  <a:srgbClr val="5B6675"/>
                </a:solidFill>
                <a:latin typeface="Calibri"/>
              </a:rPr>
              <a:t>sensor</a:t>
            </a:r>
          </a:p>
        </p:txBody>
      </p:sp>
      <p:sp>
        <p:nvSpPr>
          <p:cNvPr id="44" name="Rounded Rectangle 43"/>
          <p:cNvSpPr/>
          <p:nvPr/>
        </p:nvSpPr>
        <p:spPr>
          <a:xfrm>
            <a:off x="4275734" y="5760720"/>
            <a:ext cx="1772107" cy="548640"/>
          </a:xfrm>
          <a:prstGeom prst="roundRect">
            <a:avLst>
              <a:gd name="adj" fmla="val 20000"/>
            </a:avLst>
          </a:prstGeom>
          <a:solidFill>
            <a:srgbClr val="EFE8F8"/>
          </a:solidFill>
          <a:ln w="15240">
            <a:solidFill>
              <a:srgbClr val="6B3FA0"/>
            </a:solidFill>
          </a:ln>
          <a:effectLst/>
        </p:spPr>
        <p:txBody>
          <a:bodyPr rtlCol="0" anchor="ctr" wrap="square" lIns="73152" rIns="73152" tIns="36576" bIns="36576"/>
          <a:lstStyle/>
          <a:p>
            <a:pPr algn="ctr">
              <a:spcBef>
                <a:spcPts val="0"/>
              </a:spcBef>
              <a:spcAft>
                <a:spcPts val="0"/>
              </a:spcAft>
            </a:pPr>
            <a:r>
              <a:rPr sz="1500" b="1" i="0">
                <a:solidFill>
                  <a:srgbClr val="14202E"/>
                </a:solidFill>
                <a:latin typeface="Calibri"/>
              </a:rPr>
              <a:t>③ CertGen</a:t>
            </a:r>
          </a:p>
          <a:p>
            <a:pPr algn="ctr">
              <a:spcBef>
                <a:spcPts val="0"/>
              </a:spcBef>
              <a:spcAft>
                <a:spcPts val="0"/>
              </a:spcAft>
            </a:pPr>
            <a:r>
              <a:rPr sz="1200" b="0" i="0">
                <a:solidFill>
                  <a:srgbClr val="5B6675"/>
                </a:solidFill>
                <a:latin typeface="Calibri"/>
              </a:rPr>
              <a:t>KGC</a:t>
            </a:r>
          </a:p>
        </p:txBody>
      </p:sp>
      <p:sp>
        <p:nvSpPr>
          <p:cNvPr id="45" name="Rounded Rectangle 44"/>
          <p:cNvSpPr/>
          <p:nvPr/>
        </p:nvSpPr>
        <p:spPr>
          <a:xfrm>
            <a:off x="6139281" y="5760720"/>
            <a:ext cx="1772107" cy="548640"/>
          </a:xfrm>
          <a:prstGeom prst="roundRect">
            <a:avLst>
              <a:gd name="adj" fmla="val 20000"/>
            </a:avLst>
          </a:prstGeom>
          <a:solidFill>
            <a:srgbClr val="E4EEF9"/>
          </a:solidFill>
          <a:ln w="15240">
            <a:solidFill>
              <a:srgbClr val="1D5EA8"/>
            </a:solidFill>
          </a:ln>
          <a:effectLst/>
        </p:spPr>
        <p:txBody>
          <a:bodyPr rtlCol="0" anchor="ctr" wrap="square" lIns="73152" rIns="73152" tIns="36576" bIns="36576"/>
          <a:lstStyle/>
          <a:p>
            <a:pPr algn="ctr">
              <a:spcBef>
                <a:spcPts val="0"/>
              </a:spcBef>
              <a:spcAft>
                <a:spcPts val="0"/>
              </a:spcAft>
            </a:pPr>
            <a:r>
              <a:rPr sz="1500" b="1" i="0">
                <a:solidFill>
                  <a:srgbClr val="14202E"/>
                </a:solidFill>
                <a:latin typeface="Calibri"/>
              </a:rPr>
              <a:t>④ Sign</a:t>
            </a:r>
          </a:p>
          <a:p>
            <a:pPr algn="ctr">
              <a:spcBef>
                <a:spcPts val="0"/>
              </a:spcBef>
              <a:spcAft>
                <a:spcPts val="0"/>
              </a:spcAft>
            </a:pPr>
            <a:r>
              <a:rPr sz="1200" b="0" i="0">
                <a:solidFill>
                  <a:srgbClr val="5B6675"/>
                </a:solidFill>
                <a:latin typeface="Calibri"/>
              </a:rPr>
              <a:t>sensor</a:t>
            </a:r>
          </a:p>
        </p:txBody>
      </p:sp>
      <p:sp>
        <p:nvSpPr>
          <p:cNvPr id="46" name="Rounded Rectangle 45"/>
          <p:cNvSpPr/>
          <p:nvPr/>
        </p:nvSpPr>
        <p:spPr>
          <a:xfrm>
            <a:off x="8002828" y="5760720"/>
            <a:ext cx="1772107" cy="548640"/>
          </a:xfrm>
          <a:prstGeom prst="roundRect">
            <a:avLst>
              <a:gd name="adj" fmla="val 20000"/>
            </a:avLst>
          </a:prstGeom>
          <a:solidFill>
            <a:srgbClr val="FBF0DC"/>
          </a:solidFill>
          <a:ln w="15240">
            <a:solidFill>
              <a:srgbClr val="B26A00"/>
            </a:solidFill>
          </a:ln>
          <a:effectLst/>
        </p:spPr>
        <p:txBody>
          <a:bodyPr rtlCol="0" anchor="ctr" wrap="square" lIns="73152" rIns="73152" tIns="36576" bIns="36576"/>
          <a:lstStyle/>
          <a:p>
            <a:pPr algn="ctr">
              <a:spcBef>
                <a:spcPts val="0"/>
              </a:spcBef>
              <a:spcAft>
                <a:spcPts val="0"/>
              </a:spcAft>
            </a:pPr>
            <a:r>
              <a:rPr sz="1500" b="1" i="0">
                <a:solidFill>
                  <a:srgbClr val="14202E"/>
                </a:solidFill>
                <a:latin typeface="Calibri"/>
              </a:rPr>
              <a:t>⑤ AggSign</a:t>
            </a:r>
          </a:p>
          <a:p>
            <a:pPr algn="ctr">
              <a:spcBef>
                <a:spcPts val="0"/>
              </a:spcBef>
              <a:spcAft>
                <a:spcPts val="0"/>
              </a:spcAft>
            </a:pPr>
            <a:r>
              <a:rPr sz="1200" b="0" i="0">
                <a:solidFill>
                  <a:srgbClr val="5B6675"/>
                </a:solidFill>
                <a:latin typeface="Calibri"/>
              </a:rPr>
              <a:t>aggregator</a:t>
            </a:r>
          </a:p>
        </p:txBody>
      </p:sp>
      <p:sp>
        <p:nvSpPr>
          <p:cNvPr id="47" name="Rounded Rectangle 46"/>
          <p:cNvSpPr/>
          <p:nvPr/>
        </p:nvSpPr>
        <p:spPr>
          <a:xfrm>
            <a:off x="9866376" y="5760720"/>
            <a:ext cx="1772107" cy="548640"/>
          </a:xfrm>
          <a:prstGeom prst="roundRect">
            <a:avLst>
              <a:gd name="adj" fmla="val 20000"/>
            </a:avLst>
          </a:prstGeom>
          <a:solidFill>
            <a:srgbClr val="E6EBF0"/>
          </a:solidFill>
          <a:ln w="15240">
            <a:solidFill>
              <a:srgbClr val="455A6E"/>
            </a:solidFill>
          </a:ln>
          <a:effectLst/>
        </p:spPr>
        <p:txBody>
          <a:bodyPr rtlCol="0" anchor="ctr" wrap="square" lIns="73152" rIns="73152" tIns="36576" bIns="36576"/>
          <a:lstStyle/>
          <a:p>
            <a:pPr algn="ctr">
              <a:spcBef>
                <a:spcPts val="0"/>
              </a:spcBef>
              <a:spcAft>
                <a:spcPts val="0"/>
              </a:spcAft>
            </a:pPr>
            <a:r>
              <a:rPr sz="1500" b="1" i="0">
                <a:solidFill>
                  <a:srgbClr val="14202E"/>
                </a:solidFill>
                <a:latin typeface="Calibri"/>
              </a:rPr>
              <a:t>⑥ AggVerify</a:t>
            </a:r>
          </a:p>
          <a:p>
            <a:pPr algn="ctr">
              <a:spcBef>
                <a:spcPts val="0"/>
              </a:spcBef>
              <a:spcAft>
                <a:spcPts val="0"/>
              </a:spcAft>
            </a:pPr>
            <a:r>
              <a:rPr sz="1200" b="0" i="0">
                <a:solidFill>
                  <a:srgbClr val="5B6675"/>
                </a:solidFill>
                <a:latin typeface="Calibri"/>
              </a:rPr>
              <a:t>cloud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 · WHY AGGREGATE?</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One verification decision instead of n</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3 / 32</a:t>
            </a:r>
          </a:p>
        </p:txBody>
      </p:sp>
      <p:sp>
        <p:nvSpPr>
          <p:cNvPr id="8" name="Rounded Rectangle 7"/>
          <p:cNvSpPr/>
          <p:nvPr/>
        </p:nvSpPr>
        <p:spPr>
          <a:xfrm>
            <a:off x="640080" y="1691640"/>
            <a:ext cx="1828800" cy="502920"/>
          </a:xfrm>
          <a:prstGeom prst="roundRect">
            <a:avLst>
              <a:gd name="adj" fmla="val 14545"/>
            </a:avLst>
          </a:prstGeom>
          <a:solidFill>
            <a:srgbClr val="E4EEF9"/>
          </a:solidFill>
          <a:ln w="19050">
            <a:solidFill>
              <a:srgbClr val="1D5EA8"/>
            </a:solidFill>
          </a:ln>
          <a:effectLst/>
        </p:spPr>
        <p:txBody>
          <a:bodyPr rtlCol="0" anchor="ctr" wrap="square" lIns="73152" rIns="73152" tIns="36576" bIns="36576"/>
          <a:lstStyle/>
          <a:p>
            <a:pPr algn="ctr">
              <a:spcBef>
                <a:spcPts val="0"/>
              </a:spcBef>
              <a:spcAft>
                <a:spcPts val="0"/>
              </a:spcAft>
            </a:pPr>
            <a:r>
              <a:rPr sz="1800" b="0" i="1">
                <a:solidFill>
                  <a:srgbClr val="14202E"/>
                </a:solidFill>
                <a:latin typeface="Cambria"/>
              </a:rPr>
              <a:t>m</a:t>
            </a:r>
            <a:r>
              <a:rPr sz="1800" b="0" i="0" baseline="-25000">
                <a:solidFill>
                  <a:srgbClr val="14202E"/>
                </a:solidFill>
                <a:latin typeface="Cambria"/>
              </a:rPr>
              <a:t>1</a:t>
            </a:r>
            <a:r>
              <a:rPr sz="1800" b="0" i="0">
                <a:solidFill>
                  <a:srgbClr val="14202E"/>
                </a:solidFill>
                <a:latin typeface="Cambria"/>
              </a:rPr>
              <a:t>, </a:t>
            </a:r>
            <a:r>
              <a:rPr sz="1800" b="0" i="1">
                <a:solidFill>
                  <a:srgbClr val="14202E"/>
                </a:solidFill>
                <a:latin typeface="Cambria"/>
              </a:rPr>
              <a:t>δ</a:t>
            </a:r>
            <a:r>
              <a:rPr sz="1800" b="0" i="0" baseline="-25000">
                <a:solidFill>
                  <a:srgbClr val="14202E"/>
                </a:solidFill>
                <a:latin typeface="Cambria"/>
              </a:rPr>
              <a:t>1</a:t>
            </a:r>
          </a:p>
        </p:txBody>
      </p:sp>
      <p:sp>
        <p:nvSpPr>
          <p:cNvPr id="9" name="Rounded Rectangle 8"/>
          <p:cNvSpPr/>
          <p:nvPr/>
        </p:nvSpPr>
        <p:spPr>
          <a:xfrm>
            <a:off x="640080" y="2331720"/>
            <a:ext cx="1828800" cy="502920"/>
          </a:xfrm>
          <a:prstGeom prst="roundRect">
            <a:avLst>
              <a:gd name="adj" fmla="val 14545"/>
            </a:avLst>
          </a:prstGeom>
          <a:solidFill>
            <a:srgbClr val="E4EEF9"/>
          </a:solidFill>
          <a:ln w="19050">
            <a:solidFill>
              <a:srgbClr val="1D5EA8"/>
            </a:solidFill>
          </a:ln>
          <a:effectLst/>
        </p:spPr>
        <p:txBody>
          <a:bodyPr rtlCol="0" anchor="ctr" wrap="square" lIns="73152" rIns="73152" tIns="36576" bIns="36576"/>
          <a:lstStyle/>
          <a:p>
            <a:pPr algn="ctr">
              <a:spcBef>
                <a:spcPts val="0"/>
              </a:spcBef>
              <a:spcAft>
                <a:spcPts val="0"/>
              </a:spcAft>
            </a:pPr>
            <a:r>
              <a:rPr sz="1800" b="0" i="1">
                <a:solidFill>
                  <a:srgbClr val="14202E"/>
                </a:solidFill>
                <a:latin typeface="Cambria"/>
              </a:rPr>
              <a:t>m</a:t>
            </a:r>
            <a:r>
              <a:rPr sz="1800" b="0" i="0" baseline="-25000">
                <a:solidFill>
                  <a:srgbClr val="14202E"/>
                </a:solidFill>
                <a:latin typeface="Cambria"/>
              </a:rPr>
              <a:t>2</a:t>
            </a:r>
            <a:r>
              <a:rPr sz="1800" b="0" i="0">
                <a:solidFill>
                  <a:srgbClr val="14202E"/>
                </a:solidFill>
                <a:latin typeface="Cambria"/>
              </a:rPr>
              <a:t>, </a:t>
            </a:r>
            <a:r>
              <a:rPr sz="1800" b="0" i="1">
                <a:solidFill>
                  <a:srgbClr val="14202E"/>
                </a:solidFill>
                <a:latin typeface="Cambria"/>
              </a:rPr>
              <a:t>δ</a:t>
            </a:r>
            <a:r>
              <a:rPr sz="1800" b="0" i="0" baseline="-25000">
                <a:solidFill>
                  <a:srgbClr val="14202E"/>
                </a:solidFill>
                <a:latin typeface="Cambria"/>
              </a:rPr>
              <a:t>2</a:t>
            </a:r>
          </a:p>
        </p:txBody>
      </p:sp>
      <p:sp>
        <p:nvSpPr>
          <p:cNvPr id="10" name="TextBox 9"/>
          <p:cNvSpPr txBox="1"/>
          <p:nvPr/>
        </p:nvSpPr>
        <p:spPr>
          <a:xfrm>
            <a:off x="640080" y="2880360"/>
            <a:ext cx="1828800" cy="365760"/>
          </a:xfrm>
          <a:prstGeom prst="rect">
            <a:avLst/>
          </a:prstGeom>
          <a:noFill/>
        </p:spPr>
        <p:txBody>
          <a:bodyPr wrap="square" lIns="0" rIns="0" tIns="0" bIns="0" anchor="t">
            <a:spAutoFit/>
          </a:bodyPr>
          <a:lstStyle/>
          <a:p>
            <a:pPr algn="ctr">
              <a:spcBef>
                <a:spcPts val="0"/>
              </a:spcBef>
              <a:spcAft>
                <a:spcPts val="0"/>
              </a:spcAft>
            </a:pPr>
            <a:r>
              <a:rPr sz="2200" b="0" i="0">
                <a:solidFill>
                  <a:srgbClr val="5B6675"/>
                </a:solidFill>
                <a:latin typeface="Calibri"/>
              </a:rPr>
              <a:t>⋮</a:t>
            </a:r>
          </a:p>
        </p:txBody>
      </p:sp>
      <p:sp>
        <p:nvSpPr>
          <p:cNvPr id="11" name="Rounded Rectangle 10"/>
          <p:cNvSpPr/>
          <p:nvPr/>
        </p:nvSpPr>
        <p:spPr>
          <a:xfrm>
            <a:off x="640080" y="3246120"/>
            <a:ext cx="1828800" cy="502920"/>
          </a:xfrm>
          <a:prstGeom prst="roundRect">
            <a:avLst>
              <a:gd name="adj" fmla="val 14545"/>
            </a:avLst>
          </a:prstGeom>
          <a:solidFill>
            <a:srgbClr val="E4EEF9"/>
          </a:solidFill>
          <a:ln w="19050">
            <a:solidFill>
              <a:srgbClr val="1D5EA8"/>
            </a:solidFill>
          </a:ln>
          <a:effectLst/>
        </p:spPr>
        <p:txBody>
          <a:bodyPr rtlCol="0" anchor="ctr" wrap="square" lIns="73152" rIns="73152" tIns="36576" bIns="36576"/>
          <a:lstStyle/>
          <a:p>
            <a:pPr algn="ctr">
              <a:spcBef>
                <a:spcPts val="0"/>
              </a:spcBef>
              <a:spcAft>
                <a:spcPts val="0"/>
              </a:spcAft>
            </a:pPr>
            <a:r>
              <a:rPr sz="1800" b="0" i="1">
                <a:solidFill>
                  <a:srgbClr val="14202E"/>
                </a:solidFill>
                <a:latin typeface="Cambria"/>
              </a:rPr>
              <a:t>m</a:t>
            </a:r>
            <a:r>
              <a:rPr sz="1800" b="0" i="1" baseline="-25000">
                <a:solidFill>
                  <a:srgbClr val="14202E"/>
                </a:solidFill>
                <a:latin typeface="Cambria"/>
              </a:rPr>
              <a:t>n</a:t>
            </a:r>
            <a:r>
              <a:rPr sz="1800" b="0" i="0">
                <a:solidFill>
                  <a:srgbClr val="14202E"/>
                </a:solidFill>
                <a:latin typeface="Cambria"/>
              </a:rPr>
              <a:t>, </a:t>
            </a:r>
            <a:r>
              <a:rPr sz="1800" b="0" i="1">
                <a:solidFill>
                  <a:srgbClr val="14202E"/>
                </a:solidFill>
                <a:latin typeface="Cambria"/>
              </a:rPr>
              <a:t>δ</a:t>
            </a:r>
            <a:r>
              <a:rPr sz="1800" b="0" i="1" baseline="-25000">
                <a:solidFill>
                  <a:srgbClr val="14202E"/>
                </a:solidFill>
                <a:latin typeface="Cambria"/>
              </a:rPr>
              <a:t>n</a:t>
            </a:r>
          </a:p>
        </p:txBody>
      </p:sp>
      <p:sp>
        <p:nvSpPr>
          <p:cNvPr id="12" name="TextBox 11"/>
          <p:cNvSpPr txBox="1"/>
          <p:nvPr/>
        </p:nvSpPr>
        <p:spPr>
          <a:xfrm>
            <a:off x="640080" y="3840480"/>
            <a:ext cx="1828800" cy="502920"/>
          </a:xfrm>
          <a:prstGeom prst="rect">
            <a:avLst/>
          </a:prstGeom>
          <a:noFill/>
        </p:spPr>
        <p:txBody>
          <a:bodyPr wrap="square" lIns="0" rIns="0" tIns="0" bIns="0" anchor="t">
            <a:spAutoFit/>
          </a:bodyPr>
          <a:lstStyle/>
          <a:p>
            <a:pPr algn="ctr">
              <a:spcBef>
                <a:spcPts val="0"/>
              </a:spcBef>
              <a:spcAft>
                <a:spcPts val="0"/>
              </a:spcAft>
            </a:pPr>
            <a:r>
              <a:rPr sz="1400" b="0" i="0">
                <a:solidFill>
                  <a:srgbClr val="5B6675"/>
                </a:solidFill>
                <a:latin typeface="Calibri"/>
              </a:rPr>
              <a:t>n signatures, one per reading</a:t>
            </a:r>
          </a:p>
        </p:txBody>
      </p:sp>
      <p:cxnSp>
        <p:nvCxnSpPr>
          <p:cNvPr id="13" name="Connector 12"/>
          <p:cNvCxnSpPr/>
          <p:nvPr/>
        </p:nvCxnSpPr>
        <p:spPr>
          <a:xfrm>
            <a:off x="2468880" y="1938528"/>
            <a:ext cx="1097280" cy="850392"/>
          </a:xfrm>
          <a:prstGeom prst="line">
            <a:avLst/>
          </a:prstGeom>
          <a:ln w="19050">
            <a:solidFill>
              <a:srgbClr val="1D5EA8"/>
            </a:solidFill>
            <a:tailEnd type="triangle" w="med" len="med"/>
          </a:ln>
        </p:spPr>
      </p:cxnSp>
      <p:cxnSp>
        <p:nvCxnSpPr>
          <p:cNvPr id="14" name="Connector 13"/>
          <p:cNvCxnSpPr/>
          <p:nvPr/>
        </p:nvCxnSpPr>
        <p:spPr>
          <a:xfrm>
            <a:off x="2468880" y="2578608"/>
            <a:ext cx="1097280" cy="210312"/>
          </a:xfrm>
          <a:prstGeom prst="line">
            <a:avLst/>
          </a:prstGeom>
          <a:ln w="19050">
            <a:solidFill>
              <a:srgbClr val="1D5EA8"/>
            </a:solidFill>
            <a:tailEnd type="triangle" w="med" len="med"/>
          </a:ln>
        </p:spPr>
      </p:cxnSp>
      <p:cxnSp>
        <p:nvCxnSpPr>
          <p:cNvPr id="15" name="Connector 14"/>
          <p:cNvCxnSpPr/>
          <p:nvPr/>
        </p:nvCxnSpPr>
        <p:spPr>
          <a:xfrm flipV="1">
            <a:off x="2468880" y="3063240"/>
            <a:ext cx="1097280" cy="429768"/>
          </a:xfrm>
          <a:prstGeom prst="line">
            <a:avLst/>
          </a:prstGeom>
          <a:ln w="19050">
            <a:solidFill>
              <a:srgbClr val="1D5EA8"/>
            </a:solidFill>
            <a:tailEnd type="triangle" w="med" len="med"/>
          </a:ln>
        </p:spPr>
      </p:cxnSp>
      <p:sp>
        <p:nvSpPr>
          <p:cNvPr id="16" name="Rounded Rectangle 15"/>
          <p:cNvSpPr/>
          <p:nvPr/>
        </p:nvSpPr>
        <p:spPr>
          <a:xfrm>
            <a:off x="3566160" y="2331720"/>
            <a:ext cx="1920240" cy="914400"/>
          </a:xfrm>
          <a:prstGeom prst="roundRect">
            <a:avLst>
              <a:gd name="adj" fmla="val 8000"/>
            </a:avLst>
          </a:prstGeom>
          <a:solidFill>
            <a:srgbClr val="FBF0DC"/>
          </a:solidFill>
          <a:ln w="19050">
            <a:solidFill>
              <a:srgbClr val="B26A00"/>
            </a:solidFill>
          </a:ln>
          <a:effectLst/>
        </p:spPr>
        <p:txBody>
          <a:bodyPr rtlCol="0" anchor="ctr" wrap="square" lIns="73152" rIns="73152" tIns="36576" bIns="36576"/>
          <a:lstStyle/>
          <a:p>
            <a:pPr algn="ctr">
              <a:spcBef>
                <a:spcPts val="0"/>
              </a:spcBef>
              <a:spcAft>
                <a:spcPts val="0"/>
              </a:spcAft>
            </a:pPr>
            <a:r>
              <a:rPr sz="2000" b="1" i="0">
                <a:solidFill>
                  <a:srgbClr val="14202E"/>
                </a:solidFill>
                <a:latin typeface="Calibri"/>
              </a:rPr>
              <a:t>AggSign</a:t>
            </a:r>
          </a:p>
          <a:p>
            <a:pPr algn="ctr">
              <a:spcBef>
                <a:spcPts val="0"/>
              </a:spcBef>
              <a:spcAft>
                <a:spcPts val="0"/>
              </a:spcAft>
            </a:pPr>
            <a:r>
              <a:rPr sz="1400" b="0" i="0">
                <a:solidFill>
                  <a:srgbClr val="5B6675"/>
                </a:solidFill>
                <a:latin typeface="Calibri"/>
              </a:rPr>
              <a:t>aggregator</a:t>
            </a:r>
          </a:p>
        </p:txBody>
      </p:sp>
      <p:cxnSp>
        <p:nvCxnSpPr>
          <p:cNvPr id="17" name="Connector 16"/>
          <p:cNvCxnSpPr/>
          <p:nvPr/>
        </p:nvCxnSpPr>
        <p:spPr>
          <a:xfrm>
            <a:off x="5486400" y="2788920"/>
            <a:ext cx="1005840" cy="0"/>
          </a:xfrm>
          <a:prstGeom prst="line">
            <a:avLst/>
          </a:prstGeom>
          <a:ln w="28575">
            <a:solidFill>
              <a:srgbClr val="B26A00"/>
            </a:solidFill>
            <a:tailEnd type="triangle" w="med" len="med"/>
          </a:ln>
        </p:spPr>
      </p:cxnSp>
      <p:sp>
        <p:nvSpPr>
          <p:cNvPr id="18" name="Rounded Rectangle 17"/>
          <p:cNvSpPr/>
          <p:nvPr/>
        </p:nvSpPr>
        <p:spPr>
          <a:xfrm>
            <a:off x="6492240" y="2377440"/>
            <a:ext cx="2468880" cy="822960"/>
          </a:xfrm>
          <a:prstGeom prst="roundRect">
            <a:avLst>
              <a:gd name="adj" fmla="val 13333"/>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800" b="0" i="1">
                <a:solidFill>
                  <a:srgbClr val="14202E"/>
                </a:solidFill>
                <a:latin typeface="Cambria"/>
              </a:rPr>
              <a:t>m</a:t>
            </a:r>
            <a:r>
              <a:rPr sz="1800" b="0" i="0" baseline="-25000">
                <a:solidFill>
                  <a:srgbClr val="14202E"/>
                </a:solidFill>
                <a:latin typeface="Cambria"/>
              </a:rPr>
              <a:t>1</a:t>
            </a:r>
            <a:r>
              <a:rPr sz="1800" b="0" i="0">
                <a:solidFill>
                  <a:srgbClr val="14202E"/>
                </a:solidFill>
                <a:latin typeface="Cambria"/>
              </a:rPr>
              <a:t>, …, </a:t>
            </a:r>
            <a:r>
              <a:rPr sz="1800" b="0" i="1">
                <a:solidFill>
                  <a:srgbClr val="14202E"/>
                </a:solidFill>
                <a:latin typeface="Cambria"/>
              </a:rPr>
              <a:t>m</a:t>
            </a:r>
            <a:r>
              <a:rPr sz="1800" b="0" i="1" baseline="-25000">
                <a:solidFill>
                  <a:srgbClr val="14202E"/>
                </a:solidFill>
                <a:latin typeface="Cambria"/>
              </a:rPr>
              <a:t>n</a:t>
            </a:r>
          </a:p>
          <a:p>
            <a:pPr algn="ctr">
              <a:spcBef>
                <a:spcPts val="0"/>
              </a:spcBef>
              <a:spcAft>
                <a:spcPts val="0"/>
              </a:spcAft>
            </a:pPr>
            <a:r>
              <a:rPr sz="1500" b="0" i="0">
                <a:solidFill>
                  <a:srgbClr val="5B6675"/>
                </a:solidFill>
                <a:latin typeface="Calibri"/>
              </a:rPr>
              <a:t>one aggregate signature </a:t>
            </a:r>
            <a:r>
              <a:rPr sz="1500" b="0" i="1">
                <a:solidFill>
                  <a:srgbClr val="5B6675"/>
                </a:solidFill>
                <a:latin typeface="Cambria"/>
              </a:rPr>
              <a:t>δ</a:t>
            </a:r>
          </a:p>
        </p:txBody>
      </p:sp>
      <p:cxnSp>
        <p:nvCxnSpPr>
          <p:cNvPr id="19" name="Connector 18"/>
          <p:cNvCxnSpPr/>
          <p:nvPr/>
        </p:nvCxnSpPr>
        <p:spPr>
          <a:xfrm>
            <a:off x="8961120" y="2788920"/>
            <a:ext cx="685800" cy="0"/>
          </a:xfrm>
          <a:prstGeom prst="line">
            <a:avLst/>
          </a:prstGeom>
          <a:ln w="28575">
            <a:solidFill>
              <a:srgbClr val="14202E"/>
            </a:solidFill>
            <a:tailEnd type="triangle" w="med" len="med"/>
          </a:ln>
        </p:spPr>
      </p:cxnSp>
      <p:sp>
        <p:nvSpPr>
          <p:cNvPr id="20" name="Rounded Rectangle 19"/>
          <p:cNvSpPr/>
          <p:nvPr/>
        </p:nvSpPr>
        <p:spPr>
          <a:xfrm>
            <a:off x="9646920" y="2331720"/>
            <a:ext cx="1965960" cy="914400"/>
          </a:xfrm>
          <a:prstGeom prst="roundRect">
            <a:avLst>
              <a:gd name="adj" fmla="val 8000"/>
            </a:avLst>
          </a:prstGeom>
          <a:solidFill>
            <a:srgbClr val="E6EBF0"/>
          </a:solidFill>
          <a:ln w="19050">
            <a:solidFill>
              <a:srgbClr val="455A6E"/>
            </a:solidFill>
          </a:ln>
          <a:effectLst/>
        </p:spPr>
        <p:txBody>
          <a:bodyPr rtlCol="0" anchor="ctr" wrap="square" lIns="73152" rIns="73152" tIns="36576" bIns="36576"/>
          <a:lstStyle/>
          <a:p>
            <a:pPr algn="ctr">
              <a:spcBef>
                <a:spcPts val="0"/>
              </a:spcBef>
              <a:spcAft>
                <a:spcPts val="0"/>
              </a:spcAft>
            </a:pPr>
            <a:r>
              <a:rPr sz="2000" b="1" i="0">
                <a:solidFill>
                  <a:srgbClr val="14202E"/>
                </a:solidFill>
                <a:latin typeface="Calibri"/>
              </a:rPr>
              <a:t>AggVerify</a:t>
            </a:r>
          </a:p>
          <a:p>
            <a:pPr algn="ctr">
              <a:spcBef>
                <a:spcPts val="0"/>
              </a:spcBef>
              <a:spcAft>
                <a:spcPts val="0"/>
              </a:spcAft>
            </a:pPr>
            <a:r>
              <a:rPr sz="1300" b="0" i="0">
                <a:solidFill>
                  <a:srgbClr val="5B6675"/>
                </a:solidFill>
                <a:latin typeface="Calibri"/>
              </a:rPr>
              <a:t>1 = accept all · 0 = reject</a:t>
            </a:r>
          </a:p>
        </p:txBody>
      </p:sp>
      <p:sp>
        <p:nvSpPr>
          <p:cNvPr id="21" name="Rounded Rectangle 20"/>
          <p:cNvSpPr/>
          <p:nvPr/>
        </p:nvSpPr>
        <p:spPr>
          <a:xfrm>
            <a:off x="640080" y="4526280"/>
            <a:ext cx="5394960" cy="1005840"/>
          </a:xfrm>
          <a:prstGeom prst="roundRect">
            <a:avLst>
              <a:gd name="adj" fmla="val 9090"/>
            </a:avLst>
          </a:prstGeom>
          <a:solidFill>
            <a:srgbClr val="F2F5F8"/>
          </a:solidFill>
          <a:ln>
            <a:noFill/>
          </a:ln>
          <a:effectLst/>
        </p:spPr>
        <p:txBody>
          <a:bodyPr rtlCol="0" anchor="ctr" wrap="square" lIns="182880" rIns="182880" tIns="36576" bIns="36576"/>
          <a:lstStyle/>
          <a:p>
            <a:pPr algn="l">
              <a:spcBef>
                <a:spcPts val="0"/>
              </a:spcBef>
              <a:spcAft>
                <a:spcPts val="0"/>
              </a:spcAft>
            </a:pPr>
            <a:r>
              <a:rPr sz="1700" b="1" i="0">
                <a:solidFill>
                  <a:srgbClr val="5B6675"/>
                </a:solidFill>
                <a:latin typeface="Calibri"/>
              </a:rPr>
              <a:t>Without aggregation</a:t>
            </a:r>
          </a:p>
          <a:p>
            <a:pPr algn="l">
              <a:spcBef>
                <a:spcPts val="0"/>
              </a:spcBef>
              <a:spcAft>
                <a:spcPts val="0"/>
              </a:spcAft>
            </a:pPr>
            <a:r>
              <a:rPr sz="1700" b="0" i="0">
                <a:solidFill>
                  <a:srgbClr val="14202E"/>
                </a:solidFill>
                <a:latin typeface="Calibri"/>
              </a:rPr>
              <a:t>n signatures sent · n verification calls</a:t>
            </a:r>
          </a:p>
        </p:txBody>
      </p:sp>
      <p:sp>
        <p:nvSpPr>
          <p:cNvPr id="22" name="Rounded Rectangle 21"/>
          <p:cNvSpPr/>
          <p:nvPr/>
        </p:nvSpPr>
        <p:spPr>
          <a:xfrm>
            <a:off x="6217920" y="4526280"/>
            <a:ext cx="5394960" cy="1005840"/>
          </a:xfrm>
          <a:prstGeom prst="roundRect">
            <a:avLst>
              <a:gd name="adj" fmla="val 9090"/>
            </a:avLst>
          </a:prstGeom>
          <a:solidFill>
            <a:srgbClr val="FFFFFF"/>
          </a:solidFill>
          <a:ln w="22225">
            <a:solidFill>
              <a:srgbClr val="14202E"/>
            </a:solidFill>
          </a:ln>
          <a:effectLst/>
        </p:spPr>
        <p:txBody>
          <a:bodyPr rtlCol="0" anchor="ctr" wrap="square" lIns="182880" rIns="182880" tIns="36576" bIns="36576"/>
          <a:lstStyle/>
          <a:p>
            <a:pPr algn="l">
              <a:spcBef>
                <a:spcPts val="0"/>
              </a:spcBef>
              <a:spcAft>
                <a:spcPts val="0"/>
              </a:spcAft>
            </a:pPr>
            <a:r>
              <a:rPr sz="1700" b="1" i="0">
                <a:solidFill>
                  <a:srgbClr val="14202E"/>
                </a:solidFill>
                <a:latin typeface="Calibri"/>
              </a:rPr>
              <a:t>With aggregation</a:t>
            </a:r>
          </a:p>
          <a:p>
            <a:pPr algn="l">
              <a:spcBef>
                <a:spcPts val="0"/>
              </a:spcBef>
              <a:spcAft>
                <a:spcPts val="0"/>
              </a:spcAft>
            </a:pPr>
            <a:r>
              <a:rPr sz="1700" b="0" i="0">
                <a:solidFill>
                  <a:srgbClr val="14202E"/>
                </a:solidFill>
                <a:latin typeface="Calibri"/>
              </a:rPr>
              <a:t>one aggregate signature · one verification call</a:t>
            </a:r>
          </a:p>
        </p:txBody>
      </p:sp>
      <p:sp>
        <p:nvSpPr>
          <p:cNvPr id="23" name="Rectangle 22"/>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24" name="TextBox 23"/>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2000" b="1" i="0">
                <a:solidFill>
                  <a:srgbClr val="14202E"/>
                </a:solidFill>
                <a:latin typeface="Calibri"/>
              </a:rPr>
              <a:t>Aggregation shrinks what is sent and gives one accept-or-reject decision for all n readings.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 · WHY CERTIFICATE-BASED? · PKI, IDENTITY-BASED: STANDARD BACKGROUND</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Who holds the signing key?</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4 / 32</a:t>
            </a:r>
          </a:p>
        </p:txBody>
      </p:sp>
      <p:sp>
        <p:nvSpPr>
          <p:cNvPr id="8" name="Rounded Rectangle 7"/>
          <p:cNvSpPr/>
          <p:nvPr/>
        </p:nvSpPr>
        <p:spPr>
          <a:xfrm>
            <a:off x="548640" y="1645920"/>
            <a:ext cx="3566160" cy="3886200"/>
          </a:xfrm>
          <a:prstGeom prst="roundRect">
            <a:avLst>
              <a:gd name="adj" fmla="val 3076"/>
            </a:avLst>
          </a:prstGeom>
          <a:solidFill>
            <a:srgbClr val="FFFFFF"/>
          </a:solidFill>
          <a:ln w="15875">
            <a:solidFill>
              <a:srgbClr val="D3D9E1"/>
            </a:solidFill>
          </a:ln>
          <a:effectLst/>
        </p:spPr>
        <p:txBody>
          <a:bodyPr rtlCol="0" anchor="ctr" wrap="square" lIns="73152" rIns="73152" tIns="36576" bIns="36576"/>
          <a:lstStyle/>
          <a:p>
            <a:pPr algn="ctr"/>
          </a:p>
        </p:txBody>
      </p:sp>
      <p:sp>
        <p:nvSpPr>
          <p:cNvPr id="9" name="TextBox 8"/>
          <p:cNvSpPr txBox="1"/>
          <p:nvPr/>
        </p:nvSpPr>
        <p:spPr>
          <a:xfrm>
            <a:off x="777240" y="1783080"/>
            <a:ext cx="3108960" cy="365760"/>
          </a:xfrm>
          <a:prstGeom prst="rect">
            <a:avLst/>
          </a:prstGeom>
          <a:noFill/>
        </p:spPr>
        <p:txBody>
          <a:bodyPr wrap="square" lIns="0" rIns="0" tIns="0" bIns="0" anchor="t">
            <a:spAutoFit/>
          </a:bodyPr>
          <a:lstStyle/>
          <a:p>
            <a:pPr algn="l">
              <a:spcBef>
                <a:spcPts val="0"/>
              </a:spcBef>
              <a:spcAft>
                <a:spcPts val="0"/>
              </a:spcAft>
            </a:pPr>
            <a:r>
              <a:rPr sz="2000" b="1" i="0">
                <a:solidFill>
                  <a:srgbClr val="14202E"/>
                </a:solidFill>
                <a:latin typeface="Cambria"/>
              </a:rPr>
              <a:t>Public-key infrastructure</a:t>
            </a:r>
          </a:p>
        </p:txBody>
      </p:sp>
      <p:sp>
        <p:nvSpPr>
          <p:cNvPr id="10" name="Rounded Rectangle 9"/>
          <p:cNvSpPr/>
          <p:nvPr/>
        </p:nvSpPr>
        <p:spPr>
          <a:xfrm>
            <a:off x="777240" y="2377440"/>
            <a:ext cx="3108960" cy="548640"/>
          </a:xfrm>
          <a:prstGeom prst="roundRect">
            <a:avLst>
              <a:gd name="adj" fmla="val 13333"/>
            </a:avLst>
          </a:prstGeom>
          <a:solidFill>
            <a:srgbClr val="E4EEF9"/>
          </a:solidFill>
          <a:ln w="19050">
            <a:solidFill>
              <a:srgbClr val="1D5EA8"/>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user's key</a:t>
            </a:r>
          </a:p>
        </p:txBody>
      </p:sp>
      <p:sp>
        <p:nvSpPr>
          <p:cNvPr id="11" name="TextBox 10"/>
          <p:cNvSpPr txBox="1"/>
          <p:nvPr/>
        </p:nvSpPr>
        <p:spPr>
          <a:xfrm>
            <a:off x="777240" y="3200400"/>
            <a:ext cx="3108960" cy="1463040"/>
          </a:xfrm>
          <a:prstGeom prst="rect">
            <a:avLst/>
          </a:prstGeom>
          <a:noFill/>
        </p:spPr>
        <p:txBody>
          <a:bodyPr wrap="square" lIns="0" rIns="0" tIns="0" bIns="0" anchor="t">
            <a:spAutoFit/>
          </a:bodyPr>
          <a:lstStyle/>
          <a:p>
            <a:pPr algn="l" marL="256032" indent="-256032">
              <a:spcBef>
                <a:spcPts val="0"/>
              </a:spcBef>
              <a:spcAft>
                <a:spcPts val="800"/>
              </a:spcAft>
              <a:buFont typeface="Arial"/>
              <a:buChar char="•"/>
            </a:pPr>
            <a:r>
              <a:rPr sz="1700" b="0" i="0">
                <a:solidFill>
                  <a:srgbClr val="14202E"/>
                </a:solidFill>
                <a:latin typeface="Calibri"/>
              </a:rPr>
              <a:t>A CA certifies the key</a:t>
            </a:r>
          </a:p>
          <a:p>
            <a:pPr algn="l" marL="256032" indent="-256032">
              <a:spcBef>
                <a:spcPts val="0"/>
              </a:spcBef>
              <a:spcAft>
                <a:spcPts val="0"/>
              </a:spcAft>
              <a:buFont typeface="Arial"/>
              <a:buChar char="•"/>
            </a:pPr>
            <a:r>
              <a:rPr sz="1700" b="0" i="0">
                <a:solidFill>
                  <a:srgbClr val="5B6675"/>
                </a:solidFill>
                <a:latin typeface="Calibri"/>
              </a:rPr>
              <a:t>Certificates must be stored, distributed and revoked</a:t>
            </a:r>
          </a:p>
        </p:txBody>
      </p:sp>
      <p:sp>
        <p:nvSpPr>
          <p:cNvPr id="12" name="Rounded Rectangle 11"/>
          <p:cNvSpPr/>
          <p:nvPr/>
        </p:nvSpPr>
        <p:spPr>
          <a:xfrm>
            <a:off x="777240" y="4754880"/>
            <a:ext cx="3108960" cy="502920"/>
          </a:xfrm>
          <a:prstGeom prst="roundRect">
            <a:avLst>
              <a:gd name="adj" fmla="val 21818"/>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700" b="1" i="0">
                <a:solidFill>
                  <a:srgbClr val="14202E"/>
                </a:solidFill>
                <a:latin typeface="Calibri"/>
              </a:rPr>
              <a:t>User alone signs</a:t>
            </a:r>
          </a:p>
        </p:txBody>
      </p:sp>
      <p:sp>
        <p:nvSpPr>
          <p:cNvPr id="13" name="Rounded Rectangle 12"/>
          <p:cNvSpPr/>
          <p:nvPr/>
        </p:nvSpPr>
        <p:spPr>
          <a:xfrm>
            <a:off x="4293107" y="1645920"/>
            <a:ext cx="3566160" cy="3886200"/>
          </a:xfrm>
          <a:prstGeom prst="roundRect">
            <a:avLst>
              <a:gd name="adj" fmla="val 3076"/>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4" name="TextBox 13"/>
          <p:cNvSpPr txBox="1"/>
          <p:nvPr/>
        </p:nvSpPr>
        <p:spPr>
          <a:xfrm>
            <a:off x="4521707" y="1783080"/>
            <a:ext cx="3108960" cy="365760"/>
          </a:xfrm>
          <a:prstGeom prst="rect">
            <a:avLst/>
          </a:prstGeom>
          <a:noFill/>
        </p:spPr>
        <p:txBody>
          <a:bodyPr wrap="square" lIns="0" rIns="0" tIns="0" bIns="0" anchor="t">
            <a:spAutoFit/>
          </a:bodyPr>
          <a:lstStyle/>
          <a:p>
            <a:pPr algn="l">
              <a:spcBef>
                <a:spcPts val="0"/>
              </a:spcBef>
              <a:spcAft>
                <a:spcPts val="0"/>
              </a:spcAft>
            </a:pPr>
            <a:r>
              <a:rPr sz="2000" b="1" i="0">
                <a:solidFill>
                  <a:srgbClr val="14202E"/>
                </a:solidFill>
                <a:latin typeface="Cambria"/>
              </a:rPr>
              <a:t>Identity-based</a:t>
            </a:r>
          </a:p>
        </p:txBody>
      </p:sp>
      <p:sp>
        <p:nvSpPr>
          <p:cNvPr id="15" name="Rounded Rectangle 14"/>
          <p:cNvSpPr/>
          <p:nvPr/>
        </p:nvSpPr>
        <p:spPr>
          <a:xfrm>
            <a:off x="4521707" y="2377440"/>
            <a:ext cx="3108960" cy="548640"/>
          </a:xfrm>
          <a:prstGeom prst="roundRect">
            <a:avLst>
              <a:gd name="adj" fmla="val 13333"/>
            </a:avLst>
          </a:prstGeom>
          <a:solidFill>
            <a:srgbClr val="EFE8F8"/>
          </a:solidFill>
          <a:ln w="19050">
            <a:solidFill>
              <a:srgbClr val="6B3FA0"/>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KGC computes the key</a:t>
            </a:r>
          </a:p>
        </p:txBody>
      </p:sp>
      <p:sp>
        <p:nvSpPr>
          <p:cNvPr id="16" name="TextBox 15"/>
          <p:cNvSpPr txBox="1"/>
          <p:nvPr/>
        </p:nvSpPr>
        <p:spPr>
          <a:xfrm>
            <a:off x="4521707" y="3200400"/>
            <a:ext cx="3108960" cy="1463040"/>
          </a:xfrm>
          <a:prstGeom prst="rect">
            <a:avLst/>
          </a:prstGeom>
          <a:noFill/>
        </p:spPr>
        <p:txBody>
          <a:bodyPr wrap="square" lIns="0" rIns="0" tIns="0" bIns="0" anchor="t">
            <a:spAutoFit/>
          </a:bodyPr>
          <a:lstStyle/>
          <a:p>
            <a:pPr algn="l" marL="256032" indent="-256032">
              <a:spcBef>
                <a:spcPts val="0"/>
              </a:spcBef>
              <a:spcAft>
                <a:spcPts val="800"/>
              </a:spcAft>
              <a:buFont typeface="Arial"/>
              <a:buChar char="•"/>
            </a:pPr>
            <a:r>
              <a:rPr sz="1700" b="0" i="0">
                <a:solidFill>
                  <a:srgbClr val="14202E"/>
                </a:solidFill>
                <a:latin typeface="Calibri"/>
              </a:rPr>
              <a:t>The KGC derives the whole private key</a:t>
            </a:r>
          </a:p>
          <a:p>
            <a:pPr algn="l" marL="256032" indent="-256032">
              <a:spcBef>
                <a:spcPts val="0"/>
              </a:spcBef>
              <a:spcAft>
                <a:spcPts val="0"/>
              </a:spcAft>
              <a:buFont typeface="Arial"/>
              <a:buChar char="•"/>
            </a:pPr>
            <a:r>
              <a:rPr sz="1700" b="0" i="0">
                <a:solidFill>
                  <a:srgbClr val="5B6675"/>
                </a:solidFill>
                <a:latin typeface="Calibri"/>
              </a:rPr>
              <a:t>The KGC can sign as anyone: key escrow</a:t>
            </a:r>
          </a:p>
        </p:txBody>
      </p:sp>
      <p:sp>
        <p:nvSpPr>
          <p:cNvPr id="17" name="Rounded Rectangle 16"/>
          <p:cNvSpPr/>
          <p:nvPr/>
        </p:nvSpPr>
        <p:spPr>
          <a:xfrm>
            <a:off x="4521707" y="4754880"/>
            <a:ext cx="3108960" cy="502920"/>
          </a:xfrm>
          <a:prstGeom prst="roundRect">
            <a:avLst>
              <a:gd name="adj" fmla="val 21818"/>
            </a:avLst>
          </a:prstGeom>
          <a:solidFill>
            <a:srgbClr val="FCE9E7"/>
          </a:solidFill>
          <a:ln w="15240">
            <a:solidFill>
              <a:srgbClr val="B3261E"/>
            </a:solidFill>
          </a:ln>
          <a:effectLst/>
        </p:spPr>
        <p:txBody>
          <a:bodyPr rtlCol="0" anchor="ctr" wrap="square" lIns="73152" rIns="73152" tIns="36576" bIns="36576"/>
          <a:lstStyle/>
          <a:p>
            <a:pPr algn="ctr">
              <a:spcBef>
                <a:spcPts val="0"/>
              </a:spcBef>
              <a:spcAft>
                <a:spcPts val="0"/>
              </a:spcAft>
            </a:pPr>
            <a:r>
              <a:rPr sz="1700" b="1" i="0">
                <a:solidFill>
                  <a:srgbClr val="14202E"/>
                </a:solidFill>
                <a:latin typeface="Calibri"/>
              </a:rPr>
              <a:t>KGC alone can sign</a:t>
            </a:r>
          </a:p>
        </p:txBody>
      </p:sp>
      <p:sp>
        <p:nvSpPr>
          <p:cNvPr id="18" name="Rounded Rectangle 17"/>
          <p:cNvSpPr/>
          <p:nvPr/>
        </p:nvSpPr>
        <p:spPr>
          <a:xfrm>
            <a:off x="8037575" y="1645920"/>
            <a:ext cx="3566160" cy="3886200"/>
          </a:xfrm>
          <a:prstGeom prst="roundRect">
            <a:avLst>
              <a:gd name="adj" fmla="val 3076"/>
            </a:avLst>
          </a:prstGeom>
          <a:solidFill>
            <a:srgbClr val="FFFFFF"/>
          </a:solidFill>
          <a:ln w="38100">
            <a:solidFill>
              <a:srgbClr val="1E7B4F"/>
            </a:solidFill>
          </a:ln>
          <a:effectLst/>
        </p:spPr>
        <p:txBody>
          <a:bodyPr rtlCol="0" anchor="ctr" wrap="square" lIns="73152" rIns="73152" tIns="36576" bIns="36576"/>
          <a:lstStyle/>
          <a:p>
            <a:pPr algn="ctr"/>
          </a:p>
        </p:txBody>
      </p:sp>
      <p:sp>
        <p:nvSpPr>
          <p:cNvPr id="19" name="TextBox 18"/>
          <p:cNvSpPr txBox="1"/>
          <p:nvPr/>
        </p:nvSpPr>
        <p:spPr>
          <a:xfrm>
            <a:off x="8266175" y="1783080"/>
            <a:ext cx="3108960" cy="365760"/>
          </a:xfrm>
          <a:prstGeom prst="rect">
            <a:avLst/>
          </a:prstGeom>
          <a:noFill/>
        </p:spPr>
        <p:txBody>
          <a:bodyPr wrap="square" lIns="0" rIns="0" tIns="0" bIns="0" anchor="t">
            <a:spAutoFit/>
          </a:bodyPr>
          <a:lstStyle/>
          <a:p>
            <a:pPr algn="l">
              <a:spcBef>
                <a:spcPts val="0"/>
              </a:spcBef>
              <a:spcAft>
                <a:spcPts val="0"/>
              </a:spcAft>
            </a:pPr>
            <a:r>
              <a:rPr sz="2000" b="1" i="0">
                <a:solidFill>
                  <a:srgbClr val="14202E"/>
                </a:solidFill>
                <a:latin typeface="Cambria"/>
              </a:rPr>
              <a:t>Certificate-based</a:t>
            </a:r>
          </a:p>
        </p:txBody>
      </p:sp>
      <p:sp>
        <p:nvSpPr>
          <p:cNvPr id="20" name="Rounded Rectangle 19"/>
          <p:cNvSpPr/>
          <p:nvPr/>
        </p:nvSpPr>
        <p:spPr>
          <a:xfrm>
            <a:off x="8266175" y="2377440"/>
            <a:ext cx="1554480" cy="548640"/>
          </a:xfrm>
          <a:prstGeom prst="roundRect">
            <a:avLst>
              <a:gd name="adj" fmla="val 13333"/>
            </a:avLst>
          </a:prstGeom>
          <a:solidFill>
            <a:srgbClr val="E4EEF9"/>
          </a:solidFill>
          <a:ln w="19050">
            <a:solidFill>
              <a:srgbClr val="1D5EA8"/>
            </a:solidFill>
          </a:ln>
          <a:effectLst/>
        </p:spPr>
        <p:txBody>
          <a:bodyPr rtlCol="0" anchor="ctr" wrap="square" lIns="73152" rIns="73152" tIns="36576" bIns="36576"/>
          <a:lstStyle/>
          <a:p>
            <a:pPr algn="ctr">
              <a:spcBef>
                <a:spcPts val="0"/>
              </a:spcBef>
              <a:spcAft>
                <a:spcPts val="0"/>
              </a:spcAft>
            </a:pPr>
            <a:r>
              <a:rPr sz="1600" b="1" i="1">
                <a:solidFill>
                  <a:srgbClr val="14202E"/>
                </a:solidFill>
                <a:latin typeface="Cambria"/>
              </a:rPr>
              <a:t>sk</a:t>
            </a:r>
            <a:r>
              <a:rPr sz="1600" b="1" i="1" baseline="-25000">
                <a:solidFill>
                  <a:srgbClr val="14202E"/>
                </a:solidFill>
                <a:latin typeface="Cambria"/>
              </a:rPr>
              <a:t>i</a:t>
            </a:r>
            <a:r>
              <a:rPr sz="1600" b="1" i="0">
                <a:solidFill>
                  <a:srgbClr val="14202E"/>
                </a:solidFill>
                <a:latin typeface="Calibri"/>
              </a:rPr>
              <a:t> · user</a:t>
            </a:r>
          </a:p>
        </p:txBody>
      </p:sp>
      <p:sp>
        <p:nvSpPr>
          <p:cNvPr id="21" name="Rounded Rectangle 20"/>
          <p:cNvSpPr/>
          <p:nvPr/>
        </p:nvSpPr>
        <p:spPr>
          <a:xfrm>
            <a:off x="9820655" y="2377440"/>
            <a:ext cx="1554480" cy="548640"/>
          </a:xfrm>
          <a:prstGeom prst="roundRect">
            <a:avLst>
              <a:gd name="adj" fmla="val 13333"/>
            </a:avLst>
          </a:prstGeom>
          <a:solidFill>
            <a:srgbClr val="EFE8F8"/>
          </a:solidFill>
          <a:ln w="19050">
            <a:solidFill>
              <a:srgbClr val="6B3FA0"/>
            </a:solidFill>
          </a:ln>
          <a:effectLst/>
        </p:spPr>
        <p:txBody>
          <a:bodyPr rtlCol="0" anchor="ctr" wrap="square" lIns="73152" rIns="73152" tIns="36576" bIns="36576"/>
          <a:lstStyle/>
          <a:p>
            <a:pPr algn="ctr">
              <a:spcBef>
                <a:spcPts val="0"/>
              </a:spcBef>
              <a:spcAft>
                <a:spcPts val="0"/>
              </a:spcAft>
            </a:pPr>
            <a:r>
              <a:rPr sz="1600" b="1" i="1">
                <a:solidFill>
                  <a:srgbClr val="14202E"/>
                </a:solidFill>
                <a:latin typeface="Cambria"/>
              </a:rPr>
              <a:t>Cert</a:t>
            </a:r>
            <a:r>
              <a:rPr sz="1600" b="1" i="1" baseline="-25000">
                <a:solidFill>
                  <a:srgbClr val="14202E"/>
                </a:solidFill>
                <a:latin typeface="Cambria"/>
              </a:rPr>
              <a:t>i</a:t>
            </a:r>
            <a:r>
              <a:rPr sz="1600" b="1" i="0">
                <a:solidFill>
                  <a:srgbClr val="14202E"/>
                </a:solidFill>
                <a:latin typeface="Calibri"/>
              </a:rPr>
              <a:t> · KGC</a:t>
            </a:r>
          </a:p>
        </p:txBody>
      </p:sp>
      <p:sp>
        <p:nvSpPr>
          <p:cNvPr id="22" name="TextBox 21"/>
          <p:cNvSpPr txBox="1"/>
          <p:nvPr/>
        </p:nvSpPr>
        <p:spPr>
          <a:xfrm>
            <a:off x="8266175" y="3200400"/>
            <a:ext cx="3108960" cy="1463040"/>
          </a:xfrm>
          <a:prstGeom prst="rect">
            <a:avLst/>
          </a:prstGeom>
          <a:noFill/>
        </p:spPr>
        <p:txBody>
          <a:bodyPr wrap="square" lIns="0" rIns="0" tIns="0" bIns="0" anchor="t">
            <a:spAutoFit/>
          </a:bodyPr>
          <a:lstStyle/>
          <a:p>
            <a:pPr algn="l" marL="256032" indent="-256032">
              <a:spcBef>
                <a:spcPts val="0"/>
              </a:spcBef>
              <a:spcAft>
                <a:spcPts val="800"/>
              </a:spcAft>
              <a:buFont typeface="Arial"/>
              <a:buChar char="•"/>
            </a:pPr>
            <a:r>
              <a:rPr sz="1700" b="0" i="0">
                <a:solidFill>
                  <a:srgbClr val="14202E"/>
                </a:solidFill>
                <a:latin typeface="Calibri"/>
              </a:rPr>
              <a:t>The user makes </a:t>
            </a:r>
            <a:r>
              <a:rPr sz="1700" b="0" i="1">
                <a:solidFill>
                  <a:srgbClr val="14202E"/>
                </a:solidFill>
                <a:latin typeface="Cambria"/>
              </a:rPr>
              <a:t>sk</a:t>
            </a:r>
            <a:r>
              <a:rPr sz="1700" b="0" i="1" baseline="-25000">
                <a:solidFill>
                  <a:srgbClr val="14202E"/>
                </a:solidFill>
                <a:latin typeface="Cambria"/>
              </a:rPr>
              <a:t>i</a:t>
            </a:r>
            <a:r>
              <a:rPr sz="1700" b="0" i="0">
                <a:solidFill>
                  <a:srgbClr val="14202E"/>
                </a:solidFill>
                <a:latin typeface="Calibri"/>
              </a:rPr>
              <a:t> and </a:t>
            </a:r>
            <a:r>
              <a:rPr sz="1700" b="0" i="1">
                <a:solidFill>
                  <a:srgbClr val="14202E"/>
                </a:solidFill>
                <a:latin typeface="Cambria"/>
              </a:rPr>
              <a:t>pk</a:t>
            </a:r>
            <a:r>
              <a:rPr sz="1700" b="0" i="1" baseline="-25000">
                <a:solidFill>
                  <a:srgbClr val="14202E"/>
                </a:solidFill>
                <a:latin typeface="Cambria"/>
              </a:rPr>
              <a:t>i</a:t>
            </a:r>
            <a:r>
              <a:rPr sz="1700" b="0" i="0">
                <a:solidFill>
                  <a:srgbClr val="14202E"/>
                </a:solidFill>
                <a:latin typeface="Calibri"/>
              </a:rPr>
              <a:t> itself</a:t>
            </a:r>
          </a:p>
          <a:p>
            <a:pPr algn="l" marL="256032" indent="-256032">
              <a:spcBef>
                <a:spcPts val="0"/>
              </a:spcBef>
              <a:spcAft>
                <a:spcPts val="0"/>
              </a:spcAft>
              <a:buFont typeface="Arial"/>
              <a:buChar char="•"/>
            </a:pPr>
            <a:r>
              <a:rPr sz="1700" b="0" i="0">
                <a:solidFill>
                  <a:srgbClr val="5B6675"/>
                </a:solidFill>
                <a:latin typeface="Calibri"/>
              </a:rPr>
              <a:t>The KGC issues </a:t>
            </a:r>
            <a:r>
              <a:rPr sz="1700" b="0" i="1">
                <a:solidFill>
                  <a:srgbClr val="5B6675"/>
                </a:solidFill>
                <a:latin typeface="Cambria"/>
              </a:rPr>
              <a:t>Cert</a:t>
            </a:r>
            <a:r>
              <a:rPr sz="1700" b="0" i="1" baseline="-25000">
                <a:solidFill>
                  <a:srgbClr val="5B6675"/>
                </a:solidFill>
                <a:latin typeface="Cambria"/>
              </a:rPr>
              <a:t>i</a:t>
            </a:r>
            <a:r>
              <a:rPr sz="1700" b="0" i="0">
                <a:solidFill>
                  <a:srgbClr val="5B6675"/>
                </a:solidFill>
                <a:latin typeface="Calibri"/>
              </a:rPr>
              <a:t>; signing needs both</a:t>
            </a:r>
          </a:p>
        </p:txBody>
      </p:sp>
      <p:sp>
        <p:nvSpPr>
          <p:cNvPr id="23" name="Rounded Rectangle 22"/>
          <p:cNvSpPr/>
          <p:nvPr/>
        </p:nvSpPr>
        <p:spPr>
          <a:xfrm>
            <a:off x="8266175" y="4754880"/>
            <a:ext cx="3108960" cy="502920"/>
          </a:xfrm>
          <a:prstGeom prst="roundRect">
            <a:avLst>
              <a:gd name="adj" fmla="val 21818"/>
            </a:avLst>
          </a:prstGeom>
          <a:solidFill>
            <a:srgbClr val="E2F3EA"/>
          </a:solidFill>
          <a:ln w="15240">
            <a:solidFill>
              <a:srgbClr val="1E7B4F"/>
            </a:solidFill>
          </a:ln>
          <a:effectLst/>
        </p:spPr>
        <p:txBody>
          <a:bodyPr rtlCol="0" anchor="ctr" wrap="square" lIns="73152" rIns="73152" tIns="36576" bIns="36576"/>
          <a:lstStyle/>
          <a:p>
            <a:pPr algn="ctr">
              <a:spcBef>
                <a:spcPts val="0"/>
              </a:spcBef>
              <a:spcAft>
                <a:spcPts val="0"/>
              </a:spcAft>
            </a:pPr>
            <a:r>
              <a:rPr sz="1700" b="1" i="0">
                <a:solidFill>
                  <a:srgbClr val="14202E"/>
                </a:solidFill>
                <a:latin typeface="Calibri"/>
              </a:rPr>
              <a:t>Neither alone can sign</a:t>
            </a:r>
          </a:p>
        </p:txBody>
      </p:sp>
      <p:sp>
        <p:nvSpPr>
          <p:cNvPr id="24" name="Rectangle 23"/>
          <p:cNvSpPr/>
          <p:nvPr/>
        </p:nvSpPr>
        <p:spPr>
          <a:xfrm>
            <a:off x="548640" y="5760720"/>
            <a:ext cx="82296" cy="566928"/>
          </a:xfrm>
          <a:prstGeom prst="rect">
            <a:avLst/>
          </a:prstGeom>
          <a:solidFill>
            <a:srgbClr val="1E7B4F"/>
          </a:solidFill>
          <a:ln>
            <a:noFill/>
          </a:ln>
          <a:effectLst/>
        </p:spPr>
        <p:txBody>
          <a:bodyPr rtlCol="0" anchor="ctr" wrap="square" lIns="73152" rIns="73152" tIns="36576" bIns="36576"/>
          <a:lstStyle/>
          <a:p>
            <a:pPr algn="ctr"/>
          </a:p>
        </p:txBody>
      </p:sp>
      <p:sp>
        <p:nvSpPr>
          <p:cNvPr id="25" name="TextBox 24"/>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2000" b="1" i="0">
                <a:solidFill>
                  <a:srgbClr val="14202E"/>
                </a:solidFill>
                <a:latin typeface="Calibri"/>
              </a:rPr>
              <a:t>Design goal: the KGC alone must not be able to sign.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 · THE THREAT AND OUR QUESTIONS</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What if the KGC is the attacker?</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5 / 32</a:t>
            </a:r>
          </a:p>
        </p:txBody>
      </p:sp>
      <p:sp>
        <p:nvSpPr>
          <p:cNvPr id="8" name="Rounded Rectangle 7"/>
          <p:cNvSpPr/>
          <p:nvPr/>
        </p:nvSpPr>
        <p:spPr>
          <a:xfrm>
            <a:off x="548640" y="1645920"/>
            <a:ext cx="4114800" cy="3657600"/>
          </a:xfrm>
          <a:prstGeom prst="roundRect">
            <a:avLst>
              <a:gd name="adj" fmla="val 3000"/>
            </a:avLst>
          </a:prstGeom>
          <a:solidFill>
            <a:srgbClr val="FCE9E7"/>
          </a:solidFill>
          <a:ln w="19050">
            <a:solidFill>
              <a:srgbClr val="B3261E"/>
            </a:solidFill>
          </a:ln>
          <a:effectLst/>
        </p:spPr>
        <p:txBody>
          <a:bodyPr rtlCol="0" anchor="ctr" wrap="square" lIns="73152" rIns="73152" tIns="36576" bIns="36576"/>
          <a:lstStyle/>
          <a:p>
            <a:pPr algn="ctr"/>
          </a:p>
        </p:txBody>
      </p:sp>
      <p:sp>
        <p:nvSpPr>
          <p:cNvPr id="9" name="TextBox 8"/>
          <p:cNvSpPr txBox="1"/>
          <p:nvPr/>
        </p:nvSpPr>
        <p:spPr>
          <a:xfrm>
            <a:off x="777240" y="1783080"/>
            <a:ext cx="3657600" cy="274320"/>
          </a:xfrm>
          <a:prstGeom prst="rect">
            <a:avLst/>
          </a:prstGeom>
          <a:noFill/>
        </p:spPr>
        <p:txBody>
          <a:bodyPr wrap="square" lIns="0" rIns="0" tIns="0" bIns="0" anchor="t">
            <a:spAutoFit/>
          </a:bodyPr>
          <a:lstStyle/>
          <a:p>
            <a:pPr algn="l">
              <a:spcBef>
                <a:spcPts val="0"/>
              </a:spcBef>
              <a:spcAft>
                <a:spcPts val="0"/>
              </a:spcAft>
            </a:pPr>
            <a:r>
              <a:rPr sz="1250" b="1" i="0" spc="120">
                <a:solidFill>
                  <a:srgbClr val="B3261E"/>
                </a:solidFill>
                <a:latin typeface="Calibri"/>
              </a:rPr>
              <a:t>THE THREAT</a:t>
            </a:r>
          </a:p>
        </p:txBody>
      </p:sp>
      <p:sp>
        <p:nvSpPr>
          <p:cNvPr id="10" name="TextBox 9"/>
          <p:cNvSpPr txBox="1"/>
          <p:nvPr/>
        </p:nvSpPr>
        <p:spPr>
          <a:xfrm>
            <a:off x="777240" y="2103120"/>
            <a:ext cx="3657600" cy="914400"/>
          </a:xfrm>
          <a:prstGeom prst="rect">
            <a:avLst/>
          </a:prstGeom>
          <a:noFill/>
        </p:spPr>
        <p:txBody>
          <a:bodyPr wrap="square" lIns="0" rIns="0" tIns="0" bIns="0" anchor="t">
            <a:spAutoFit/>
          </a:bodyPr>
          <a:lstStyle/>
          <a:p>
            <a:pPr algn="l">
              <a:lnSpc>
                <a:spcPct val="95000"/>
              </a:lnSpc>
              <a:spcBef>
                <a:spcPts val="0"/>
              </a:spcBef>
              <a:spcAft>
                <a:spcPts val="0"/>
              </a:spcAft>
            </a:pPr>
            <a:r>
              <a:rPr sz="2200" b="1" i="0">
                <a:solidFill>
                  <a:srgbClr val="14202E"/>
                </a:solidFill>
                <a:latin typeface="Cambria"/>
              </a:rPr>
              <a:t>A KGC that goes bad holds every certificate.</a:t>
            </a:r>
          </a:p>
        </p:txBody>
      </p:sp>
      <p:sp>
        <p:nvSpPr>
          <p:cNvPr id="11" name="TextBox 10"/>
          <p:cNvSpPr txBox="1"/>
          <p:nvPr/>
        </p:nvSpPr>
        <p:spPr>
          <a:xfrm>
            <a:off x="777240" y="3108960"/>
            <a:ext cx="3657600" cy="2103120"/>
          </a:xfrm>
          <a:prstGeom prst="rect">
            <a:avLst/>
          </a:prstGeom>
          <a:noFill/>
        </p:spPr>
        <p:txBody>
          <a:bodyPr wrap="square" lIns="0" rIns="0" tIns="0" bIns="0" anchor="t">
            <a:spAutoFit/>
          </a:bodyPr>
          <a:lstStyle/>
          <a:p>
            <a:pPr algn="l" marL="256032" indent="-256032">
              <a:spcBef>
                <a:spcPts val="0"/>
              </a:spcBef>
              <a:spcAft>
                <a:spcPts val="800"/>
              </a:spcAft>
              <a:buFont typeface="Arial"/>
              <a:buChar char="•"/>
            </a:pPr>
            <a:r>
              <a:rPr sz="1600" b="0" i="0">
                <a:solidFill>
                  <a:srgbClr val="14202E"/>
                </a:solidFill>
                <a:latin typeface="Calibri"/>
              </a:rPr>
              <a:t>Postbank, South Africa: an employee took the data centre's master secret key and stole 3.2 million dollars (cited in the paper, §I-C).</a:t>
            </a:r>
          </a:p>
          <a:p>
            <a:pPr algn="l" marL="256032" indent="-256032">
              <a:spcBef>
                <a:spcPts val="0"/>
              </a:spcBef>
              <a:spcAft>
                <a:spcPts val="0"/>
              </a:spcAft>
              <a:buFont typeface="Arial"/>
              <a:buChar char="•"/>
            </a:pPr>
            <a:r>
              <a:rPr sz="1600" b="0" i="0">
                <a:solidFill>
                  <a:srgbClr val="14202E"/>
                </a:solidFill>
                <a:latin typeface="Calibri"/>
              </a:rPr>
              <a:t>The paper's requirement: a practical CBAS scheme must stay secure even if the KGC is malicious.</a:t>
            </a:r>
          </a:p>
        </p:txBody>
      </p:sp>
      <p:sp>
        <p:nvSpPr>
          <p:cNvPr id="12" name="Rounded Rectangle 11"/>
          <p:cNvSpPr/>
          <p:nvPr/>
        </p:nvSpPr>
        <p:spPr>
          <a:xfrm>
            <a:off x="4937760" y="1645920"/>
            <a:ext cx="6702552" cy="1097280"/>
          </a:xfrm>
          <a:prstGeom prst="roundRect">
            <a:avLst>
              <a:gd name="adj" fmla="val 8333"/>
            </a:avLst>
          </a:prstGeom>
          <a:solidFill>
            <a:srgbClr val="FFFFFF"/>
          </a:solidFill>
          <a:ln w="19050">
            <a:solidFill>
              <a:srgbClr val="14202E"/>
            </a:solidFill>
          </a:ln>
          <a:effectLst/>
        </p:spPr>
        <p:txBody>
          <a:bodyPr rtlCol="0" anchor="ctr" wrap="square" lIns="73152" rIns="73152" tIns="36576" bIns="36576"/>
          <a:lstStyle/>
          <a:p>
            <a:pPr algn="ctr"/>
          </a:p>
        </p:txBody>
      </p:sp>
      <p:sp>
        <p:nvSpPr>
          <p:cNvPr id="13" name="Rounded Rectangle 12"/>
          <p:cNvSpPr/>
          <p:nvPr/>
        </p:nvSpPr>
        <p:spPr>
          <a:xfrm>
            <a:off x="4937760" y="1645920"/>
            <a:ext cx="868680" cy="1097280"/>
          </a:xfrm>
          <a:prstGeom prst="roundRect">
            <a:avLst>
              <a:gd name="adj" fmla="val 10526"/>
            </a:avLst>
          </a:prstGeom>
          <a:solidFill>
            <a:srgbClr val="14202E"/>
          </a:solidFill>
          <a:ln>
            <a:noFill/>
          </a:ln>
          <a:effectLst/>
        </p:spPr>
        <p:txBody>
          <a:bodyPr rtlCol="0" anchor="ctr" wrap="square" lIns="73152" rIns="73152" tIns="36576" bIns="36576"/>
          <a:lstStyle/>
          <a:p>
            <a:pPr algn="ctr">
              <a:spcBef>
                <a:spcPts val="0"/>
              </a:spcBef>
              <a:spcAft>
                <a:spcPts val="0"/>
              </a:spcAft>
            </a:pPr>
            <a:r>
              <a:rPr sz="2600" b="1" i="0">
                <a:solidFill>
                  <a:srgbClr val="FFFFFF"/>
                </a:solidFill>
                <a:latin typeface="Calibri"/>
              </a:rPr>
              <a:t>Q1</a:t>
            </a:r>
          </a:p>
        </p:txBody>
      </p:sp>
      <p:sp>
        <p:nvSpPr>
          <p:cNvPr id="14" name="TextBox 13"/>
          <p:cNvSpPr txBox="1"/>
          <p:nvPr/>
        </p:nvSpPr>
        <p:spPr>
          <a:xfrm>
            <a:off x="5989320" y="1755648"/>
            <a:ext cx="5532120" cy="566928"/>
          </a:xfrm>
          <a:prstGeom prst="rect">
            <a:avLst/>
          </a:prstGeom>
          <a:noFill/>
        </p:spPr>
        <p:txBody>
          <a:bodyPr wrap="square" lIns="0" rIns="0" tIns="0" bIns="0" anchor="t">
            <a:spAutoFit/>
          </a:bodyPr>
          <a:lstStyle/>
          <a:p>
            <a:pPr algn="l">
              <a:lnSpc>
                <a:spcPct val="95000"/>
              </a:lnSpc>
              <a:spcBef>
                <a:spcPts val="0"/>
              </a:spcBef>
              <a:spcAft>
                <a:spcPts val="0"/>
              </a:spcAft>
            </a:pPr>
            <a:r>
              <a:rPr sz="1800" b="1" i="0">
                <a:solidFill>
                  <a:srgbClr val="14202E"/>
                </a:solidFill>
                <a:latin typeface="Calibri"/>
              </a:rPr>
              <a:t>Can a malicious KGC forge signatures in Verma et al.'s scheme?</a:t>
            </a:r>
          </a:p>
        </p:txBody>
      </p:sp>
      <p:sp>
        <p:nvSpPr>
          <p:cNvPr id="15" name="TextBox 14"/>
          <p:cNvSpPr txBox="1"/>
          <p:nvPr/>
        </p:nvSpPr>
        <p:spPr>
          <a:xfrm>
            <a:off x="5989320" y="2359152"/>
            <a:ext cx="5532120" cy="320040"/>
          </a:xfrm>
          <a:prstGeom prst="rect">
            <a:avLst/>
          </a:prstGeom>
          <a:noFill/>
        </p:spPr>
        <p:txBody>
          <a:bodyPr wrap="square" lIns="0" rIns="0" tIns="0" bIns="0" anchor="t">
            <a:spAutoFit/>
          </a:bodyPr>
          <a:lstStyle/>
          <a:p>
            <a:pPr algn="l">
              <a:spcBef>
                <a:spcPts val="0"/>
              </a:spcBef>
              <a:spcAft>
                <a:spcPts val="0"/>
              </a:spcAft>
            </a:pPr>
            <a:r>
              <a:rPr sz="1500" b="0" i="0">
                <a:solidFill>
                  <a:srgbClr val="5B6675"/>
                </a:solidFill>
                <a:latin typeface="Calibri"/>
              </a:rPr>
              <a:t>Paper: yes (§IV). We run the attack.</a:t>
            </a:r>
          </a:p>
        </p:txBody>
      </p:sp>
      <p:sp>
        <p:nvSpPr>
          <p:cNvPr id="16" name="Rounded Rectangle 15"/>
          <p:cNvSpPr/>
          <p:nvPr/>
        </p:nvSpPr>
        <p:spPr>
          <a:xfrm>
            <a:off x="4937760" y="2907791"/>
            <a:ext cx="6702552" cy="1097280"/>
          </a:xfrm>
          <a:prstGeom prst="roundRect">
            <a:avLst>
              <a:gd name="adj" fmla="val 8333"/>
            </a:avLst>
          </a:prstGeom>
          <a:solidFill>
            <a:srgbClr val="FFFFFF"/>
          </a:solidFill>
          <a:ln w="19050">
            <a:solidFill>
              <a:srgbClr val="14202E"/>
            </a:solidFill>
          </a:ln>
          <a:effectLst/>
        </p:spPr>
        <p:txBody>
          <a:bodyPr rtlCol="0" anchor="ctr" wrap="square" lIns="73152" rIns="73152" tIns="36576" bIns="36576"/>
          <a:lstStyle/>
          <a:p>
            <a:pPr algn="ctr"/>
          </a:p>
        </p:txBody>
      </p:sp>
      <p:sp>
        <p:nvSpPr>
          <p:cNvPr id="17" name="Rounded Rectangle 16"/>
          <p:cNvSpPr/>
          <p:nvPr/>
        </p:nvSpPr>
        <p:spPr>
          <a:xfrm>
            <a:off x="4937760" y="2907791"/>
            <a:ext cx="868680" cy="1097280"/>
          </a:xfrm>
          <a:prstGeom prst="roundRect">
            <a:avLst>
              <a:gd name="adj" fmla="val 10526"/>
            </a:avLst>
          </a:prstGeom>
          <a:solidFill>
            <a:srgbClr val="14202E"/>
          </a:solidFill>
          <a:ln>
            <a:noFill/>
          </a:ln>
          <a:effectLst/>
        </p:spPr>
        <p:txBody>
          <a:bodyPr rtlCol="0" anchor="ctr" wrap="square" lIns="73152" rIns="73152" tIns="36576" bIns="36576"/>
          <a:lstStyle/>
          <a:p>
            <a:pPr algn="ctr">
              <a:spcBef>
                <a:spcPts val="0"/>
              </a:spcBef>
              <a:spcAft>
                <a:spcPts val="0"/>
              </a:spcAft>
            </a:pPr>
            <a:r>
              <a:rPr sz="2600" b="1" i="0">
                <a:solidFill>
                  <a:srgbClr val="FFFFFF"/>
                </a:solidFill>
                <a:latin typeface="Calibri"/>
              </a:rPr>
              <a:t>Q2</a:t>
            </a:r>
          </a:p>
        </p:txBody>
      </p:sp>
      <p:sp>
        <p:nvSpPr>
          <p:cNvPr id="18" name="TextBox 17"/>
          <p:cNvSpPr txBox="1"/>
          <p:nvPr/>
        </p:nvSpPr>
        <p:spPr>
          <a:xfrm>
            <a:off x="5989320" y="3017520"/>
            <a:ext cx="5532120" cy="566928"/>
          </a:xfrm>
          <a:prstGeom prst="rect">
            <a:avLst/>
          </a:prstGeom>
          <a:noFill/>
        </p:spPr>
        <p:txBody>
          <a:bodyPr wrap="square" lIns="0" rIns="0" tIns="0" bIns="0" anchor="t">
            <a:spAutoFit/>
          </a:bodyPr>
          <a:lstStyle/>
          <a:p>
            <a:pPr algn="l">
              <a:lnSpc>
                <a:spcPct val="95000"/>
              </a:lnSpc>
              <a:spcBef>
                <a:spcPts val="0"/>
              </a:spcBef>
              <a:spcAft>
                <a:spcPts val="0"/>
              </a:spcAft>
            </a:pPr>
            <a:r>
              <a:rPr sz="1800" b="1" i="0">
                <a:solidFill>
                  <a:srgbClr val="14202E"/>
                </a:solidFill>
                <a:latin typeface="Calibri"/>
              </a:rPr>
              <a:t>Does Qiao et al.'s repair stop it, and which change is responsible?</a:t>
            </a:r>
          </a:p>
        </p:txBody>
      </p:sp>
      <p:sp>
        <p:nvSpPr>
          <p:cNvPr id="19" name="TextBox 18"/>
          <p:cNvSpPr txBox="1"/>
          <p:nvPr/>
        </p:nvSpPr>
        <p:spPr>
          <a:xfrm>
            <a:off x="5989320" y="3621024"/>
            <a:ext cx="5532120" cy="320040"/>
          </a:xfrm>
          <a:prstGeom prst="rect">
            <a:avLst/>
          </a:prstGeom>
          <a:noFill/>
        </p:spPr>
        <p:txBody>
          <a:bodyPr wrap="square" lIns="0" rIns="0" tIns="0" bIns="0" anchor="t">
            <a:spAutoFit/>
          </a:bodyPr>
          <a:lstStyle/>
          <a:p>
            <a:pPr algn="l">
              <a:spcBef>
                <a:spcPts val="0"/>
              </a:spcBef>
              <a:spcAft>
                <a:spcPts val="0"/>
              </a:spcAft>
            </a:pPr>
            <a:r>
              <a:rPr sz="1500" b="0" i="0">
                <a:solidFill>
                  <a:srgbClr val="5B6675"/>
                </a:solidFill>
                <a:latin typeface="Calibri"/>
              </a:rPr>
              <a:t>Paper: yes (§V). We test it, and remove one change.</a:t>
            </a:r>
          </a:p>
        </p:txBody>
      </p:sp>
      <p:sp>
        <p:nvSpPr>
          <p:cNvPr id="20" name="Rounded Rectangle 19"/>
          <p:cNvSpPr/>
          <p:nvPr/>
        </p:nvSpPr>
        <p:spPr>
          <a:xfrm>
            <a:off x="4937760" y="4169663"/>
            <a:ext cx="6702552" cy="1097280"/>
          </a:xfrm>
          <a:prstGeom prst="roundRect">
            <a:avLst>
              <a:gd name="adj" fmla="val 8333"/>
            </a:avLst>
          </a:prstGeom>
          <a:solidFill>
            <a:srgbClr val="FFFFFF"/>
          </a:solidFill>
          <a:ln w="19050">
            <a:solidFill>
              <a:srgbClr val="14202E"/>
            </a:solidFill>
          </a:ln>
          <a:effectLst/>
        </p:spPr>
        <p:txBody>
          <a:bodyPr rtlCol="0" anchor="ctr" wrap="square" lIns="73152" rIns="73152" tIns="36576" bIns="36576"/>
          <a:lstStyle/>
          <a:p>
            <a:pPr algn="ctr"/>
          </a:p>
        </p:txBody>
      </p:sp>
      <p:sp>
        <p:nvSpPr>
          <p:cNvPr id="21" name="Rounded Rectangle 20"/>
          <p:cNvSpPr/>
          <p:nvPr/>
        </p:nvSpPr>
        <p:spPr>
          <a:xfrm>
            <a:off x="4937760" y="4169663"/>
            <a:ext cx="868680" cy="1097280"/>
          </a:xfrm>
          <a:prstGeom prst="roundRect">
            <a:avLst>
              <a:gd name="adj" fmla="val 10526"/>
            </a:avLst>
          </a:prstGeom>
          <a:solidFill>
            <a:srgbClr val="14202E"/>
          </a:solidFill>
          <a:ln>
            <a:noFill/>
          </a:ln>
          <a:effectLst/>
        </p:spPr>
        <p:txBody>
          <a:bodyPr rtlCol="0" anchor="ctr" wrap="square" lIns="73152" rIns="73152" tIns="36576" bIns="36576"/>
          <a:lstStyle/>
          <a:p>
            <a:pPr algn="ctr">
              <a:spcBef>
                <a:spcPts val="0"/>
              </a:spcBef>
              <a:spcAft>
                <a:spcPts val="0"/>
              </a:spcAft>
            </a:pPr>
            <a:r>
              <a:rPr sz="2600" b="1" i="0">
                <a:solidFill>
                  <a:srgbClr val="FFFFFF"/>
                </a:solidFill>
                <a:latin typeface="Calibri"/>
              </a:rPr>
              <a:t>Q3</a:t>
            </a:r>
          </a:p>
        </p:txBody>
      </p:sp>
      <p:sp>
        <p:nvSpPr>
          <p:cNvPr id="22" name="TextBox 21"/>
          <p:cNvSpPr txBox="1"/>
          <p:nvPr/>
        </p:nvSpPr>
        <p:spPr>
          <a:xfrm>
            <a:off x="5989320" y="4279392"/>
            <a:ext cx="5532120" cy="566928"/>
          </a:xfrm>
          <a:prstGeom prst="rect">
            <a:avLst/>
          </a:prstGeom>
          <a:noFill/>
        </p:spPr>
        <p:txBody>
          <a:bodyPr wrap="square" lIns="0" rIns="0" tIns="0" bIns="0" anchor="t">
            <a:spAutoFit/>
          </a:bodyPr>
          <a:lstStyle/>
          <a:p>
            <a:pPr algn="l">
              <a:lnSpc>
                <a:spcPct val="95000"/>
              </a:lnSpc>
              <a:spcBef>
                <a:spcPts val="0"/>
              </a:spcBef>
              <a:spcAft>
                <a:spcPts val="0"/>
              </a:spcAft>
            </a:pPr>
            <a:r>
              <a:rPr sz="1800" b="1" i="0">
                <a:solidFill>
                  <a:srgbClr val="14202E"/>
                </a:solidFill>
                <a:latin typeface="Calibri"/>
              </a:rPr>
              <a:t>Is the repaired scheme really as cheap as Verma's?</a:t>
            </a:r>
          </a:p>
        </p:txBody>
      </p:sp>
      <p:sp>
        <p:nvSpPr>
          <p:cNvPr id="23" name="TextBox 22"/>
          <p:cNvSpPr txBox="1"/>
          <p:nvPr/>
        </p:nvSpPr>
        <p:spPr>
          <a:xfrm>
            <a:off x="5989320" y="4882896"/>
            <a:ext cx="5532120" cy="320040"/>
          </a:xfrm>
          <a:prstGeom prst="rect">
            <a:avLst/>
          </a:prstGeom>
          <a:noFill/>
        </p:spPr>
        <p:txBody>
          <a:bodyPr wrap="square" lIns="0" rIns="0" tIns="0" bIns="0" anchor="t">
            <a:spAutoFit/>
          </a:bodyPr>
          <a:lstStyle/>
          <a:p>
            <a:pPr algn="l">
              <a:spcBef>
                <a:spcPts val="0"/>
              </a:spcBef>
              <a:spcAft>
                <a:spcPts val="0"/>
              </a:spcAft>
            </a:pPr>
            <a:r>
              <a:rPr sz="1500" b="0" i="0">
                <a:solidFill>
                  <a:srgbClr val="5B6675"/>
                </a:solidFill>
                <a:latin typeface="Calibri"/>
              </a:rPr>
              <a:t>Paper: identical cost. We recount and measure.</a:t>
            </a:r>
          </a:p>
        </p:txBody>
      </p:sp>
      <p:sp>
        <p:nvSpPr>
          <p:cNvPr id="24" name="Rounded Rectangle 23"/>
          <p:cNvSpPr/>
          <p:nvPr/>
        </p:nvSpPr>
        <p:spPr>
          <a:xfrm>
            <a:off x="548640" y="5596128"/>
            <a:ext cx="566928" cy="256032"/>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sp>
        <p:nvSpPr>
          <p:cNvPr id="25" name="TextBox 24"/>
          <p:cNvSpPr txBox="1"/>
          <p:nvPr/>
        </p:nvSpPr>
        <p:spPr>
          <a:xfrm>
            <a:off x="548640" y="5897880"/>
            <a:ext cx="2194560" cy="274320"/>
          </a:xfrm>
          <a:prstGeom prst="rect">
            <a:avLst/>
          </a:prstGeom>
          <a:noFill/>
        </p:spPr>
        <p:txBody>
          <a:bodyPr wrap="square" lIns="0" rIns="0" tIns="0" bIns="0" anchor="t">
            <a:spAutoFit/>
          </a:bodyPr>
          <a:lstStyle/>
          <a:p>
            <a:pPr algn="l">
              <a:spcBef>
                <a:spcPts val="0"/>
              </a:spcBef>
              <a:spcAft>
                <a:spcPts val="0"/>
              </a:spcAft>
            </a:pPr>
            <a:r>
              <a:rPr sz="1300" b="0" i="0">
                <a:solidFill>
                  <a:srgbClr val="5B6675"/>
                </a:solidFill>
                <a:latin typeface="Calibri"/>
              </a:rPr>
              <a:t>claim by Qiao et al.</a:t>
            </a:r>
          </a:p>
        </p:txBody>
      </p:sp>
      <p:sp>
        <p:nvSpPr>
          <p:cNvPr id="26" name="Rounded Rectangle 25"/>
          <p:cNvSpPr/>
          <p:nvPr/>
        </p:nvSpPr>
        <p:spPr>
          <a:xfrm>
            <a:off x="2788920" y="5596128"/>
            <a:ext cx="987551" cy="256032"/>
          </a:xfrm>
          <a:prstGeom prst="roundRect">
            <a:avLst>
              <a:gd name="adj" fmla="val 50000"/>
            </a:avLst>
          </a:prstGeom>
          <a:solidFill>
            <a:srgbClr val="0E7C86"/>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REPRODUCED</a:t>
            </a:r>
          </a:p>
        </p:txBody>
      </p:sp>
      <p:sp>
        <p:nvSpPr>
          <p:cNvPr id="27" name="TextBox 26"/>
          <p:cNvSpPr txBox="1"/>
          <p:nvPr/>
        </p:nvSpPr>
        <p:spPr>
          <a:xfrm>
            <a:off x="2788920" y="5897880"/>
            <a:ext cx="2194560" cy="274320"/>
          </a:xfrm>
          <a:prstGeom prst="rect">
            <a:avLst/>
          </a:prstGeom>
          <a:noFill/>
        </p:spPr>
        <p:txBody>
          <a:bodyPr wrap="square" lIns="0" rIns="0" tIns="0" bIns="0" anchor="t">
            <a:spAutoFit/>
          </a:bodyPr>
          <a:lstStyle/>
          <a:p>
            <a:pPr algn="l">
              <a:spcBef>
                <a:spcPts val="0"/>
              </a:spcBef>
              <a:spcAft>
                <a:spcPts val="0"/>
              </a:spcAft>
            </a:pPr>
            <a:r>
              <a:rPr sz="1300" b="0" i="0">
                <a:solidFill>
                  <a:srgbClr val="5B6675"/>
                </a:solidFill>
                <a:latin typeface="Calibri"/>
              </a:rPr>
              <a:t>we re-ran it</a:t>
            </a:r>
          </a:p>
        </p:txBody>
      </p:sp>
      <p:sp>
        <p:nvSpPr>
          <p:cNvPr id="28" name="Rounded Rectangle 27"/>
          <p:cNvSpPr/>
          <p:nvPr/>
        </p:nvSpPr>
        <p:spPr>
          <a:xfrm>
            <a:off x="5029200" y="5596128"/>
            <a:ext cx="1324051" cy="256032"/>
          </a:xfrm>
          <a:prstGeom prst="roundRect">
            <a:avLst>
              <a:gd name="adj" fmla="val 50000"/>
            </a:avLst>
          </a:prstGeom>
          <a:solidFill>
            <a:srgbClr val="7A6F63"/>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IMPLEMENTATION</a:t>
            </a:r>
          </a:p>
        </p:txBody>
      </p:sp>
      <p:sp>
        <p:nvSpPr>
          <p:cNvPr id="29" name="TextBox 28"/>
          <p:cNvSpPr txBox="1"/>
          <p:nvPr/>
        </p:nvSpPr>
        <p:spPr>
          <a:xfrm>
            <a:off x="5029200" y="5897880"/>
            <a:ext cx="2194560" cy="274320"/>
          </a:xfrm>
          <a:prstGeom prst="rect">
            <a:avLst/>
          </a:prstGeom>
          <a:noFill/>
        </p:spPr>
        <p:txBody>
          <a:bodyPr wrap="square" lIns="0" rIns="0" tIns="0" bIns="0" anchor="t">
            <a:spAutoFit/>
          </a:bodyPr>
          <a:lstStyle/>
          <a:p>
            <a:pPr algn="l">
              <a:spcBef>
                <a:spcPts val="0"/>
              </a:spcBef>
              <a:spcAft>
                <a:spcPts val="0"/>
              </a:spcAft>
            </a:pPr>
            <a:r>
              <a:rPr sz="1300" b="0" i="0">
                <a:solidFill>
                  <a:srgbClr val="5B6675"/>
                </a:solidFill>
                <a:latin typeface="Calibri"/>
              </a:rPr>
              <a:t>our design choice</a:t>
            </a:r>
          </a:p>
        </p:txBody>
      </p:sp>
      <p:sp>
        <p:nvSpPr>
          <p:cNvPr id="30" name="Rounded Rectangle 29"/>
          <p:cNvSpPr/>
          <p:nvPr/>
        </p:nvSpPr>
        <p:spPr>
          <a:xfrm>
            <a:off x="7269480" y="5596128"/>
            <a:ext cx="987551" cy="256032"/>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EXPERIMENT</a:t>
            </a:r>
          </a:p>
        </p:txBody>
      </p:sp>
      <p:sp>
        <p:nvSpPr>
          <p:cNvPr id="31" name="TextBox 30"/>
          <p:cNvSpPr txBox="1"/>
          <p:nvPr/>
        </p:nvSpPr>
        <p:spPr>
          <a:xfrm>
            <a:off x="7269480" y="5897880"/>
            <a:ext cx="2194560" cy="274320"/>
          </a:xfrm>
          <a:prstGeom prst="rect">
            <a:avLst/>
          </a:prstGeom>
          <a:noFill/>
        </p:spPr>
        <p:txBody>
          <a:bodyPr wrap="square" lIns="0" rIns="0" tIns="0" bIns="0" anchor="t">
            <a:spAutoFit/>
          </a:bodyPr>
          <a:lstStyle/>
          <a:p>
            <a:pPr algn="l">
              <a:spcBef>
                <a:spcPts val="0"/>
              </a:spcBef>
              <a:spcAft>
                <a:spcPts val="0"/>
              </a:spcAft>
            </a:pPr>
            <a:r>
              <a:rPr sz="1300" b="0" i="0">
                <a:solidFill>
                  <a:srgbClr val="5B6675"/>
                </a:solidFill>
                <a:latin typeface="Calibri"/>
              </a:rPr>
              <a:t>we measured it</a:t>
            </a:r>
          </a:p>
        </p:txBody>
      </p:sp>
      <p:sp>
        <p:nvSpPr>
          <p:cNvPr id="32" name="Rounded Rectangle 31"/>
          <p:cNvSpPr/>
          <p:nvPr/>
        </p:nvSpPr>
        <p:spPr>
          <a:xfrm>
            <a:off x="9509760" y="5596128"/>
            <a:ext cx="903427" cy="256032"/>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OUR AUDIT</a:t>
            </a:r>
          </a:p>
        </p:txBody>
      </p:sp>
      <p:sp>
        <p:nvSpPr>
          <p:cNvPr id="33" name="TextBox 32"/>
          <p:cNvSpPr txBox="1"/>
          <p:nvPr/>
        </p:nvSpPr>
        <p:spPr>
          <a:xfrm>
            <a:off x="9509760" y="5897880"/>
            <a:ext cx="2194560" cy="274320"/>
          </a:xfrm>
          <a:prstGeom prst="rect">
            <a:avLst/>
          </a:prstGeom>
          <a:noFill/>
        </p:spPr>
        <p:txBody>
          <a:bodyPr wrap="square" lIns="0" rIns="0" tIns="0" bIns="0" anchor="t">
            <a:spAutoFit/>
          </a:bodyPr>
          <a:lstStyle/>
          <a:p>
            <a:pPr algn="l">
              <a:spcBef>
                <a:spcPts val="0"/>
              </a:spcBef>
              <a:spcAft>
                <a:spcPts val="0"/>
              </a:spcAft>
            </a:pPr>
            <a:r>
              <a:rPr sz="1300" b="0" i="0">
                <a:solidFill>
                  <a:srgbClr val="5B6675"/>
                </a:solidFill>
                <a:latin typeface="Calibri"/>
              </a:rPr>
              <a:t>our own finding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II · ANY CBAS SCHEME</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Six algorithms, four parties</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6 / 32</a:t>
            </a:r>
          </a:p>
        </p:txBody>
      </p:sp>
      <p:sp>
        <p:nvSpPr>
          <p:cNvPr id="8" name="Rounded Rectangle 7"/>
          <p:cNvSpPr/>
          <p:nvPr/>
        </p:nvSpPr>
        <p:spPr>
          <a:xfrm>
            <a:off x="1847088" y="1481328"/>
            <a:ext cx="1598676" cy="301752"/>
          </a:xfrm>
          <a:prstGeom prst="roundRect">
            <a:avLst>
              <a:gd name="adj" fmla="val 12121"/>
            </a:avLst>
          </a:prstGeom>
          <a:solidFill>
            <a:srgbClr val="F2F5F8"/>
          </a:solidFill>
          <a:ln>
            <a:noFill/>
          </a:ln>
          <a:effectLst/>
        </p:spPr>
        <p:txBody>
          <a:bodyPr rtlCol="0" anchor="ctr" wrap="square" lIns="73152" rIns="73152" tIns="36576" bIns="36576"/>
          <a:lstStyle/>
          <a:p>
            <a:pPr algn="ctr">
              <a:spcBef>
                <a:spcPts val="0"/>
              </a:spcBef>
              <a:spcAft>
                <a:spcPts val="0"/>
              </a:spcAft>
            </a:pPr>
            <a:r>
              <a:rPr sz="1250" b="0" i="0">
                <a:solidFill>
                  <a:srgbClr val="5B6675"/>
                </a:solidFill>
                <a:latin typeface="Calibri"/>
              </a:rPr>
              <a:t>configuration</a:t>
            </a:r>
          </a:p>
        </p:txBody>
      </p:sp>
      <p:sp>
        <p:nvSpPr>
          <p:cNvPr id="9" name="Rounded Rectangle 8"/>
          <p:cNvSpPr/>
          <p:nvPr/>
        </p:nvSpPr>
        <p:spPr>
          <a:xfrm>
            <a:off x="3482340" y="1481328"/>
            <a:ext cx="3233928" cy="301752"/>
          </a:xfrm>
          <a:prstGeom prst="roundRect">
            <a:avLst>
              <a:gd name="adj" fmla="val 12121"/>
            </a:avLst>
          </a:prstGeom>
          <a:solidFill>
            <a:srgbClr val="F2F5F8"/>
          </a:solidFill>
          <a:ln>
            <a:noFill/>
          </a:ln>
          <a:effectLst/>
        </p:spPr>
        <p:txBody>
          <a:bodyPr rtlCol="0" anchor="ctr" wrap="square" lIns="73152" rIns="73152" tIns="36576" bIns="36576"/>
          <a:lstStyle/>
          <a:p>
            <a:pPr algn="ctr">
              <a:spcBef>
                <a:spcPts val="0"/>
              </a:spcBef>
              <a:spcAft>
                <a:spcPts val="0"/>
              </a:spcAft>
            </a:pPr>
            <a:r>
              <a:rPr sz="1250" b="0" i="0">
                <a:solidFill>
                  <a:srgbClr val="5B6675"/>
                </a:solidFill>
                <a:latin typeface="Calibri"/>
              </a:rPr>
              <a:t>per sensor, once: keys and certificate</a:t>
            </a:r>
          </a:p>
        </p:txBody>
      </p:sp>
      <p:sp>
        <p:nvSpPr>
          <p:cNvPr id="10" name="Rounded Rectangle 9"/>
          <p:cNvSpPr/>
          <p:nvPr/>
        </p:nvSpPr>
        <p:spPr>
          <a:xfrm>
            <a:off x="6752844" y="1481328"/>
            <a:ext cx="1598676" cy="301752"/>
          </a:xfrm>
          <a:prstGeom prst="roundRect">
            <a:avLst>
              <a:gd name="adj" fmla="val 12121"/>
            </a:avLst>
          </a:prstGeom>
          <a:solidFill>
            <a:srgbClr val="F2F5F8"/>
          </a:solidFill>
          <a:ln>
            <a:noFill/>
          </a:ln>
          <a:effectLst/>
        </p:spPr>
        <p:txBody>
          <a:bodyPr rtlCol="0" anchor="ctr" wrap="square" lIns="73152" rIns="73152" tIns="36576" bIns="36576"/>
          <a:lstStyle/>
          <a:p>
            <a:pPr algn="ctr">
              <a:spcBef>
                <a:spcPts val="0"/>
              </a:spcBef>
              <a:spcAft>
                <a:spcPts val="0"/>
              </a:spcAft>
            </a:pPr>
            <a:r>
              <a:rPr sz="1250" b="0" i="0">
                <a:solidFill>
                  <a:srgbClr val="5B6675"/>
                </a:solidFill>
                <a:latin typeface="Calibri"/>
              </a:rPr>
              <a:t>signing, per reading</a:t>
            </a:r>
          </a:p>
        </p:txBody>
      </p:sp>
      <p:sp>
        <p:nvSpPr>
          <p:cNvPr id="11" name="Rounded Rectangle 10"/>
          <p:cNvSpPr/>
          <p:nvPr/>
        </p:nvSpPr>
        <p:spPr>
          <a:xfrm>
            <a:off x="8388095" y="1481328"/>
            <a:ext cx="1598676" cy="301752"/>
          </a:xfrm>
          <a:prstGeom prst="roundRect">
            <a:avLst>
              <a:gd name="adj" fmla="val 12121"/>
            </a:avLst>
          </a:prstGeom>
          <a:solidFill>
            <a:srgbClr val="F2F5F8"/>
          </a:solidFill>
          <a:ln>
            <a:noFill/>
          </a:ln>
          <a:effectLst/>
        </p:spPr>
        <p:txBody>
          <a:bodyPr rtlCol="0" anchor="ctr" wrap="square" lIns="73152" rIns="73152" tIns="36576" bIns="36576"/>
          <a:lstStyle/>
          <a:p>
            <a:pPr algn="ctr">
              <a:spcBef>
                <a:spcPts val="0"/>
              </a:spcBef>
              <a:spcAft>
                <a:spcPts val="0"/>
              </a:spcAft>
            </a:pPr>
            <a:r>
              <a:rPr sz="1250" b="0" i="0">
                <a:solidFill>
                  <a:srgbClr val="5B6675"/>
                </a:solidFill>
                <a:latin typeface="Calibri"/>
              </a:rPr>
              <a:t>aggregation</a:t>
            </a:r>
          </a:p>
        </p:txBody>
      </p:sp>
      <p:sp>
        <p:nvSpPr>
          <p:cNvPr id="12" name="Rounded Rectangle 11"/>
          <p:cNvSpPr/>
          <p:nvPr/>
        </p:nvSpPr>
        <p:spPr>
          <a:xfrm>
            <a:off x="10023348" y="1481328"/>
            <a:ext cx="1598676" cy="301752"/>
          </a:xfrm>
          <a:prstGeom prst="roundRect">
            <a:avLst>
              <a:gd name="adj" fmla="val 12121"/>
            </a:avLst>
          </a:prstGeom>
          <a:solidFill>
            <a:srgbClr val="F2F5F8"/>
          </a:solidFill>
          <a:ln>
            <a:noFill/>
          </a:ln>
          <a:effectLst/>
        </p:spPr>
        <p:txBody>
          <a:bodyPr rtlCol="0" anchor="ctr" wrap="square" lIns="73152" rIns="73152" tIns="36576" bIns="36576"/>
          <a:lstStyle/>
          <a:p>
            <a:pPr algn="ctr">
              <a:spcBef>
                <a:spcPts val="0"/>
              </a:spcBef>
              <a:spcAft>
                <a:spcPts val="0"/>
              </a:spcAft>
            </a:pPr>
            <a:r>
              <a:rPr sz="1250" b="0" i="0">
                <a:solidFill>
                  <a:srgbClr val="5B6675"/>
                </a:solidFill>
                <a:latin typeface="Calibri"/>
              </a:rPr>
              <a:t>verification</a:t>
            </a:r>
          </a:p>
        </p:txBody>
      </p:sp>
      <p:sp>
        <p:nvSpPr>
          <p:cNvPr id="13" name="TextBox 12"/>
          <p:cNvSpPr txBox="1"/>
          <p:nvPr/>
        </p:nvSpPr>
        <p:spPr>
          <a:xfrm>
            <a:off x="1828800" y="1810512"/>
            <a:ext cx="1635252" cy="365760"/>
          </a:xfrm>
          <a:prstGeom prst="rect">
            <a:avLst/>
          </a:prstGeom>
          <a:noFill/>
        </p:spPr>
        <p:txBody>
          <a:bodyPr wrap="square" lIns="0" rIns="0" tIns="0" bIns="0" anchor="ctr">
            <a:spAutoFit/>
          </a:bodyPr>
          <a:lstStyle/>
          <a:p>
            <a:pPr algn="ctr">
              <a:spcBef>
                <a:spcPts val="0"/>
              </a:spcBef>
              <a:spcAft>
                <a:spcPts val="0"/>
              </a:spcAft>
            </a:pPr>
            <a:r>
              <a:rPr sz="1500" b="1" i="0">
                <a:solidFill>
                  <a:srgbClr val="14202E"/>
                </a:solidFill>
                <a:latin typeface="Calibri"/>
              </a:rPr>
              <a:t>① Setup</a:t>
            </a:r>
          </a:p>
        </p:txBody>
      </p:sp>
      <p:sp>
        <p:nvSpPr>
          <p:cNvPr id="14" name="TextBox 13"/>
          <p:cNvSpPr txBox="1"/>
          <p:nvPr/>
        </p:nvSpPr>
        <p:spPr>
          <a:xfrm>
            <a:off x="3464052" y="1810512"/>
            <a:ext cx="1635252" cy="365760"/>
          </a:xfrm>
          <a:prstGeom prst="rect">
            <a:avLst/>
          </a:prstGeom>
          <a:noFill/>
        </p:spPr>
        <p:txBody>
          <a:bodyPr wrap="square" lIns="0" rIns="0" tIns="0" bIns="0" anchor="ctr">
            <a:spAutoFit/>
          </a:bodyPr>
          <a:lstStyle/>
          <a:p>
            <a:pPr algn="ctr">
              <a:spcBef>
                <a:spcPts val="0"/>
              </a:spcBef>
              <a:spcAft>
                <a:spcPts val="0"/>
              </a:spcAft>
            </a:pPr>
            <a:r>
              <a:rPr sz="1500" b="1" i="0">
                <a:solidFill>
                  <a:srgbClr val="14202E"/>
                </a:solidFill>
                <a:latin typeface="Calibri"/>
              </a:rPr>
              <a:t>② KeyGen</a:t>
            </a:r>
          </a:p>
        </p:txBody>
      </p:sp>
      <p:sp>
        <p:nvSpPr>
          <p:cNvPr id="15" name="TextBox 14"/>
          <p:cNvSpPr txBox="1"/>
          <p:nvPr/>
        </p:nvSpPr>
        <p:spPr>
          <a:xfrm>
            <a:off x="5099304" y="1810512"/>
            <a:ext cx="1635252" cy="365760"/>
          </a:xfrm>
          <a:prstGeom prst="rect">
            <a:avLst/>
          </a:prstGeom>
          <a:noFill/>
        </p:spPr>
        <p:txBody>
          <a:bodyPr wrap="square" lIns="0" rIns="0" tIns="0" bIns="0" anchor="ctr">
            <a:spAutoFit/>
          </a:bodyPr>
          <a:lstStyle/>
          <a:p>
            <a:pPr algn="ctr">
              <a:spcBef>
                <a:spcPts val="0"/>
              </a:spcBef>
              <a:spcAft>
                <a:spcPts val="0"/>
              </a:spcAft>
            </a:pPr>
            <a:r>
              <a:rPr sz="1500" b="1" i="0">
                <a:solidFill>
                  <a:srgbClr val="14202E"/>
                </a:solidFill>
                <a:latin typeface="Calibri"/>
              </a:rPr>
              <a:t>③ CertGen</a:t>
            </a:r>
          </a:p>
        </p:txBody>
      </p:sp>
      <p:sp>
        <p:nvSpPr>
          <p:cNvPr id="16" name="TextBox 15"/>
          <p:cNvSpPr txBox="1"/>
          <p:nvPr/>
        </p:nvSpPr>
        <p:spPr>
          <a:xfrm>
            <a:off x="6734556" y="1810512"/>
            <a:ext cx="1635252" cy="365760"/>
          </a:xfrm>
          <a:prstGeom prst="rect">
            <a:avLst/>
          </a:prstGeom>
          <a:noFill/>
        </p:spPr>
        <p:txBody>
          <a:bodyPr wrap="square" lIns="0" rIns="0" tIns="0" bIns="0" anchor="ctr">
            <a:spAutoFit/>
          </a:bodyPr>
          <a:lstStyle/>
          <a:p>
            <a:pPr algn="ctr">
              <a:spcBef>
                <a:spcPts val="0"/>
              </a:spcBef>
              <a:spcAft>
                <a:spcPts val="0"/>
              </a:spcAft>
            </a:pPr>
            <a:r>
              <a:rPr sz="1500" b="1" i="0">
                <a:solidFill>
                  <a:srgbClr val="14202E"/>
                </a:solidFill>
                <a:latin typeface="Calibri"/>
              </a:rPr>
              <a:t>④ Sign</a:t>
            </a:r>
          </a:p>
        </p:txBody>
      </p:sp>
      <p:sp>
        <p:nvSpPr>
          <p:cNvPr id="17" name="TextBox 16"/>
          <p:cNvSpPr txBox="1"/>
          <p:nvPr/>
        </p:nvSpPr>
        <p:spPr>
          <a:xfrm>
            <a:off x="8369807" y="1810512"/>
            <a:ext cx="1635252" cy="365760"/>
          </a:xfrm>
          <a:prstGeom prst="rect">
            <a:avLst/>
          </a:prstGeom>
          <a:noFill/>
        </p:spPr>
        <p:txBody>
          <a:bodyPr wrap="square" lIns="0" rIns="0" tIns="0" bIns="0" anchor="ctr">
            <a:spAutoFit/>
          </a:bodyPr>
          <a:lstStyle/>
          <a:p>
            <a:pPr algn="ctr">
              <a:spcBef>
                <a:spcPts val="0"/>
              </a:spcBef>
              <a:spcAft>
                <a:spcPts val="0"/>
              </a:spcAft>
            </a:pPr>
            <a:r>
              <a:rPr sz="1500" b="1" i="0">
                <a:solidFill>
                  <a:srgbClr val="14202E"/>
                </a:solidFill>
                <a:latin typeface="Calibri"/>
              </a:rPr>
              <a:t>⑤ AggSign</a:t>
            </a:r>
          </a:p>
        </p:txBody>
      </p:sp>
      <p:sp>
        <p:nvSpPr>
          <p:cNvPr id="18" name="TextBox 17"/>
          <p:cNvSpPr txBox="1"/>
          <p:nvPr/>
        </p:nvSpPr>
        <p:spPr>
          <a:xfrm>
            <a:off x="10005060" y="1810512"/>
            <a:ext cx="1635252" cy="365760"/>
          </a:xfrm>
          <a:prstGeom prst="rect">
            <a:avLst/>
          </a:prstGeom>
          <a:noFill/>
        </p:spPr>
        <p:txBody>
          <a:bodyPr wrap="square" lIns="0" rIns="0" tIns="0" bIns="0" anchor="ctr">
            <a:spAutoFit/>
          </a:bodyPr>
          <a:lstStyle/>
          <a:p>
            <a:pPr algn="ctr">
              <a:spcBef>
                <a:spcPts val="0"/>
              </a:spcBef>
              <a:spcAft>
                <a:spcPts val="0"/>
              </a:spcAft>
            </a:pPr>
            <a:r>
              <a:rPr sz="1500" b="1" i="0">
                <a:solidFill>
                  <a:srgbClr val="14202E"/>
                </a:solidFill>
                <a:latin typeface="Calibri"/>
              </a:rPr>
              <a:t>⑥ AggVerify</a:t>
            </a:r>
          </a:p>
        </p:txBody>
      </p:sp>
      <p:sp>
        <p:nvSpPr>
          <p:cNvPr id="19" name="Rounded Rectangle 18"/>
          <p:cNvSpPr/>
          <p:nvPr/>
        </p:nvSpPr>
        <p:spPr>
          <a:xfrm>
            <a:off x="548640" y="2231136"/>
            <a:ext cx="11091672" cy="1152144"/>
          </a:xfrm>
          <a:prstGeom prst="roundRect">
            <a:avLst>
              <a:gd name="adj" fmla="val 4761"/>
            </a:avLst>
          </a:prstGeom>
          <a:solidFill>
            <a:srgbClr val="EFE8F8"/>
          </a:solidFill>
          <a:ln>
            <a:noFill/>
          </a:ln>
          <a:effectLst/>
        </p:spPr>
        <p:txBody>
          <a:bodyPr rtlCol="0" anchor="ctr" wrap="square" lIns="73152" rIns="73152" tIns="36576" bIns="36576"/>
          <a:lstStyle/>
          <a:p>
            <a:pPr algn="ctr"/>
          </a:p>
        </p:txBody>
      </p:sp>
      <p:sp>
        <p:nvSpPr>
          <p:cNvPr id="20" name="TextBox 19"/>
          <p:cNvSpPr txBox="1"/>
          <p:nvPr/>
        </p:nvSpPr>
        <p:spPr>
          <a:xfrm>
            <a:off x="658368" y="2304288"/>
            <a:ext cx="1188720" cy="502920"/>
          </a:xfrm>
          <a:prstGeom prst="rect">
            <a:avLst/>
          </a:prstGeom>
          <a:noFill/>
        </p:spPr>
        <p:txBody>
          <a:bodyPr wrap="square" lIns="0" rIns="0" tIns="0" bIns="0" anchor="t">
            <a:spAutoFit/>
          </a:bodyPr>
          <a:lstStyle/>
          <a:p>
            <a:pPr algn="l">
              <a:spcBef>
                <a:spcPts val="0"/>
              </a:spcBef>
              <a:spcAft>
                <a:spcPts val="0"/>
              </a:spcAft>
            </a:pPr>
            <a:r>
              <a:rPr sz="1450" b="1" i="0">
                <a:solidFill>
                  <a:srgbClr val="6B3FA0"/>
                </a:solidFill>
                <a:latin typeface="Calibri"/>
              </a:rPr>
              <a:t>KGC</a:t>
            </a:r>
          </a:p>
          <a:p>
            <a:pPr algn="l">
              <a:spcBef>
                <a:spcPts val="0"/>
              </a:spcBef>
              <a:spcAft>
                <a:spcPts val="0"/>
              </a:spcAft>
            </a:pPr>
            <a:r>
              <a:rPr sz="1150" b="0" i="0">
                <a:solidFill>
                  <a:srgbClr val="5B6675"/>
                </a:solidFill>
                <a:latin typeface="Calibri"/>
              </a:rPr>
              <a:t>trusted authority</a:t>
            </a:r>
          </a:p>
        </p:txBody>
      </p:sp>
      <p:sp>
        <p:nvSpPr>
          <p:cNvPr id="21" name="Rounded Rectangle 20"/>
          <p:cNvSpPr/>
          <p:nvPr/>
        </p:nvSpPr>
        <p:spPr>
          <a:xfrm>
            <a:off x="548640" y="3419856"/>
            <a:ext cx="11091672" cy="1152144"/>
          </a:xfrm>
          <a:prstGeom prst="roundRect">
            <a:avLst>
              <a:gd name="adj" fmla="val 4761"/>
            </a:avLst>
          </a:prstGeom>
          <a:solidFill>
            <a:srgbClr val="E4EEF9"/>
          </a:solidFill>
          <a:ln>
            <a:noFill/>
          </a:ln>
          <a:effectLst/>
        </p:spPr>
        <p:txBody>
          <a:bodyPr rtlCol="0" anchor="ctr" wrap="square" lIns="73152" rIns="73152" tIns="36576" bIns="36576"/>
          <a:lstStyle/>
          <a:p>
            <a:pPr algn="ctr"/>
          </a:p>
        </p:txBody>
      </p:sp>
      <p:sp>
        <p:nvSpPr>
          <p:cNvPr id="22" name="TextBox 21"/>
          <p:cNvSpPr txBox="1"/>
          <p:nvPr/>
        </p:nvSpPr>
        <p:spPr>
          <a:xfrm>
            <a:off x="658368" y="3493008"/>
            <a:ext cx="1188720" cy="502920"/>
          </a:xfrm>
          <a:prstGeom prst="rect">
            <a:avLst/>
          </a:prstGeom>
          <a:noFill/>
        </p:spPr>
        <p:txBody>
          <a:bodyPr wrap="square" lIns="0" rIns="0" tIns="0" bIns="0" anchor="t">
            <a:spAutoFit/>
          </a:bodyPr>
          <a:lstStyle/>
          <a:p>
            <a:pPr algn="l">
              <a:spcBef>
                <a:spcPts val="0"/>
              </a:spcBef>
              <a:spcAft>
                <a:spcPts val="0"/>
              </a:spcAft>
            </a:pPr>
            <a:r>
              <a:rPr sz="1450" b="1" i="0">
                <a:solidFill>
                  <a:srgbClr val="1D5EA8"/>
                </a:solidFill>
                <a:latin typeface="Calibri"/>
              </a:rPr>
              <a:t>Sensor </a:t>
            </a:r>
            <a:r>
              <a:rPr sz="1450" b="1" i="1">
                <a:solidFill>
                  <a:srgbClr val="1D5EA8"/>
                </a:solidFill>
                <a:latin typeface="Cambria"/>
              </a:rPr>
              <a:t>i</a:t>
            </a:r>
          </a:p>
          <a:p>
            <a:pPr algn="l">
              <a:spcBef>
                <a:spcPts val="0"/>
              </a:spcBef>
              <a:spcAft>
                <a:spcPts val="0"/>
              </a:spcAft>
            </a:pPr>
            <a:r>
              <a:rPr sz="1150" b="0" i="0">
                <a:solidFill>
                  <a:srgbClr val="5B6675"/>
                </a:solidFill>
                <a:latin typeface="Calibri"/>
              </a:rPr>
              <a:t>× n devices</a:t>
            </a:r>
          </a:p>
        </p:txBody>
      </p:sp>
      <p:sp>
        <p:nvSpPr>
          <p:cNvPr id="23" name="Rounded Rectangle 22"/>
          <p:cNvSpPr/>
          <p:nvPr/>
        </p:nvSpPr>
        <p:spPr>
          <a:xfrm>
            <a:off x="548640" y="4608575"/>
            <a:ext cx="11091672" cy="740664"/>
          </a:xfrm>
          <a:prstGeom prst="roundRect">
            <a:avLst>
              <a:gd name="adj" fmla="val 7407"/>
            </a:avLst>
          </a:prstGeom>
          <a:solidFill>
            <a:srgbClr val="FBF0DC"/>
          </a:solidFill>
          <a:ln>
            <a:noFill/>
          </a:ln>
          <a:effectLst/>
        </p:spPr>
        <p:txBody>
          <a:bodyPr rtlCol="0" anchor="ctr" wrap="square" lIns="73152" rIns="73152" tIns="36576" bIns="36576"/>
          <a:lstStyle/>
          <a:p>
            <a:pPr algn="ctr"/>
          </a:p>
        </p:txBody>
      </p:sp>
      <p:sp>
        <p:nvSpPr>
          <p:cNvPr id="24" name="TextBox 23"/>
          <p:cNvSpPr txBox="1"/>
          <p:nvPr/>
        </p:nvSpPr>
        <p:spPr>
          <a:xfrm>
            <a:off x="658368" y="4681727"/>
            <a:ext cx="1188720" cy="502920"/>
          </a:xfrm>
          <a:prstGeom prst="rect">
            <a:avLst/>
          </a:prstGeom>
          <a:noFill/>
        </p:spPr>
        <p:txBody>
          <a:bodyPr wrap="square" lIns="0" rIns="0" tIns="0" bIns="0" anchor="t">
            <a:spAutoFit/>
          </a:bodyPr>
          <a:lstStyle/>
          <a:p>
            <a:pPr algn="l">
              <a:spcBef>
                <a:spcPts val="0"/>
              </a:spcBef>
              <a:spcAft>
                <a:spcPts val="0"/>
              </a:spcAft>
            </a:pPr>
            <a:r>
              <a:rPr sz="1450" b="1" i="0">
                <a:solidFill>
                  <a:srgbClr val="B26A00"/>
                </a:solidFill>
                <a:latin typeface="Calibri"/>
              </a:rPr>
              <a:t>Aggregator</a:t>
            </a:r>
          </a:p>
          <a:p>
            <a:pPr algn="l">
              <a:spcBef>
                <a:spcPts val="0"/>
              </a:spcBef>
              <a:spcAft>
                <a:spcPts val="0"/>
              </a:spcAft>
            </a:pPr>
            <a:r>
              <a:rPr sz="1150" b="0" i="0">
                <a:solidFill>
                  <a:srgbClr val="5B6675"/>
                </a:solidFill>
                <a:latin typeface="Calibri"/>
              </a:rPr>
              <a:t>holds no secret</a:t>
            </a:r>
          </a:p>
        </p:txBody>
      </p:sp>
      <p:sp>
        <p:nvSpPr>
          <p:cNvPr id="25" name="Rounded Rectangle 24"/>
          <p:cNvSpPr/>
          <p:nvPr/>
        </p:nvSpPr>
        <p:spPr>
          <a:xfrm>
            <a:off x="548640" y="5385816"/>
            <a:ext cx="11091672" cy="832103"/>
          </a:xfrm>
          <a:prstGeom prst="roundRect">
            <a:avLst>
              <a:gd name="adj" fmla="val 6593"/>
            </a:avLst>
          </a:prstGeom>
          <a:solidFill>
            <a:srgbClr val="E6EBF0"/>
          </a:solidFill>
          <a:ln>
            <a:noFill/>
          </a:ln>
          <a:effectLst/>
        </p:spPr>
        <p:txBody>
          <a:bodyPr rtlCol="0" anchor="ctr" wrap="square" lIns="73152" rIns="73152" tIns="36576" bIns="36576"/>
          <a:lstStyle/>
          <a:p>
            <a:pPr algn="ctr"/>
          </a:p>
        </p:txBody>
      </p:sp>
      <p:sp>
        <p:nvSpPr>
          <p:cNvPr id="26" name="TextBox 25"/>
          <p:cNvSpPr txBox="1"/>
          <p:nvPr/>
        </p:nvSpPr>
        <p:spPr>
          <a:xfrm>
            <a:off x="658368" y="5458968"/>
            <a:ext cx="1188720" cy="502920"/>
          </a:xfrm>
          <a:prstGeom prst="rect">
            <a:avLst/>
          </a:prstGeom>
          <a:noFill/>
        </p:spPr>
        <p:txBody>
          <a:bodyPr wrap="square" lIns="0" rIns="0" tIns="0" bIns="0" anchor="t">
            <a:spAutoFit/>
          </a:bodyPr>
          <a:lstStyle/>
          <a:p>
            <a:pPr algn="l">
              <a:spcBef>
                <a:spcPts val="0"/>
              </a:spcBef>
              <a:spcAft>
                <a:spcPts val="0"/>
              </a:spcAft>
            </a:pPr>
            <a:r>
              <a:rPr sz="1450" b="1" i="0">
                <a:solidFill>
                  <a:srgbClr val="455A6E"/>
                </a:solidFill>
                <a:latin typeface="Calibri"/>
              </a:rPr>
              <a:t>Cloud / Verifier</a:t>
            </a:r>
          </a:p>
          <a:p>
            <a:pPr algn="l">
              <a:spcBef>
                <a:spcPts val="0"/>
              </a:spcBef>
              <a:spcAft>
                <a:spcPts val="0"/>
              </a:spcAft>
            </a:pPr>
            <a:r>
              <a:rPr sz="1150" b="0" i="0">
                <a:solidFill>
                  <a:srgbClr val="5B6675"/>
                </a:solidFill>
                <a:latin typeface="Calibri"/>
              </a:rPr>
              <a:t>checks the aggregate</a:t>
            </a:r>
          </a:p>
        </p:txBody>
      </p:sp>
      <p:sp>
        <p:nvSpPr>
          <p:cNvPr id="27" name="Rounded Rectangle 26"/>
          <p:cNvSpPr/>
          <p:nvPr/>
        </p:nvSpPr>
        <p:spPr>
          <a:xfrm>
            <a:off x="1956816" y="2304288"/>
            <a:ext cx="1371600" cy="420624"/>
          </a:xfrm>
          <a:prstGeom prst="roundRect">
            <a:avLst>
              <a:gd name="adj" fmla="val 17391"/>
            </a:avLst>
          </a:prstGeom>
          <a:solidFill>
            <a:srgbClr val="EFE8F8"/>
          </a:solidFill>
          <a:ln w="22225">
            <a:solidFill>
              <a:srgbClr val="6B3FA0"/>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Setup</a:t>
            </a:r>
          </a:p>
        </p:txBody>
      </p:sp>
      <p:sp>
        <p:nvSpPr>
          <p:cNvPr id="28" name="Rounded Rectangle 27"/>
          <p:cNvSpPr/>
          <p:nvPr/>
        </p:nvSpPr>
        <p:spPr>
          <a:xfrm>
            <a:off x="3592068" y="3493008"/>
            <a:ext cx="1371600" cy="420624"/>
          </a:xfrm>
          <a:prstGeom prst="roundRect">
            <a:avLst>
              <a:gd name="adj" fmla="val 17391"/>
            </a:avLst>
          </a:prstGeom>
          <a:solidFill>
            <a:srgbClr val="E4EEF9"/>
          </a:solidFill>
          <a:ln w="22225">
            <a:solidFill>
              <a:srgbClr val="1D5EA8"/>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KeyGen</a:t>
            </a:r>
          </a:p>
        </p:txBody>
      </p:sp>
      <p:sp>
        <p:nvSpPr>
          <p:cNvPr id="29" name="Rounded Rectangle 28"/>
          <p:cNvSpPr/>
          <p:nvPr/>
        </p:nvSpPr>
        <p:spPr>
          <a:xfrm>
            <a:off x="5227319" y="2304288"/>
            <a:ext cx="1371600" cy="420624"/>
          </a:xfrm>
          <a:prstGeom prst="roundRect">
            <a:avLst>
              <a:gd name="adj" fmla="val 17391"/>
            </a:avLst>
          </a:prstGeom>
          <a:solidFill>
            <a:srgbClr val="EFE8F8"/>
          </a:solidFill>
          <a:ln w="22225">
            <a:solidFill>
              <a:srgbClr val="6B3FA0"/>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CertGen</a:t>
            </a:r>
          </a:p>
        </p:txBody>
      </p:sp>
      <p:sp>
        <p:nvSpPr>
          <p:cNvPr id="30" name="Rounded Rectangle 29"/>
          <p:cNvSpPr/>
          <p:nvPr/>
        </p:nvSpPr>
        <p:spPr>
          <a:xfrm>
            <a:off x="6862572" y="3493008"/>
            <a:ext cx="1371600" cy="420624"/>
          </a:xfrm>
          <a:prstGeom prst="roundRect">
            <a:avLst>
              <a:gd name="adj" fmla="val 17391"/>
            </a:avLst>
          </a:prstGeom>
          <a:solidFill>
            <a:srgbClr val="E4EEF9"/>
          </a:solidFill>
          <a:ln w="22225">
            <a:solidFill>
              <a:srgbClr val="1D5EA8"/>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Sign</a:t>
            </a:r>
          </a:p>
        </p:txBody>
      </p:sp>
      <p:sp>
        <p:nvSpPr>
          <p:cNvPr id="31" name="Rounded Rectangle 30"/>
          <p:cNvSpPr/>
          <p:nvPr/>
        </p:nvSpPr>
        <p:spPr>
          <a:xfrm>
            <a:off x="8497824" y="4681727"/>
            <a:ext cx="1371600" cy="365760"/>
          </a:xfrm>
          <a:prstGeom prst="roundRect">
            <a:avLst>
              <a:gd name="adj" fmla="val 20000"/>
            </a:avLst>
          </a:prstGeom>
          <a:solidFill>
            <a:srgbClr val="FBF0DC"/>
          </a:solidFill>
          <a:ln w="22225">
            <a:solidFill>
              <a:srgbClr val="B26A00"/>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AggSign</a:t>
            </a:r>
          </a:p>
        </p:txBody>
      </p:sp>
      <p:sp>
        <p:nvSpPr>
          <p:cNvPr id="32" name="Rounded Rectangle 31"/>
          <p:cNvSpPr/>
          <p:nvPr/>
        </p:nvSpPr>
        <p:spPr>
          <a:xfrm>
            <a:off x="10133076" y="5458968"/>
            <a:ext cx="1371600" cy="420624"/>
          </a:xfrm>
          <a:prstGeom prst="roundRect">
            <a:avLst>
              <a:gd name="adj" fmla="val 17391"/>
            </a:avLst>
          </a:prstGeom>
          <a:solidFill>
            <a:srgbClr val="E6EBF0"/>
          </a:solidFill>
          <a:ln w="22225">
            <a:solidFill>
              <a:srgbClr val="455A6E"/>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AggVerify</a:t>
            </a:r>
          </a:p>
        </p:txBody>
      </p:sp>
      <p:sp>
        <p:nvSpPr>
          <p:cNvPr id="33" name="Rounded Rectangle 32"/>
          <p:cNvSpPr/>
          <p:nvPr/>
        </p:nvSpPr>
        <p:spPr>
          <a:xfrm>
            <a:off x="1956816" y="2798064"/>
            <a:ext cx="1371600" cy="246888"/>
          </a:xfrm>
          <a:prstGeom prst="roundRect">
            <a:avLst>
              <a:gd name="adj" fmla="val 38461"/>
            </a:avLst>
          </a:prstGeom>
          <a:solidFill>
            <a:srgbClr val="EFE8F8"/>
          </a:solidFill>
          <a:ln w="15240">
            <a:solidFill>
              <a:srgbClr val="6B3FA0"/>
            </a:solidFill>
            <a:prstDash val="dash"/>
          </a:ln>
          <a:effectLst/>
        </p:spPr>
        <p:txBody>
          <a:bodyPr rtlCol="0" anchor="ctr" wrap="square" lIns="274320" rIns="274320" tIns="36576" bIns="36576"/>
          <a:lstStyle/>
          <a:p>
            <a:pPr algn="l">
              <a:spcBef>
                <a:spcPts val="0"/>
              </a:spcBef>
              <a:spcAft>
                <a:spcPts val="0"/>
              </a:spcAft>
            </a:pPr>
            <a:r>
              <a:rPr sz="1250" b="0" i="0">
                <a:solidFill>
                  <a:srgbClr val="14202E"/>
                </a:solidFill>
                <a:latin typeface="Calibri"/>
              </a:rPr>
              <a:t>msk  secret</a:t>
            </a:r>
          </a:p>
        </p:txBody>
      </p:sp>
      <p:sp>
        <p:nvSpPr>
          <p:cNvPr id="34" name="Rounded Rectangle 33"/>
          <p:cNvSpPr/>
          <p:nvPr/>
        </p:nvSpPr>
        <p:spPr>
          <a:xfrm>
            <a:off x="2034814" y="2908523"/>
            <a:ext cx="164043" cy="109362"/>
          </a:xfrm>
          <a:prstGeom prst="roundRect">
            <a:avLst>
              <a:gd name="adj" fmla="val 25083"/>
            </a:avLst>
          </a:prstGeom>
          <a:solidFill>
            <a:srgbClr val="6B3FA0"/>
          </a:solidFill>
          <a:ln>
            <a:noFill/>
          </a:ln>
          <a:effectLst/>
        </p:spPr>
        <p:txBody>
          <a:bodyPr rtlCol="0" anchor="ctr" wrap="square" lIns="73152" rIns="73152" tIns="36576" bIns="36576"/>
          <a:lstStyle/>
          <a:p>
            <a:pPr algn="ctr"/>
          </a:p>
        </p:txBody>
      </p:sp>
      <p:sp>
        <p:nvSpPr>
          <p:cNvPr id="35" name="Freeform 34"/>
          <p:cNvSpPr/>
          <p:nvPr/>
        </p:nvSpPr>
        <p:spPr>
          <a:xfrm>
            <a:off x="2067622" y="2824398"/>
            <a:ext cx="98427" cy="84125"/>
          </a:xfrm>
          <a:custGeom>
            <a:avLst/>
            <a:gdLst/>
            <a:ahLst/>
            <a:cxnLst/>
            <a:rect l="l" t="t" r="r" b="b"/>
            <a:pathLst>
              <a:path w="98427" h="84125">
                <a:moveTo>
                  <a:pt x="0" y="84125"/>
                </a:moveTo>
                <a:lnTo>
                  <a:pt x="0" y="33650"/>
                </a:lnTo>
                <a:lnTo>
                  <a:pt x="22967" y="0"/>
                </a:lnTo>
                <a:lnTo>
                  <a:pt x="75460" y="0"/>
                </a:lnTo>
                <a:lnTo>
                  <a:pt x="98427" y="33650"/>
                </a:lnTo>
                <a:lnTo>
                  <a:pt x="98427" y="84125"/>
                </a:lnTo>
              </a:path>
            </a:pathLst>
          </a:custGeom>
          <a:noFill/>
          <a:ln w="17780">
            <a:solidFill>
              <a:srgbClr val="6B3FA0"/>
            </a:solidFill>
          </a:ln>
          <a:effectLst/>
        </p:spPr>
        <p:txBody>
          <a:bodyPr rtlCol="0" anchor="ctr"/>
          <a:lstStyle/>
          <a:p>
            <a:pPr algn="ctr"/>
          </a:p>
        </p:txBody>
      </p:sp>
      <p:sp>
        <p:nvSpPr>
          <p:cNvPr id="36" name="Rounded Rectangle 35"/>
          <p:cNvSpPr/>
          <p:nvPr/>
        </p:nvSpPr>
        <p:spPr>
          <a:xfrm>
            <a:off x="1956816" y="3072384"/>
            <a:ext cx="1371600" cy="246888"/>
          </a:xfrm>
          <a:prstGeom prst="roundRect">
            <a:avLst>
              <a:gd name="adj" fmla="val 38461"/>
            </a:avLst>
          </a:prstGeom>
          <a:solidFill>
            <a:srgbClr val="EFE8F8"/>
          </a:solidFill>
          <a:ln w="15240">
            <a:solidFill>
              <a:srgbClr val="6B3FA0"/>
            </a:solidFill>
          </a:ln>
          <a:effectLst/>
        </p:spPr>
        <p:txBody>
          <a:bodyPr rtlCol="0" anchor="ctr" wrap="square" lIns="73152" rIns="73152" tIns="36576" bIns="36576"/>
          <a:lstStyle/>
          <a:p>
            <a:pPr algn="ctr">
              <a:spcBef>
                <a:spcPts val="0"/>
              </a:spcBef>
              <a:spcAft>
                <a:spcPts val="0"/>
              </a:spcAft>
            </a:pPr>
            <a:r>
              <a:rPr sz="1250" b="0" i="0">
                <a:solidFill>
                  <a:srgbClr val="14202E"/>
                </a:solidFill>
                <a:latin typeface="Calibri"/>
              </a:rPr>
              <a:t>Params  public</a:t>
            </a:r>
          </a:p>
        </p:txBody>
      </p:sp>
      <p:sp>
        <p:nvSpPr>
          <p:cNvPr id="37" name="Rounded Rectangle 36"/>
          <p:cNvSpPr/>
          <p:nvPr/>
        </p:nvSpPr>
        <p:spPr>
          <a:xfrm>
            <a:off x="3592068" y="3986784"/>
            <a:ext cx="1371600" cy="246888"/>
          </a:xfrm>
          <a:prstGeom prst="roundRect">
            <a:avLst>
              <a:gd name="adj" fmla="val 38461"/>
            </a:avLst>
          </a:prstGeom>
          <a:solidFill>
            <a:srgbClr val="E4EEF9"/>
          </a:solidFill>
          <a:ln w="15240">
            <a:solidFill>
              <a:srgbClr val="1D5EA8"/>
            </a:solidFill>
            <a:prstDash val="dash"/>
          </a:ln>
          <a:effectLst/>
        </p:spPr>
        <p:txBody>
          <a:bodyPr rtlCol="0" anchor="ctr" wrap="square" lIns="274320" rIns="274320" tIns="36576" bIns="36576"/>
          <a:lstStyle/>
          <a:p>
            <a:pPr algn="l">
              <a:spcBef>
                <a:spcPts val="0"/>
              </a:spcBef>
              <a:spcAft>
                <a:spcPts val="0"/>
              </a:spcAft>
            </a:pPr>
            <a:r>
              <a:rPr sz="1250" b="0" i="1">
                <a:solidFill>
                  <a:srgbClr val="14202E"/>
                </a:solidFill>
                <a:latin typeface="Cambria"/>
              </a:rPr>
              <a:t>sk</a:t>
            </a:r>
            <a:r>
              <a:rPr sz="1250" b="0" i="1" baseline="-25000">
                <a:solidFill>
                  <a:srgbClr val="14202E"/>
                </a:solidFill>
                <a:latin typeface="Cambria"/>
              </a:rPr>
              <a:t>i</a:t>
            </a:r>
            <a:r>
              <a:rPr sz="1250" b="0" i="0">
                <a:solidFill>
                  <a:srgbClr val="14202E"/>
                </a:solidFill>
                <a:latin typeface="Calibri"/>
              </a:rPr>
              <a:t>  secret</a:t>
            </a:r>
          </a:p>
        </p:txBody>
      </p:sp>
      <p:sp>
        <p:nvSpPr>
          <p:cNvPr id="38" name="Rounded Rectangle 37"/>
          <p:cNvSpPr/>
          <p:nvPr/>
        </p:nvSpPr>
        <p:spPr>
          <a:xfrm>
            <a:off x="3670066" y="4097243"/>
            <a:ext cx="164043" cy="109362"/>
          </a:xfrm>
          <a:prstGeom prst="roundRect">
            <a:avLst>
              <a:gd name="adj" fmla="val 25083"/>
            </a:avLst>
          </a:prstGeom>
          <a:solidFill>
            <a:srgbClr val="1D5EA8"/>
          </a:solidFill>
          <a:ln>
            <a:noFill/>
          </a:ln>
          <a:effectLst/>
        </p:spPr>
        <p:txBody>
          <a:bodyPr rtlCol="0" anchor="ctr" wrap="square" lIns="73152" rIns="73152" tIns="36576" bIns="36576"/>
          <a:lstStyle/>
          <a:p>
            <a:pPr algn="ctr"/>
          </a:p>
        </p:txBody>
      </p:sp>
      <p:sp>
        <p:nvSpPr>
          <p:cNvPr id="39" name="Freeform 38"/>
          <p:cNvSpPr/>
          <p:nvPr/>
        </p:nvSpPr>
        <p:spPr>
          <a:xfrm>
            <a:off x="3702874" y="4013118"/>
            <a:ext cx="98427" cy="84125"/>
          </a:xfrm>
          <a:custGeom>
            <a:avLst/>
            <a:gdLst/>
            <a:ahLst/>
            <a:cxnLst/>
            <a:rect l="l" t="t" r="r" b="b"/>
            <a:pathLst>
              <a:path w="98427" h="84125">
                <a:moveTo>
                  <a:pt x="0" y="84125"/>
                </a:moveTo>
                <a:lnTo>
                  <a:pt x="0" y="33650"/>
                </a:lnTo>
                <a:lnTo>
                  <a:pt x="22967" y="0"/>
                </a:lnTo>
                <a:lnTo>
                  <a:pt x="75460" y="0"/>
                </a:lnTo>
                <a:lnTo>
                  <a:pt x="98427" y="33650"/>
                </a:lnTo>
                <a:lnTo>
                  <a:pt x="98427" y="84125"/>
                </a:lnTo>
              </a:path>
            </a:pathLst>
          </a:custGeom>
          <a:noFill/>
          <a:ln w="17780">
            <a:solidFill>
              <a:srgbClr val="1D5EA8"/>
            </a:solidFill>
          </a:ln>
          <a:effectLst/>
        </p:spPr>
        <p:txBody>
          <a:bodyPr rtlCol="0" anchor="ctr"/>
          <a:lstStyle/>
          <a:p>
            <a:pPr algn="ctr"/>
          </a:p>
        </p:txBody>
      </p:sp>
      <p:sp>
        <p:nvSpPr>
          <p:cNvPr id="40" name="Rounded Rectangle 39"/>
          <p:cNvSpPr/>
          <p:nvPr/>
        </p:nvSpPr>
        <p:spPr>
          <a:xfrm>
            <a:off x="3592068" y="4261104"/>
            <a:ext cx="1371600" cy="246888"/>
          </a:xfrm>
          <a:prstGeom prst="roundRect">
            <a:avLst>
              <a:gd name="adj" fmla="val 38461"/>
            </a:avLst>
          </a:prstGeom>
          <a:solidFill>
            <a:srgbClr val="E4EEF9"/>
          </a:solidFill>
          <a:ln w="15240">
            <a:solidFill>
              <a:srgbClr val="1D5EA8"/>
            </a:solidFill>
          </a:ln>
          <a:effectLst/>
        </p:spPr>
        <p:txBody>
          <a:bodyPr rtlCol="0" anchor="ctr" wrap="square" lIns="73152" rIns="73152" tIns="36576" bIns="36576"/>
          <a:lstStyle/>
          <a:p>
            <a:pPr algn="ctr">
              <a:spcBef>
                <a:spcPts val="0"/>
              </a:spcBef>
              <a:spcAft>
                <a:spcPts val="0"/>
              </a:spcAft>
            </a:pPr>
            <a:r>
              <a:rPr sz="1250" b="0" i="1">
                <a:solidFill>
                  <a:srgbClr val="14202E"/>
                </a:solidFill>
                <a:latin typeface="Cambria"/>
              </a:rPr>
              <a:t>pk</a:t>
            </a:r>
            <a:r>
              <a:rPr sz="1250" b="0" i="1" baseline="-25000">
                <a:solidFill>
                  <a:srgbClr val="14202E"/>
                </a:solidFill>
                <a:latin typeface="Cambria"/>
              </a:rPr>
              <a:t>i</a:t>
            </a:r>
            <a:r>
              <a:rPr sz="1250" b="0" i="0">
                <a:solidFill>
                  <a:srgbClr val="14202E"/>
                </a:solidFill>
                <a:latin typeface="Calibri"/>
              </a:rPr>
              <a:t>  public</a:t>
            </a:r>
          </a:p>
        </p:txBody>
      </p:sp>
      <p:sp>
        <p:nvSpPr>
          <p:cNvPr id="41" name="Rounded Rectangle 40"/>
          <p:cNvSpPr/>
          <p:nvPr/>
        </p:nvSpPr>
        <p:spPr>
          <a:xfrm>
            <a:off x="5227319" y="2798064"/>
            <a:ext cx="1371600" cy="246888"/>
          </a:xfrm>
          <a:prstGeom prst="roundRect">
            <a:avLst>
              <a:gd name="adj" fmla="val 38461"/>
            </a:avLst>
          </a:prstGeom>
          <a:solidFill>
            <a:srgbClr val="EFE8F8"/>
          </a:solidFill>
          <a:ln w="15240">
            <a:solidFill>
              <a:srgbClr val="6B3FA0"/>
            </a:solidFill>
            <a:prstDash val="dash"/>
          </a:ln>
          <a:effectLst/>
        </p:spPr>
        <p:txBody>
          <a:bodyPr rtlCol="0" anchor="ctr" wrap="square" lIns="274320" rIns="274320" tIns="36576" bIns="36576"/>
          <a:lstStyle/>
          <a:p>
            <a:pPr algn="l">
              <a:spcBef>
                <a:spcPts val="0"/>
              </a:spcBef>
              <a:spcAft>
                <a:spcPts val="0"/>
              </a:spcAft>
            </a:pPr>
            <a:r>
              <a:rPr sz="1250" b="0" i="1">
                <a:solidFill>
                  <a:srgbClr val="14202E"/>
                </a:solidFill>
                <a:latin typeface="Cambria"/>
              </a:rPr>
              <a:t>Cert</a:t>
            </a:r>
            <a:r>
              <a:rPr sz="1250" b="0" i="1" baseline="-25000">
                <a:solidFill>
                  <a:srgbClr val="14202E"/>
                </a:solidFill>
                <a:latin typeface="Cambria"/>
              </a:rPr>
              <a:t>i</a:t>
            </a:r>
          </a:p>
        </p:txBody>
      </p:sp>
      <p:sp>
        <p:nvSpPr>
          <p:cNvPr id="42" name="Rounded Rectangle 41"/>
          <p:cNvSpPr/>
          <p:nvPr/>
        </p:nvSpPr>
        <p:spPr>
          <a:xfrm>
            <a:off x="5305318" y="2908523"/>
            <a:ext cx="164043" cy="109362"/>
          </a:xfrm>
          <a:prstGeom prst="roundRect">
            <a:avLst>
              <a:gd name="adj" fmla="val 25083"/>
            </a:avLst>
          </a:prstGeom>
          <a:solidFill>
            <a:srgbClr val="6B3FA0"/>
          </a:solidFill>
          <a:ln>
            <a:noFill/>
          </a:ln>
          <a:effectLst/>
        </p:spPr>
        <p:txBody>
          <a:bodyPr rtlCol="0" anchor="ctr" wrap="square" lIns="73152" rIns="73152" tIns="36576" bIns="36576"/>
          <a:lstStyle/>
          <a:p>
            <a:pPr algn="ctr"/>
          </a:p>
        </p:txBody>
      </p:sp>
      <p:sp>
        <p:nvSpPr>
          <p:cNvPr id="43" name="Freeform 42"/>
          <p:cNvSpPr/>
          <p:nvPr/>
        </p:nvSpPr>
        <p:spPr>
          <a:xfrm>
            <a:off x="5338126" y="2824398"/>
            <a:ext cx="98427" cy="84125"/>
          </a:xfrm>
          <a:custGeom>
            <a:avLst/>
            <a:gdLst/>
            <a:ahLst/>
            <a:cxnLst/>
            <a:rect l="l" t="t" r="r" b="b"/>
            <a:pathLst>
              <a:path w="98427" h="84125">
                <a:moveTo>
                  <a:pt x="0" y="84125"/>
                </a:moveTo>
                <a:lnTo>
                  <a:pt x="0" y="33650"/>
                </a:lnTo>
                <a:lnTo>
                  <a:pt x="22967" y="0"/>
                </a:lnTo>
                <a:lnTo>
                  <a:pt x="75460" y="0"/>
                </a:lnTo>
                <a:lnTo>
                  <a:pt x="98427" y="33650"/>
                </a:lnTo>
                <a:lnTo>
                  <a:pt x="98427" y="84125"/>
                </a:lnTo>
              </a:path>
            </a:pathLst>
          </a:custGeom>
          <a:noFill/>
          <a:ln w="17780">
            <a:solidFill>
              <a:srgbClr val="6B3FA0"/>
            </a:solidFill>
          </a:ln>
          <a:effectLst/>
        </p:spPr>
        <p:txBody>
          <a:bodyPr rtlCol="0" anchor="ctr"/>
          <a:lstStyle/>
          <a:p>
            <a:pPr algn="ctr"/>
          </a:p>
        </p:txBody>
      </p:sp>
      <p:sp>
        <p:nvSpPr>
          <p:cNvPr id="44" name="Rounded Rectangle 43"/>
          <p:cNvSpPr/>
          <p:nvPr/>
        </p:nvSpPr>
        <p:spPr>
          <a:xfrm>
            <a:off x="6862572" y="3986784"/>
            <a:ext cx="1371600" cy="246888"/>
          </a:xfrm>
          <a:prstGeom prst="roundRect">
            <a:avLst>
              <a:gd name="adj" fmla="val 38461"/>
            </a:avLst>
          </a:prstGeom>
          <a:solidFill>
            <a:srgbClr val="E4EEF9"/>
          </a:solidFill>
          <a:ln w="15240">
            <a:solidFill>
              <a:srgbClr val="1D5EA8"/>
            </a:solidFill>
          </a:ln>
          <a:effectLst/>
        </p:spPr>
        <p:txBody>
          <a:bodyPr rtlCol="0" anchor="ctr" wrap="square" lIns="73152" rIns="73152" tIns="36576" bIns="36576"/>
          <a:lstStyle/>
          <a:p>
            <a:pPr algn="ctr">
              <a:spcBef>
                <a:spcPts val="0"/>
              </a:spcBef>
              <a:spcAft>
                <a:spcPts val="0"/>
              </a:spcAft>
            </a:pPr>
            <a:r>
              <a:rPr sz="1300" b="0" i="1">
                <a:solidFill>
                  <a:srgbClr val="14202E"/>
                </a:solidFill>
                <a:latin typeface="Cambria"/>
              </a:rPr>
              <a:t>δ</a:t>
            </a:r>
            <a:r>
              <a:rPr sz="1300" b="0" i="1" baseline="-25000">
                <a:solidFill>
                  <a:srgbClr val="14202E"/>
                </a:solidFill>
                <a:latin typeface="Cambria"/>
              </a:rPr>
              <a:t>i</a:t>
            </a:r>
          </a:p>
        </p:txBody>
      </p:sp>
      <p:sp>
        <p:nvSpPr>
          <p:cNvPr id="45" name="Rounded Rectangle 44"/>
          <p:cNvSpPr/>
          <p:nvPr/>
        </p:nvSpPr>
        <p:spPr>
          <a:xfrm>
            <a:off x="8497824" y="5084064"/>
            <a:ext cx="1371600" cy="246888"/>
          </a:xfrm>
          <a:prstGeom prst="roundRect">
            <a:avLst>
              <a:gd name="adj" fmla="val 38461"/>
            </a:avLst>
          </a:prstGeom>
          <a:solidFill>
            <a:srgbClr val="FBF0DC"/>
          </a:solidFill>
          <a:ln w="15240">
            <a:solidFill>
              <a:srgbClr val="B26A00"/>
            </a:solidFill>
          </a:ln>
          <a:effectLst/>
        </p:spPr>
        <p:txBody>
          <a:bodyPr rtlCol="0" anchor="ctr" wrap="square" lIns="73152" rIns="73152" tIns="36576" bIns="36576"/>
          <a:lstStyle/>
          <a:p>
            <a:pPr algn="ctr">
              <a:spcBef>
                <a:spcPts val="0"/>
              </a:spcBef>
              <a:spcAft>
                <a:spcPts val="0"/>
              </a:spcAft>
            </a:pPr>
            <a:r>
              <a:rPr sz="1300" b="0" i="1">
                <a:solidFill>
                  <a:srgbClr val="14202E"/>
                </a:solidFill>
                <a:latin typeface="Cambria"/>
              </a:rPr>
              <a:t>δ</a:t>
            </a:r>
          </a:p>
        </p:txBody>
      </p:sp>
      <p:sp>
        <p:nvSpPr>
          <p:cNvPr id="46" name="Rounded Rectangle 45"/>
          <p:cNvSpPr/>
          <p:nvPr/>
        </p:nvSpPr>
        <p:spPr>
          <a:xfrm>
            <a:off x="10133076" y="5916168"/>
            <a:ext cx="658368" cy="246888"/>
          </a:xfrm>
          <a:prstGeom prst="roundRect">
            <a:avLst>
              <a:gd name="adj" fmla="val 38461"/>
            </a:avLst>
          </a:prstGeom>
          <a:solidFill>
            <a:srgbClr val="E2F3EA"/>
          </a:solidFill>
          <a:ln w="15240">
            <a:solidFill>
              <a:srgbClr val="1E7B4F"/>
            </a:solidFill>
          </a:ln>
          <a:effectLst/>
        </p:spPr>
        <p:txBody>
          <a:bodyPr rtlCol="0" anchor="ctr" wrap="square" lIns="18288" rIns="18288" tIns="36576" bIns="36576"/>
          <a:lstStyle/>
          <a:p>
            <a:pPr algn="ctr">
              <a:spcBef>
                <a:spcPts val="0"/>
              </a:spcBef>
              <a:spcAft>
                <a:spcPts val="0"/>
              </a:spcAft>
            </a:pPr>
            <a:r>
              <a:rPr sz="1200" b="1" i="0">
                <a:solidFill>
                  <a:srgbClr val="14202E"/>
                </a:solidFill>
                <a:latin typeface="Calibri"/>
              </a:rPr>
              <a:t>1 valid</a:t>
            </a:r>
          </a:p>
        </p:txBody>
      </p:sp>
      <p:sp>
        <p:nvSpPr>
          <p:cNvPr id="47" name="Rounded Rectangle 46"/>
          <p:cNvSpPr/>
          <p:nvPr/>
        </p:nvSpPr>
        <p:spPr>
          <a:xfrm>
            <a:off x="10846308" y="5916168"/>
            <a:ext cx="658368" cy="246888"/>
          </a:xfrm>
          <a:prstGeom prst="roundRect">
            <a:avLst>
              <a:gd name="adj" fmla="val 38461"/>
            </a:avLst>
          </a:prstGeom>
          <a:solidFill>
            <a:srgbClr val="FCE9E7"/>
          </a:solidFill>
          <a:ln w="15240">
            <a:solidFill>
              <a:srgbClr val="B3261E"/>
            </a:solidFill>
          </a:ln>
          <a:effectLst/>
        </p:spPr>
        <p:txBody>
          <a:bodyPr rtlCol="0" anchor="ctr" wrap="square" lIns="18288" rIns="18288" tIns="36576" bIns="36576"/>
          <a:lstStyle/>
          <a:p>
            <a:pPr algn="ctr">
              <a:spcBef>
                <a:spcPts val="0"/>
              </a:spcBef>
              <a:spcAft>
                <a:spcPts val="0"/>
              </a:spcAft>
            </a:pPr>
            <a:r>
              <a:rPr sz="1200" b="1" i="0">
                <a:solidFill>
                  <a:srgbClr val="14202E"/>
                </a:solidFill>
                <a:latin typeface="Calibri"/>
              </a:rPr>
              <a:t>0 reject</a:t>
            </a:r>
          </a:p>
        </p:txBody>
      </p:sp>
      <p:cxnSp>
        <p:nvCxnSpPr>
          <p:cNvPr id="48" name="Connector 47"/>
          <p:cNvCxnSpPr/>
          <p:nvPr/>
        </p:nvCxnSpPr>
        <p:spPr>
          <a:xfrm>
            <a:off x="2642616" y="3291840"/>
            <a:ext cx="0" cy="2167128"/>
          </a:xfrm>
          <a:prstGeom prst="line">
            <a:avLst/>
          </a:prstGeom>
          <a:ln w="22225">
            <a:solidFill>
              <a:srgbClr val="6B3FA0"/>
            </a:solidFill>
            <a:tailEnd type="triangle" w="med" len="med"/>
          </a:ln>
        </p:spPr>
      </p:cxnSp>
      <p:sp>
        <p:nvSpPr>
          <p:cNvPr id="49" name="TextBox 48"/>
          <p:cNvSpPr txBox="1"/>
          <p:nvPr/>
        </p:nvSpPr>
        <p:spPr>
          <a:xfrm>
            <a:off x="2743200" y="4645152"/>
            <a:ext cx="1463040" cy="640080"/>
          </a:xfrm>
          <a:prstGeom prst="rect">
            <a:avLst/>
          </a:prstGeom>
          <a:noFill/>
        </p:spPr>
        <p:txBody>
          <a:bodyPr wrap="square" lIns="0" rIns="0" tIns="0" bIns="0" anchor="t">
            <a:spAutoFit/>
          </a:bodyPr>
          <a:lstStyle/>
          <a:p>
            <a:pPr algn="l">
              <a:lnSpc>
                <a:spcPct val="95000"/>
              </a:lnSpc>
              <a:spcBef>
                <a:spcPts val="0"/>
              </a:spcBef>
              <a:spcAft>
                <a:spcPts val="0"/>
              </a:spcAft>
            </a:pPr>
            <a:r>
              <a:rPr sz="1250" b="0" i="0">
                <a:solidFill>
                  <a:srgbClr val="5B6675"/>
                </a:solidFill>
                <a:latin typeface="Calibri"/>
              </a:rPr>
              <a:t>Params published via the cloud server</a:t>
            </a:r>
          </a:p>
        </p:txBody>
      </p:sp>
      <p:sp>
        <p:nvSpPr>
          <p:cNvPr id="50" name="Rounded Rectangle 49"/>
          <p:cNvSpPr/>
          <p:nvPr/>
        </p:nvSpPr>
        <p:spPr>
          <a:xfrm>
            <a:off x="1956816" y="5458968"/>
            <a:ext cx="1371600" cy="384048"/>
          </a:xfrm>
          <a:prstGeom prst="roundRect">
            <a:avLst>
              <a:gd name="adj" fmla="val 14285"/>
            </a:avLst>
          </a:prstGeom>
          <a:solidFill>
            <a:srgbClr val="FFFFFF"/>
          </a:solidFill>
          <a:ln w="15875">
            <a:solidFill>
              <a:srgbClr val="455A6E"/>
            </a:solidFill>
          </a:ln>
          <a:effectLst/>
        </p:spPr>
        <p:txBody>
          <a:bodyPr rtlCol="0" anchor="ctr" wrap="square" lIns="73152" rIns="73152" tIns="36576" bIns="36576"/>
          <a:lstStyle/>
          <a:p>
            <a:pPr algn="ctr">
              <a:spcBef>
                <a:spcPts val="0"/>
              </a:spcBef>
              <a:spcAft>
                <a:spcPts val="0"/>
              </a:spcAft>
            </a:pPr>
            <a:r>
              <a:rPr sz="1300" b="0" i="0">
                <a:solidFill>
                  <a:srgbClr val="14202E"/>
                </a:solidFill>
                <a:latin typeface="Calibri"/>
              </a:rPr>
              <a:t>stores Params</a:t>
            </a:r>
          </a:p>
        </p:txBody>
      </p:sp>
      <p:cxnSp>
        <p:nvCxnSpPr>
          <p:cNvPr id="51" name="Connector 50"/>
          <p:cNvCxnSpPr/>
          <p:nvPr/>
        </p:nvCxnSpPr>
        <p:spPr>
          <a:xfrm flipV="1">
            <a:off x="4277867" y="2514600"/>
            <a:ext cx="0" cy="978408"/>
          </a:xfrm>
          <a:prstGeom prst="line">
            <a:avLst/>
          </a:prstGeom>
          <a:ln w="22225">
            <a:solidFill>
              <a:srgbClr val="1D5EA8"/>
            </a:solidFill>
          </a:ln>
        </p:spPr>
      </p:cxnSp>
      <p:cxnSp>
        <p:nvCxnSpPr>
          <p:cNvPr id="52" name="Connector 51"/>
          <p:cNvCxnSpPr/>
          <p:nvPr/>
        </p:nvCxnSpPr>
        <p:spPr>
          <a:xfrm>
            <a:off x="4277867" y="2514600"/>
            <a:ext cx="949452" cy="0"/>
          </a:xfrm>
          <a:prstGeom prst="line">
            <a:avLst/>
          </a:prstGeom>
          <a:ln w="22225">
            <a:solidFill>
              <a:srgbClr val="1D5EA8"/>
            </a:solidFill>
            <a:tailEnd type="triangle" w="med" len="med"/>
          </a:ln>
        </p:spPr>
      </p:cxnSp>
      <p:sp>
        <p:nvSpPr>
          <p:cNvPr id="53" name="TextBox 52"/>
          <p:cNvSpPr txBox="1"/>
          <p:nvPr/>
        </p:nvSpPr>
        <p:spPr>
          <a:xfrm>
            <a:off x="3418332" y="2834640"/>
            <a:ext cx="822960" cy="256032"/>
          </a:xfrm>
          <a:prstGeom prst="rect">
            <a:avLst/>
          </a:prstGeom>
          <a:noFill/>
        </p:spPr>
        <p:txBody>
          <a:bodyPr wrap="square" lIns="0" rIns="0" tIns="0" bIns="0" anchor="t">
            <a:spAutoFit/>
          </a:bodyPr>
          <a:lstStyle/>
          <a:p>
            <a:pPr algn="r">
              <a:spcBef>
                <a:spcPts val="0"/>
              </a:spcBef>
              <a:spcAft>
                <a:spcPts val="0"/>
              </a:spcAft>
            </a:pPr>
            <a:r>
              <a:rPr sz="1250" b="0" i="1">
                <a:solidFill>
                  <a:srgbClr val="1D5EA8"/>
                </a:solidFill>
                <a:latin typeface="Cambria"/>
              </a:rPr>
              <a:t>id</a:t>
            </a:r>
            <a:r>
              <a:rPr sz="1250" b="0" i="1" baseline="-25000">
                <a:solidFill>
                  <a:srgbClr val="1D5EA8"/>
                </a:solidFill>
                <a:latin typeface="Cambria"/>
              </a:rPr>
              <a:t>i</a:t>
            </a:r>
            <a:r>
              <a:rPr sz="1250" b="0" i="0">
                <a:solidFill>
                  <a:srgbClr val="1D5EA8"/>
                </a:solidFill>
                <a:latin typeface="Cambria"/>
              </a:rPr>
              <a:t>, </a:t>
            </a:r>
            <a:r>
              <a:rPr sz="1250" b="0" i="1">
                <a:solidFill>
                  <a:srgbClr val="1D5EA8"/>
                </a:solidFill>
                <a:latin typeface="Cambria"/>
              </a:rPr>
              <a:t>pk</a:t>
            </a:r>
            <a:r>
              <a:rPr sz="1250" b="0" i="1" baseline="-25000">
                <a:solidFill>
                  <a:srgbClr val="1D5EA8"/>
                </a:solidFill>
                <a:latin typeface="Cambria"/>
              </a:rPr>
              <a:t>i</a:t>
            </a:r>
          </a:p>
        </p:txBody>
      </p:sp>
      <p:cxnSp>
        <p:nvCxnSpPr>
          <p:cNvPr id="54" name="Connector 53"/>
          <p:cNvCxnSpPr/>
          <p:nvPr/>
        </p:nvCxnSpPr>
        <p:spPr>
          <a:xfrm>
            <a:off x="6598919" y="2514600"/>
            <a:ext cx="958597" cy="0"/>
          </a:xfrm>
          <a:prstGeom prst="line">
            <a:avLst/>
          </a:prstGeom>
          <a:ln w="22225">
            <a:solidFill>
              <a:srgbClr val="6B3FA0"/>
            </a:solidFill>
            <a:prstDash val="dash"/>
          </a:ln>
        </p:spPr>
      </p:cxnSp>
      <p:cxnSp>
        <p:nvCxnSpPr>
          <p:cNvPr id="55" name="Connector 54"/>
          <p:cNvCxnSpPr/>
          <p:nvPr/>
        </p:nvCxnSpPr>
        <p:spPr>
          <a:xfrm>
            <a:off x="7557516" y="2514600"/>
            <a:ext cx="0" cy="978408"/>
          </a:xfrm>
          <a:prstGeom prst="line">
            <a:avLst/>
          </a:prstGeom>
          <a:ln w="22225">
            <a:solidFill>
              <a:srgbClr val="6B3FA0"/>
            </a:solidFill>
            <a:prstDash val="dash"/>
            <a:tailEnd type="triangle" w="med" len="med"/>
          </a:ln>
        </p:spPr>
      </p:cxnSp>
      <p:sp>
        <p:nvSpPr>
          <p:cNvPr id="56" name="TextBox 55"/>
          <p:cNvSpPr txBox="1"/>
          <p:nvPr/>
        </p:nvSpPr>
        <p:spPr>
          <a:xfrm>
            <a:off x="6653784" y="2240280"/>
            <a:ext cx="914400" cy="246888"/>
          </a:xfrm>
          <a:prstGeom prst="rect">
            <a:avLst/>
          </a:prstGeom>
          <a:noFill/>
        </p:spPr>
        <p:txBody>
          <a:bodyPr wrap="square" lIns="0" rIns="0" tIns="0" bIns="0" anchor="t">
            <a:spAutoFit/>
          </a:bodyPr>
          <a:lstStyle/>
          <a:p>
            <a:pPr algn="l">
              <a:spcBef>
                <a:spcPts val="0"/>
              </a:spcBef>
              <a:spcAft>
                <a:spcPts val="0"/>
              </a:spcAft>
            </a:pPr>
            <a:r>
              <a:rPr sz="1300" b="1" i="1">
                <a:solidFill>
                  <a:srgbClr val="6B3FA0"/>
                </a:solidFill>
                <a:latin typeface="Cambria"/>
              </a:rPr>
              <a:t>Cert</a:t>
            </a:r>
            <a:r>
              <a:rPr sz="1300" b="1" i="1" baseline="-25000">
                <a:solidFill>
                  <a:srgbClr val="6B3FA0"/>
                </a:solidFill>
                <a:latin typeface="Cambria"/>
              </a:rPr>
              <a:t>i</a:t>
            </a:r>
          </a:p>
        </p:txBody>
      </p:sp>
      <p:sp>
        <p:nvSpPr>
          <p:cNvPr id="57" name="TextBox 56"/>
          <p:cNvSpPr txBox="1"/>
          <p:nvPr/>
        </p:nvSpPr>
        <p:spPr>
          <a:xfrm>
            <a:off x="7648956" y="2724912"/>
            <a:ext cx="1463040" cy="640080"/>
          </a:xfrm>
          <a:prstGeom prst="rect">
            <a:avLst/>
          </a:prstGeom>
          <a:noFill/>
        </p:spPr>
        <p:txBody>
          <a:bodyPr wrap="square" lIns="0" rIns="0" tIns="0" bIns="0" anchor="t">
            <a:spAutoFit/>
          </a:bodyPr>
          <a:lstStyle/>
          <a:p>
            <a:pPr algn="l">
              <a:lnSpc>
                <a:spcPct val="95000"/>
              </a:lnSpc>
              <a:spcBef>
                <a:spcPts val="0"/>
              </a:spcBef>
              <a:spcAft>
                <a:spcPts val="0"/>
              </a:spcAft>
            </a:pPr>
            <a:r>
              <a:rPr sz="1250" b="0" i="0">
                <a:solidFill>
                  <a:srgbClr val="5B6675"/>
                </a:solidFill>
                <a:latin typeface="Calibri"/>
              </a:rPr>
              <a:t>delivery channel not specified</a:t>
            </a:r>
          </a:p>
        </p:txBody>
      </p:sp>
      <p:cxnSp>
        <p:nvCxnSpPr>
          <p:cNvPr id="58" name="Connector 57"/>
          <p:cNvCxnSpPr/>
          <p:nvPr/>
        </p:nvCxnSpPr>
        <p:spPr>
          <a:xfrm>
            <a:off x="8234172" y="3703320"/>
            <a:ext cx="949452" cy="0"/>
          </a:xfrm>
          <a:prstGeom prst="line">
            <a:avLst/>
          </a:prstGeom>
          <a:ln w="22225">
            <a:solidFill>
              <a:srgbClr val="1D5EA8"/>
            </a:solidFill>
          </a:ln>
        </p:spPr>
      </p:cxnSp>
      <p:cxnSp>
        <p:nvCxnSpPr>
          <p:cNvPr id="59" name="Connector 58"/>
          <p:cNvCxnSpPr/>
          <p:nvPr/>
        </p:nvCxnSpPr>
        <p:spPr>
          <a:xfrm>
            <a:off x="9183624" y="3703320"/>
            <a:ext cx="0" cy="978408"/>
          </a:xfrm>
          <a:prstGeom prst="line">
            <a:avLst/>
          </a:prstGeom>
          <a:ln w="22225">
            <a:solidFill>
              <a:srgbClr val="1D5EA8"/>
            </a:solidFill>
            <a:tailEnd type="triangle" w="med" len="med"/>
          </a:ln>
        </p:spPr>
      </p:cxnSp>
      <p:sp>
        <p:nvSpPr>
          <p:cNvPr id="60" name="TextBox 59"/>
          <p:cNvSpPr txBox="1"/>
          <p:nvPr/>
        </p:nvSpPr>
        <p:spPr>
          <a:xfrm>
            <a:off x="8289036" y="3438144"/>
            <a:ext cx="2011680" cy="246888"/>
          </a:xfrm>
          <a:prstGeom prst="rect">
            <a:avLst/>
          </a:prstGeom>
          <a:noFill/>
        </p:spPr>
        <p:txBody>
          <a:bodyPr wrap="square" lIns="0" rIns="0" tIns="0" bIns="0" anchor="t">
            <a:spAutoFit/>
          </a:bodyPr>
          <a:lstStyle/>
          <a:p>
            <a:pPr algn="l">
              <a:spcBef>
                <a:spcPts val="0"/>
              </a:spcBef>
              <a:spcAft>
                <a:spcPts val="0"/>
              </a:spcAft>
            </a:pPr>
            <a:r>
              <a:rPr sz="1250" b="0" i="1">
                <a:solidFill>
                  <a:srgbClr val="1D5EA8"/>
                </a:solidFill>
                <a:latin typeface="Cambria"/>
              </a:rPr>
              <a:t>m</a:t>
            </a:r>
            <a:r>
              <a:rPr sz="1250" b="0" i="1" baseline="-25000">
                <a:solidFill>
                  <a:srgbClr val="1D5EA8"/>
                </a:solidFill>
                <a:latin typeface="Cambria"/>
              </a:rPr>
              <a:t>i</a:t>
            </a:r>
            <a:r>
              <a:rPr sz="1250" b="0" i="0">
                <a:solidFill>
                  <a:srgbClr val="1D5EA8"/>
                </a:solidFill>
                <a:latin typeface="Cambria"/>
              </a:rPr>
              <a:t>, </a:t>
            </a:r>
            <a:r>
              <a:rPr sz="1250" b="0" i="1">
                <a:solidFill>
                  <a:srgbClr val="1D5EA8"/>
                </a:solidFill>
                <a:latin typeface="Cambria"/>
              </a:rPr>
              <a:t>δ</a:t>
            </a:r>
            <a:r>
              <a:rPr sz="1250" b="0" i="1" baseline="-25000">
                <a:solidFill>
                  <a:srgbClr val="1D5EA8"/>
                </a:solidFill>
                <a:latin typeface="Cambria"/>
              </a:rPr>
              <a:t>i</a:t>
            </a:r>
            <a:r>
              <a:rPr sz="1250" b="0" i="0">
                <a:solidFill>
                  <a:srgbClr val="1D5EA8"/>
                </a:solidFill>
                <a:latin typeface="Calibri"/>
              </a:rPr>
              <a:t> from each sensor</a:t>
            </a:r>
          </a:p>
        </p:txBody>
      </p:sp>
      <p:cxnSp>
        <p:nvCxnSpPr>
          <p:cNvPr id="61" name="Connector 60"/>
          <p:cNvCxnSpPr/>
          <p:nvPr/>
        </p:nvCxnSpPr>
        <p:spPr>
          <a:xfrm>
            <a:off x="9869424" y="4846320"/>
            <a:ext cx="949452" cy="0"/>
          </a:xfrm>
          <a:prstGeom prst="line">
            <a:avLst/>
          </a:prstGeom>
          <a:ln w="22225">
            <a:solidFill>
              <a:srgbClr val="B26A00"/>
            </a:solidFill>
          </a:ln>
        </p:spPr>
      </p:cxnSp>
      <p:cxnSp>
        <p:nvCxnSpPr>
          <p:cNvPr id="62" name="Connector 61"/>
          <p:cNvCxnSpPr/>
          <p:nvPr/>
        </p:nvCxnSpPr>
        <p:spPr>
          <a:xfrm>
            <a:off x="10818876" y="4846320"/>
            <a:ext cx="0" cy="612648"/>
          </a:xfrm>
          <a:prstGeom prst="line">
            <a:avLst/>
          </a:prstGeom>
          <a:ln w="22225">
            <a:solidFill>
              <a:srgbClr val="B26A00"/>
            </a:solidFill>
            <a:tailEnd type="triangle" w="med" len="med"/>
          </a:ln>
        </p:spPr>
      </p:cxnSp>
      <p:sp>
        <p:nvSpPr>
          <p:cNvPr id="63" name="TextBox 62"/>
          <p:cNvSpPr txBox="1"/>
          <p:nvPr/>
        </p:nvSpPr>
        <p:spPr>
          <a:xfrm>
            <a:off x="9924287" y="4599432"/>
            <a:ext cx="1737360" cy="246888"/>
          </a:xfrm>
          <a:prstGeom prst="rect">
            <a:avLst/>
          </a:prstGeom>
          <a:noFill/>
        </p:spPr>
        <p:txBody>
          <a:bodyPr wrap="square" lIns="0" rIns="0" tIns="0" bIns="0" anchor="t">
            <a:spAutoFit/>
          </a:bodyPr>
          <a:lstStyle/>
          <a:p>
            <a:pPr algn="l">
              <a:spcBef>
                <a:spcPts val="0"/>
              </a:spcBef>
              <a:spcAft>
                <a:spcPts val="0"/>
              </a:spcAft>
            </a:pPr>
            <a:r>
              <a:rPr sz="1250" b="0" i="1">
                <a:solidFill>
                  <a:srgbClr val="B26A00"/>
                </a:solidFill>
                <a:latin typeface="Cambria"/>
              </a:rPr>
              <a:t>δ</a:t>
            </a:r>
            <a:r>
              <a:rPr sz="1250" b="0" i="0">
                <a:solidFill>
                  <a:srgbClr val="B26A00"/>
                </a:solidFill>
                <a:latin typeface="Cambria"/>
              </a:rPr>
              <a:t>, </a:t>
            </a:r>
            <a:r>
              <a:rPr sz="1250" b="0" i="1">
                <a:solidFill>
                  <a:srgbClr val="B26A00"/>
                </a:solidFill>
                <a:latin typeface="Cambria"/>
              </a:rPr>
              <a:t>m</a:t>
            </a:r>
            <a:r>
              <a:rPr sz="1250" b="0" i="0" baseline="-25000">
                <a:solidFill>
                  <a:srgbClr val="B26A00"/>
                </a:solidFill>
                <a:latin typeface="Cambria"/>
              </a:rPr>
              <a:t>1</a:t>
            </a:r>
            <a:r>
              <a:rPr sz="1250" b="0" i="0">
                <a:solidFill>
                  <a:srgbClr val="B26A00"/>
                </a:solidFill>
                <a:latin typeface="Cambria"/>
              </a:rPr>
              <a:t>, …, </a:t>
            </a:r>
            <a:r>
              <a:rPr sz="1250" b="0" i="1">
                <a:solidFill>
                  <a:srgbClr val="B26A00"/>
                </a:solidFill>
                <a:latin typeface="Cambria"/>
              </a:rPr>
              <a:t>m</a:t>
            </a:r>
            <a:r>
              <a:rPr sz="1250" b="0" i="1" baseline="-25000">
                <a:solidFill>
                  <a:srgbClr val="B26A00"/>
                </a:solidFill>
                <a:latin typeface="Cambria"/>
              </a:rPr>
              <a:t>n</a:t>
            </a:r>
          </a:p>
        </p:txBody>
      </p:sp>
      <p:sp>
        <p:nvSpPr>
          <p:cNvPr id="64" name="Rounded Rectangle 63"/>
          <p:cNvSpPr/>
          <p:nvPr/>
        </p:nvSpPr>
        <p:spPr>
          <a:xfrm>
            <a:off x="3592068" y="5458968"/>
            <a:ext cx="4297680" cy="713232"/>
          </a:xfrm>
          <a:prstGeom prst="roundRect">
            <a:avLst>
              <a:gd name="adj" fmla="val 7692"/>
            </a:avLst>
          </a:prstGeom>
          <a:solidFill>
            <a:srgbClr val="FFFFFF"/>
          </a:solidFill>
          <a:ln w="15875">
            <a:solidFill>
              <a:srgbClr val="5B6675"/>
            </a:solidFill>
            <a:prstDash val="dash"/>
          </a:ln>
          <a:effectLst/>
        </p:spPr>
        <p:txBody>
          <a:bodyPr rtlCol="0" anchor="ctr" wrap="square" lIns="128016" rIns="128016" tIns="36576" bIns="36576"/>
          <a:lstStyle/>
          <a:p>
            <a:pPr algn="l">
              <a:spcBef>
                <a:spcPts val="0"/>
              </a:spcBef>
              <a:spcAft>
                <a:spcPts val="0"/>
              </a:spcAft>
            </a:pPr>
            <a:r>
              <a:rPr sz="1350" b="0" i="1">
                <a:solidFill>
                  <a:srgbClr val="14202E"/>
                </a:solidFill>
                <a:latin typeface="Cambria"/>
              </a:rPr>
              <a:t>pk</a:t>
            </a:r>
            <a:r>
              <a:rPr sz="1350" b="0" i="1" baseline="-25000">
                <a:solidFill>
                  <a:srgbClr val="14202E"/>
                </a:solidFill>
                <a:latin typeface="Cambria"/>
              </a:rPr>
              <a:t>i</a:t>
            </a:r>
            <a:r>
              <a:rPr sz="1350" b="0" i="0">
                <a:solidFill>
                  <a:srgbClr val="14202E"/>
                </a:solidFill>
                <a:latin typeface="Calibri"/>
              </a:rPr>
              <a:t> of every signer</a:t>
            </a:r>
          </a:p>
          <a:p>
            <a:pPr algn="l">
              <a:spcBef>
                <a:spcPts val="0"/>
              </a:spcBef>
              <a:spcAft>
                <a:spcPts val="0"/>
              </a:spcAft>
            </a:pPr>
            <a:r>
              <a:rPr sz="1250" b="0" i="0">
                <a:solidFill>
                  <a:srgbClr val="5B6675"/>
                </a:solidFill>
                <a:latin typeface="Calibri"/>
              </a:rPr>
              <a:t>how the verifier obtains them is not specified</a:t>
            </a:r>
          </a:p>
        </p:txBody>
      </p:sp>
      <p:cxnSp>
        <p:nvCxnSpPr>
          <p:cNvPr id="65" name="Connector 64"/>
          <p:cNvCxnSpPr/>
          <p:nvPr/>
        </p:nvCxnSpPr>
        <p:spPr>
          <a:xfrm>
            <a:off x="7889748" y="5669280"/>
            <a:ext cx="2243328" cy="0"/>
          </a:xfrm>
          <a:prstGeom prst="line">
            <a:avLst/>
          </a:prstGeom>
          <a:ln w="22225">
            <a:solidFill>
              <a:srgbClr val="5B6675"/>
            </a:solidFill>
            <a:prstDash val="dash"/>
            <a:tailEnd type="triangle" w="med" len="med"/>
          </a:ln>
        </p:spPr>
      </p:cxnSp>
      <p:sp>
        <p:nvSpPr>
          <p:cNvPr id="66" name="TextBox 65"/>
          <p:cNvSpPr txBox="1"/>
          <p:nvPr/>
        </p:nvSpPr>
        <p:spPr>
          <a:xfrm>
            <a:off x="7990332" y="5413248"/>
            <a:ext cx="1645920" cy="237744"/>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input to AggVerify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II · VERMA ET AL., AS DESCRIBED BY QIAO ET AL. (1/3)</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Verma et al.: every sensor gets a certificate from the KGC</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7 / 32</a:t>
            </a:r>
          </a:p>
        </p:txBody>
      </p:sp>
      <p:sp>
        <p:nvSpPr>
          <p:cNvPr id="8" name="Rounded Rectangle 7"/>
          <p:cNvSpPr/>
          <p:nvPr/>
        </p:nvSpPr>
        <p:spPr>
          <a:xfrm>
            <a:off x="548640" y="1508760"/>
            <a:ext cx="11091672" cy="502920"/>
          </a:xfrm>
          <a:prstGeom prst="roundRect">
            <a:avLst>
              <a:gd name="adj" fmla="val 10909"/>
            </a:avLst>
          </a:prstGeom>
          <a:solidFill>
            <a:srgbClr val="F2F5F8"/>
          </a:solidFill>
          <a:ln>
            <a:noFill/>
          </a:ln>
          <a:effectLst/>
        </p:spPr>
        <p:txBody>
          <a:bodyPr rtlCol="0" anchor="ctr" wrap="square" lIns="182880" rIns="182880" tIns="36576" bIns="36576"/>
          <a:lstStyle/>
          <a:p>
            <a:pPr algn="l">
              <a:spcBef>
                <a:spcPts val="0"/>
              </a:spcBef>
              <a:spcAft>
                <a:spcPts val="0"/>
              </a:spcAft>
            </a:pPr>
            <a:r>
              <a:rPr sz="1500" b="0" i="1">
                <a:solidFill>
                  <a:srgbClr val="14202E"/>
                </a:solidFill>
                <a:latin typeface="Cambria"/>
              </a:rPr>
              <a:t>P</a:t>
            </a:r>
            <a:r>
              <a:rPr sz="1500" b="0" i="0">
                <a:solidFill>
                  <a:srgbClr val="14202E"/>
                </a:solidFill>
                <a:latin typeface="Calibri"/>
              </a:rPr>
              <a:t> generates a prime-order group </a:t>
            </a:r>
            <a:r>
              <a:rPr sz="1500" b="0" i="1">
                <a:solidFill>
                  <a:srgbClr val="14202E"/>
                </a:solidFill>
                <a:latin typeface="Cambria"/>
              </a:rPr>
              <a:t>G</a:t>
            </a:r>
            <a:r>
              <a:rPr sz="1500" b="0" i="0">
                <a:solidFill>
                  <a:srgbClr val="14202E"/>
                </a:solidFill>
                <a:latin typeface="Calibri"/>
              </a:rPr>
              <a:t>  ·  </a:t>
            </a:r>
            <a:r>
              <a:rPr sz="1500" b="0" i="1">
                <a:solidFill>
                  <a:srgbClr val="14202E"/>
                </a:solidFill>
                <a:latin typeface="Cambria"/>
              </a:rPr>
              <a:t>aP</a:t>
            </a:r>
            <a:r>
              <a:rPr sz="1500" b="0" i="0">
                <a:solidFill>
                  <a:srgbClr val="14202E"/>
                </a:solidFill>
                <a:latin typeface="Calibri"/>
              </a:rPr>
              <a:t> is </a:t>
            </a:r>
            <a:r>
              <a:rPr sz="1500" b="0" i="1">
                <a:solidFill>
                  <a:srgbClr val="14202E"/>
                </a:solidFill>
                <a:latin typeface="Cambria"/>
              </a:rPr>
              <a:t>P</a:t>
            </a:r>
            <a:r>
              <a:rPr sz="1500" b="0" i="0">
                <a:solidFill>
                  <a:srgbClr val="14202E"/>
                </a:solidFill>
                <a:latin typeface="Calibri"/>
              </a:rPr>
              <a:t> added to itself </a:t>
            </a:r>
            <a:r>
              <a:rPr sz="1500" b="0" i="1">
                <a:solidFill>
                  <a:srgbClr val="14202E"/>
                </a:solidFill>
                <a:latin typeface="Cambria"/>
              </a:rPr>
              <a:t>a</a:t>
            </a:r>
            <a:r>
              <a:rPr sz="1500" b="0" i="0">
                <a:solidFill>
                  <a:srgbClr val="14202E"/>
                </a:solidFill>
                <a:latin typeface="Calibri"/>
              </a:rPr>
              <a:t> times  ·  </a:t>
            </a:r>
            <a:r>
              <a:rPr sz="1500" b="0" i="1">
                <a:solidFill>
                  <a:srgbClr val="14202E"/>
                </a:solidFill>
                <a:latin typeface="Cambria"/>
              </a:rPr>
              <a:t>H</a:t>
            </a:r>
            <a:r>
              <a:rPr sz="1500" b="0" i="0" baseline="-25000">
                <a:solidFill>
                  <a:srgbClr val="14202E"/>
                </a:solidFill>
                <a:latin typeface="Cambria"/>
              </a:rPr>
              <a:t>0</a:t>
            </a:r>
            <a:r>
              <a:rPr sz="1500" b="0" i="0">
                <a:solidFill>
                  <a:srgbClr val="14202E"/>
                </a:solidFill>
                <a:latin typeface="Calibri"/>
              </a:rPr>
              <a:t> hashes into </a:t>
            </a:r>
            <a:r>
              <a:rPr sz="1500" b="0" i="1">
                <a:solidFill>
                  <a:srgbClr val="14202E"/>
                </a:solidFill>
                <a:latin typeface="Cambria"/>
              </a:rPr>
              <a:t>Z</a:t>
            </a:r>
            <a:r>
              <a:rPr sz="1500" b="0" i="0" baseline="30000">
                <a:solidFill>
                  <a:srgbClr val="14202E"/>
                </a:solidFill>
                <a:latin typeface="Cambria"/>
              </a:rPr>
              <a:t>*</a:t>
            </a:r>
            <a:r>
              <a:rPr sz="1500" b="0" i="1" baseline="-25000">
                <a:solidFill>
                  <a:srgbClr val="14202E"/>
                </a:solidFill>
                <a:latin typeface="Cambria"/>
              </a:rPr>
              <a:t>p</a:t>
            </a:r>
            <a:r>
              <a:rPr sz="1500" b="0" i="0">
                <a:solidFill>
                  <a:srgbClr val="14202E"/>
                </a:solidFill>
                <a:latin typeface="Calibri"/>
              </a:rPr>
              <a:t>  ·  </a:t>
            </a:r>
            <a:r>
              <a:rPr sz="1500" b="0" i="1">
                <a:solidFill>
                  <a:srgbClr val="14202E"/>
                </a:solidFill>
                <a:latin typeface="Cambria"/>
              </a:rPr>
              <a:t>id</a:t>
            </a:r>
            <a:r>
              <a:rPr sz="1500" b="0" i="1" baseline="-25000">
                <a:solidFill>
                  <a:srgbClr val="14202E"/>
                </a:solidFill>
                <a:latin typeface="Cambria"/>
              </a:rPr>
              <a:t>i</a:t>
            </a:r>
            <a:r>
              <a:rPr sz="1500" b="0" i="0">
                <a:solidFill>
                  <a:srgbClr val="14202E"/>
                </a:solidFill>
                <a:latin typeface="Calibri"/>
              </a:rPr>
              <a:t> is the sensor's identity</a:t>
            </a:r>
          </a:p>
        </p:txBody>
      </p:sp>
      <p:sp>
        <p:nvSpPr>
          <p:cNvPr id="9" name="Rounded Rectangle 8"/>
          <p:cNvSpPr/>
          <p:nvPr/>
        </p:nvSpPr>
        <p:spPr>
          <a:xfrm>
            <a:off x="548640" y="2194560"/>
            <a:ext cx="4572000" cy="2606040"/>
          </a:xfrm>
          <a:prstGeom prst="roundRect">
            <a:avLst>
              <a:gd name="adj" fmla="val 2807"/>
            </a:avLst>
          </a:prstGeom>
          <a:solidFill>
            <a:srgbClr val="E4EEF9"/>
          </a:solidFill>
          <a:ln w="22225">
            <a:solidFill>
              <a:srgbClr val="1D5EA8"/>
            </a:solidFill>
          </a:ln>
          <a:effectLst/>
        </p:spPr>
        <p:txBody>
          <a:bodyPr rtlCol="0" anchor="ctr" wrap="square" lIns="73152" rIns="73152" tIns="36576" bIns="36576"/>
          <a:lstStyle/>
          <a:p>
            <a:pPr algn="ctr"/>
          </a:p>
        </p:txBody>
      </p:sp>
      <p:sp>
        <p:nvSpPr>
          <p:cNvPr id="10" name="TextBox 9"/>
          <p:cNvSpPr txBox="1"/>
          <p:nvPr/>
        </p:nvSpPr>
        <p:spPr>
          <a:xfrm>
            <a:off x="777240" y="2286000"/>
            <a:ext cx="4114800" cy="365760"/>
          </a:xfrm>
          <a:prstGeom prst="rect">
            <a:avLst/>
          </a:prstGeom>
          <a:noFill/>
        </p:spPr>
        <p:txBody>
          <a:bodyPr wrap="square" lIns="0" rIns="0" tIns="0" bIns="0" anchor="t">
            <a:spAutoFit/>
          </a:bodyPr>
          <a:lstStyle/>
          <a:p>
            <a:pPr algn="l">
              <a:spcBef>
                <a:spcPts val="0"/>
              </a:spcBef>
              <a:spcAft>
                <a:spcPts val="0"/>
              </a:spcAft>
            </a:pPr>
            <a:r>
              <a:rPr sz="1900" b="1" i="0">
                <a:solidFill>
                  <a:srgbClr val="1D5EA8"/>
                </a:solidFill>
                <a:latin typeface="Calibri"/>
              </a:rPr>
              <a:t>Sensor </a:t>
            </a:r>
            <a:r>
              <a:rPr sz="1900" b="1" i="1">
                <a:solidFill>
                  <a:srgbClr val="1D5EA8"/>
                </a:solidFill>
                <a:latin typeface="Cambria"/>
              </a:rPr>
              <a:t>i</a:t>
            </a:r>
            <a:r>
              <a:rPr sz="1900" b="1" i="0">
                <a:solidFill>
                  <a:srgbClr val="1D5EA8"/>
                </a:solidFill>
                <a:latin typeface="Calibri"/>
              </a:rPr>
              <a:t> · KeyGen</a:t>
            </a:r>
          </a:p>
        </p:txBody>
      </p:sp>
      <p:sp>
        <p:nvSpPr>
          <p:cNvPr id="11" name="TextBox 10"/>
          <p:cNvSpPr txBox="1"/>
          <p:nvPr/>
        </p:nvSpPr>
        <p:spPr>
          <a:xfrm>
            <a:off x="777240" y="2743200"/>
            <a:ext cx="4114800" cy="457200"/>
          </a:xfrm>
          <a:prstGeom prst="rect">
            <a:avLst/>
          </a:prstGeom>
          <a:noFill/>
        </p:spPr>
        <p:txBody>
          <a:bodyPr wrap="square" lIns="0" rIns="0" tIns="0" bIns="0" anchor="t">
            <a:spAutoFit/>
          </a:bodyPr>
          <a:lstStyle/>
          <a:p>
            <a:pPr algn="l">
              <a:spcBef>
                <a:spcPts val="0"/>
              </a:spcBef>
              <a:spcAft>
                <a:spcPts val="0"/>
              </a:spcAft>
            </a:pPr>
            <a:r>
              <a:rPr sz="2600" b="0" i="1">
                <a:solidFill>
                  <a:srgbClr val="14202E"/>
                </a:solidFill>
                <a:latin typeface="Cambria"/>
              </a:rPr>
              <a:t>sk</a:t>
            </a:r>
            <a:r>
              <a:rPr sz="2600" b="0" i="1" baseline="-25000">
                <a:solidFill>
                  <a:srgbClr val="14202E"/>
                </a:solidFill>
                <a:latin typeface="Cambria"/>
              </a:rPr>
              <a:t>i</a:t>
            </a:r>
            <a:r>
              <a:rPr sz="2600" b="0" i="0">
                <a:solidFill>
                  <a:srgbClr val="14202E"/>
                </a:solidFill>
                <a:latin typeface="Cambria"/>
              </a:rPr>
              <a:t> = </a:t>
            </a:r>
            <a:r>
              <a:rPr sz="2600" b="0" i="1">
                <a:solidFill>
                  <a:srgbClr val="14202E"/>
                </a:solidFill>
                <a:latin typeface="Cambria"/>
              </a:rPr>
              <a:t>s</a:t>
            </a:r>
            <a:r>
              <a:rPr sz="2600" b="0" i="1" baseline="-25000">
                <a:solidFill>
                  <a:srgbClr val="14202E"/>
                </a:solidFill>
                <a:latin typeface="Cambria"/>
              </a:rPr>
              <a:t>i</a:t>
            </a:r>
          </a:p>
        </p:txBody>
      </p:sp>
      <p:sp>
        <p:nvSpPr>
          <p:cNvPr id="12" name="Rounded Rectangle 11"/>
          <p:cNvSpPr/>
          <p:nvPr/>
        </p:nvSpPr>
        <p:spPr>
          <a:xfrm>
            <a:off x="2834640" y="2816352"/>
            <a:ext cx="2103120" cy="347472"/>
          </a:xfrm>
          <a:prstGeom prst="roundRect">
            <a:avLst>
              <a:gd name="adj" fmla="val 31578"/>
            </a:avLst>
          </a:prstGeom>
          <a:solidFill>
            <a:srgbClr val="E4EEF9"/>
          </a:solidFill>
          <a:ln w="15240">
            <a:solidFill>
              <a:srgbClr val="1D5EA8"/>
            </a:solidFill>
            <a:prstDash val="dash"/>
          </a:ln>
          <a:effectLst/>
        </p:spPr>
        <p:txBody>
          <a:bodyPr rtlCol="0" anchor="ctr" wrap="square" lIns="310896" rIns="310896" tIns="36576" bIns="36576"/>
          <a:lstStyle/>
          <a:p>
            <a:pPr algn="l">
              <a:spcBef>
                <a:spcPts val="0"/>
              </a:spcBef>
              <a:spcAft>
                <a:spcPts val="0"/>
              </a:spcAft>
            </a:pPr>
            <a:r>
              <a:rPr sz="1300" b="0" i="0">
                <a:solidFill>
                  <a:srgbClr val="14202E"/>
                </a:solidFill>
                <a:latin typeface="Calibri"/>
              </a:rPr>
              <a:t>secret, stays here</a:t>
            </a:r>
          </a:p>
        </p:txBody>
      </p:sp>
      <p:sp>
        <p:nvSpPr>
          <p:cNvPr id="13" name="Rounded Rectangle 12"/>
          <p:cNvSpPr/>
          <p:nvPr/>
        </p:nvSpPr>
        <p:spPr>
          <a:xfrm>
            <a:off x="2924799" y="2971434"/>
            <a:ext cx="185440" cy="123626"/>
          </a:xfrm>
          <a:prstGeom prst="roundRect">
            <a:avLst>
              <a:gd name="adj" fmla="val 22189"/>
            </a:avLst>
          </a:prstGeom>
          <a:solidFill>
            <a:srgbClr val="1D5EA8"/>
          </a:solidFill>
          <a:ln>
            <a:noFill/>
          </a:ln>
          <a:effectLst/>
        </p:spPr>
        <p:txBody>
          <a:bodyPr rtlCol="0" anchor="ctr" wrap="square" lIns="73152" rIns="73152" tIns="36576" bIns="36576"/>
          <a:lstStyle/>
          <a:p>
            <a:pPr algn="ctr"/>
          </a:p>
        </p:txBody>
      </p:sp>
      <p:sp>
        <p:nvSpPr>
          <p:cNvPr id="14" name="Freeform 13"/>
          <p:cNvSpPr/>
          <p:nvPr/>
        </p:nvSpPr>
        <p:spPr>
          <a:xfrm>
            <a:off x="2961887" y="2876336"/>
            <a:ext cx="111265" cy="95098"/>
          </a:xfrm>
          <a:custGeom>
            <a:avLst/>
            <a:gdLst/>
            <a:ahLst/>
            <a:cxnLst/>
            <a:rect l="l" t="t" r="r" b="b"/>
            <a:pathLst>
              <a:path w="111265" h="95098">
                <a:moveTo>
                  <a:pt x="0" y="95098"/>
                </a:moveTo>
                <a:lnTo>
                  <a:pt x="0" y="38039"/>
                </a:lnTo>
                <a:lnTo>
                  <a:pt x="25962" y="0"/>
                </a:lnTo>
                <a:lnTo>
                  <a:pt x="85303" y="0"/>
                </a:lnTo>
                <a:lnTo>
                  <a:pt x="111265" y="38039"/>
                </a:lnTo>
                <a:lnTo>
                  <a:pt x="111265" y="95098"/>
                </a:lnTo>
              </a:path>
            </a:pathLst>
          </a:custGeom>
          <a:noFill/>
          <a:ln w="18161">
            <a:solidFill>
              <a:srgbClr val="1D5EA8"/>
            </a:solidFill>
          </a:ln>
          <a:effectLst/>
        </p:spPr>
        <p:txBody>
          <a:bodyPr rtlCol="0" anchor="ctr"/>
          <a:lstStyle/>
          <a:p>
            <a:pPr algn="ctr"/>
          </a:p>
        </p:txBody>
      </p:sp>
      <p:sp>
        <p:nvSpPr>
          <p:cNvPr id="15" name="TextBox 14"/>
          <p:cNvSpPr txBox="1"/>
          <p:nvPr/>
        </p:nvSpPr>
        <p:spPr>
          <a:xfrm>
            <a:off x="777240" y="3337560"/>
            <a:ext cx="4114800" cy="457200"/>
          </a:xfrm>
          <a:prstGeom prst="rect">
            <a:avLst/>
          </a:prstGeom>
          <a:noFill/>
        </p:spPr>
        <p:txBody>
          <a:bodyPr wrap="square" lIns="0" rIns="0" tIns="0" bIns="0" anchor="t">
            <a:spAutoFit/>
          </a:bodyPr>
          <a:lstStyle/>
          <a:p>
            <a:pPr algn="l">
              <a:spcBef>
                <a:spcPts val="0"/>
              </a:spcBef>
              <a:spcAft>
                <a:spcPts val="0"/>
              </a:spcAft>
            </a:pPr>
            <a:r>
              <a:rPr sz="2600" b="0" i="1">
                <a:solidFill>
                  <a:srgbClr val="14202E"/>
                </a:solidFill>
                <a:latin typeface="Cambria"/>
              </a:rPr>
              <a:t>pk</a:t>
            </a:r>
            <a:r>
              <a:rPr sz="2600" b="0" i="1" baseline="-25000">
                <a:solidFill>
                  <a:srgbClr val="14202E"/>
                </a:solidFill>
                <a:latin typeface="Cambria"/>
              </a:rPr>
              <a:t>i</a:t>
            </a:r>
            <a:r>
              <a:rPr sz="2600" b="0" i="0">
                <a:solidFill>
                  <a:srgbClr val="14202E"/>
                </a:solidFill>
                <a:latin typeface="Cambria"/>
              </a:rPr>
              <a:t> = </a:t>
            </a:r>
            <a:r>
              <a:rPr sz="2600" b="0" i="1">
                <a:solidFill>
                  <a:srgbClr val="14202E"/>
                </a:solidFill>
                <a:latin typeface="Cambria"/>
              </a:rPr>
              <a:t>s</a:t>
            </a:r>
            <a:r>
              <a:rPr sz="2600" b="0" i="1" baseline="-25000">
                <a:solidFill>
                  <a:srgbClr val="14202E"/>
                </a:solidFill>
                <a:latin typeface="Cambria"/>
              </a:rPr>
              <a:t>i</a:t>
            </a:r>
            <a:r>
              <a:rPr sz="2600" b="0" i="1">
                <a:solidFill>
                  <a:srgbClr val="14202E"/>
                </a:solidFill>
                <a:latin typeface="Cambria"/>
              </a:rPr>
              <a:t>P</a:t>
            </a:r>
          </a:p>
        </p:txBody>
      </p:sp>
      <p:sp>
        <p:nvSpPr>
          <p:cNvPr id="16" name="TextBox 15"/>
          <p:cNvSpPr txBox="1"/>
          <p:nvPr/>
        </p:nvSpPr>
        <p:spPr>
          <a:xfrm>
            <a:off x="2834640" y="3401568"/>
            <a:ext cx="2103120" cy="365760"/>
          </a:xfrm>
          <a:prstGeom prst="rect">
            <a:avLst/>
          </a:prstGeom>
          <a:noFill/>
        </p:spPr>
        <p:txBody>
          <a:bodyPr wrap="square" lIns="0" rIns="0" tIns="0" bIns="0" anchor="t">
            <a:spAutoFit/>
          </a:bodyPr>
          <a:lstStyle/>
          <a:p>
            <a:pPr algn="l">
              <a:spcBef>
                <a:spcPts val="0"/>
              </a:spcBef>
              <a:spcAft>
                <a:spcPts val="0"/>
              </a:spcAft>
            </a:pPr>
            <a:r>
              <a:rPr sz="1400" b="0" i="0">
                <a:solidFill>
                  <a:srgbClr val="5B6675"/>
                </a:solidFill>
                <a:latin typeface="Calibri"/>
              </a:rPr>
              <a:t>public</a:t>
            </a:r>
          </a:p>
        </p:txBody>
      </p:sp>
      <p:sp>
        <p:nvSpPr>
          <p:cNvPr id="17" name="TextBox 16"/>
          <p:cNvSpPr txBox="1"/>
          <p:nvPr/>
        </p:nvSpPr>
        <p:spPr>
          <a:xfrm>
            <a:off x="777240" y="3977639"/>
            <a:ext cx="4114800" cy="548640"/>
          </a:xfrm>
          <a:prstGeom prst="rect">
            <a:avLst/>
          </a:prstGeom>
          <a:noFill/>
        </p:spPr>
        <p:txBody>
          <a:bodyPr wrap="square" lIns="0" rIns="0" tIns="0" bIns="0" anchor="t">
            <a:spAutoFit/>
          </a:bodyPr>
          <a:lstStyle/>
          <a:p>
            <a:pPr algn="l">
              <a:spcBef>
                <a:spcPts val="0"/>
              </a:spcBef>
              <a:spcAft>
                <a:spcPts val="0"/>
              </a:spcAft>
            </a:pPr>
            <a:r>
              <a:rPr sz="1500" b="0" i="1">
                <a:solidFill>
                  <a:srgbClr val="5B6675"/>
                </a:solidFill>
                <a:latin typeface="Cambria"/>
              </a:rPr>
              <a:t>s</a:t>
            </a:r>
            <a:r>
              <a:rPr sz="1500" b="0" i="1" baseline="-25000">
                <a:solidFill>
                  <a:srgbClr val="5B6675"/>
                </a:solidFill>
                <a:latin typeface="Cambria"/>
              </a:rPr>
              <a:t>i</a:t>
            </a:r>
            <a:r>
              <a:rPr sz="1500" b="0" i="0">
                <a:solidFill>
                  <a:srgbClr val="5B6675"/>
                </a:solidFill>
                <a:latin typeface="Calibri"/>
              </a:rPr>
              <a:t> is random in </a:t>
            </a:r>
            <a:r>
              <a:rPr sz="1500" b="0" i="1">
                <a:solidFill>
                  <a:srgbClr val="5B6675"/>
                </a:solidFill>
                <a:latin typeface="Cambria"/>
              </a:rPr>
              <a:t>Z</a:t>
            </a:r>
            <a:r>
              <a:rPr sz="1500" b="0" i="0" baseline="30000">
                <a:solidFill>
                  <a:srgbClr val="5B6675"/>
                </a:solidFill>
                <a:latin typeface="Cambria"/>
              </a:rPr>
              <a:t>*</a:t>
            </a:r>
            <a:r>
              <a:rPr sz="1500" b="0" i="1" baseline="-25000">
                <a:solidFill>
                  <a:srgbClr val="5B6675"/>
                </a:solidFill>
                <a:latin typeface="Cambria"/>
              </a:rPr>
              <a:t>p</a:t>
            </a:r>
          </a:p>
        </p:txBody>
      </p:sp>
      <p:sp>
        <p:nvSpPr>
          <p:cNvPr id="18" name="Rounded Rectangle 17"/>
          <p:cNvSpPr/>
          <p:nvPr/>
        </p:nvSpPr>
        <p:spPr>
          <a:xfrm>
            <a:off x="6812280" y="2194560"/>
            <a:ext cx="4828032" cy="2606040"/>
          </a:xfrm>
          <a:prstGeom prst="roundRect">
            <a:avLst>
              <a:gd name="adj" fmla="val 2807"/>
            </a:avLst>
          </a:prstGeom>
          <a:solidFill>
            <a:srgbClr val="EFE8F8"/>
          </a:solidFill>
          <a:ln w="22225">
            <a:solidFill>
              <a:srgbClr val="6B3FA0"/>
            </a:solidFill>
          </a:ln>
          <a:effectLst/>
        </p:spPr>
        <p:txBody>
          <a:bodyPr rtlCol="0" anchor="ctr" wrap="square" lIns="73152" rIns="73152" tIns="36576" bIns="36576"/>
          <a:lstStyle/>
          <a:p>
            <a:pPr algn="ctr"/>
          </a:p>
        </p:txBody>
      </p:sp>
      <p:sp>
        <p:nvSpPr>
          <p:cNvPr id="19" name="TextBox 18"/>
          <p:cNvSpPr txBox="1"/>
          <p:nvPr/>
        </p:nvSpPr>
        <p:spPr>
          <a:xfrm>
            <a:off x="7040880" y="2286000"/>
            <a:ext cx="4389120" cy="365760"/>
          </a:xfrm>
          <a:prstGeom prst="rect">
            <a:avLst/>
          </a:prstGeom>
          <a:noFill/>
        </p:spPr>
        <p:txBody>
          <a:bodyPr wrap="square" lIns="0" rIns="0" tIns="0" bIns="0" anchor="t">
            <a:spAutoFit/>
          </a:bodyPr>
          <a:lstStyle/>
          <a:p>
            <a:pPr algn="l">
              <a:spcBef>
                <a:spcPts val="0"/>
              </a:spcBef>
              <a:spcAft>
                <a:spcPts val="0"/>
              </a:spcAft>
            </a:pPr>
            <a:r>
              <a:rPr sz="1900" b="1" i="0">
                <a:solidFill>
                  <a:srgbClr val="6B3FA0"/>
                </a:solidFill>
                <a:latin typeface="Calibri"/>
              </a:rPr>
              <a:t>KGC · Setup, then CertGen</a:t>
            </a:r>
          </a:p>
        </p:txBody>
      </p:sp>
      <p:sp>
        <p:nvSpPr>
          <p:cNvPr id="20" name="TextBox 19"/>
          <p:cNvSpPr txBox="1"/>
          <p:nvPr/>
        </p:nvSpPr>
        <p:spPr>
          <a:xfrm>
            <a:off x="7040880" y="2724912"/>
            <a:ext cx="4389120" cy="365760"/>
          </a:xfrm>
          <a:prstGeom prst="rect">
            <a:avLst/>
          </a:prstGeom>
          <a:noFill/>
        </p:spPr>
        <p:txBody>
          <a:bodyPr wrap="square" lIns="0" rIns="0" tIns="0" bIns="0" anchor="t">
            <a:spAutoFit/>
          </a:bodyPr>
          <a:lstStyle/>
          <a:p>
            <a:pPr algn="l">
              <a:spcBef>
                <a:spcPts val="0"/>
              </a:spcBef>
              <a:spcAft>
                <a:spcPts val="0"/>
              </a:spcAft>
            </a:pPr>
            <a:r>
              <a:rPr sz="1700" b="0" i="1">
                <a:solidFill>
                  <a:srgbClr val="14202E"/>
                </a:solidFill>
                <a:latin typeface="Cambria"/>
              </a:rPr>
              <a:t>P</a:t>
            </a:r>
            <a:r>
              <a:rPr sz="1700" b="0" i="1" baseline="30000">
                <a:solidFill>
                  <a:srgbClr val="14202E"/>
                </a:solidFill>
                <a:latin typeface="Cambria"/>
              </a:rPr>
              <a:t>k</a:t>
            </a:r>
            <a:r>
              <a:rPr sz="1700" b="0" i="1" baseline="-25000">
                <a:solidFill>
                  <a:srgbClr val="14202E"/>
                </a:solidFill>
                <a:latin typeface="Cambria"/>
              </a:rPr>
              <a:t>TA</a:t>
            </a:r>
            <a:r>
              <a:rPr sz="1700" b="0" i="0">
                <a:solidFill>
                  <a:srgbClr val="14202E"/>
                </a:solidFill>
                <a:latin typeface="Cambria"/>
              </a:rPr>
              <a:t> = </a:t>
            </a:r>
            <a:r>
              <a:rPr sz="1700" b="0" i="1">
                <a:solidFill>
                  <a:srgbClr val="14202E"/>
                </a:solidFill>
                <a:latin typeface="Cambria"/>
              </a:rPr>
              <a:t>sP</a:t>
            </a:r>
            <a:r>
              <a:rPr sz="1700" b="0" i="0">
                <a:solidFill>
                  <a:srgbClr val="14202E"/>
                </a:solidFill>
                <a:latin typeface="Calibri"/>
              </a:rPr>
              <a:t>     master secret </a:t>
            </a:r>
            <a:r>
              <a:rPr sz="1700" b="0" i="1">
                <a:solidFill>
                  <a:srgbClr val="14202E"/>
                </a:solidFill>
                <a:latin typeface="Cambria"/>
              </a:rPr>
              <a:t>s</a:t>
            </a:r>
            <a:r>
              <a:rPr sz="1700" b="0" i="1" baseline="30000">
                <a:solidFill>
                  <a:srgbClr val="14202E"/>
                </a:solidFill>
                <a:latin typeface="Cambria"/>
              </a:rPr>
              <a:t>k</a:t>
            </a:r>
            <a:r>
              <a:rPr sz="1700" b="0" i="1" baseline="-25000">
                <a:solidFill>
                  <a:srgbClr val="14202E"/>
                </a:solidFill>
                <a:latin typeface="Cambria"/>
              </a:rPr>
              <a:t>TA</a:t>
            </a:r>
            <a:r>
              <a:rPr sz="1700" b="0" i="0">
                <a:solidFill>
                  <a:srgbClr val="14202E"/>
                </a:solidFill>
                <a:latin typeface="Cambria"/>
              </a:rPr>
              <a:t> = </a:t>
            </a:r>
            <a:r>
              <a:rPr sz="1700" b="0" i="1">
                <a:solidFill>
                  <a:srgbClr val="14202E"/>
                </a:solidFill>
                <a:latin typeface="Cambria"/>
              </a:rPr>
              <a:t>s</a:t>
            </a:r>
          </a:p>
        </p:txBody>
      </p:sp>
      <p:sp>
        <p:nvSpPr>
          <p:cNvPr id="21" name="TextBox 20"/>
          <p:cNvSpPr txBox="1"/>
          <p:nvPr/>
        </p:nvSpPr>
        <p:spPr>
          <a:xfrm>
            <a:off x="7040880" y="3218688"/>
            <a:ext cx="4389120" cy="365760"/>
          </a:xfrm>
          <a:prstGeom prst="rect">
            <a:avLst/>
          </a:prstGeom>
          <a:noFill/>
        </p:spPr>
        <p:txBody>
          <a:bodyPr wrap="square" lIns="0" rIns="0" tIns="0" bIns="0" anchor="t">
            <a:spAutoFit/>
          </a:bodyPr>
          <a:lstStyle/>
          <a:p>
            <a:pPr algn="l">
              <a:spcBef>
                <a:spcPts val="0"/>
              </a:spcBef>
              <a:spcAft>
                <a:spcPts val="0"/>
              </a:spcAft>
            </a:pPr>
            <a:r>
              <a:rPr sz="2100" b="0" i="1">
                <a:solidFill>
                  <a:srgbClr val="14202E"/>
                </a:solidFill>
                <a:latin typeface="Cambria"/>
              </a:rPr>
              <a:t>R</a:t>
            </a:r>
            <a:r>
              <a:rPr sz="2100" b="0" i="0" baseline="-25000">
                <a:solidFill>
                  <a:srgbClr val="14202E"/>
                </a:solidFill>
                <a:latin typeface="Cambria"/>
              </a:rPr>
              <a:t>1</a:t>
            </a:r>
            <a:r>
              <a:rPr sz="2100" b="0" i="1" baseline="-25000">
                <a:solidFill>
                  <a:srgbClr val="14202E"/>
                </a:solidFill>
                <a:latin typeface="Cambria"/>
              </a:rPr>
              <a:t>i</a:t>
            </a:r>
            <a:r>
              <a:rPr sz="2100" b="0" i="0">
                <a:solidFill>
                  <a:srgbClr val="14202E"/>
                </a:solidFill>
                <a:latin typeface="Cambria"/>
              </a:rPr>
              <a:t> = </a:t>
            </a:r>
            <a:r>
              <a:rPr sz="2100" b="0" i="1">
                <a:solidFill>
                  <a:srgbClr val="14202E"/>
                </a:solidFill>
                <a:latin typeface="Cambria"/>
              </a:rPr>
              <a:t>r</a:t>
            </a:r>
            <a:r>
              <a:rPr sz="2100" b="0" i="0" baseline="-25000">
                <a:solidFill>
                  <a:srgbClr val="14202E"/>
                </a:solidFill>
                <a:latin typeface="Cambria"/>
              </a:rPr>
              <a:t>1</a:t>
            </a:r>
            <a:r>
              <a:rPr sz="2100" b="0" i="1" baseline="-25000">
                <a:solidFill>
                  <a:srgbClr val="14202E"/>
                </a:solidFill>
                <a:latin typeface="Cambria"/>
              </a:rPr>
              <a:t>i</a:t>
            </a:r>
            <a:r>
              <a:rPr sz="2100" b="0" i="1">
                <a:solidFill>
                  <a:srgbClr val="14202E"/>
                </a:solidFill>
                <a:latin typeface="Cambria"/>
              </a:rPr>
              <a:t>P</a:t>
            </a:r>
          </a:p>
        </p:txBody>
      </p:sp>
      <p:sp>
        <p:nvSpPr>
          <p:cNvPr id="22" name="TextBox 21"/>
          <p:cNvSpPr txBox="1"/>
          <p:nvPr/>
        </p:nvSpPr>
        <p:spPr>
          <a:xfrm>
            <a:off x="7040880" y="3639312"/>
            <a:ext cx="4480560" cy="411480"/>
          </a:xfrm>
          <a:prstGeom prst="rect">
            <a:avLst/>
          </a:prstGeom>
          <a:noFill/>
        </p:spPr>
        <p:txBody>
          <a:bodyPr wrap="square" lIns="0" rIns="0" tIns="0" bIns="0" anchor="t">
            <a:spAutoFit/>
          </a:bodyPr>
          <a:lstStyle/>
          <a:p>
            <a:pPr algn="l">
              <a:spcBef>
                <a:spcPts val="0"/>
              </a:spcBef>
              <a:spcAft>
                <a:spcPts val="0"/>
              </a:spcAft>
            </a:pPr>
            <a:r>
              <a:rPr sz="2100" b="0" i="1">
                <a:solidFill>
                  <a:srgbClr val="14202E"/>
                </a:solidFill>
                <a:latin typeface="Cambria"/>
              </a:rPr>
              <a:t>c</a:t>
            </a:r>
            <a:r>
              <a:rPr sz="2100" b="0" i="1" baseline="-25000">
                <a:solidFill>
                  <a:srgbClr val="14202E"/>
                </a:solidFill>
                <a:latin typeface="Cambria"/>
              </a:rPr>
              <a:t>i</a:t>
            </a:r>
            <a:r>
              <a:rPr sz="2100" b="0" i="0">
                <a:solidFill>
                  <a:srgbClr val="14202E"/>
                </a:solidFill>
                <a:latin typeface="Cambria"/>
              </a:rPr>
              <a:t> = </a:t>
            </a:r>
            <a:r>
              <a:rPr sz="2100" b="0" i="1">
                <a:solidFill>
                  <a:srgbClr val="14202E"/>
                </a:solidFill>
                <a:latin typeface="Cambria"/>
              </a:rPr>
              <a:t>r</a:t>
            </a:r>
            <a:r>
              <a:rPr sz="2100" b="0" i="0" baseline="-25000">
                <a:solidFill>
                  <a:srgbClr val="14202E"/>
                </a:solidFill>
                <a:latin typeface="Cambria"/>
              </a:rPr>
              <a:t>1</a:t>
            </a:r>
            <a:r>
              <a:rPr sz="2100" b="0" i="1" baseline="-25000">
                <a:solidFill>
                  <a:srgbClr val="14202E"/>
                </a:solidFill>
                <a:latin typeface="Cambria"/>
              </a:rPr>
              <a:t>i</a:t>
            </a:r>
            <a:r>
              <a:rPr sz="2100" b="0" i="0">
                <a:solidFill>
                  <a:srgbClr val="14202E"/>
                </a:solidFill>
                <a:latin typeface="Cambria"/>
              </a:rPr>
              <a:t> + </a:t>
            </a:r>
            <a:r>
              <a:rPr sz="2100" b="0" i="1">
                <a:solidFill>
                  <a:srgbClr val="14202E"/>
                </a:solidFill>
                <a:latin typeface="Cambria"/>
              </a:rPr>
              <a:t>s</a:t>
            </a:r>
            <a:r>
              <a:rPr sz="2100" b="0" i="1" baseline="30000">
                <a:solidFill>
                  <a:srgbClr val="14202E"/>
                </a:solidFill>
                <a:latin typeface="Cambria"/>
              </a:rPr>
              <a:t>k</a:t>
            </a:r>
            <a:r>
              <a:rPr sz="2100" b="0" i="1" baseline="-25000">
                <a:solidFill>
                  <a:srgbClr val="14202E"/>
                </a:solidFill>
                <a:latin typeface="Cambria"/>
              </a:rPr>
              <a:t>TA</a:t>
            </a:r>
            <a:r>
              <a:rPr sz="2100" b="0" i="0">
                <a:solidFill>
                  <a:srgbClr val="14202E"/>
                </a:solidFill>
                <a:latin typeface="Cambria"/>
              </a:rPr>
              <a:t>·</a:t>
            </a:r>
            <a:r>
              <a:rPr sz="2100" b="0" i="1">
                <a:solidFill>
                  <a:srgbClr val="14202E"/>
                </a:solidFill>
                <a:latin typeface="Cambria"/>
              </a:rPr>
              <a:t>H</a:t>
            </a:r>
            <a:r>
              <a:rPr sz="2100" b="0" i="0" baseline="-25000">
                <a:solidFill>
                  <a:srgbClr val="14202E"/>
                </a:solidFill>
                <a:latin typeface="Cambria"/>
              </a:rPr>
              <a:t>0</a:t>
            </a:r>
            <a:r>
              <a:rPr sz="2100" b="0" i="0">
                <a:solidFill>
                  <a:srgbClr val="14202E"/>
                </a:solidFill>
                <a:latin typeface="Cambria"/>
              </a:rPr>
              <a:t>(</a:t>
            </a:r>
            <a:r>
              <a:rPr sz="2100" b="0" i="1">
                <a:solidFill>
                  <a:srgbClr val="14202E"/>
                </a:solidFill>
                <a:latin typeface="Cambria"/>
              </a:rPr>
              <a:t>id</a:t>
            </a:r>
            <a:r>
              <a:rPr sz="2100" b="0" i="1" baseline="-25000">
                <a:solidFill>
                  <a:srgbClr val="14202E"/>
                </a:solidFill>
                <a:latin typeface="Cambria"/>
              </a:rPr>
              <a:t>i</a:t>
            </a:r>
            <a:r>
              <a:rPr sz="2100" b="0" i="0">
                <a:solidFill>
                  <a:srgbClr val="14202E"/>
                </a:solidFill>
                <a:latin typeface="Cambria"/>
              </a:rPr>
              <a:t>‖</a:t>
            </a:r>
            <a:r>
              <a:rPr sz="2100" b="0" i="1">
                <a:solidFill>
                  <a:srgbClr val="14202E"/>
                </a:solidFill>
                <a:latin typeface="Cambria"/>
              </a:rPr>
              <a:t>pk</a:t>
            </a:r>
            <a:r>
              <a:rPr sz="2100" b="0" i="1" baseline="-25000">
                <a:solidFill>
                  <a:srgbClr val="14202E"/>
                </a:solidFill>
                <a:latin typeface="Cambria"/>
              </a:rPr>
              <a:t>i</a:t>
            </a:r>
            <a:r>
              <a:rPr sz="2100" b="0" i="0">
                <a:solidFill>
                  <a:srgbClr val="14202E"/>
                </a:solidFill>
                <a:latin typeface="Cambria"/>
              </a:rPr>
              <a:t>)</a:t>
            </a:r>
          </a:p>
        </p:txBody>
      </p:sp>
      <p:sp>
        <p:nvSpPr>
          <p:cNvPr id="23" name="TextBox 22"/>
          <p:cNvSpPr txBox="1"/>
          <p:nvPr/>
        </p:nvSpPr>
        <p:spPr>
          <a:xfrm>
            <a:off x="7040880" y="4114800"/>
            <a:ext cx="4389120" cy="411480"/>
          </a:xfrm>
          <a:prstGeom prst="rect">
            <a:avLst/>
          </a:prstGeom>
          <a:noFill/>
        </p:spPr>
        <p:txBody>
          <a:bodyPr wrap="square" lIns="0" rIns="0" tIns="0" bIns="0" anchor="t">
            <a:spAutoFit/>
          </a:bodyPr>
          <a:lstStyle/>
          <a:p>
            <a:pPr algn="l">
              <a:spcBef>
                <a:spcPts val="0"/>
              </a:spcBef>
              <a:spcAft>
                <a:spcPts val="0"/>
              </a:spcAft>
            </a:pPr>
            <a:r>
              <a:rPr sz="2100" b="1" i="1">
                <a:solidFill>
                  <a:srgbClr val="6B3FA0"/>
                </a:solidFill>
                <a:latin typeface="Cambria"/>
              </a:rPr>
              <a:t>Cert</a:t>
            </a:r>
            <a:r>
              <a:rPr sz="2100" b="1" i="1" baseline="-25000">
                <a:solidFill>
                  <a:srgbClr val="6B3FA0"/>
                </a:solidFill>
                <a:latin typeface="Cambria"/>
              </a:rPr>
              <a:t>i</a:t>
            </a:r>
            <a:r>
              <a:rPr sz="2100" b="1" i="0">
                <a:solidFill>
                  <a:srgbClr val="6B3FA0"/>
                </a:solidFill>
                <a:latin typeface="Cambria"/>
              </a:rPr>
              <a:t> = (</a:t>
            </a:r>
            <a:r>
              <a:rPr sz="2100" b="1" i="1">
                <a:solidFill>
                  <a:srgbClr val="6B3FA0"/>
                </a:solidFill>
                <a:latin typeface="Cambria"/>
              </a:rPr>
              <a:t>R</a:t>
            </a:r>
            <a:r>
              <a:rPr sz="2100" b="1" i="0" baseline="-25000">
                <a:solidFill>
                  <a:srgbClr val="6B3FA0"/>
                </a:solidFill>
                <a:latin typeface="Cambria"/>
              </a:rPr>
              <a:t>1</a:t>
            </a:r>
            <a:r>
              <a:rPr sz="2100" b="1" i="1" baseline="-25000">
                <a:solidFill>
                  <a:srgbClr val="6B3FA0"/>
                </a:solidFill>
                <a:latin typeface="Cambria"/>
              </a:rPr>
              <a:t>i</a:t>
            </a:r>
            <a:r>
              <a:rPr sz="2100" b="1" i="0">
                <a:solidFill>
                  <a:srgbClr val="6B3FA0"/>
                </a:solidFill>
                <a:latin typeface="Cambria"/>
              </a:rPr>
              <a:t>, </a:t>
            </a:r>
            <a:r>
              <a:rPr sz="2100" b="1" i="1">
                <a:solidFill>
                  <a:srgbClr val="6B3FA0"/>
                </a:solidFill>
                <a:latin typeface="Cambria"/>
              </a:rPr>
              <a:t>c</a:t>
            </a:r>
            <a:r>
              <a:rPr sz="2100" b="1" i="1" baseline="-25000">
                <a:solidFill>
                  <a:srgbClr val="6B3FA0"/>
                </a:solidFill>
                <a:latin typeface="Cambria"/>
              </a:rPr>
              <a:t>i</a:t>
            </a:r>
            <a:r>
              <a:rPr sz="2100" b="1" i="0">
                <a:solidFill>
                  <a:srgbClr val="6B3FA0"/>
                </a:solidFill>
                <a:latin typeface="Cambria"/>
              </a:rPr>
              <a:t>)</a:t>
            </a:r>
          </a:p>
        </p:txBody>
      </p:sp>
      <p:cxnSp>
        <p:nvCxnSpPr>
          <p:cNvPr id="24" name="Connector 23"/>
          <p:cNvCxnSpPr/>
          <p:nvPr/>
        </p:nvCxnSpPr>
        <p:spPr>
          <a:xfrm>
            <a:off x="5120640" y="3017520"/>
            <a:ext cx="1691640" cy="0"/>
          </a:xfrm>
          <a:prstGeom prst="line">
            <a:avLst/>
          </a:prstGeom>
          <a:ln w="25400">
            <a:solidFill>
              <a:srgbClr val="1D5EA8"/>
            </a:solidFill>
            <a:tailEnd type="triangle" w="med" len="med"/>
          </a:ln>
        </p:spPr>
      </p:cxnSp>
      <p:sp>
        <p:nvSpPr>
          <p:cNvPr id="25" name="TextBox 24"/>
          <p:cNvSpPr txBox="1"/>
          <p:nvPr/>
        </p:nvSpPr>
        <p:spPr>
          <a:xfrm>
            <a:off x="5166360" y="2697480"/>
            <a:ext cx="1600200" cy="274320"/>
          </a:xfrm>
          <a:prstGeom prst="rect">
            <a:avLst/>
          </a:prstGeom>
          <a:noFill/>
        </p:spPr>
        <p:txBody>
          <a:bodyPr wrap="square" lIns="0" rIns="0" tIns="0" bIns="0" anchor="t">
            <a:spAutoFit/>
          </a:bodyPr>
          <a:lstStyle/>
          <a:p>
            <a:pPr algn="ctr">
              <a:spcBef>
                <a:spcPts val="0"/>
              </a:spcBef>
              <a:spcAft>
                <a:spcPts val="0"/>
              </a:spcAft>
            </a:pPr>
            <a:r>
              <a:rPr sz="1600" b="1" i="1">
                <a:solidFill>
                  <a:srgbClr val="1D5EA8"/>
                </a:solidFill>
                <a:latin typeface="Cambria"/>
              </a:rPr>
              <a:t>pk</a:t>
            </a:r>
            <a:r>
              <a:rPr sz="1600" b="1" i="1" baseline="-25000">
                <a:solidFill>
                  <a:srgbClr val="1D5EA8"/>
                </a:solidFill>
                <a:latin typeface="Cambria"/>
              </a:rPr>
              <a:t>i</a:t>
            </a:r>
          </a:p>
        </p:txBody>
      </p:sp>
      <p:cxnSp>
        <p:nvCxnSpPr>
          <p:cNvPr id="26" name="Connector 25"/>
          <p:cNvCxnSpPr/>
          <p:nvPr/>
        </p:nvCxnSpPr>
        <p:spPr>
          <a:xfrm flipH="1">
            <a:off x="5120640" y="4023360"/>
            <a:ext cx="1691640" cy="0"/>
          </a:xfrm>
          <a:prstGeom prst="line">
            <a:avLst/>
          </a:prstGeom>
          <a:ln w="25400">
            <a:solidFill>
              <a:srgbClr val="6B3FA0"/>
            </a:solidFill>
            <a:tailEnd type="triangle" w="med" len="med"/>
          </a:ln>
        </p:spPr>
      </p:cxnSp>
      <p:sp>
        <p:nvSpPr>
          <p:cNvPr id="27" name="TextBox 26"/>
          <p:cNvSpPr txBox="1"/>
          <p:nvPr/>
        </p:nvSpPr>
        <p:spPr>
          <a:xfrm>
            <a:off x="5166360" y="3703320"/>
            <a:ext cx="1600200" cy="274320"/>
          </a:xfrm>
          <a:prstGeom prst="rect">
            <a:avLst/>
          </a:prstGeom>
          <a:noFill/>
        </p:spPr>
        <p:txBody>
          <a:bodyPr wrap="square" lIns="0" rIns="0" tIns="0" bIns="0" anchor="t">
            <a:spAutoFit/>
          </a:bodyPr>
          <a:lstStyle/>
          <a:p>
            <a:pPr algn="ctr">
              <a:spcBef>
                <a:spcPts val="0"/>
              </a:spcBef>
              <a:spcAft>
                <a:spcPts val="0"/>
              </a:spcAft>
            </a:pPr>
            <a:r>
              <a:rPr sz="1600" b="1" i="1">
                <a:solidFill>
                  <a:srgbClr val="6B3FA0"/>
                </a:solidFill>
                <a:latin typeface="Cambria"/>
              </a:rPr>
              <a:t>Cert</a:t>
            </a:r>
            <a:r>
              <a:rPr sz="1600" b="1" i="1" baseline="-25000">
                <a:solidFill>
                  <a:srgbClr val="6B3FA0"/>
                </a:solidFill>
                <a:latin typeface="Cambria"/>
              </a:rPr>
              <a:t>i</a:t>
            </a:r>
          </a:p>
        </p:txBody>
      </p:sp>
      <p:sp>
        <p:nvSpPr>
          <p:cNvPr id="28" name="Rounded Rectangle 27"/>
          <p:cNvSpPr/>
          <p:nvPr/>
        </p:nvSpPr>
        <p:spPr>
          <a:xfrm>
            <a:off x="548640" y="4937760"/>
            <a:ext cx="11091672" cy="640080"/>
          </a:xfrm>
          <a:prstGeom prst="roundRect">
            <a:avLst>
              <a:gd name="adj" fmla="val 11428"/>
            </a:avLst>
          </a:prstGeom>
          <a:solidFill>
            <a:srgbClr val="FFFFFF"/>
          </a:solidFill>
          <a:ln w="15875">
            <a:solidFill>
              <a:srgbClr val="D3D9E1"/>
            </a:solidFill>
          </a:ln>
          <a:effectLst/>
        </p:spPr>
        <p:txBody>
          <a:bodyPr rtlCol="0" anchor="ctr" wrap="square" lIns="73152" rIns="73152" tIns="36576" bIns="36576"/>
          <a:lstStyle/>
          <a:p>
            <a:pPr algn="ctr">
              <a:spcBef>
                <a:spcPts val="0"/>
              </a:spcBef>
              <a:spcAft>
                <a:spcPts val="0"/>
              </a:spcAft>
            </a:pPr>
            <a:r>
              <a:rPr sz="1900" b="0" i="0">
                <a:solidFill>
                  <a:srgbClr val="14202E"/>
                </a:solidFill>
                <a:latin typeface="Calibri"/>
              </a:rPr>
              <a:t>Anyone can check a certificate against public values:   </a:t>
            </a:r>
            <a:r>
              <a:rPr sz="1900" b="0" i="1">
                <a:solidFill>
                  <a:srgbClr val="14202E"/>
                </a:solidFill>
                <a:latin typeface="Cambria"/>
              </a:rPr>
              <a:t>c</a:t>
            </a:r>
            <a:r>
              <a:rPr sz="1900" b="0" i="1" baseline="-25000">
                <a:solidFill>
                  <a:srgbClr val="14202E"/>
                </a:solidFill>
                <a:latin typeface="Cambria"/>
              </a:rPr>
              <a:t>i</a:t>
            </a:r>
            <a:r>
              <a:rPr sz="1900" b="0" i="1">
                <a:solidFill>
                  <a:srgbClr val="14202E"/>
                </a:solidFill>
                <a:latin typeface="Cambria"/>
              </a:rPr>
              <a:t>P</a:t>
            </a:r>
            <a:r>
              <a:rPr sz="1900" b="0" i="0">
                <a:solidFill>
                  <a:srgbClr val="14202E"/>
                </a:solidFill>
                <a:latin typeface="Cambria"/>
              </a:rPr>
              <a:t> = </a:t>
            </a:r>
            <a:r>
              <a:rPr sz="1900" b="0" i="1">
                <a:solidFill>
                  <a:srgbClr val="14202E"/>
                </a:solidFill>
                <a:latin typeface="Cambria"/>
              </a:rPr>
              <a:t>R</a:t>
            </a:r>
            <a:r>
              <a:rPr sz="1900" b="0" i="0" baseline="-25000">
                <a:solidFill>
                  <a:srgbClr val="14202E"/>
                </a:solidFill>
                <a:latin typeface="Cambria"/>
              </a:rPr>
              <a:t>1</a:t>
            </a:r>
            <a:r>
              <a:rPr sz="1900" b="0" i="1" baseline="-25000">
                <a:solidFill>
                  <a:srgbClr val="14202E"/>
                </a:solidFill>
                <a:latin typeface="Cambria"/>
              </a:rPr>
              <a:t>i</a:t>
            </a:r>
            <a:r>
              <a:rPr sz="1900" b="0" i="0">
                <a:solidFill>
                  <a:srgbClr val="14202E"/>
                </a:solidFill>
                <a:latin typeface="Cambria"/>
              </a:rPr>
              <a:t> + </a:t>
            </a:r>
            <a:r>
              <a:rPr sz="1900" b="0" i="1">
                <a:solidFill>
                  <a:srgbClr val="14202E"/>
                </a:solidFill>
                <a:latin typeface="Cambria"/>
              </a:rPr>
              <a:t>H</a:t>
            </a:r>
            <a:r>
              <a:rPr sz="1900" b="0" i="0" baseline="-25000">
                <a:solidFill>
                  <a:srgbClr val="14202E"/>
                </a:solidFill>
                <a:latin typeface="Cambria"/>
              </a:rPr>
              <a:t>0</a:t>
            </a:r>
            <a:r>
              <a:rPr sz="1900" b="0" i="0">
                <a:solidFill>
                  <a:srgbClr val="14202E"/>
                </a:solidFill>
                <a:latin typeface="Cambria"/>
              </a:rPr>
              <a:t>(</a:t>
            </a:r>
            <a:r>
              <a:rPr sz="1900" b="0" i="1">
                <a:solidFill>
                  <a:srgbClr val="14202E"/>
                </a:solidFill>
                <a:latin typeface="Cambria"/>
              </a:rPr>
              <a:t>id</a:t>
            </a:r>
            <a:r>
              <a:rPr sz="1900" b="0" i="1" baseline="-25000">
                <a:solidFill>
                  <a:srgbClr val="14202E"/>
                </a:solidFill>
                <a:latin typeface="Cambria"/>
              </a:rPr>
              <a:t>i</a:t>
            </a:r>
            <a:r>
              <a:rPr sz="1900" b="0" i="0">
                <a:solidFill>
                  <a:srgbClr val="14202E"/>
                </a:solidFill>
                <a:latin typeface="Cambria"/>
              </a:rPr>
              <a:t>‖</a:t>
            </a:r>
            <a:r>
              <a:rPr sz="1900" b="0" i="1">
                <a:solidFill>
                  <a:srgbClr val="14202E"/>
                </a:solidFill>
                <a:latin typeface="Cambria"/>
              </a:rPr>
              <a:t>pk</a:t>
            </a:r>
            <a:r>
              <a:rPr sz="1900" b="0" i="1" baseline="-25000">
                <a:solidFill>
                  <a:srgbClr val="14202E"/>
                </a:solidFill>
                <a:latin typeface="Cambria"/>
              </a:rPr>
              <a:t>i</a:t>
            </a:r>
            <a:r>
              <a:rPr sz="1900" b="0" i="0">
                <a:solidFill>
                  <a:srgbClr val="14202E"/>
                </a:solidFill>
                <a:latin typeface="Cambria"/>
              </a:rPr>
              <a:t>)·</a:t>
            </a:r>
            <a:r>
              <a:rPr sz="1900" b="0" i="1">
                <a:solidFill>
                  <a:srgbClr val="14202E"/>
                </a:solidFill>
                <a:latin typeface="Cambria"/>
              </a:rPr>
              <a:t>P</a:t>
            </a:r>
            <a:r>
              <a:rPr sz="1900" b="0" i="1" baseline="30000">
                <a:solidFill>
                  <a:srgbClr val="14202E"/>
                </a:solidFill>
                <a:latin typeface="Cambria"/>
              </a:rPr>
              <a:t>k</a:t>
            </a:r>
            <a:r>
              <a:rPr sz="1900" b="0" i="1" baseline="-25000">
                <a:solidFill>
                  <a:srgbClr val="14202E"/>
                </a:solidFill>
                <a:latin typeface="Cambria"/>
              </a:rPr>
              <a:t>TA</a:t>
            </a:r>
          </a:p>
        </p:txBody>
      </p:sp>
      <p:sp>
        <p:nvSpPr>
          <p:cNvPr id="29" name="Rectangle 28"/>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30" name="TextBox 29"/>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2000" b="1" i="0">
                <a:solidFill>
                  <a:srgbClr val="14202E"/>
                </a:solidFill>
                <a:latin typeface="Calibri"/>
              </a:rPr>
              <a:t>The KGC knows </a:t>
            </a:r>
            <a:r>
              <a:rPr sz="2000" b="1" i="1">
                <a:solidFill>
                  <a:srgbClr val="14202E"/>
                </a:solidFill>
                <a:latin typeface="Cambria"/>
              </a:rPr>
              <a:t>Cert</a:t>
            </a:r>
            <a:r>
              <a:rPr sz="2000" b="1" i="1" baseline="-25000">
                <a:solidFill>
                  <a:srgbClr val="14202E"/>
                </a:solidFill>
                <a:latin typeface="Cambria"/>
              </a:rPr>
              <a:t>i</a:t>
            </a:r>
            <a:r>
              <a:rPr sz="2000" b="1" i="0">
                <a:solidFill>
                  <a:srgbClr val="14202E"/>
                </a:solidFill>
                <a:latin typeface="Calibri"/>
              </a:rPr>
              <a:t> because it made it. Only the sensor knows </a:t>
            </a:r>
            <a:r>
              <a:rPr sz="2000" b="1" i="1">
                <a:solidFill>
                  <a:srgbClr val="14202E"/>
                </a:solidFill>
                <a:latin typeface="Cambria"/>
              </a:rPr>
              <a:t>sk</a:t>
            </a:r>
            <a:r>
              <a:rPr sz="2000" b="1" i="1" baseline="-25000">
                <a:solidFill>
                  <a:srgbClr val="14202E"/>
                </a:solidFill>
                <a:latin typeface="Cambria"/>
              </a:rPr>
              <a:t>i</a:t>
            </a:r>
            <a:r>
              <a:rPr sz="2000" b="1" i="0">
                <a:solidFill>
                  <a:srgbClr val="14202E"/>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II · VERMA ET AL., AS DESCRIBED BY QIAO ET AL. (2/3)</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Signing mixes a fresh nonce, the certificate and the secret key</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8 / 32</a:t>
            </a:r>
          </a:p>
        </p:txBody>
      </p:sp>
      <p:sp>
        <p:nvSpPr>
          <p:cNvPr id="8" name="TextBox 7"/>
          <p:cNvSpPr txBox="1"/>
          <p:nvPr/>
        </p:nvSpPr>
        <p:spPr>
          <a:xfrm>
            <a:off x="548640" y="1691640"/>
            <a:ext cx="5943600" cy="457200"/>
          </a:xfrm>
          <a:prstGeom prst="rect">
            <a:avLst/>
          </a:prstGeom>
          <a:noFill/>
        </p:spPr>
        <p:txBody>
          <a:bodyPr wrap="square" lIns="0" rIns="0" tIns="0" bIns="0" anchor="t">
            <a:spAutoFit/>
          </a:bodyPr>
          <a:lstStyle/>
          <a:p>
            <a:pPr algn="l">
              <a:spcBef>
                <a:spcPts val="0"/>
              </a:spcBef>
              <a:spcAft>
                <a:spcPts val="0"/>
              </a:spcAft>
            </a:pPr>
            <a:r>
              <a:rPr sz="2600" b="0" i="1">
                <a:solidFill>
                  <a:srgbClr val="14202E"/>
                </a:solidFill>
                <a:latin typeface="Cambria"/>
              </a:rPr>
              <a:t>R</a:t>
            </a:r>
            <a:r>
              <a:rPr sz="2600" b="0" i="1" baseline="-25000">
                <a:solidFill>
                  <a:srgbClr val="14202E"/>
                </a:solidFill>
                <a:latin typeface="Cambria"/>
              </a:rPr>
              <a:t>i</a:t>
            </a:r>
            <a:r>
              <a:rPr sz="2600" b="0" i="0">
                <a:solidFill>
                  <a:srgbClr val="14202E"/>
                </a:solidFill>
                <a:latin typeface="Cambria"/>
              </a:rPr>
              <a:t> = </a:t>
            </a:r>
            <a:r>
              <a:rPr sz="2600" b="0" i="1">
                <a:solidFill>
                  <a:srgbClr val="14202E"/>
                </a:solidFill>
                <a:latin typeface="Cambria"/>
              </a:rPr>
              <a:t>R</a:t>
            </a:r>
            <a:r>
              <a:rPr sz="2600" b="0" i="0" baseline="-25000">
                <a:solidFill>
                  <a:srgbClr val="14202E"/>
                </a:solidFill>
                <a:latin typeface="Cambria"/>
              </a:rPr>
              <a:t>1</a:t>
            </a:r>
            <a:r>
              <a:rPr sz="2600" b="0" i="1" baseline="-25000">
                <a:solidFill>
                  <a:srgbClr val="14202E"/>
                </a:solidFill>
                <a:latin typeface="Cambria"/>
              </a:rPr>
              <a:t>i</a:t>
            </a:r>
            <a:r>
              <a:rPr sz="2600" b="0" i="0">
                <a:solidFill>
                  <a:srgbClr val="14202E"/>
                </a:solidFill>
                <a:latin typeface="Cambria"/>
              </a:rPr>
              <a:t> + </a:t>
            </a:r>
            <a:r>
              <a:rPr sz="2600" b="0" i="1">
                <a:solidFill>
                  <a:srgbClr val="14202E"/>
                </a:solidFill>
                <a:latin typeface="Cambria"/>
              </a:rPr>
              <a:t>r</a:t>
            </a:r>
            <a:r>
              <a:rPr sz="2600" b="0" i="0" baseline="-25000">
                <a:solidFill>
                  <a:srgbClr val="14202E"/>
                </a:solidFill>
                <a:latin typeface="Cambria"/>
              </a:rPr>
              <a:t>2</a:t>
            </a:r>
            <a:r>
              <a:rPr sz="2600" b="0" i="1" baseline="-25000">
                <a:solidFill>
                  <a:srgbClr val="14202E"/>
                </a:solidFill>
                <a:latin typeface="Cambria"/>
              </a:rPr>
              <a:t>i</a:t>
            </a:r>
            <a:r>
              <a:rPr sz="2600" b="0" i="1">
                <a:solidFill>
                  <a:srgbClr val="14202E"/>
                </a:solidFill>
                <a:latin typeface="Cambria"/>
              </a:rPr>
              <a:t>P</a:t>
            </a:r>
          </a:p>
        </p:txBody>
      </p:sp>
      <p:sp>
        <p:nvSpPr>
          <p:cNvPr id="9" name="TextBox 8"/>
          <p:cNvSpPr txBox="1"/>
          <p:nvPr/>
        </p:nvSpPr>
        <p:spPr>
          <a:xfrm>
            <a:off x="548640" y="2286000"/>
            <a:ext cx="6766560" cy="457200"/>
          </a:xfrm>
          <a:prstGeom prst="rect">
            <a:avLst/>
          </a:prstGeom>
          <a:noFill/>
        </p:spPr>
        <p:txBody>
          <a:bodyPr wrap="square" lIns="0" rIns="0" tIns="0" bIns="0" anchor="t">
            <a:spAutoFit/>
          </a:bodyPr>
          <a:lstStyle/>
          <a:p>
            <a:pPr algn="l">
              <a:spcBef>
                <a:spcPts val="0"/>
              </a:spcBef>
              <a:spcAft>
                <a:spcPts val="0"/>
              </a:spcAft>
            </a:pPr>
            <a:r>
              <a:rPr sz="2600" b="0" i="1">
                <a:solidFill>
                  <a:srgbClr val="14202E"/>
                </a:solidFill>
                <a:latin typeface="Cambria"/>
              </a:rPr>
              <a:t>v</a:t>
            </a:r>
            <a:r>
              <a:rPr sz="2600" b="0" i="1" baseline="-25000">
                <a:solidFill>
                  <a:srgbClr val="14202E"/>
                </a:solidFill>
                <a:latin typeface="Cambria"/>
              </a:rPr>
              <a:t>i</a:t>
            </a:r>
            <a:r>
              <a:rPr sz="2600" b="0" i="0">
                <a:solidFill>
                  <a:srgbClr val="14202E"/>
                </a:solidFill>
                <a:latin typeface="Cambria"/>
              </a:rPr>
              <a:t> = </a:t>
            </a:r>
            <a:r>
              <a:rPr sz="2600" b="0" i="1">
                <a:solidFill>
                  <a:srgbClr val="14202E"/>
                </a:solidFill>
                <a:latin typeface="Cambria"/>
              </a:rPr>
              <a:t>H</a:t>
            </a:r>
            <a:r>
              <a:rPr sz="2600" b="0" i="0" baseline="-25000">
                <a:solidFill>
                  <a:srgbClr val="14202E"/>
                </a:solidFill>
                <a:latin typeface="Cambria"/>
              </a:rPr>
              <a:t>1</a:t>
            </a:r>
            <a:r>
              <a:rPr sz="2600" b="0" i="0">
                <a:solidFill>
                  <a:srgbClr val="14202E"/>
                </a:solidFill>
                <a:latin typeface="Cambria"/>
              </a:rPr>
              <a:t>(</a:t>
            </a:r>
            <a:r>
              <a:rPr sz="2600" b="0" i="1">
                <a:solidFill>
                  <a:srgbClr val="14202E"/>
                </a:solidFill>
                <a:latin typeface="Cambria"/>
              </a:rPr>
              <a:t>m</a:t>
            </a:r>
            <a:r>
              <a:rPr sz="2600" b="0" i="1" baseline="-25000">
                <a:solidFill>
                  <a:srgbClr val="14202E"/>
                </a:solidFill>
                <a:latin typeface="Cambria"/>
              </a:rPr>
              <a:t>i</a:t>
            </a:r>
            <a:r>
              <a:rPr sz="2600" b="0" i="0">
                <a:solidFill>
                  <a:srgbClr val="14202E"/>
                </a:solidFill>
                <a:latin typeface="Cambria"/>
              </a:rPr>
              <a:t>‖</a:t>
            </a:r>
            <a:r>
              <a:rPr sz="2600" b="0" i="1">
                <a:solidFill>
                  <a:srgbClr val="14202E"/>
                </a:solidFill>
                <a:latin typeface="Cambria"/>
              </a:rPr>
              <a:t>pk</a:t>
            </a:r>
            <a:r>
              <a:rPr sz="2600" b="0" i="1" baseline="-25000">
                <a:solidFill>
                  <a:srgbClr val="14202E"/>
                </a:solidFill>
                <a:latin typeface="Cambria"/>
              </a:rPr>
              <a:t>i</a:t>
            </a:r>
            <a:r>
              <a:rPr sz="2600" b="0" i="0">
                <a:solidFill>
                  <a:srgbClr val="14202E"/>
                </a:solidFill>
                <a:latin typeface="Cambria"/>
              </a:rPr>
              <a:t>‖</a:t>
            </a:r>
            <a:r>
              <a:rPr sz="2600" b="0" i="1">
                <a:solidFill>
                  <a:srgbClr val="14202E"/>
                </a:solidFill>
                <a:latin typeface="Cambria"/>
              </a:rPr>
              <a:t>id</a:t>
            </a:r>
            <a:r>
              <a:rPr sz="2600" b="0" i="1" baseline="-25000">
                <a:solidFill>
                  <a:srgbClr val="14202E"/>
                </a:solidFill>
                <a:latin typeface="Cambria"/>
              </a:rPr>
              <a:t>i</a:t>
            </a:r>
            <a:r>
              <a:rPr sz="2600" b="0" i="0">
                <a:solidFill>
                  <a:srgbClr val="14202E"/>
                </a:solidFill>
                <a:latin typeface="Cambria"/>
              </a:rPr>
              <a:t>‖Δ)</a:t>
            </a:r>
          </a:p>
        </p:txBody>
      </p:sp>
      <p:sp>
        <p:nvSpPr>
          <p:cNvPr id="10" name="TextBox 9"/>
          <p:cNvSpPr txBox="1"/>
          <p:nvPr/>
        </p:nvSpPr>
        <p:spPr>
          <a:xfrm>
            <a:off x="548640" y="2880360"/>
            <a:ext cx="6766560" cy="457200"/>
          </a:xfrm>
          <a:prstGeom prst="rect">
            <a:avLst/>
          </a:prstGeom>
          <a:noFill/>
        </p:spPr>
        <p:txBody>
          <a:bodyPr wrap="square" lIns="0" rIns="0" tIns="0" bIns="0" anchor="t">
            <a:spAutoFit/>
          </a:bodyPr>
          <a:lstStyle/>
          <a:p>
            <a:pPr algn="l">
              <a:spcBef>
                <a:spcPts val="0"/>
              </a:spcBef>
              <a:spcAft>
                <a:spcPts val="0"/>
              </a:spcAft>
            </a:pPr>
            <a:r>
              <a:rPr sz="2800" b="0" i="1">
                <a:solidFill>
                  <a:srgbClr val="14202E"/>
                </a:solidFill>
                <a:latin typeface="Cambria"/>
              </a:rPr>
              <a:t>z</a:t>
            </a:r>
            <a:r>
              <a:rPr sz="2800" b="0" i="1" baseline="-25000">
                <a:solidFill>
                  <a:srgbClr val="14202E"/>
                </a:solidFill>
                <a:latin typeface="Cambria"/>
              </a:rPr>
              <a:t>i</a:t>
            </a:r>
            <a:r>
              <a:rPr sz="2800" b="0" i="0">
                <a:solidFill>
                  <a:srgbClr val="14202E"/>
                </a:solidFill>
                <a:latin typeface="Cambria"/>
              </a:rPr>
              <a:t> = </a:t>
            </a:r>
            <a:r>
              <a:rPr sz="2800" b="0" i="1">
                <a:solidFill>
                  <a:srgbClr val="1D5EA8"/>
                </a:solidFill>
                <a:latin typeface="Cambria"/>
              </a:rPr>
              <a:t>r</a:t>
            </a:r>
            <a:r>
              <a:rPr sz="2800" b="0" i="0" baseline="-25000">
                <a:solidFill>
                  <a:srgbClr val="1D5EA8"/>
                </a:solidFill>
                <a:latin typeface="Cambria"/>
              </a:rPr>
              <a:t>2</a:t>
            </a:r>
            <a:r>
              <a:rPr sz="2800" b="0" i="1" baseline="-25000">
                <a:solidFill>
                  <a:srgbClr val="1D5EA8"/>
                </a:solidFill>
                <a:latin typeface="Cambria"/>
              </a:rPr>
              <a:t>i</a:t>
            </a:r>
            <a:r>
              <a:rPr sz="2800" b="0" i="0">
                <a:solidFill>
                  <a:srgbClr val="14202E"/>
                </a:solidFill>
                <a:latin typeface="Cambria"/>
              </a:rPr>
              <a:t> + </a:t>
            </a:r>
            <a:r>
              <a:rPr sz="2800" b="0" i="1">
                <a:solidFill>
                  <a:srgbClr val="6B3FA0"/>
                </a:solidFill>
                <a:latin typeface="Cambria"/>
              </a:rPr>
              <a:t>c</a:t>
            </a:r>
            <a:r>
              <a:rPr sz="2800" b="0" i="1" baseline="-25000">
                <a:solidFill>
                  <a:srgbClr val="6B3FA0"/>
                </a:solidFill>
                <a:latin typeface="Cambria"/>
              </a:rPr>
              <a:t>i</a:t>
            </a:r>
            <a:r>
              <a:rPr sz="2800" b="0" i="0">
                <a:solidFill>
                  <a:srgbClr val="14202E"/>
                </a:solidFill>
                <a:latin typeface="Cambria"/>
              </a:rPr>
              <a:t> + </a:t>
            </a:r>
            <a:r>
              <a:rPr sz="2800" b="0" i="1">
                <a:solidFill>
                  <a:srgbClr val="1D5EA8"/>
                </a:solidFill>
                <a:latin typeface="Cambria"/>
              </a:rPr>
              <a:t>sk</a:t>
            </a:r>
            <a:r>
              <a:rPr sz="2800" b="0" i="1" baseline="-25000">
                <a:solidFill>
                  <a:srgbClr val="1D5EA8"/>
                </a:solidFill>
                <a:latin typeface="Cambria"/>
              </a:rPr>
              <a:t>i</a:t>
            </a:r>
            <a:r>
              <a:rPr sz="2800" b="0" i="1">
                <a:solidFill>
                  <a:srgbClr val="1D5EA8"/>
                </a:solidFill>
                <a:latin typeface="Cambria"/>
              </a:rPr>
              <a:t>v</a:t>
            </a:r>
            <a:r>
              <a:rPr sz="2800" b="0" i="1" baseline="-25000">
                <a:solidFill>
                  <a:srgbClr val="1D5EA8"/>
                </a:solidFill>
                <a:latin typeface="Cambria"/>
              </a:rPr>
              <a:t>i</a:t>
            </a:r>
          </a:p>
        </p:txBody>
      </p:sp>
      <p:sp>
        <p:nvSpPr>
          <p:cNvPr id="11" name="TextBox 10"/>
          <p:cNvSpPr txBox="1"/>
          <p:nvPr/>
        </p:nvSpPr>
        <p:spPr>
          <a:xfrm>
            <a:off x="548640" y="3474720"/>
            <a:ext cx="5943600" cy="457200"/>
          </a:xfrm>
          <a:prstGeom prst="rect">
            <a:avLst/>
          </a:prstGeom>
          <a:noFill/>
        </p:spPr>
        <p:txBody>
          <a:bodyPr wrap="square" lIns="0" rIns="0" tIns="0" bIns="0" anchor="t">
            <a:spAutoFit/>
          </a:bodyPr>
          <a:lstStyle/>
          <a:p>
            <a:pPr algn="l">
              <a:spcBef>
                <a:spcPts val="0"/>
              </a:spcBef>
              <a:spcAft>
                <a:spcPts val="0"/>
              </a:spcAft>
            </a:pPr>
            <a:r>
              <a:rPr sz="2600" b="0" i="1">
                <a:solidFill>
                  <a:srgbClr val="14202E"/>
                </a:solidFill>
                <a:latin typeface="Cambria"/>
              </a:rPr>
              <a:t>δ</a:t>
            </a:r>
            <a:r>
              <a:rPr sz="2600" b="0" i="1" baseline="-25000">
                <a:solidFill>
                  <a:srgbClr val="14202E"/>
                </a:solidFill>
                <a:latin typeface="Cambria"/>
              </a:rPr>
              <a:t>i</a:t>
            </a:r>
            <a:r>
              <a:rPr sz="2600" b="0" i="0">
                <a:solidFill>
                  <a:srgbClr val="14202E"/>
                </a:solidFill>
                <a:latin typeface="Cambria"/>
              </a:rPr>
              <a:t> = (</a:t>
            </a:r>
            <a:r>
              <a:rPr sz="2600" b="0" i="1">
                <a:solidFill>
                  <a:srgbClr val="14202E"/>
                </a:solidFill>
                <a:latin typeface="Cambria"/>
              </a:rPr>
              <a:t>R</a:t>
            </a:r>
            <a:r>
              <a:rPr sz="2600" b="0" i="1" baseline="-25000">
                <a:solidFill>
                  <a:srgbClr val="14202E"/>
                </a:solidFill>
                <a:latin typeface="Cambria"/>
              </a:rPr>
              <a:t>i</a:t>
            </a:r>
            <a:r>
              <a:rPr sz="2600" b="0" i="0">
                <a:solidFill>
                  <a:srgbClr val="14202E"/>
                </a:solidFill>
                <a:latin typeface="Cambria"/>
              </a:rPr>
              <a:t>, </a:t>
            </a:r>
            <a:r>
              <a:rPr sz="2600" b="0" i="1">
                <a:solidFill>
                  <a:srgbClr val="14202E"/>
                </a:solidFill>
                <a:latin typeface="Cambria"/>
              </a:rPr>
              <a:t>z</a:t>
            </a:r>
            <a:r>
              <a:rPr sz="2600" b="0" i="1" baseline="-25000">
                <a:solidFill>
                  <a:srgbClr val="14202E"/>
                </a:solidFill>
                <a:latin typeface="Cambria"/>
              </a:rPr>
              <a:t>i</a:t>
            </a:r>
            <a:r>
              <a:rPr sz="2600" b="0" i="0">
                <a:solidFill>
                  <a:srgbClr val="14202E"/>
                </a:solidFill>
                <a:latin typeface="Cambria"/>
              </a:rPr>
              <a:t>)</a:t>
            </a:r>
          </a:p>
        </p:txBody>
      </p:sp>
      <p:sp>
        <p:nvSpPr>
          <p:cNvPr id="12" name="TextBox 11"/>
          <p:cNvSpPr txBox="1"/>
          <p:nvPr/>
        </p:nvSpPr>
        <p:spPr>
          <a:xfrm>
            <a:off x="7680960" y="1664208"/>
            <a:ext cx="393192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WHO KNOWS EACH TERM OF </a:t>
            </a:r>
            <a:r>
              <a:rPr sz="1150" b="1" i="1" spc="100">
                <a:solidFill>
                  <a:srgbClr val="5B6675"/>
                </a:solidFill>
                <a:latin typeface="Cambria"/>
              </a:rPr>
              <a:t>z</a:t>
            </a:r>
            <a:r>
              <a:rPr sz="1150" b="1" i="1" baseline="-25000" spc="100">
                <a:solidFill>
                  <a:srgbClr val="5B6675"/>
                </a:solidFill>
                <a:latin typeface="Cambria"/>
              </a:rPr>
              <a:t>i</a:t>
            </a:r>
          </a:p>
        </p:txBody>
      </p:sp>
      <p:sp>
        <p:nvSpPr>
          <p:cNvPr id="13" name="Rounded Rectangle 12"/>
          <p:cNvSpPr/>
          <p:nvPr/>
        </p:nvSpPr>
        <p:spPr>
          <a:xfrm>
            <a:off x="7680960" y="2011680"/>
            <a:ext cx="3959352" cy="566928"/>
          </a:xfrm>
          <a:prstGeom prst="roundRect">
            <a:avLst>
              <a:gd name="adj" fmla="val 19354"/>
            </a:avLst>
          </a:prstGeom>
          <a:solidFill>
            <a:srgbClr val="E4EEF9"/>
          </a:solidFill>
          <a:ln w="15240">
            <a:solidFill>
              <a:srgbClr val="1D5EA8"/>
            </a:solidFill>
            <a:prstDash val="dash"/>
          </a:ln>
          <a:effectLst/>
        </p:spPr>
        <p:txBody>
          <a:bodyPr rtlCol="0" anchor="ctr" wrap="square" lIns="182880" rIns="182880" tIns="36576" bIns="36576"/>
          <a:lstStyle/>
          <a:p>
            <a:pPr algn="l">
              <a:spcBef>
                <a:spcPts val="0"/>
              </a:spcBef>
              <a:spcAft>
                <a:spcPts val="0"/>
              </a:spcAft>
            </a:pPr>
            <a:r>
              <a:rPr sz="1600" b="0" i="1">
                <a:solidFill>
                  <a:srgbClr val="14202E"/>
                </a:solidFill>
                <a:latin typeface="Cambria"/>
              </a:rPr>
              <a:t>r</a:t>
            </a:r>
            <a:r>
              <a:rPr sz="1600" b="0" i="0" baseline="-25000">
                <a:solidFill>
                  <a:srgbClr val="14202E"/>
                </a:solidFill>
                <a:latin typeface="Cambria"/>
              </a:rPr>
              <a:t>2</a:t>
            </a:r>
            <a:r>
              <a:rPr sz="1600" b="0" i="1" baseline="-25000">
                <a:solidFill>
                  <a:srgbClr val="14202E"/>
                </a:solidFill>
                <a:latin typeface="Cambria"/>
              </a:rPr>
              <a:t>i</a:t>
            </a:r>
            <a:r>
              <a:rPr sz="1600" b="0" i="0">
                <a:solidFill>
                  <a:srgbClr val="14202E"/>
                </a:solidFill>
                <a:latin typeface="Calibri"/>
              </a:rPr>
              <a:t>   fresh nonce</a:t>
            </a:r>
          </a:p>
          <a:p>
            <a:pPr algn="l">
              <a:spcBef>
                <a:spcPts val="0"/>
              </a:spcBef>
              <a:spcAft>
                <a:spcPts val="0"/>
              </a:spcAft>
            </a:pPr>
            <a:r>
              <a:rPr sz="1250" b="0" i="0">
                <a:solidFill>
                  <a:srgbClr val="5B6675"/>
                </a:solidFill>
                <a:latin typeface="Calibri"/>
              </a:rPr>
              <a:t>sensor only</a:t>
            </a:r>
          </a:p>
        </p:txBody>
      </p:sp>
      <p:sp>
        <p:nvSpPr>
          <p:cNvPr id="14" name="Rounded Rectangle 13"/>
          <p:cNvSpPr/>
          <p:nvPr/>
        </p:nvSpPr>
        <p:spPr>
          <a:xfrm>
            <a:off x="7680960" y="2743200"/>
            <a:ext cx="3959352" cy="566928"/>
          </a:xfrm>
          <a:prstGeom prst="roundRect">
            <a:avLst>
              <a:gd name="adj" fmla="val 19354"/>
            </a:avLst>
          </a:prstGeom>
          <a:solidFill>
            <a:srgbClr val="EFE8F8"/>
          </a:solidFill>
          <a:ln w="15240">
            <a:solidFill>
              <a:srgbClr val="6B3FA0"/>
            </a:solidFill>
          </a:ln>
          <a:effectLst/>
        </p:spPr>
        <p:txBody>
          <a:bodyPr rtlCol="0" anchor="ctr" wrap="square" lIns="182880" rIns="182880" tIns="36576" bIns="36576"/>
          <a:lstStyle/>
          <a:p>
            <a:pPr algn="l">
              <a:spcBef>
                <a:spcPts val="0"/>
              </a:spcBef>
              <a:spcAft>
                <a:spcPts val="0"/>
              </a:spcAft>
            </a:pPr>
            <a:r>
              <a:rPr sz="1600" b="0" i="1">
                <a:solidFill>
                  <a:srgbClr val="14202E"/>
                </a:solidFill>
                <a:latin typeface="Cambria"/>
              </a:rPr>
              <a:t>c</a:t>
            </a:r>
            <a:r>
              <a:rPr sz="1600" b="0" i="1" baseline="-25000">
                <a:solidFill>
                  <a:srgbClr val="14202E"/>
                </a:solidFill>
                <a:latin typeface="Cambria"/>
              </a:rPr>
              <a:t>i</a:t>
            </a:r>
            <a:r>
              <a:rPr sz="1600" b="0" i="0">
                <a:solidFill>
                  <a:srgbClr val="14202E"/>
                </a:solidFill>
                <a:latin typeface="Calibri"/>
              </a:rPr>
              <a:t>   certificate</a:t>
            </a:r>
          </a:p>
          <a:p>
            <a:pPr algn="l">
              <a:spcBef>
                <a:spcPts val="0"/>
              </a:spcBef>
              <a:spcAft>
                <a:spcPts val="0"/>
              </a:spcAft>
            </a:pPr>
            <a:r>
              <a:rPr sz="1250" b="0" i="0">
                <a:solidFill>
                  <a:srgbClr val="5B6675"/>
                </a:solidFill>
                <a:latin typeface="Calibri"/>
              </a:rPr>
              <a:t>the KGC knows it too</a:t>
            </a:r>
          </a:p>
        </p:txBody>
      </p:sp>
      <p:sp>
        <p:nvSpPr>
          <p:cNvPr id="15" name="Rounded Rectangle 14"/>
          <p:cNvSpPr/>
          <p:nvPr/>
        </p:nvSpPr>
        <p:spPr>
          <a:xfrm>
            <a:off x="7680960" y="3474720"/>
            <a:ext cx="3959352" cy="566928"/>
          </a:xfrm>
          <a:prstGeom prst="roundRect">
            <a:avLst>
              <a:gd name="adj" fmla="val 19354"/>
            </a:avLst>
          </a:prstGeom>
          <a:solidFill>
            <a:srgbClr val="E4EEF9"/>
          </a:solidFill>
          <a:ln w="15240">
            <a:solidFill>
              <a:srgbClr val="1D5EA8"/>
            </a:solidFill>
          </a:ln>
          <a:effectLst/>
        </p:spPr>
        <p:txBody>
          <a:bodyPr rtlCol="0" anchor="ctr" wrap="square" lIns="182880" rIns="182880" tIns="36576" bIns="36576"/>
          <a:lstStyle/>
          <a:p>
            <a:pPr algn="l">
              <a:spcBef>
                <a:spcPts val="0"/>
              </a:spcBef>
              <a:spcAft>
                <a:spcPts val="0"/>
              </a:spcAft>
            </a:pPr>
            <a:r>
              <a:rPr sz="1600" b="0" i="1">
                <a:solidFill>
                  <a:srgbClr val="14202E"/>
                </a:solidFill>
                <a:latin typeface="Cambria"/>
              </a:rPr>
              <a:t>sk</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v</a:t>
            </a:r>
            <a:r>
              <a:rPr sz="1600" b="0" i="1" baseline="-25000">
                <a:solidFill>
                  <a:srgbClr val="14202E"/>
                </a:solidFill>
                <a:latin typeface="Cambria"/>
              </a:rPr>
              <a:t>i</a:t>
            </a:r>
            <a:r>
              <a:rPr sz="1600" b="0" i="0">
                <a:solidFill>
                  <a:srgbClr val="14202E"/>
                </a:solidFill>
                <a:latin typeface="Calibri"/>
              </a:rPr>
              <a:t>   secret key × hash</a:t>
            </a:r>
          </a:p>
          <a:p>
            <a:pPr algn="l">
              <a:spcBef>
                <a:spcPts val="0"/>
              </a:spcBef>
              <a:spcAft>
                <a:spcPts val="0"/>
              </a:spcAft>
            </a:pPr>
            <a:r>
              <a:rPr sz="1250" b="0" i="1">
                <a:solidFill>
                  <a:srgbClr val="5B6675"/>
                </a:solidFill>
                <a:latin typeface="Cambria"/>
              </a:rPr>
              <a:t>sk</a:t>
            </a:r>
            <a:r>
              <a:rPr sz="1250" b="0" i="1" baseline="-25000">
                <a:solidFill>
                  <a:srgbClr val="5B6675"/>
                </a:solidFill>
                <a:latin typeface="Cambria"/>
              </a:rPr>
              <a:t>i</a:t>
            </a:r>
            <a:r>
              <a:rPr sz="1250" b="0" i="0">
                <a:solidFill>
                  <a:srgbClr val="5B6675"/>
                </a:solidFill>
                <a:latin typeface="Calibri"/>
              </a:rPr>
              <a:t> sensor only; </a:t>
            </a:r>
            <a:r>
              <a:rPr sz="1250" b="0" i="1">
                <a:solidFill>
                  <a:srgbClr val="5B6675"/>
                </a:solidFill>
                <a:latin typeface="Cambria"/>
              </a:rPr>
              <a:t>v</a:t>
            </a:r>
            <a:r>
              <a:rPr sz="1250" b="0" i="1" baseline="-25000">
                <a:solidFill>
                  <a:srgbClr val="5B6675"/>
                </a:solidFill>
                <a:latin typeface="Cambria"/>
              </a:rPr>
              <a:t>i</a:t>
            </a:r>
            <a:r>
              <a:rPr sz="1250" b="0" i="0">
                <a:solidFill>
                  <a:srgbClr val="5B6675"/>
                </a:solidFill>
                <a:latin typeface="Calibri"/>
              </a:rPr>
              <a:t> anyone</a:t>
            </a:r>
          </a:p>
        </p:txBody>
      </p:sp>
      <p:sp>
        <p:nvSpPr>
          <p:cNvPr id="16" name="Rounded Rectangle 15"/>
          <p:cNvSpPr/>
          <p:nvPr/>
        </p:nvSpPr>
        <p:spPr>
          <a:xfrm>
            <a:off x="548640" y="4297680"/>
            <a:ext cx="11091672" cy="1280160"/>
          </a:xfrm>
          <a:prstGeom prst="roundRect">
            <a:avLst>
              <a:gd name="adj" fmla="val 7142"/>
            </a:avLst>
          </a:prstGeom>
          <a:solidFill>
            <a:srgbClr val="F2F5F8"/>
          </a:solidFill>
          <a:ln>
            <a:noFill/>
          </a:ln>
          <a:effectLst/>
        </p:spPr>
        <p:txBody>
          <a:bodyPr rtlCol="0" anchor="ctr" wrap="square" lIns="73152" rIns="73152" tIns="36576" bIns="36576"/>
          <a:lstStyle/>
          <a:p>
            <a:pPr algn="ctr"/>
          </a:p>
        </p:txBody>
      </p:sp>
      <p:sp>
        <p:nvSpPr>
          <p:cNvPr id="17" name="TextBox 16"/>
          <p:cNvSpPr txBox="1"/>
          <p:nvPr/>
        </p:nvSpPr>
        <p:spPr>
          <a:xfrm>
            <a:off x="777240" y="4370832"/>
            <a:ext cx="457200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WHAT GOES INTO THE HASH </a:t>
            </a:r>
            <a:r>
              <a:rPr sz="1150" b="1" i="1" spc="100">
                <a:solidFill>
                  <a:srgbClr val="5B6675"/>
                </a:solidFill>
                <a:latin typeface="Cambria"/>
              </a:rPr>
              <a:t>v</a:t>
            </a:r>
            <a:r>
              <a:rPr sz="1150" b="1" i="1" baseline="-25000" spc="100">
                <a:solidFill>
                  <a:srgbClr val="5B6675"/>
                </a:solidFill>
                <a:latin typeface="Cambria"/>
              </a:rPr>
              <a:t>i</a:t>
            </a:r>
          </a:p>
        </p:txBody>
      </p:sp>
      <p:sp>
        <p:nvSpPr>
          <p:cNvPr id="18" name="Rounded Rectangle 17"/>
          <p:cNvSpPr/>
          <p:nvPr/>
        </p:nvSpPr>
        <p:spPr>
          <a:xfrm>
            <a:off x="777240" y="4709160"/>
            <a:ext cx="1051560" cy="457200"/>
          </a:xfrm>
          <a:prstGeom prst="roundRect">
            <a:avLst>
              <a:gd name="adj" fmla="val 24000"/>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700" b="0" i="1">
                <a:solidFill>
                  <a:srgbClr val="14202E"/>
                </a:solidFill>
                <a:latin typeface="Cambria"/>
              </a:rPr>
              <a:t>m</a:t>
            </a:r>
            <a:r>
              <a:rPr sz="1700" b="0" i="1" baseline="-25000">
                <a:solidFill>
                  <a:srgbClr val="14202E"/>
                </a:solidFill>
                <a:latin typeface="Cambria"/>
              </a:rPr>
              <a:t>i</a:t>
            </a:r>
          </a:p>
        </p:txBody>
      </p:sp>
      <p:sp>
        <p:nvSpPr>
          <p:cNvPr id="19" name="Rounded Rectangle 18"/>
          <p:cNvSpPr/>
          <p:nvPr/>
        </p:nvSpPr>
        <p:spPr>
          <a:xfrm>
            <a:off x="1965960" y="4709160"/>
            <a:ext cx="1051560" cy="457200"/>
          </a:xfrm>
          <a:prstGeom prst="roundRect">
            <a:avLst>
              <a:gd name="adj" fmla="val 24000"/>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700" b="0" i="1">
                <a:solidFill>
                  <a:srgbClr val="14202E"/>
                </a:solidFill>
                <a:latin typeface="Cambria"/>
              </a:rPr>
              <a:t>pk</a:t>
            </a:r>
            <a:r>
              <a:rPr sz="1700" b="0" i="1" baseline="-25000">
                <a:solidFill>
                  <a:srgbClr val="14202E"/>
                </a:solidFill>
                <a:latin typeface="Cambria"/>
              </a:rPr>
              <a:t>i</a:t>
            </a:r>
          </a:p>
        </p:txBody>
      </p:sp>
      <p:sp>
        <p:nvSpPr>
          <p:cNvPr id="20" name="Rounded Rectangle 19"/>
          <p:cNvSpPr/>
          <p:nvPr/>
        </p:nvSpPr>
        <p:spPr>
          <a:xfrm>
            <a:off x="3154680" y="4709160"/>
            <a:ext cx="1051560" cy="457200"/>
          </a:xfrm>
          <a:prstGeom prst="roundRect">
            <a:avLst>
              <a:gd name="adj" fmla="val 24000"/>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700" b="0" i="1">
                <a:solidFill>
                  <a:srgbClr val="14202E"/>
                </a:solidFill>
                <a:latin typeface="Cambria"/>
              </a:rPr>
              <a:t>id</a:t>
            </a:r>
            <a:r>
              <a:rPr sz="1700" b="0" i="1" baseline="-25000">
                <a:solidFill>
                  <a:srgbClr val="14202E"/>
                </a:solidFill>
                <a:latin typeface="Cambria"/>
              </a:rPr>
              <a:t>i</a:t>
            </a:r>
          </a:p>
        </p:txBody>
      </p:sp>
      <p:sp>
        <p:nvSpPr>
          <p:cNvPr id="21" name="Rounded Rectangle 20"/>
          <p:cNvSpPr/>
          <p:nvPr/>
        </p:nvSpPr>
        <p:spPr>
          <a:xfrm>
            <a:off x="4343400" y="4709160"/>
            <a:ext cx="1051560" cy="457200"/>
          </a:xfrm>
          <a:prstGeom prst="roundRect">
            <a:avLst>
              <a:gd name="adj" fmla="val 24000"/>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700" b="0" i="0">
                <a:solidFill>
                  <a:srgbClr val="14202E"/>
                </a:solidFill>
                <a:latin typeface="Cambria"/>
              </a:rPr>
              <a:t>Δ</a:t>
            </a:r>
          </a:p>
        </p:txBody>
      </p:sp>
      <p:cxnSp>
        <p:nvCxnSpPr>
          <p:cNvPr id="22" name="Connector 21"/>
          <p:cNvCxnSpPr/>
          <p:nvPr/>
        </p:nvCxnSpPr>
        <p:spPr>
          <a:xfrm>
            <a:off x="5440680" y="4937760"/>
            <a:ext cx="457200" cy="0"/>
          </a:xfrm>
          <a:prstGeom prst="line">
            <a:avLst/>
          </a:prstGeom>
          <a:ln w="25400">
            <a:solidFill>
              <a:srgbClr val="14202E"/>
            </a:solidFill>
            <a:tailEnd type="triangle" w="med" len="med"/>
          </a:ln>
        </p:spPr>
      </p:cxnSp>
      <p:sp>
        <p:nvSpPr>
          <p:cNvPr id="23" name="Rounded Rectangle 22"/>
          <p:cNvSpPr/>
          <p:nvPr/>
        </p:nvSpPr>
        <p:spPr>
          <a:xfrm>
            <a:off x="5897880" y="4709160"/>
            <a:ext cx="822960" cy="457200"/>
          </a:xfrm>
          <a:prstGeom prst="roundRect">
            <a:avLst>
              <a:gd name="adj" fmla="val 12000"/>
            </a:avLst>
          </a:prstGeom>
          <a:solidFill>
            <a:srgbClr val="FFFFFF"/>
          </a:solidFill>
          <a:ln w="19050">
            <a:solidFill>
              <a:srgbClr val="14202E"/>
            </a:solidFill>
          </a:ln>
          <a:effectLst/>
        </p:spPr>
        <p:txBody>
          <a:bodyPr rtlCol="0" anchor="ctr" wrap="square" lIns="73152" rIns="73152" tIns="36576" bIns="36576"/>
          <a:lstStyle/>
          <a:p>
            <a:pPr algn="ctr">
              <a:spcBef>
                <a:spcPts val="0"/>
              </a:spcBef>
              <a:spcAft>
                <a:spcPts val="0"/>
              </a:spcAft>
            </a:pPr>
            <a:r>
              <a:rPr sz="1800" b="1" i="1">
                <a:solidFill>
                  <a:srgbClr val="14202E"/>
                </a:solidFill>
                <a:latin typeface="Cambria"/>
              </a:rPr>
              <a:t>H</a:t>
            </a:r>
            <a:r>
              <a:rPr sz="1800" b="1" i="0" baseline="-25000">
                <a:solidFill>
                  <a:srgbClr val="14202E"/>
                </a:solidFill>
                <a:latin typeface="Cambria"/>
              </a:rPr>
              <a:t>1</a:t>
            </a:r>
          </a:p>
        </p:txBody>
      </p:sp>
      <p:sp>
        <p:nvSpPr>
          <p:cNvPr id="24" name="Rounded Rectangle 23"/>
          <p:cNvSpPr/>
          <p:nvPr/>
        </p:nvSpPr>
        <p:spPr>
          <a:xfrm>
            <a:off x="6812280" y="4709160"/>
            <a:ext cx="2606040" cy="457200"/>
          </a:xfrm>
          <a:prstGeom prst="roundRect">
            <a:avLst>
              <a:gd name="adj" fmla="val 24000"/>
            </a:avLst>
          </a:prstGeom>
          <a:solidFill>
            <a:srgbClr val="FCE9E7"/>
          </a:solidFill>
          <a:ln w="15240">
            <a:solidFill>
              <a:srgbClr val="B3261E"/>
            </a:solidFill>
            <a:prstDash val="dash"/>
          </a:ln>
          <a:effectLst/>
        </p:spPr>
        <p:txBody>
          <a:bodyPr rtlCol="0" anchor="ctr" wrap="square" lIns="73152" rIns="73152" tIns="36576" bIns="36576"/>
          <a:lstStyle/>
          <a:p>
            <a:pPr algn="ctr">
              <a:spcBef>
                <a:spcPts val="0"/>
              </a:spcBef>
              <a:spcAft>
                <a:spcPts val="0"/>
              </a:spcAft>
            </a:pPr>
            <a:r>
              <a:rPr sz="1500" b="1" i="1">
                <a:solidFill>
                  <a:srgbClr val="14202E"/>
                </a:solidFill>
                <a:latin typeface="Cambria"/>
              </a:rPr>
              <a:t>R</a:t>
            </a:r>
            <a:r>
              <a:rPr sz="1500" b="1" i="1" baseline="-25000">
                <a:solidFill>
                  <a:srgbClr val="14202E"/>
                </a:solidFill>
                <a:latin typeface="Cambria"/>
              </a:rPr>
              <a:t>i</a:t>
            </a:r>
            <a:r>
              <a:rPr sz="1500" b="1" i="0">
                <a:solidFill>
                  <a:srgbClr val="14202E"/>
                </a:solidFill>
                <a:latin typeface="Calibri"/>
              </a:rPr>
              <a:t>, </a:t>
            </a:r>
            <a:r>
              <a:rPr sz="1500" b="1" i="1">
                <a:solidFill>
                  <a:srgbClr val="14202E"/>
                </a:solidFill>
                <a:latin typeface="Cambria"/>
              </a:rPr>
              <a:t>r</a:t>
            </a:r>
            <a:r>
              <a:rPr sz="1500" b="1" i="0" baseline="-25000">
                <a:solidFill>
                  <a:srgbClr val="14202E"/>
                </a:solidFill>
                <a:latin typeface="Cambria"/>
              </a:rPr>
              <a:t>2</a:t>
            </a:r>
            <a:r>
              <a:rPr sz="1500" b="1" i="1" baseline="-25000">
                <a:solidFill>
                  <a:srgbClr val="14202E"/>
                </a:solidFill>
                <a:latin typeface="Cambria"/>
              </a:rPr>
              <a:t>i</a:t>
            </a:r>
            <a:r>
              <a:rPr sz="1500" b="1" i="0">
                <a:solidFill>
                  <a:srgbClr val="14202E"/>
                </a:solidFill>
                <a:latin typeface="Calibri"/>
              </a:rPr>
              <a:t> are not inputs</a:t>
            </a:r>
          </a:p>
        </p:txBody>
      </p:sp>
      <p:sp>
        <p:nvSpPr>
          <p:cNvPr id="25" name="Rectangle 24"/>
          <p:cNvSpPr/>
          <p:nvPr/>
        </p:nvSpPr>
        <p:spPr>
          <a:xfrm>
            <a:off x="548640" y="5760720"/>
            <a:ext cx="82296" cy="566928"/>
          </a:xfrm>
          <a:prstGeom prst="rect">
            <a:avLst/>
          </a:prstGeom>
          <a:solidFill>
            <a:srgbClr val="B3261E"/>
          </a:solidFill>
          <a:ln>
            <a:noFill/>
          </a:ln>
          <a:effectLst/>
        </p:spPr>
        <p:txBody>
          <a:bodyPr rtlCol="0" anchor="ctr" wrap="square" lIns="73152" rIns="73152" tIns="36576" bIns="36576"/>
          <a:lstStyle/>
          <a:p>
            <a:pPr algn="ctr"/>
          </a:p>
        </p:txBody>
      </p:sp>
      <p:sp>
        <p:nvSpPr>
          <p:cNvPr id="26" name="TextBox 25"/>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2000" b="1" i="1">
                <a:solidFill>
                  <a:srgbClr val="14202E"/>
                </a:solidFill>
                <a:latin typeface="Cambria"/>
              </a:rPr>
              <a:t>v</a:t>
            </a:r>
            <a:r>
              <a:rPr sz="2000" b="1" i="1" baseline="-25000">
                <a:solidFill>
                  <a:srgbClr val="14202E"/>
                </a:solidFill>
                <a:latin typeface="Cambria"/>
              </a:rPr>
              <a:t>i</a:t>
            </a:r>
            <a:r>
              <a:rPr sz="2000" b="1" i="0">
                <a:solidFill>
                  <a:srgbClr val="14202E"/>
                </a:solidFill>
                <a:latin typeface="Calibri"/>
              </a:rPr>
              <a:t> never sees </a:t>
            </a:r>
            <a:r>
              <a:rPr sz="2000" b="1" i="1">
                <a:solidFill>
                  <a:srgbClr val="14202E"/>
                </a:solidFill>
                <a:latin typeface="Cambria"/>
              </a:rPr>
              <a:t>R</a:t>
            </a:r>
            <a:r>
              <a:rPr sz="2000" b="1" i="1" baseline="-25000">
                <a:solidFill>
                  <a:srgbClr val="14202E"/>
                </a:solidFill>
                <a:latin typeface="Cambria"/>
              </a:rPr>
              <a:t>i</a:t>
            </a:r>
            <a:r>
              <a:rPr sz="2000" b="1" i="0">
                <a:solidFill>
                  <a:srgbClr val="14202E"/>
                </a:solidFill>
                <a:latin typeface="Calibri"/>
              </a:rPr>
              <a:t> or </a:t>
            </a:r>
            <a:r>
              <a:rPr sz="2000" b="1" i="1">
                <a:solidFill>
                  <a:srgbClr val="14202E"/>
                </a:solidFill>
                <a:latin typeface="Cambria"/>
              </a:rPr>
              <a:t>r</a:t>
            </a:r>
            <a:r>
              <a:rPr sz="2000" b="1" i="0" baseline="-25000">
                <a:solidFill>
                  <a:srgbClr val="14202E"/>
                </a:solidFill>
                <a:latin typeface="Cambria"/>
              </a:rPr>
              <a:t>2</a:t>
            </a:r>
            <a:r>
              <a:rPr sz="2000" b="1" i="1" baseline="-25000">
                <a:solidFill>
                  <a:srgbClr val="14202E"/>
                </a:solidFill>
                <a:latin typeface="Cambria"/>
              </a:rPr>
              <a:t>i</a:t>
            </a:r>
            <a:r>
              <a:rPr sz="2000" b="1" i="0">
                <a:solidFill>
                  <a:srgbClr val="14202E"/>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II · VERMA ET AL., AS DESCRIBED BY QIAO ET AL. (3/3)</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Verification, and the appeal of a constant-size aggregate</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9 / 32</a:t>
            </a:r>
          </a:p>
        </p:txBody>
      </p:sp>
      <p:sp>
        <p:nvSpPr>
          <p:cNvPr id="8" name="TextBox 7"/>
          <p:cNvSpPr txBox="1"/>
          <p:nvPr/>
        </p:nvSpPr>
        <p:spPr>
          <a:xfrm>
            <a:off x="548640" y="1645920"/>
            <a:ext cx="548640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AGGREGATION</a:t>
            </a:r>
          </a:p>
        </p:txBody>
      </p:sp>
      <p:sp>
        <p:nvSpPr>
          <p:cNvPr id="9" name="Rounded Rectangle 8"/>
          <p:cNvSpPr/>
          <p:nvPr/>
        </p:nvSpPr>
        <p:spPr>
          <a:xfrm>
            <a:off x="548640" y="1965960"/>
            <a:ext cx="1463040" cy="457200"/>
          </a:xfrm>
          <a:prstGeom prst="roundRect">
            <a:avLst>
              <a:gd name="adj" fmla="val 16000"/>
            </a:avLst>
          </a:prstGeom>
          <a:solidFill>
            <a:srgbClr val="E4EEF9"/>
          </a:solidFill>
          <a:ln w="19050">
            <a:solidFill>
              <a:srgbClr val="1D5EA8"/>
            </a:solidFill>
          </a:ln>
          <a:effectLst/>
        </p:spPr>
        <p:txBody>
          <a:bodyPr rtlCol="0" anchor="ctr" wrap="square" lIns="73152" rIns="73152" tIns="36576" bIns="36576"/>
          <a:lstStyle/>
          <a:p>
            <a:pPr algn="ctr">
              <a:spcBef>
                <a:spcPts val="0"/>
              </a:spcBef>
              <a:spcAft>
                <a:spcPts val="0"/>
              </a:spcAft>
            </a:pPr>
            <a:r>
              <a:rPr sz="1600" b="0" i="1">
                <a:solidFill>
                  <a:srgbClr val="14202E"/>
                </a:solidFill>
                <a:latin typeface="Cambria"/>
              </a:rPr>
              <a:t>R</a:t>
            </a:r>
            <a:r>
              <a:rPr sz="1600" b="0" i="0" baseline="-25000">
                <a:solidFill>
                  <a:srgbClr val="14202E"/>
                </a:solidFill>
                <a:latin typeface="Cambria"/>
              </a:rPr>
              <a:t>1</a:t>
            </a:r>
            <a:r>
              <a:rPr sz="1600" b="0" i="0">
                <a:solidFill>
                  <a:srgbClr val="14202E"/>
                </a:solidFill>
                <a:latin typeface="Cambria"/>
              </a:rPr>
              <a:t>, </a:t>
            </a:r>
            <a:r>
              <a:rPr sz="1600" b="0" i="1">
                <a:solidFill>
                  <a:srgbClr val="14202E"/>
                </a:solidFill>
                <a:latin typeface="Cambria"/>
              </a:rPr>
              <a:t>z</a:t>
            </a:r>
            <a:r>
              <a:rPr sz="1600" b="0" i="0" baseline="-25000">
                <a:solidFill>
                  <a:srgbClr val="14202E"/>
                </a:solidFill>
                <a:latin typeface="Cambria"/>
              </a:rPr>
              <a:t>1</a:t>
            </a:r>
          </a:p>
        </p:txBody>
      </p:sp>
      <p:sp>
        <p:nvSpPr>
          <p:cNvPr id="10" name="Rounded Rectangle 9"/>
          <p:cNvSpPr/>
          <p:nvPr/>
        </p:nvSpPr>
        <p:spPr>
          <a:xfrm>
            <a:off x="2121408" y="1965960"/>
            <a:ext cx="1463040" cy="457200"/>
          </a:xfrm>
          <a:prstGeom prst="roundRect">
            <a:avLst>
              <a:gd name="adj" fmla="val 16000"/>
            </a:avLst>
          </a:prstGeom>
          <a:solidFill>
            <a:srgbClr val="E4EEF9"/>
          </a:solidFill>
          <a:ln w="19050">
            <a:solidFill>
              <a:srgbClr val="1D5EA8"/>
            </a:solidFill>
          </a:ln>
          <a:effectLst/>
        </p:spPr>
        <p:txBody>
          <a:bodyPr rtlCol="0" anchor="ctr" wrap="square" lIns="73152" rIns="73152" tIns="36576" bIns="36576"/>
          <a:lstStyle/>
          <a:p>
            <a:pPr algn="ctr">
              <a:spcBef>
                <a:spcPts val="0"/>
              </a:spcBef>
              <a:spcAft>
                <a:spcPts val="0"/>
              </a:spcAft>
            </a:pPr>
            <a:r>
              <a:rPr sz="1600" b="0" i="1">
                <a:solidFill>
                  <a:srgbClr val="14202E"/>
                </a:solidFill>
                <a:latin typeface="Cambria"/>
              </a:rPr>
              <a:t>R</a:t>
            </a:r>
            <a:r>
              <a:rPr sz="1600" b="0" i="0" baseline="-25000">
                <a:solidFill>
                  <a:srgbClr val="14202E"/>
                </a:solidFill>
                <a:latin typeface="Cambria"/>
              </a:rPr>
              <a:t>2</a:t>
            </a:r>
            <a:r>
              <a:rPr sz="1600" b="0" i="0">
                <a:solidFill>
                  <a:srgbClr val="14202E"/>
                </a:solidFill>
                <a:latin typeface="Cambria"/>
              </a:rPr>
              <a:t>, </a:t>
            </a:r>
            <a:r>
              <a:rPr sz="1600" b="0" i="1">
                <a:solidFill>
                  <a:srgbClr val="14202E"/>
                </a:solidFill>
                <a:latin typeface="Cambria"/>
              </a:rPr>
              <a:t>z</a:t>
            </a:r>
            <a:r>
              <a:rPr sz="1600" b="0" i="0" baseline="-25000">
                <a:solidFill>
                  <a:srgbClr val="14202E"/>
                </a:solidFill>
                <a:latin typeface="Cambria"/>
              </a:rPr>
              <a:t>2</a:t>
            </a:r>
          </a:p>
        </p:txBody>
      </p:sp>
      <p:sp>
        <p:nvSpPr>
          <p:cNvPr id="11" name="TextBox 10"/>
          <p:cNvSpPr txBox="1"/>
          <p:nvPr/>
        </p:nvSpPr>
        <p:spPr>
          <a:xfrm>
            <a:off x="3694176" y="1993392"/>
            <a:ext cx="548640" cy="457200"/>
          </a:xfrm>
          <a:prstGeom prst="rect">
            <a:avLst/>
          </a:prstGeom>
          <a:noFill/>
        </p:spPr>
        <p:txBody>
          <a:bodyPr wrap="square" lIns="0" rIns="0" tIns="0" bIns="0" anchor="t">
            <a:spAutoFit/>
          </a:bodyPr>
          <a:lstStyle/>
          <a:p>
            <a:pPr algn="ctr">
              <a:spcBef>
                <a:spcPts val="0"/>
              </a:spcBef>
              <a:spcAft>
                <a:spcPts val="0"/>
              </a:spcAft>
            </a:pPr>
            <a:r>
              <a:rPr sz="2000" b="0" i="0">
                <a:solidFill>
                  <a:srgbClr val="5B6675"/>
                </a:solidFill>
                <a:latin typeface="Calibri"/>
              </a:rPr>
              <a:t>⋯</a:t>
            </a:r>
          </a:p>
        </p:txBody>
      </p:sp>
      <p:sp>
        <p:nvSpPr>
          <p:cNvPr id="12" name="Rounded Rectangle 11"/>
          <p:cNvSpPr/>
          <p:nvPr/>
        </p:nvSpPr>
        <p:spPr>
          <a:xfrm>
            <a:off x="4334256" y="1965960"/>
            <a:ext cx="1463040" cy="457200"/>
          </a:xfrm>
          <a:prstGeom prst="roundRect">
            <a:avLst>
              <a:gd name="adj" fmla="val 16000"/>
            </a:avLst>
          </a:prstGeom>
          <a:solidFill>
            <a:srgbClr val="E4EEF9"/>
          </a:solidFill>
          <a:ln w="19050">
            <a:solidFill>
              <a:srgbClr val="1D5EA8"/>
            </a:solidFill>
          </a:ln>
          <a:effectLst/>
        </p:spPr>
        <p:txBody>
          <a:bodyPr rtlCol="0" anchor="ctr" wrap="square" lIns="73152" rIns="73152" tIns="36576" bIns="36576"/>
          <a:lstStyle/>
          <a:p>
            <a:pPr algn="ctr">
              <a:spcBef>
                <a:spcPts val="0"/>
              </a:spcBef>
              <a:spcAft>
                <a:spcPts val="0"/>
              </a:spcAft>
            </a:pPr>
            <a:r>
              <a:rPr sz="1600" b="0" i="1">
                <a:solidFill>
                  <a:srgbClr val="14202E"/>
                </a:solidFill>
                <a:latin typeface="Cambria"/>
              </a:rPr>
              <a:t>R</a:t>
            </a:r>
            <a:r>
              <a:rPr sz="1600" b="0" i="1" baseline="-25000">
                <a:solidFill>
                  <a:srgbClr val="14202E"/>
                </a:solidFill>
                <a:latin typeface="Cambria"/>
              </a:rPr>
              <a:t>n</a:t>
            </a:r>
            <a:r>
              <a:rPr sz="1600" b="0" i="0">
                <a:solidFill>
                  <a:srgbClr val="14202E"/>
                </a:solidFill>
                <a:latin typeface="Cambria"/>
              </a:rPr>
              <a:t>, </a:t>
            </a:r>
            <a:r>
              <a:rPr sz="1600" b="0" i="1">
                <a:solidFill>
                  <a:srgbClr val="14202E"/>
                </a:solidFill>
                <a:latin typeface="Cambria"/>
              </a:rPr>
              <a:t>z</a:t>
            </a:r>
            <a:r>
              <a:rPr sz="1600" b="0" i="1" baseline="-25000">
                <a:solidFill>
                  <a:srgbClr val="14202E"/>
                </a:solidFill>
                <a:latin typeface="Cambria"/>
              </a:rPr>
              <a:t>n</a:t>
            </a:r>
          </a:p>
        </p:txBody>
      </p:sp>
      <p:cxnSp>
        <p:nvCxnSpPr>
          <p:cNvPr id="13" name="Connector 12"/>
          <p:cNvCxnSpPr/>
          <p:nvPr/>
        </p:nvCxnSpPr>
        <p:spPr>
          <a:xfrm>
            <a:off x="5907024" y="2194560"/>
            <a:ext cx="502920" cy="0"/>
          </a:xfrm>
          <a:prstGeom prst="line">
            <a:avLst/>
          </a:prstGeom>
          <a:ln w="28575">
            <a:solidFill>
              <a:srgbClr val="B26A00"/>
            </a:solidFill>
            <a:tailEnd type="triangle" w="med" len="med"/>
          </a:ln>
        </p:spPr>
      </p:cxnSp>
      <p:sp>
        <p:nvSpPr>
          <p:cNvPr id="14" name="Rounded Rectangle 13"/>
          <p:cNvSpPr/>
          <p:nvPr/>
        </p:nvSpPr>
        <p:spPr>
          <a:xfrm>
            <a:off x="6409944" y="1920240"/>
            <a:ext cx="3383280" cy="548640"/>
          </a:xfrm>
          <a:prstGeom prst="roundRect">
            <a:avLst>
              <a:gd name="adj" fmla="val 20000"/>
            </a:avLst>
          </a:prstGeom>
          <a:solidFill>
            <a:srgbClr val="FBF0DC"/>
          </a:solidFill>
          <a:ln w="15240">
            <a:solidFill>
              <a:srgbClr val="B26A00"/>
            </a:solidFill>
          </a:ln>
          <a:effectLst/>
        </p:spPr>
        <p:txBody>
          <a:bodyPr rtlCol="0" anchor="ctr" wrap="square" lIns="73152" rIns="73152" tIns="36576" bIns="36576"/>
          <a:lstStyle/>
          <a:p>
            <a:pPr algn="ctr">
              <a:spcBef>
                <a:spcPts val="0"/>
              </a:spcBef>
              <a:spcAft>
                <a:spcPts val="0"/>
              </a:spcAft>
            </a:pPr>
            <a:r>
              <a:rPr sz="1800" b="0" i="1">
                <a:solidFill>
                  <a:srgbClr val="14202E"/>
                </a:solidFill>
                <a:latin typeface="Cambria"/>
              </a:rPr>
              <a:t>R</a:t>
            </a:r>
            <a:r>
              <a:rPr sz="1800" b="0" i="0">
                <a:solidFill>
                  <a:srgbClr val="14202E"/>
                </a:solidFill>
                <a:latin typeface="Cambria"/>
              </a:rPr>
              <a:t> = Σ</a:t>
            </a:r>
            <a:r>
              <a:rPr sz="1800" b="0" i="1">
                <a:solidFill>
                  <a:srgbClr val="14202E"/>
                </a:solidFill>
                <a:latin typeface="Cambria"/>
              </a:rPr>
              <a:t>R</a:t>
            </a:r>
            <a:r>
              <a:rPr sz="1800" b="0" i="1" baseline="-25000">
                <a:solidFill>
                  <a:srgbClr val="14202E"/>
                </a:solidFill>
                <a:latin typeface="Cambria"/>
              </a:rPr>
              <a:t>i</a:t>
            </a:r>
            <a:r>
              <a:rPr sz="1800" b="0" i="0">
                <a:solidFill>
                  <a:srgbClr val="14202E"/>
                </a:solidFill>
                <a:latin typeface="Calibri"/>
              </a:rPr>
              <a:t>,   </a:t>
            </a:r>
            <a:r>
              <a:rPr sz="1800" b="0" i="1">
                <a:solidFill>
                  <a:srgbClr val="14202E"/>
                </a:solidFill>
                <a:latin typeface="Cambria"/>
              </a:rPr>
              <a:t>z</a:t>
            </a:r>
            <a:r>
              <a:rPr sz="1800" b="0" i="0">
                <a:solidFill>
                  <a:srgbClr val="14202E"/>
                </a:solidFill>
                <a:latin typeface="Cambria"/>
              </a:rPr>
              <a:t> = Σ</a:t>
            </a:r>
            <a:r>
              <a:rPr sz="1800" b="0" i="1">
                <a:solidFill>
                  <a:srgbClr val="14202E"/>
                </a:solidFill>
                <a:latin typeface="Cambria"/>
              </a:rPr>
              <a:t>z</a:t>
            </a:r>
            <a:r>
              <a:rPr sz="1800" b="0" i="1" baseline="-25000">
                <a:solidFill>
                  <a:srgbClr val="14202E"/>
                </a:solidFill>
                <a:latin typeface="Cambria"/>
              </a:rPr>
              <a:t>i</a:t>
            </a:r>
            <a:r>
              <a:rPr sz="1800" b="0" i="0">
                <a:solidFill>
                  <a:srgbClr val="14202E"/>
                </a:solidFill>
                <a:latin typeface="Calibri"/>
              </a:rPr>
              <a:t>,   </a:t>
            </a:r>
            <a:r>
              <a:rPr sz="1800" b="0" i="1">
                <a:solidFill>
                  <a:srgbClr val="14202E"/>
                </a:solidFill>
                <a:latin typeface="Cambria"/>
              </a:rPr>
              <a:t>δ</a:t>
            </a:r>
            <a:r>
              <a:rPr sz="1800" b="0" i="0">
                <a:solidFill>
                  <a:srgbClr val="14202E"/>
                </a:solidFill>
                <a:latin typeface="Cambria"/>
              </a:rPr>
              <a:t> = (</a:t>
            </a:r>
            <a:r>
              <a:rPr sz="1800" b="0" i="1">
                <a:solidFill>
                  <a:srgbClr val="14202E"/>
                </a:solidFill>
                <a:latin typeface="Cambria"/>
              </a:rPr>
              <a:t>R</a:t>
            </a:r>
            <a:r>
              <a:rPr sz="1800" b="0" i="0">
                <a:solidFill>
                  <a:srgbClr val="14202E"/>
                </a:solidFill>
                <a:latin typeface="Cambria"/>
              </a:rPr>
              <a:t>, </a:t>
            </a:r>
            <a:r>
              <a:rPr sz="1800" b="0" i="1">
                <a:solidFill>
                  <a:srgbClr val="14202E"/>
                </a:solidFill>
                <a:latin typeface="Cambria"/>
              </a:rPr>
              <a:t>z</a:t>
            </a:r>
            <a:r>
              <a:rPr sz="1800" b="0" i="0">
                <a:solidFill>
                  <a:srgbClr val="14202E"/>
                </a:solidFill>
                <a:latin typeface="Cambria"/>
              </a:rPr>
              <a:t>)</a:t>
            </a:r>
          </a:p>
        </p:txBody>
      </p:sp>
      <p:sp>
        <p:nvSpPr>
          <p:cNvPr id="15" name="TextBox 14"/>
          <p:cNvSpPr txBox="1"/>
          <p:nvPr/>
        </p:nvSpPr>
        <p:spPr>
          <a:xfrm>
            <a:off x="548640" y="2560320"/>
            <a:ext cx="10972800" cy="320040"/>
          </a:xfrm>
          <a:prstGeom prst="rect">
            <a:avLst/>
          </a:prstGeom>
          <a:noFill/>
        </p:spPr>
        <p:txBody>
          <a:bodyPr wrap="square" lIns="0" rIns="0" tIns="0" bIns="0" anchor="t">
            <a:spAutoFit/>
          </a:bodyPr>
          <a:lstStyle/>
          <a:p>
            <a:pPr algn="l">
              <a:spcBef>
                <a:spcPts val="0"/>
              </a:spcBef>
              <a:spcAft>
                <a:spcPts val="0"/>
              </a:spcAft>
            </a:pPr>
            <a:r>
              <a:rPr sz="1500" b="0" i="0">
                <a:solidFill>
                  <a:srgbClr val="5B6675"/>
                </a:solidFill>
                <a:latin typeface="Calibri"/>
              </a:rPr>
              <a:t>one point and one scalar, for any number of signers (paper Table VI)</a:t>
            </a:r>
          </a:p>
        </p:txBody>
      </p:sp>
      <p:sp>
        <p:nvSpPr>
          <p:cNvPr id="16" name="Rounded Rectangle 15"/>
          <p:cNvSpPr/>
          <p:nvPr/>
        </p:nvSpPr>
        <p:spPr>
          <a:xfrm>
            <a:off x="548640" y="3063240"/>
            <a:ext cx="11091672" cy="1097280"/>
          </a:xfrm>
          <a:prstGeom prst="roundRect">
            <a:avLst>
              <a:gd name="adj" fmla="val 8333"/>
            </a:avLst>
          </a:prstGeom>
          <a:solidFill>
            <a:srgbClr val="FFFFFF"/>
          </a:solidFill>
          <a:ln w="22225">
            <a:solidFill>
              <a:srgbClr val="455A6E"/>
            </a:solidFill>
          </a:ln>
          <a:effectLst/>
        </p:spPr>
        <p:txBody>
          <a:bodyPr rtlCol="0" anchor="ctr" wrap="square" lIns="73152" rIns="73152" tIns="36576" bIns="36576"/>
          <a:lstStyle/>
          <a:p>
            <a:pPr algn="ctr"/>
          </a:p>
        </p:txBody>
      </p:sp>
      <p:sp>
        <p:nvSpPr>
          <p:cNvPr id="17" name="TextBox 16"/>
          <p:cNvSpPr txBox="1"/>
          <p:nvPr/>
        </p:nvSpPr>
        <p:spPr>
          <a:xfrm>
            <a:off x="777240" y="3127248"/>
            <a:ext cx="1060704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455A6E"/>
                </a:solidFill>
                <a:latin typeface="Calibri"/>
              </a:rPr>
              <a:t>AGGVERIFY (CALLED “VERY” IN THE PAPER'S SECTIONS IV–V)</a:t>
            </a:r>
          </a:p>
        </p:txBody>
      </p:sp>
      <p:sp>
        <p:nvSpPr>
          <p:cNvPr id="18" name="TextBox 17"/>
          <p:cNvSpPr txBox="1"/>
          <p:nvPr/>
        </p:nvSpPr>
        <p:spPr>
          <a:xfrm>
            <a:off x="777240" y="3429000"/>
            <a:ext cx="10607040" cy="502920"/>
          </a:xfrm>
          <a:prstGeom prst="rect">
            <a:avLst/>
          </a:prstGeom>
          <a:noFill/>
        </p:spPr>
        <p:txBody>
          <a:bodyPr wrap="square" lIns="0" rIns="0" tIns="0" bIns="0" anchor="t">
            <a:spAutoFit/>
          </a:bodyPr>
          <a:lstStyle/>
          <a:p>
            <a:pPr algn="l">
              <a:spcBef>
                <a:spcPts val="0"/>
              </a:spcBef>
              <a:spcAft>
                <a:spcPts val="0"/>
              </a:spcAft>
            </a:pPr>
            <a:r>
              <a:rPr sz="2600" b="0" i="0">
                <a:solidFill>
                  <a:srgbClr val="14202E"/>
                </a:solidFill>
                <a:latin typeface="Calibri"/>
              </a:rPr>
              <a:t>accept iff   </a:t>
            </a:r>
            <a:r>
              <a:rPr sz="2600" b="0" i="1">
                <a:solidFill>
                  <a:srgbClr val="14202E"/>
                </a:solidFill>
                <a:latin typeface="Cambria"/>
              </a:rPr>
              <a:t>zP</a:t>
            </a:r>
            <a:r>
              <a:rPr sz="2600" b="0" i="0">
                <a:solidFill>
                  <a:srgbClr val="14202E"/>
                </a:solidFill>
                <a:latin typeface="Cambria"/>
              </a:rPr>
              <a:t> = </a:t>
            </a:r>
            <a:r>
              <a:rPr sz="2600" b="0" i="1">
                <a:solidFill>
                  <a:srgbClr val="14202E"/>
                </a:solidFill>
                <a:latin typeface="Cambria"/>
              </a:rPr>
              <a:t>R</a:t>
            </a:r>
            <a:r>
              <a:rPr sz="2600" b="0" i="0">
                <a:solidFill>
                  <a:srgbClr val="14202E"/>
                </a:solidFill>
                <a:latin typeface="Cambria"/>
              </a:rPr>
              <a:t> + (Σ</a:t>
            </a:r>
            <a:r>
              <a:rPr sz="2600" b="0" i="1">
                <a:solidFill>
                  <a:srgbClr val="14202E"/>
                </a:solidFill>
                <a:latin typeface="Cambria"/>
              </a:rPr>
              <a:t>h</a:t>
            </a:r>
            <a:r>
              <a:rPr sz="2600" b="0" i="1" baseline="30000">
                <a:solidFill>
                  <a:srgbClr val="14202E"/>
                </a:solidFill>
                <a:latin typeface="Cambria"/>
              </a:rPr>
              <a:t>i</a:t>
            </a:r>
            <a:r>
              <a:rPr sz="2600" b="0" i="0" baseline="-25000">
                <a:solidFill>
                  <a:srgbClr val="14202E"/>
                </a:solidFill>
                <a:latin typeface="Cambria"/>
              </a:rPr>
              <a:t>0</a:t>
            </a:r>
            <a:r>
              <a:rPr sz="2600" b="0" i="0">
                <a:solidFill>
                  <a:srgbClr val="14202E"/>
                </a:solidFill>
                <a:latin typeface="Cambria"/>
              </a:rPr>
              <a:t>)·</a:t>
            </a:r>
            <a:r>
              <a:rPr sz="2600" b="0" i="1">
                <a:solidFill>
                  <a:srgbClr val="14202E"/>
                </a:solidFill>
                <a:latin typeface="Cambria"/>
              </a:rPr>
              <a:t>P</a:t>
            </a:r>
            <a:r>
              <a:rPr sz="2600" b="0" i="1" baseline="30000">
                <a:solidFill>
                  <a:srgbClr val="14202E"/>
                </a:solidFill>
                <a:latin typeface="Cambria"/>
              </a:rPr>
              <a:t>k</a:t>
            </a:r>
            <a:r>
              <a:rPr sz="2600" b="0" i="1" baseline="-25000">
                <a:solidFill>
                  <a:srgbClr val="14202E"/>
                </a:solidFill>
                <a:latin typeface="Cambria"/>
              </a:rPr>
              <a:t>TA</a:t>
            </a:r>
            <a:r>
              <a:rPr sz="2600" b="0" i="0">
                <a:solidFill>
                  <a:srgbClr val="14202E"/>
                </a:solidFill>
                <a:latin typeface="Cambria"/>
              </a:rPr>
              <a:t> + Σ</a:t>
            </a:r>
            <a:r>
              <a:rPr sz="2600" b="0" i="1">
                <a:solidFill>
                  <a:srgbClr val="14202E"/>
                </a:solidFill>
                <a:latin typeface="Cambria"/>
              </a:rPr>
              <a:t>v</a:t>
            </a:r>
            <a:r>
              <a:rPr sz="2600" b="0" i="1" baseline="-25000">
                <a:solidFill>
                  <a:srgbClr val="14202E"/>
                </a:solidFill>
                <a:latin typeface="Cambria"/>
              </a:rPr>
              <a:t>i</a:t>
            </a:r>
            <a:r>
              <a:rPr sz="2600" b="0" i="0">
                <a:solidFill>
                  <a:srgbClr val="14202E"/>
                </a:solidFill>
                <a:latin typeface="Cambria"/>
              </a:rPr>
              <a:t>·</a:t>
            </a:r>
            <a:r>
              <a:rPr sz="2600" b="0" i="1">
                <a:solidFill>
                  <a:srgbClr val="14202E"/>
                </a:solidFill>
                <a:latin typeface="Cambria"/>
              </a:rPr>
              <a:t>pk</a:t>
            </a:r>
            <a:r>
              <a:rPr sz="2600" b="0" i="1" baseline="-25000">
                <a:solidFill>
                  <a:srgbClr val="14202E"/>
                </a:solidFill>
                <a:latin typeface="Cambria"/>
              </a:rPr>
              <a:t>i</a:t>
            </a:r>
          </a:p>
        </p:txBody>
      </p:sp>
      <p:sp>
        <p:nvSpPr>
          <p:cNvPr id="19" name="TextBox 18"/>
          <p:cNvSpPr txBox="1"/>
          <p:nvPr/>
        </p:nvSpPr>
        <p:spPr>
          <a:xfrm>
            <a:off x="548640" y="4251960"/>
            <a:ext cx="10972800" cy="320040"/>
          </a:xfrm>
          <a:prstGeom prst="rect">
            <a:avLst/>
          </a:prstGeom>
          <a:noFill/>
        </p:spPr>
        <p:txBody>
          <a:bodyPr wrap="square" lIns="0" rIns="0" tIns="0" bIns="0" anchor="t">
            <a:spAutoFit/>
          </a:bodyPr>
          <a:lstStyle/>
          <a:p>
            <a:pPr algn="l">
              <a:spcBef>
                <a:spcPts val="0"/>
              </a:spcBef>
              <a:spcAft>
                <a:spcPts val="0"/>
              </a:spcAft>
            </a:pPr>
            <a:r>
              <a:rPr sz="1600" b="0" i="0">
                <a:solidFill>
                  <a:srgbClr val="5B6675"/>
                </a:solidFill>
                <a:latin typeface="Calibri"/>
              </a:rPr>
              <a:t>with </a:t>
            </a:r>
            <a:r>
              <a:rPr sz="1600" b="0" i="1">
                <a:solidFill>
                  <a:srgbClr val="5B6675"/>
                </a:solidFill>
                <a:latin typeface="Cambria"/>
              </a:rPr>
              <a:t>h</a:t>
            </a:r>
            <a:r>
              <a:rPr sz="1600" b="0" i="1" baseline="30000">
                <a:solidFill>
                  <a:srgbClr val="5B6675"/>
                </a:solidFill>
                <a:latin typeface="Cambria"/>
              </a:rPr>
              <a:t>i</a:t>
            </a:r>
            <a:r>
              <a:rPr sz="1600" b="0" i="0" baseline="-25000">
                <a:solidFill>
                  <a:srgbClr val="5B6675"/>
                </a:solidFill>
                <a:latin typeface="Cambria"/>
              </a:rPr>
              <a:t>0</a:t>
            </a:r>
            <a:r>
              <a:rPr sz="1600" b="0" i="0">
                <a:solidFill>
                  <a:srgbClr val="5B6675"/>
                </a:solidFill>
                <a:latin typeface="Cambria"/>
              </a:rPr>
              <a:t> = </a:t>
            </a:r>
            <a:r>
              <a:rPr sz="1600" b="0" i="1">
                <a:solidFill>
                  <a:srgbClr val="5B6675"/>
                </a:solidFill>
                <a:latin typeface="Cambria"/>
              </a:rPr>
              <a:t>H</a:t>
            </a:r>
            <a:r>
              <a:rPr sz="1600" b="0" i="0" baseline="-25000">
                <a:solidFill>
                  <a:srgbClr val="5B6675"/>
                </a:solidFill>
                <a:latin typeface="Cambria"/>
              </a:rPr>
              <a:t>0</a:t>
            </a:r>
            <a:r>
              <a:rPr sz="1600" b="0" i="0">
                <a:solidFill>
                  <a:srgbClr val="5B6675"/>
                </a:solidFill>
                <a:latin typeface="Cambria"/>
              </a:rPr>
              <a:t>(</a:t>
            </a:r>
            <a:r>
              <a:rPr sz="1600" b="0" i="1">
                <a:solidFill>
                  <a:srgbClr val="5B6675"/>
                </a:solidFill>
                <a:latin typeface="Cambria"/>
              </a:rPr>
              <a:t>id</a:t>
            </a:r>
            <a:r>
              <a:rPr sz="1600" b="0" i="1" baseline="-25000">
                <a:solidFill>
                  <a:srgbClr val="5B6675"/>
                </a:solidFill>
                <a:latin typeface="Cambria"/>
              </a:rPr>
              <a:t>i</a:t>
            </a:r>
            <a:r>
              <a:rPr sz="1600" b="0" i="0">
                <a:solidFill>
                  <a:srgbClr val="5B6675"/>
                </a:solidFill>
                <a:latin typeface="Cambria"/>
              </a:rPr>
              <a:t>‖</a:t>
            </a:r>
            <a:r>
              <a:rPr sz="1600" b="0" i="1">
                <a:solidFill>
                  <a:srgbClr val="5B6675"/>
                </a:solidFill>
                <a:latin typeface="Cambria"/>
              </a:rPr>
              <a:t>pk</a:t>
            </a:r>
            <a:r>
              <a:rPr sz="1600" b="0" i="1" baseline="-25000">
                <a:solidFill>
                  <a:srgbClr val="5B6675"/>
                </a:solidFill>
                <a:latin typeface="Cambria"/>
              </a:rPr>
              <a:t>i</a:t>
            </a:r>
            <a:r>
              <a:rPr sz="1600" b="0" i="0">
                <a:solidFill>
                  <a:srgbClr val="5B6675"/>
                </a:solidFill>
                <a:latin typeface="Cambria"/>
              </a:rPr>
              <a:t>)</a:t>
            </a:r>
            <a:r>
              <a:rPr sz="1600" b="0" i="0">
                <a:solidFill>
                  <a:srgbClr val="5B6675"/>
                </a:solidFill>
                <a:latin typeface="Calibri"/>
              </a:rPr>
              <a:t> and </a:t>
            </a:r>
            <a:r>
              <a:rPr sz="1600" b="0" i="1">
                <a:solidFill>
                  <a:srgbClr val="5B6675"/>
                </a:solidFill>
                <a:latin typeface="Cambria"/>
              </a:rPr>
              <a:t>v</a:t>
            </a:r>
            <a:r>
              <a:rPr sz="1600" b="0" i="1" baseline="-25000">
                <a:solidFill>
                  <a:srgbClr val="5B6675"/>
                </a:solidFill>
                <a:latin typeface="Cambria"/>
              </a:rPr>
              <a:t>i</a:t>
            </a:r>
            <a:r>
              <a:rPr sz="1600" b="0" i="0">
                <a:solidFill>
                  <a:srgbClr val="5B6675"/>
                </a:solidFill>
                <a:latin typeface="Cambria"/>
              </a:rPr>
              <a:t> = </a:t>
            </a:r>
            <a:r>
              <a:rPr sz="1600" b="0" i="1">
                <a:solidFill>
                  <a:srgbClr val="5B6675"/>
                </a:solidFill>
                <a:latin typeface="Cambria"/>
              </a:rPr>
              <a:t>H</a:t>
            </a:r>
            <a:r>
              <a:rPr sz="1600" b="0" i="0" baseline="-25000">
                <a:solidFill>
                  <a:srgbClr val="5B6675"/>
                </a:solidFill>
                <a:latin typeface="Cambria"/>
              </a:rPr>
              <a:t>1</a:t>
            </a:r>
            <a:r>
              <a:rPr sz="1600" b="0" i="0">
                <a:solidFill>
                  <a:srgbClr val="5B6675"/>
                </a:solidFill>
                <a:latin typeface="Cambria"/>
              </a:rPr>
              <a:t>(</a:t>
            </a:r>
            <a:r>
              <a:rPr sz="1600" b="0" i="1">
                <a:solidFill>
                  <a:srgbClr val="5B6675"/>
                </a:solidFill>
                <a:latin typeface="Cambria"/>
              </a:rPr>
              <a:t>m</a:t>
            </a:r>
            <a:r>
              <a:rPr sz="1600" b="0" i="1" baseline="-25000">
                <a:solidFill>
                  <a:srgbClr val="5B6675"/>
                </a:solidFill>
                <a:latin typeface="Cambria"/>
              </a:rPr>
              <a:t>i</a:t>
            </a:r>
            <a:r>
              <a:rPr sz="1600" b="0" i="0">
                <a:solidFill>
                  <a:srgbClr val="5B6675"/>
                </a:solidFill>
                <a:latin typeface="Cambria"/>
              </a:rPr>
              <a:t>‖</a:t>
            </a:r>
            <a:r>
              <a:rPr sz="1600" b="0" i="1">
                <a:solidFill>
                  <a:srgbClr val="5B6675"/>
                </a:solidFill>
                <a:latin typeface="Cambria"/>
              </a:rPr>
              <a:t>pk</a:t>
            </a:r>
            <a:r>
              <a:rPr sz="1600" b="0" i="1" baseline="-25000">
                <a:solidFill>
                  <a:srgbClr val="5B6675"/>
                </a:solidFill>
                <a:latin typeface="Cambria"/>
              </a:rPr>
              <a:t>i</a:t>
            </a:r>
            <a:r>
              <a:rPr sz="1600" b="0" i="0">
                <a:solidFill>
                  <a:srgbClr val="5B6675"/>
                </a:solidFill>
                <a:latin typeface="Cambria"/>
              </a:rPr>
              <a:t>‖</a:t>
            </a:r>
            <a:r>
              <a:rPr sz="1600" b="0" i="1">
                <a:solidFill>
                  <a:srgbClr val="5B6675"/>
                </a:solidFill>
                <a:latin typeface="Cambria"/>
              </a:rPr>
              <a:t>id</a:t>
            </a:r>
            <a:r>
              <a:rPr sz="1600" b="0" i="1" baseline="-25000">
                <a:solidFill>
                  <a:srgbClr val="5B6675"/>
                </a:solidFill>
                <a:latin typeface="Cambria"/>
              </a:rPr>
              <a:t>i</a:t>
            </a:r>
            <a:r>
              <a:rPr sz="1600" b="0" i="0">
                <a:solidFill>
                  <a:srgbClr val="5B6675"/>
                </a:solidFill>
                <a:latin typeface="Cambria"/>
              </a:rPr>
              <a:t>‖Δ)</a:t>
            </a:r>
            <a:r>
              <a:rPr sz="1600" b="0" i="0">
                <a:solidFill>
                  <a:srgbClr val="5B6675"/>
                </a:solidFill>
                <a:latin typeface="Calibri"/>
              </a:rPr>
              <a:t> recomputed for every signer</a:t>
            </a:r>
          </a:p>
        </p:txBody>
      </p:sp>
      <p:sp>
        <p:nvSpPr>
          <p:cNvPr id="20" name="Rounded Rectangle 19"/>
          <p:cNvSpPr/>
          <p:nvPr/>
        </p:nvSpPr>
        <p:spPr>
          <a:xfrm>
            <a:off x="548640" y="4709160"/>
            <a:ext cx="11091672" cy="868680"/>
          </a:xfrm>
          <a:prstGeom prst="roundRect">
            <a:avLst>
              <a:gd name="adj" fmla="val 10526"/>
            </a:avLst>
          </a:prstGeom>
          <a:solidFill>
            <a:srgbClr val="F2F5F8"/>
          </a:solidFill>
          <a:ln>
            <a:noFill/>
          </a:ln>
          <a:effectLst/>
        </p:spPr>
        <p:txBody>
          <a:bodyPr rtlCol="0" anchor="ctr" wrap="square" lIns="73152" rIns="73152" tIns="36576" bIns="36576"/>
          <a:lstStyle/>
          <a:p>
            <a:pPr algn="ctr"/>
          </a:p>
        </p:txBody>
      </p:sp>
      <p:sp>
        <p:nvSpPr>
          <p:cNvPr id="21" name="TextBox 20"/>
          <p:cNvSpPr txBox="1"/>
          <p:nvPr/>
        </p:nvSpPr>
        <p:spPr>
          <a:xfrm>
            <a:off x="777240" y="4754880"/>
            <a:ext cx="10607040" cy="822960"/>
          </a:xfrm>
          <a:prstGeom prst="rect">
            <a:avLst/>
          </a:prstGeom>
          <a:noFill/>
        </p:spPr>
        <p:txBody>
          <a:bodyPr wrap="square" lIns="0" rIns="0" tIns="0" bIns="0" anchor="ctr">
            <a:spAutoFit/>
          </a:bodyPr>
          <a:lstStyle/>
          <a:p>
            <a:pPr algn="l">
              <a:spcBef>
                <a:spcPts val="0"/>
              </a:spcBef>
              <a:spcAft>
                <a:spcPts val="0"/>
              </a:spcAft>
            </a:pPr>
            <a:r>
              <a:rPr sz="1450" b="0" i="0">
                <a:solidFill>
                  <a:srgbClr val="14202E"/>
                </a:solidFill>
                <a:latin typeface="Cambria"/>
              </a:rPr>
              <a:t>“… to obtain an aggregate signature with the fixed length, Verma et al. remove the random value selected by the signature algorithm from the calculation of hash function. However, due to this reason, the above construction is insecure.”   — Qiao et al., §V-D</a:t>
            </a:r>
          </a:p>
        </p:txBody>
      </p:sp>
      <p:sp>
        <p:nvSpPr>
          <p:cNvPr id="22" name="Rectangle 21"/>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23" name="TextBox 22"/>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2000" b="1" i="0">
                <a:solidFill>
                  <a:srgbClr val="14202E"/>
                </a:solidFill>
                <a:latin typeface="Calibri"/>
              </a:rPr>
              <a:t>The compact aggregate comes from keeping </a:t>
            </a:r>
            <a:r>
              <a:rPr sz="2000" b="1" i="1">
                <a:solidFill>
                  <a:srgbClr val="14202E"/>
                </a:solidFill>
                <a:latin typeface="Cambria"/>
              </a:rPr>
              <a:t>R</a:t>
            </a:r>
            <a:r>
              <a:rPr sz="2000" b="1" i="1" baseline="-25000">
                <a:solidFill>
                  <a:srgbClr val="14202E"/>
                </a:solidFill>
                <a:latin typeface="Cambria"/>
              </a:rPr>
              <a:t>i</a:t>
            </a:r>
            <a:r>
              <a:rPr sz="2000" b="1" i="0">
                <a:solidFill>
                  <a:srgbClr val="14202E"/>
                </a:solidFill>
                <a:latin typeface="Calibri"/>
              </a:rPr>
              <a:t> out of the hash.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III · THE MALICIOUS-KGC ATTACK</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The attacker: a KGC that has gone bad</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10 / 32</a:t>
            </a:r>
          </a:p>
        </p:txBody>
      </p:sp>
      <p:sp>
        <p:nvSpPr>
          <p:cNvPr id="8" name="Rounded Rectangle 7"/>
          <p:cNvSpPr/>
          <p:nvPr/>
        </p:nvSpPr>
        <p:spPr>
          <a:xfrm>
            <a:off x="548640" y="1645920"/>
            <a:ext cx="2834640" cy="3566160"/>
          </a:xfrm>
          <a:prstGeom prst="roundRect">
            <a:avLst>
              <a:gd name="adj" fmla="val 2580"/>
            </a:avLst>
          </a:prstGeom>
          <a:solidFill>
            <a:srgbClr val="E4EEF9"/>
          </a:solidFill>
          <a:ln w="22225">
            <a:solidFill>
              <a:srgbClr val="1D5EA8"/>
            </a:solidFill>
          </a:ln>
          <a:effectLst/>
        </p:spPr>
        <p:txBody>
          <a:bodyPr rtlCol="0" anchor="ctr" wrap="square" lIns="73152" rIns="73152" tIns="36576" bIns="36576"/>
          <a:lstStyle/>
          <a:p>
            <a:pPr algn="ctr"/>
          </a:p>
        </p:txBody>
      </p:sp>
      <p:sp>
        <p:nvSpPr>
          <p:cNvPr id="9" name="TextBox 8"/>
          <p:cNvSpPr txBox="1"/>
          <p:nvPr/>
        </p:nvSpPr>
        <p:spPr>
          <a:xfrm>
            <a:off x="731520" y="1737360"/>
            <a:ext cx="2560320" cy="548640"/>
          </a:xfrm>
          <a:prstGeom prst="rect">
            <a:avLst/>
          </a:prstGeom>
          <a:noFill/>
        </p:spPr>
        <p:txBody>
          <a:bodyPr wrap="square" lIns="0" rIns="0" tIns="0" bIns="0" anchor="t">
            <a:spAutoFit/>
          </a:bodyPr>
          <a:lstStyle/>
          <a:p>
            <a:pPr algn="l">
              <a:spcBef>
                <a:spcPts val="0"/>
              </a:spcBef>
              <a:spcAft>
                <a:spcPts val="0"/>
              </a:spcAft>
            </a:pPr>
            <a:r>
              <a:rPr sz="1800" b="1" i="0">
                <a:solidFill>
                  <a:srgbClr val="1D5EA8"/>
                </a:solidFill>
                <a:latin typeface="Calibri"/>
              </a:rPr>
              <a:t>Legitimate sensor</a:t>
            </a:r>
          </a:p>
          <a:p>
            <a:pPr algn="l">
              <a:spcBef>
                <a:spcPts val="0"/>
              </a:spcBef>
              <a:spcAft>
                <a:spcPts val="0"/>
              </a:spcAft>
            </a:pPr>
            <a:r>
              <a:rPr sz="1400" b="0" i="1">
                <a:solidFill>
                  <a:srgbClr val="5B6675"/>
                </a:solidFill>
                <a:latin typeface="Cambria"/>
              </a:rPr>
              <a:t>id</a:t>
            </a:r>
            <a:r>
              <a:rPr sz="1400" b="0" i="1" baseline="-25000">
                <a:solidFill>
                  <a:srgbClr val="5B6675"/>
                </a:solidFill>
                <a:latin typeface="Cambria"/>
              </a:rPr>
              <a:t>i</a:t>
            </a:r>
          </a:p>
        </p:txBody>
      </p:sp>
      <p:sp>
        <p:nvSpPr>
          <p:cNvPr id="10" name="TextBox 9"/>
          <p:cNvSpPr txBox="1"/>
          <p:nvPr/>
        </p:nvSpPr>
        <p:spPr>
          <a:xfrm>
            <a:off x="731520" y="2468880"/>
            <a:ext cx="2560320" cy="822960"/>
          </a:xfrm>
          <a:prstGeom prst="rect">
            <a:avLst/>
          </a:prstGeom>
          <a:noFill/>
        </p:spPr>
        <p:txBody>
          <a:bodyPr wrap="square" lIns="0" rIns="0" tIns="0" bIns="0" anchor="t">
            <a:spAutoFit/>
          </a:bodyPr>
          <a:lstStyle/>
          <a:p>
            <a:pPr algn="l">
              <a:spcBef>
                <a:spcPts val="0"/>
              </a:spcBef>
              <a:spcAft>
                <a:spcPts val="0"/>
              </a:spcAft>
            </a:pPr>
            <a:r>
              <a:rPr sz="1700" b="0" i="0">
                <a:solidFill>
                  <a:srgbClr val="14202E"/>
                </a:solidFill>
                <a:latin typeface="Calibri"/>
              </a:rPr>
              <a:t>signs a reading </a:t>
            </a:r>
            <a:r>
              <a:rPr sz="1700" b="0" i="1">
                <a:solidFill>
                  <a:srgbClr val="14202E"/>
                </a:solidFill>
                <a:latin typeface="Cambria"/>
              </a:rPr>
              <a:t>m</a:t>
            </a:r>
            <a:r>
              <a:rPr sz="1700" b="0" i="1" baseline="-25000">
                <a:solidFill>
                  <a:srgbClr val="14202E"/>
                </a:solidFill>
                <a:latin typeface="Cambria"/>
              </a:rPr>
              <a:t>i</a:t>
            </a:r>
          </a:p>
        </p:txBody>
      </p:sp>
      <p:sp>
        <p:nvSpPr>
          <p:cNvPr id="11" name="Rounded Rectangle 10"/>
          <p:cNvSpPr/>
          <p:nvPr/>
        </p:nvSpPr>
        <p:spPr>
          <a:xfrm>
            <a:off x="731520" y="3154680"/>
            <a:ext cx="2468880" cy="685800"/>
          </a:xfrm>
          <a:prstGeom prst="roundRect">
            <a:avLst>
              <a:gd name="adj" fmla="val 16000"/>
            </a:avLst>
          </a:prstGeom>
          <a:solidFill>
            <a:srgbClr val="E4EEF9"/>
          </a:solidFill>
          <a:ln w="15240">
            <a:solidFill>
              <a:srgbClr val="1D5EA8"/>
            </a:solidFill>
          </a:ln>
          <a:effectLst/>
        </p:spPr>
        <p:txBody>
          <a:bodyPr rtlCol="0" anchor="ctr" wrap="square" lIns="73152" rIns="73152" tIns="36576" bIns="36576"/>
          <a:lstStyle/>
          <a:p>
            <a:pPr algn="ctr">
              <a:spcBef>
                <a:spcPts val="0"/>
              </a:spcBef>
              <a:spcAft>
                <a:spcPts val="0"/>
              </a:spcAft>
            </a:pPr>
            <a:r>
              <a:rPr sz="1350" b="0" i="0">
                <a:solidFill>
                  <a:srgbClr val="5B6675"/>
                </a:solidFill>
                <a:latin typeface="Calibri"/>
              </a:rPr>
              <a:t>valid signature</a:t>
            </a:r>
          </a:p>
          <a:p>
            <a:pPr algn="ctr">
              <a:spcBef>
                <a:spcPts val="0"/>
              </a:spcBef>
              <a:spcAft>
                <a:spcPts val="0"/>
              </a:spcAft>
            </a:pPr>
            <a:r>
              <a:rPr sz="1800" b="0" i="1">
                <a:solidFill>
                  <a:srgbClr val="14202E"/>
                </a:solidFill>
                <a:latin typeface="Cambria"/>
              </a:rPr>
              <a:t>δ</a:t>
            </a:r>
            <a:r>
              <a:rPr sz="1800" b="0" i="1" baseline="-25000">
                <a:solidFill>
                  <a:srgbClr val="14202E"/>
                </a:solidFill>
                <a:latin typeface="Cambria"/>
              </a:rPr>
              <a:t>i</a:t>
            </a:r>
            <a:r>
              <a:rPr sz="1800" b="0" i="0">
                <a:solidFill>
                  <a:srgbClr val="14202E"/>
                </a:solidFill>
                <a:latin typeface="Cambria"/>
              </a:rPr>
              <a:t> = (</a:t>
            </a:r>
            <a:r>
              <a:rPr sz="1800" b="0" i="1">
                <a:solidFill>
                  <a:srgbClr val="14202E"/>
                </a:solidFill>
                <a:latin typeface="Cambria"/>
              </a:rPr>
              <a:t>R</a:t>
            </a:r>
            <a:r>
              <a:rPr sz="1800" b="0" i="1" baseline="-25000">
                <a:solidFill>
                  <a:srgbClr val="14202E"/>
                </a:solidFill>
                <a:latin typeface="Cambria"/>
              </a:rPr>
              <a:t>i</a:t>
            </a:r>
            <a:r>
              <a:rPr sz="1800" b="0" i="0">
                <a:solidFill>
                  <a:srgbClr val="14202E"/>
                </a:solidFill>
                <a:latin typeface="Cambria"/>
              </a:rPr>
              <a:t>, </a:t>
            </a:r>
            <a:r>
              <a:rPr sz="1800" b="0" i="1">
                <a:solidFill>
                  <a:srgbClr val="14202E"/>
                </a:solidFill>
                <a:latin typeface="Cambria"/>
              </a:rPr>
              <a:t>z</a:t>
            </a:r>
            <a:r>
              <a:rPr sz="1800" b="0" i="1" baseline="-25000">
                <a:solidFill>
                  <a:srgbClr val="14202E"/>
                </a:solidFill>
                <a:latin typeface="Cambria"/>
              </a:rPr>
              <a:t>i</a:t>
            </a:r>
            <a:r>
              <a:rPr sz="1800" b="0" i="0">
                <a:solidFill>
                  <a:srgbClr val="14202E"/>
                </a:solidFill>
                <a:latin typeface="Cambria"/>
              </a:rPr>
              <a:t>)</a:t>
            </a:r>
          </a:p>
        </p:txBody>
      </p:sp>
      <p:sp>
        <p:nvSpPr>
          <p:cNvPr id="12" name="TextBox 11"/>
          <p:cNvSpPr txBox="1"/>
          <p:nvPr/>
        </p:nvSpPr>
        <p:spPr>
          <a:xfrm>
            <a:off x="731520" y="4023360"/>
            <a:ext cx="2560320" cy="1005840"/>
          </a:xfrm>
          <a:prstGeom prst="rect">
            <a:avLst/>
          </a:prstGeom>
          <a:noFill/>
        </p:spPr>
        <p:txBody>
          <a:bodyPr wrap="square" lIns="0" rIns="0" tIns="0" bIns="0" anchor="t">
            <a:spAutoFit/>
          </a:bodyPr>
          <a:lstStyle/>
          <a:p>
            <a:pPr algn="l">
              <a:spcBef>
                <a:spcPts val="0"/>
              </a:spcBef>
              <a:spcAft>
                <a:spcPts val="0"/>
              </a:spcAft>
            </a:pPr>
            <a:r>
              <a:rPr sz="1500" b="0" i="0">
                <a:solidFill>
                  <a:srgbClr val="5B6675"/>
                </a:solidFill>
                <a:latin typeface="Calibri"/>
              </a:rPr>
              <a:t>The KGC sees this one signature.</a:t>
            </a:r>
          </a:p>
        </p:txBody>
      </p:sp>
      <p:cxnSp>
        <p:nvCxnSpPr>
          <p:cNvPr id="13" name="Connector 12"/>
          <p:cNvCxnSpPr/>
          <p:nvPr/>
        </p:nvCxnSpPr>
        <p:spPr>
          <a:xfrm>
            <a:off x="3383280" y="3493008"/>
            <a:ext cx="365759" cy="0"/>
          </a:xfrm>
          <a:prstGeom prst="line">
            <a:avLst/>
          </a:prstGeom>
          <a:ln w="28575">
            <a:solidFill>
              <a:srgbClr val="14202E"/>
            </a:solidFill>
            <a:tailEnd type="triangle" w="med" len="med"/>
          </a:ln>
        </p:spPr>
      </p:cxnSp>
      <p:sp>
        <p:nvSpPr>
          <p:cNvPr id="14" name="Rounded Rectangle 13"/>
          <p:cNvSpPr/>
          <p:nvPr/>
        </p:nvSpPr>
        <p:spPr>
          <a:xfrm>
            <a:off x="3749039" y="1645920"/>
            <a:ext cx="3931920" cy="3566160"/>
          </a:xfrm>
          <a:prstGeom prst="roundRect">
            <a:avLst>
              <a:gd name="adj" fmla="val 2051"/>
            </a:avLst>
          </a:prstGeom>
          <a:solidFill>
            <a:srgbClr val="EFE8F8"/>
          </a:solidFill>
          <a:ln w="22225">
            <a:solidFill>
              <a:srgbClr val="6B3FA0"/>
            </a:solidFill>
          </a:ln>
          <a:effectLst/>
        </p:spPr>
        <p:txBody>
          <a:bodyPr rtlCol="0" anchor="ctr" wrap="square" lIns="73152" rIns="73152" tIns="36576" bIns="36576"/>
          <a:lstStyle/>
          <a:p>
            <a:pPr algn="ctr"/>
          </a:p>
        </p:txBody>
      </p:sp>
      <p:sp>
        <p:nvSpPr>
          <p:cNvPr id="15" name="TextBox 14"/>
          <p:cNvSpPr txBox="1"/>
          <p:nvPr/>
        </p:nvSpPr>
        <p:spPr>
          <a:xfrm>
            <a:off x="3931920" y="1737360"/>
            <a:ext cx="3566160" cy="320040"/>
          </a:xfrm>
          <a:prstGeom prst="rect">
            <a:avLst/>
          </a:prstGeom>
          <a:noFill/>
        </p:spPr>
        <p:txBody>
          <a:bodyPr wrap="square" lIns="0" rIns="0" tIns="0" bIns="0" anchor="t">
            <a:spAutoFit/>
          </a:bodyPr>
          <a:lstStyle/>
          <a:p>
            <a:pPr algn="l">
              <a:spcBef>
                <a:spcPts val="0"/>
              </a:spcBef>
              <a:spcAft>
                <a:spcPts val="0"/>
              </a:spcAft>
            </a:pPr>
            <a:r>
              <a:rPr sz="1300" b="1" i="0" spc="110">
                <a:solidFill>
                  <a:srgbClr val="6B3FA0"/>
                </a:solidFill>
                <a:latin typeface="Calibri"/>
              </a:rPr>
              <a:t>THE KGC KNOWS</a:t>
            </a:r>
          </a:p>
        </p:txBody>
      </p:sp>
      <p:sp>
        <p:nvSpPr>
          <p:cNvPr id="16" name="TextBox 15"/>
          <p:cNvSpPr txBox="1"/>
          <p:nvPr/>
        </p:nvSpPr>
        <p:spPr>
          <a:xfrm>
            <a:off x="3931920" y="2148840"/>
            <a:ext cx="3611880" cy="3017520"/>
          </a:xfrm>
          <a:prstGeom prst="rect">
            <a:avLst/>
          </a:prstGeom>
          <a:noFill/>
        </p:spPr>
        <p:txBody>
          <a:bodyPr wrap="square" lIns="0" rIns="0" tIns="0" bIns="0" anchor="t">
            <a:spAutoFit/>
          </a:bodyPr>
          <a:lstStyle/>
          <a:p>
            <a:pPr algn="l">
              <a:spcBef>
                <a:spcPts val="0"/>
              </a:spcBef>
              <a:spcAft>
                <a:spcPts val="900"/>
              </a:spcAft>
            </a:pPr>
            <a:r>
              <a:rPr sz="1700" b="0" i="0">
                <a:solidFill>
                  <a:srgbClr val="14202E"/>
                </a:solidFill>
                <a:latin typeface="Calibri"/>
              </a:rPr>
              <a:t>✓  master secret </a:t>
            </a:r>
            <a:r>
              <a:rPr sz="1700" b="0" i="1">
                <a:solidFill>
                  <a:srgbClr val="14202E"/>
                </a:solidFill>
                <a:latin typeface="Cambria"/>
              </a:rPr>
              <a:t>s</a:t>
            </a:r>
            <a:r>
              <a:rPr sz="1700" b="0" i="1" baseline="30000">
                <a:solidFill>
                  <a:srgbClr val="14202E"/>
                </a:solidFill>
                <a:latin typeface="Cambria"/>
              </a:rPr>
              <a:t>k</a:t>
            </a:r>
            <a:r>
              <a:rPr sz="1700" b="0" i="1" baseline="-25000">
                <a:solidFill>
                  <a:srgbClr val="14202E"/>
                </a:solidFill>
                <a:latin typeface="Cambria"/>
              </a:rPr>
              <a:t>TA</a:t>
            </a:r>
            <a:r>
              <a:rPr sz="1700" b="0" i="0">
                <a:solidFill>
                  <a:srgbClr val="14202E"/>
                </a:solidFill>
                <a:latin typeface="Cambria"/>
              </a:rPr>
              <a:t> = </a:t>
            </a:r>
            <a:r>
              <a:rPr sz="1700" b="0" i="1">
                <a:solidFill>
                  <a:srgbClr val="14202E"/>
                </a:solidFill>
                <a:latin typeface="Cambria"/>
              </a:rPr>
              <a:t>s</a:t>
            </a:r>
          </a:p>
          <a:p>
            <a:pPr algn="l">
              <a:spcBef>
                <a:spcPts val="0"/>
              </a:spcBef>
              <a:spcAft>
                <a:spcPts val="900"/>
              </a:spcAft>
            </a:pPr>
            <a:r>
              <a:rPr sz="1700" b="0" i="0">
                <a:solidFill>
                  <a:srgbClr val="14202E"/>
                </a:solidFill>
                <a:latin typeface="Calibri"/>
              </a:rPr>
              <a:t>✓  the certificate it issued: </a:t>
            </a:r>
            <a:r>
              <a:rPr sz="1700" b="0" i="1">
                <a:solidFill>
                  <a:srgbClr val="14202E"/>
                </a:solidFill>
                <a:latin typeface="Cambria"/>
              </a:rPr>
              <a:t>R</a:t>
            </a:r>
            <a:r>
              <a:rPr sz="1700" b="0" i="0" baseline="-25000">
                <a:solidFill>
                  <a:srgbClr val="14202E"/>
                </a:solidFill>
                <a:latin typeface="Cambria"/>
              </a:rPr>
              <a:t>1</a:t>
            </a:r>
            <a:r>
              <a:rPr sz="1700" b="0" i="1" baseline="-25000">
                <a:solidFill>
                  <a:srgbClr val="14202E"/>
                </a:solidFill>
                <a:latin typeface="Cambria"/>
              </a:rPr>
              <a:t>i</a:t>
            </a:r>
            <a:r>
              <a:rPr sz="1700" b="0" i="0">
                <a:solidFill>
                  <a:srgbClr val="14202E"/>
                </a:solidFill>
                <a:latin typeface="Calibri"/>
              </a:rPr>
              <a:t>, </a:t>
            </a:r>
            <a:r>
              <a:rPr sz="1700" b="0" i="1">
                <a:solidFill>
                  <a:srgbClr val="14202E"/>
                </a:solidFill>
                <a:latin typeface="Cambria"/>
              </a:rPr>
              <a:t>c</a:t>
            </a:r>
            <a:r>
              <a:rPr sz="1700" b="0" i="1" baseline="-25000">
                <a:solidFill>
                  <a:srgbClr val="14202E"/>
                </a:solidFill>
                <a:latin typeface="Cambria"/>
              </a:rPr>
              <a:t>i</a:t>
            </a:r>
          </a:p>
          <a:p>
            <a:pPr algn="l">
              <a:spcBef>
                <a:spcPts val="0"/>
              </a:spcBef>
              <a:spcAft>
                <a:spcPts val="900"/>
              </a:spcAft>
            </a:pPr>
            <a:r>
              <a:rPr sz="1700" b="0" i="0">
                <a:solidFill>
                  <a:srgbClr val="14202E"/>
                </a:solidFill>
                <a:latin typeface="Calibri"/>
              </a:rPr>
              <a:t>✓  public: </a:t>
            </a:r>
            <a:r>
              <a:rPr sz="1700" b="0" i="1">
                <a:solidFill>
                  <a:srgbClr val="14202E"/>
                </a:solidFill>
                <a:latin typeface="Cambria"/>
              </a:rPr>
              <a:t>id</a:t>
            </a:r>
            <a:r>
              <a:rPr sz="1700" b="0" i="1" baseline="-25000">
                <a:solidFill>
                  <a:srgbClr val="14202E"/>
                </a:solidFill>
                <a:latin typeface="Cambria"/>
              </a:rPr>
              <a:t>i</a:t>
            </a:r>
            <a:r>
              <a:rPr sz="1700" b="0" i="0">
                <a:solidFill>
                  <a:srgbClr val="14202E"/>
                </a:solidFill>
                <a:latin typeface="Calibri"/>
              </a:rPr>
              <a:t>, </a:t>
            </a:r>
            <a:r>
              <a:rPr sz="1700" b="0" i="1">
                <a:solidFill>
                  <a:srgbClr val="14202E"/>
                </a:solidFill>
                <a:latin typeface="Cambria"/>
              </a:rPr>
              <a:t>pk</a:t>
            </a:r>
            <a:r>
              <a:rPr sz="1700" b="0" i="1" baseline="-25000">
                <a:solidFill>
                  <a:srgbClr val="14202E"/>
                </a:solidFill>
                <a:latin typeface="Cambria"/>
              </a:rPr>
              <a:t>i</a:t>
            </a:r>
            <a:r>
              <a:rPr sz="1700" b="0" i="0">
                <a:solidFill>
                  <a:srgbClr val="14202E"/>
                </a:solidFill>
                <a:latin typeface="Calibri"/>
              </a:rPr>
              <a:t>, </a:t>
            </a:r>
            <a:r>
              <a:rPr sz="1700" b="0" i="0">
                <a:solidFill>
                  <a:srgbClr val="14202E"/>
                </a:solidFill>
                <a:latin typeface="Cambria"/>
              </a:rPr>
              <a:t>Δ</a:t>
            </a:r>
            <a:r>
              <a:rPr sz="1700" b="0" i="0">
                <a:solidFill>
                  <a:srgbClr val="14202E"/>
                </a:solidFill>
                <a:latin typeface="Calibri"/>
              </a:rPr>
              <a:t>, </a:t>
            </a:r>
            <a:r>
              <a:rPr sz="1700" b="0" i="1">
                <a:solidFill>
                  <a:srgbClr val="14202E"/>
                </a:solidFill>
                <a:latin typeface="Cambria"/>
              </a:rPr>
              <a:t>P</a:t>
            </a:r>
            <a:r>
              <a:rPr sz="1700" b="0" i="1" baseline="30000">
                <a:solidFill>
                  <a:srgbClr val="14202E"/>
                </a:solidFill>
                <a:latin typeface="Cambria"/>
              </a:rPr>
              <a:t>k</a:t>
            </a:r>
            <a:r>
              <a:rPr sz="1700" b="0" i="1" baseline="-25000">
                <a:solidFill>
                  <a:srgbClr val="14202E"/>
                </a:solidFill>
                <a:latin typeface="Cambria"/>
              </a:rPr>
              <a:t>TA</a:t>
            </a:r>
          </a:p>
          <a:p>
            <a:pPr algn="l">
              <a:spcBef>
                <a:spcPts val="0"/>
              </a:spcBef>
              <a:spcAft>
                <a:spcPts val="0"/>
              </a:spcAft>
            </a:pPr>
            <a:r>
              <a:rPr sz="1700" b="0" i="0">
                <a:solidFill>
                  <a:srgbClr val="14202E"/>
                </a:solidFill>
                <a:latin typeface="Calibri"/>
              </a:rPr>
              <a:t>✓  one valid pair: </a:t>
            </a:r>
            <a:r>
              <a:rPr sz="1700" b="0" i="1">
                <a:solidFill>
                  <a:srgbClr val="14202E"/>
                </a:solidFill>
                <a:latin typeface="Cambria"/>
              </a:rPr>
              <a:t>m</a:t>
            </a:r>
            <a:r>
              <a:rPr sz="1700" b="0" i="1" baseline="-25000">
                <a:solidFill>
                  <a:srgbClr val="14202E"/>
                </a:solidFill>
                <a:latin typeface="Cambria"/>
              </a:rPr>
              <a:t>i</a:t>
            </a:r>
            <a:r>
              <a:rPr sz="1700" b="0" i="0">
                <a:solidFill>
                  <a:srgbClr val="14202E"/>
                </a:solidFill>
                <a:latin typeface="Calibri"/>
              </a:rPr>
              <a:t> and </a:t>
            </a:r>
            <a:r>
              <a:rPr sz="1700" b="0" i="0">
                <a:solidFill>
                  <a:srgbClr val="14202E"/>
                </a:solidFill>
                <a:latin typeface="Cambria"/>
              </a:rPr>
              <a:t>(</a:t>
            </a:r>
            <a:r>
              <a:rPr sz="1700" b="0" i="1">
                <a:solidFill>
                  <a:srgbClr val="14202E"/>
                </a:solidFill>
                <a:latin typeface="Cambria"/>
              </a:rPr>
              <a:t>R</a:t>
            </a:r>
            <a:r>
              <a:rPr sz="1700" b="0" i="1" baseline="-25000">
                <a:solidFill>
                  <a:srgbClr val="14202E"/>
                </a:solidFill>
                <a:latin typeface="Cambria"/>
              </a:rPr>
              <a:t>i</a:t>
            </a:r>
            <a:r>
              <a:rPr sz="1700" b="0" i="0">
                <a:solidFill>
                  <a:srgbClr val="14202E"/>
                </a:solidFill>
                <a:latin typeface="Cambria"/>
              </a:rPr>
              <a:t>, </a:t>
            </a:r>
            <a:r>
              <a:rPr sz="1700" b="0" i="1">
                <a:solidFill>
                  <a:srgbClr val="14202E"/>
                </a:solidFill>
                <a:latin typeface="Cambria"/>
              </a:rPr>
              <a:t>z</a:t>
            </a:r>
            <a:r>
              <a:rPr sz="1700" b="0" i="1" baseline="-25000">
                <a:solidFill>
                  <a:srgbClr val="14202E"/>
                </a:solidFill>
                <a:latin typeface="Cambria"/>
              </a:rPr>
              <a:t>i</a:t>
            </a:r>
            <a:r>
              <a:rPr sz="1700" b="0" i="0">
                <a:solidFill>
                  <a:srgbClr val="14202E"/>
                </a:solidFill>
                <a:latin typeface="Cambria"/>
              </a:rPr>
              <a:t>)</a:t>
            </a:r>
          </a:p>
        </p:txBody>
      </p:sp>
      <p:sp>
        <p:nvSpPr>
          <p:cNvPr id="17" name="Rounded Rectangle 16"/>
          <p:cNvSpPr/>
          <p:nvPr/>
        </p:nvSpPr>
        <p:spPr>
          <a:xfrm>
            <a:off x="7955279" y="1645920"/>
            <a:ext cx="3685032" cy="3566160"/>
          </a:xfrm>
          <a:prstGeom prst="roundRect">
            <a:avLst>
              <a:gd name="adj" fmla="val 2051"/>
            </a:avLst>
          </a:prstGeom>
          <a:solidFill>
            <a:srgbClr val="FCE9E7"/>
          </a:solidFill>
          <a:ln w="25400">
            <a:solidFill>
              <a:srgbClr val="B3261E"/>
            </a:solidFill>
          </a:ln>
          <a:effectLst/>
        </p:spPr>
        <p:txBody>
          <a:bodyPr rtlCol="0" anchor="ctr" wrap="square" lIns="73152" rIns="73152" tIns="36576" bIns="36576"/>
          <a:lstStyle/>
          <a:p>
            <a:pPr algn="ctr"/>
          </a:p>
        </p:txBody>
      </p:sp>
      <p:sp>
        <p:nvSpPr>
          <p:cNvPr id="18" name="TextBox 17"/>
          <p:cNvSpPr txBox="1"/>
          <p:nvPr/>
        </p:nvSpPr>
        <p:spPr>
          <a:xfrm>
            <a:off x="8138160" y="1737360"/>
            <a:ext cx="3383280" cy="320040"/>
          </a:xfrm>
          <a:prstGeom prst="rect">
            <a:avLst/>
          </a:prstGeom>
          <a:noFill/>
        </p:spPr>
        <p:txBody>
          <a:bodyPr wrap="square" lIns="0" rIns="0" tIns="0" bIns="0" anchor="t">
            <a:spAutoFit/>
          </a:bodyPr>
          <a:lstStyle/>
          <a:p>
            <a:pPr algn="l">
              <a:spcBef>
                <a:spcPts val="0"/>
              </a:spcBef>
              <a:spcAft>
                <a:spcPts val="0"/>
              </a:spcAft>
            </a:pPr>
            <a:r>
              <a:rPr sz="1300" b="1" i="0" spc="110">
                <a:solidFill>
                  <a:srgbClr val="B3261E"/>
                </a:solidFill>
                <a:latin typeface="Calibri"/>
              </a:rPr>
              <a:t>THE KGC DOES NOT KNOW</a:t>
            </a:r>
          </a:p>
        </p:txBody>
      </p:sp>
      <p:sp>
        <p:nvSpPr>
          <p:cNvPr id="19" name="Rounded Rectangle 18"/>
          <p:cNvSpPr/>
          <p:nvPr/>
        </p:nvSpPr>
        <p:spPr>
          <a:xfrm>
            <a:off x="8138160" y="2240280"/>
            <a:ext cx="3319272" cy="685800"/>
          </a:xfrm>
          <a:prstGeom prst="roundRect">
            <a:avLst>
              <a:gd name="adj" fmla="val 16000"/>
            </a:avLst>
          </a:prstGeom>
          <a:solidFill>
            <a:srgbClr val="FCE9E7"/>
          </a:solidFill>
          <a:ln w="15240">
            <a:solidFill>
              <a:srgbClr val="B3261E"/>
            </a:solidFill>
            <a:prstDash val="dash"/>
          </a:ln>
          <a:effectLst/>
        </p:spPr>
        <p:txBody>
          <a:bodyPr rtlCol="0" anchor="ctr" wrap="square" lIns="566928" rIns="566928" tIns="36576" bIns="36576"/>
          <a:lstStyle/>
          <a:p>
            <a:pPr algn="l">
              <a:spcBef>
                <a:spcPts val="0"/>
              </a:spcBef>
              <a:spcAft>
                <a:spcPts val="0"/>
              </a:spcAft>
            </a:pPr>
            <a:r>
              <a:rPr sz="2200" b="0" i="1">
                <a:solidFill>
                  <a:srgbClr val="14202E"/>
                </a:solidFill>
                <a:latin typeface="Cambria"/>
              </a:rPr>
              <a:t>sk</a:t>
            </a:r>
            <a:r>
              <a:rPr sz="2200" b="0" i="1" baseline="-25000">
                <a:solidFill>
                  <a:srgbClr val="14202E"/>
                </a:solidFill>
                <a:latin typeface="Cambria"/>
              </a:rPr>
              <a:t>i</a:t>
            </a:r>
          </a:p>
          <a:p>
            <a:pPr algn="l">
              <a:spcBef>
                <a:spcPts val="0"/>
              </a:spcBef>
              <a:spcAft>
                <a:spcPts val="0"/>
              </a:spcAft>
            </a:pPr>
            <a:r>
              <a:rPr sz="1300" b="0" i="0">
                <a:solidFill>
                  <a:srgbClr val="5B6675"/>
                </a:solidFill>
                <a:latin typeface="Calibri"/>
              </a:rPr>
              <a:t>the sensor's secret key</a:t>
            </a:r>
          </a:p>
        </p:txBody>
      </p:sp>
      <p:sp>
        <p:nvSpPr>
          <p:cNvPr id="20" name="Rounded Rectangle 19"/>
          <p:cNvSpPr/>
          <p:nvPr/>
        </p:nvSpPr>
        <p:spPr>
          <a:xfrm>
            <a:off x="8311530" y="2620304"/>
            <a:ext cx="256763" cy="171175"/>
          </a:xfrm>
          <a:prstGeom prst="roundRect">
            <a:avLst>
              <a:gd name="adj" fmla="val 16025"/>
            </a:avLst>
          </a:prstGeom>
          <a:solidFill>
            <a:srgbClr val="B3261E"/>
          </a:solidFill>
          <a:ln>
            <a:noFill/>
          </a:ln>
          <a:effectLst/>
        </p:spPr>
        <p:txBody>
          <a:bodyPr rtlCol="0" anchor="ctr" wrap="square" lIns="73152" rIns="73152" tIns="36576" bIns="36576"/>
          <a:lstStyle/>
          <a:p>
            <a:pPr algn="ctr"/>
          </a:p>
        </p:txBody>
      </p:sp>
      <p:sp>
        <p:nvSpPr>
          <p:cNvPr id="21" name="Freeform 20"/>
          <p:cNvSpPr/>
          <p:nvPr/>
        </p:nvSpPr>
        <p:spPr>
          <a:xfrm>
            <a:off x="8362882" y="2488631"/>
            <a:ext cx="154059" cy="131673"/>
          </a:xfrm>
          <a:custGeom>
            <a:avLst/>
            <a:gdLst/>
            <a:ahLst/>
            <a:cxnLst/>
            <a:rect l="l" t="t" r="r" b="b"/>
            <a:pathLst>
              <a:path w="154059" h="131673">
                <a:moveTo>
                  <a:pt x="0" y="131673"/>
                </a:moveTo>
                <a:lnTo>
                  <a:pt x="0" y="52669"/>
                </a:lnTo>
                <a:lnTo>
                  <a:pt x="35947" y="0"/>
                </a:lnTo>
                <a:lnTo>
                  <a:pt x="118112" y="0"/>
                </a:lnTo>
                <a:lnTo>
                  <a:pt x="154059" y="52669"/>
                </a:lnTo>
                <a:lnTo>
                  <a:pt x="154059" y="131673"/>
                </a:lnTo>
              </a:path>
            </a:pathLst>
          </a:custGeom>
          <a:noFill/>
          <a:ln w="25146">
            <a:solidFill>
              <a:srgbClr val="B3261E"/>
            </a:solidFill>
          </a:ln>
          <a:effectLst/>
        </p:spPr>
        <p:txBody>
          <a:bodyPr rtlCol="0" anchor="ctr"/>
          <a:lstStyle/>
          <a:p>
            <a:pPr algn="ctr"/>
          </a:p>
        </p:txBody>
      </p:sp>
      <p:sp>
        <p:nvSpPr>
          <p:cNvPr id="22" name="Rounded Rectangle 21"/>
          <p:cNvSpPr/>
          <p:nvPr/>
        </p:nvSpPr>
        <p:spPr>
          <a:xfrm>
            <a:off x="8138160" y="3108960"/>
            <a:ext cx="3319272" cy="685800"/>
          </a:xfrm>
          <a:prstGeom prst="roundRect">
            <a:avLst>
              <a:gd name="adj" fmla="val 16000"/>
            </a:avLst>
          </a:prstGeom>
          <a:solidFill>
            <a:srgbClr val="FCE9E7"/>
          </a:solidFill>
          <a:ln w="15240">
            <a:solidFill>
              <a:srgbClr val="B3261E"/>
            </a:solidFill>
            <a:prstDash val="dash"/>
          </a:ln>
          <a:effectLst/>
        </p:spPr>
        <p:txBody>
          <a:bodyPr rtlCol="0" anchor="ctr" wrap="square" lIns="566928" rIns="566928" tIns="36576" bIns="36576"/>
          <a:lstStyle/>
          <a:p>
            <a:pPr algn="l">
              <a:spcBef>
                <a:spcPts val="0"/>
              </a:spcBef>
              <a:spcAft>
                <a:spcPts val="0"/>
              </a:spcAft>
            </a:pPr>
            <a:r>
              <a:rPr sz="2200" b="0" i="1">
                <a:solidFill>
                  <a:srgbClr val="14202E"/>
                </a:solidFill>
                <a:latin typeface="Cambria"/>
              </a:rPr>
              <a:t>r</a:t>
            </a:r>
            <a:r>
              <a:rPr sz="2200" b="0" i="0" baseline="-25000">
                <a:solidFill>
                  <a:srgbClr val="14202E"/>
                </a:solidFill>
                <a:latin typeface="Cambria"/>
              </a:rPr>
              <a:t>2</a:t>
            </a:r>
            <a:r>
              <a:rPr sz="2200" b="0" i="1" baseline="-25000">
                <a:solidFill>
                  <a:srgbClr val="14202E"/>
                </a:solidFill>
                <a:latin typeface="Cambria"/>
              </a:rPr>
              <a:t>i</a:t>
            </a:r>
          </a:p>
          <a:p>
            <a:pPr algn="l">
              <a:spcBef>
                <a:spcPts val="0"/>
              </a:spcBef>
              <a:spcAft>
                <a:spcPts val="0"/>
              </a:spcAft>
            </a:pPr>
            <a:r>
              <a:rPr sz="1300" b="0" i="0">
                <a:solidFill>
                  <a:srgbClr val="5B6675"/>
                </a:solidFill>
                <a:latin typeface="Calibri"/>
              </a:rPr>
              <a:t>this signature's nonce</a:t>
            </a:r>
          </a:p>
        </p:txBody>
      </p:sp>
      <p:sp>
        <p:nvSpPr>
          <p:cNvPr id="23" name="Rounded Rectangle 22"/>
          <p:cNvSpPr/>
          <p:nvPr/>
        </p:nvSpPr>
        <p:spPr>
          <a:xfrm>
            <a:off x="8311530" y="3488984"/>
            <a:ext cx="256763" cy="171175"/>
          </a:xfrm>
          <a:prstGeom prst="roundRect">
            <a:avLst>
              <a:gd name="adj" fmla="val 16025"/>
            </a:avLst>
          </a:prstGeom>
          <a:solidFill>
            <a:srgbClr val="B3261E"/>
          </a:solidFill>
          <a:ln>
            <a:noFill/>
          </a:ln>
          <a:effectLst/>
        </p:spPr>
        <p:txBody>
          <a:bodyPr rtlCol="0" anchor="ctr" wrap="square" lIns="73152" rIns="73152" tIns="36576" bIns="36576"/>
          <a:lstStyle/>
          <a:p>
            <a:pPr algn="ctr"/>
          </a:p>
        </p:txBody>
      </p:sp>
      <p:sp>
        <p:nvSpPr>
          <p:cNvPr id="24" name="Freeform 23"/>
          <p:cNvSpPr/>
          <p:nvPr/>
        </p:nvSpPr>
        <p:spPr>
          <a:xfrm>
            <a:off x="8362882" y="3357311"/>
            <a:ext cx="154059" cy="131673"/>
          </a:xfrm>
          <a:custGeom>
            <a:avLst/>
            <a:gdLst/>
            <a:ahLst/>
            <a:cxnLst/>
            <a:rect l="l" t="t" r="r" b="b"/>
            <a:pathLst>
              <a:path w="154059" h="131673">
                <a:moveTo>
                  <a:pt x="0" y="131673"/>
                </a:moveTo>
                <a:lnTo>
                  <a:pt x="0" y="52669"/>
                </a:lnTo>
                <a:lnTo>
                  <a:pt x="35947" y="0"/>
                </a:lnTo>
                <a:lnTo>
                  <a:pt x="118112" y="0"/>
                </a:lnTo>
                <a:lnTo>
                  <a:pt x="154059" y="52669"/>
                </a:lnTo>
                <a:lnTo>
                  <a:pt x="154059" y="131673"/>
                </a:lnTo>
              </a:path>
            </a:pathLst>
          </a:custGeom>
          <a:noFill/>
          <a:ln w="25146">
            <a:solidFill>
              <a:srgbClr val="B3261E"/>
            </a:solidFill>
          </a:ln>
          <a:effectLst/>
        </p:spPr>
        <p:txBody>
          <a:bodyPr rtlCol="0" anchor="ctr"/>
          <a:lstStyle/>
          <a:p>
            <a:pPr algn="ctr"/>
          </a:p>
        </p:txBody>
      </p:sp>
      <p:sp>
        <p:nvSpPr>
          <p:cNvPr id="25" name="TextBox 24"/>
          <p:cNvSpPr txBox="1"/>
          <p:nvPr/>
        </p:nvSpPr>
        <p:spPr>
          <a:xfrm>
            <a:off x="8138160" y="4023360"/>
            <a:ext cx="3337560" cy="1097280"/>
          </a:xfrm>
          <a:prstGeom prst="rect">
            <a:avLst/>
          </a:prstGeom>
          <a:noFill/>
        </p:spPr>
        <p:txBody>
          <a:bodyPr wrap="square" lIns="0" rIns="0" tIns="0" bIns="0" anchor="t">
            <a:spAutoFit/>
          </a:bodyPr>
          <a:lstStyle/>
          <a:p>
            <a:pPr algn="l">
              <a:spcBef>
                <a:spcPts val="0"/>
              </a:spcBef>
              <a:spcAft>
                <a:spcPts val="0"/>
              </a:spcAft>
            </a:pPr>
            <a:r>
              <a:rPr sz="1600" b="1" i="0">
                <a:solidFill>
                  <a:srgbClr val="B3261E"/>
                </a:solidFill>
                <a:latin typeface="Calibri"/>
              </a:rPr>
              <a:t>Goal: a valid </a:t>
            </a:r>
            <a:r>
              <a:rPr sz="1600" b="1" i="1">
                <a:solidFill>
                  <a:srgbClr val="B3261E"/>
                </a:solidFill>
                <a:latin typeface="Cambria"/>
              </a:rPr>
              <a:t>δ</a:t>
            </a:r>
            <a:r>
              <a:rPr sz="1600" b="1" i="0">
                <a:solidFill>
                  <a:srgbClr val="B3261E"/>
                </a:solidFill>
                <a:latin typeface="Cambria"/>
              </a:rPr>
              <a:t>′</a:t>
            </a:r>
            <a:r>
              <a:rPr sz="1600" b="1" i="1" baseline="-25000">
                <a:solidFill>
                  <a:srgbClr val="B3261E"/>
                </a:solidFill>
                <a:latin typeface="Cambria"/>
              </a:rPr>
              <a:t>i</a:t>
            </a:r>
            <a:r>
              <a:rPr sz="1600" b="1" i="0">
                <a:solidFill>
                  <a:srgbClr val="B3261E"/>
                </a:solidFill>
                <a:latin typeface="Calibri"/>
              </a:rPr>
              <a:t> on a new message </a:t>
            </a:r>
            <a:r>
              <a:rPr sz="1600" b="1" i="1">
                <a:solidFill>
                  <a:srgbClr val="B3261E"/>
                </a:solidFill>
                <a:latin typeface="Cambria"/>
              </a:rPr>
              <a:t>m</a:t>
            </a:r>
            <a:r>
              <a:rPr sz="1600" b="1" i="0">
                <a:solidFill>
                  <a:srgbClr val="B3261E"/>
                </a:solidFill>
                <a:latin typeface="Cambria"/>
              </a:rPr>
              <a:t>′</a:t>
            </a:r>
            <a:r>
              <a:rPr sz="1600" b="1" i="1" baseline="-25000">
                <a:solidFill>
                  <a:srgbClr val="B3261E"/>
                </a:solidFill>
                <a:latin typeface="Cambria"/>
              </a:rPr>
              <a:t>i</a:t>
            </a:r>
            <a:r>
              <a:rPr sz="1600" b="1" i="0">
                <a:solidFill>
                  <a:srgbClr val="B3261E"/>
                </a:solidFill>
                <a:latin typeface="Calibri"/>
              </a:rPr>
              <a:t>, for the same identity </a:t>
            </a:r>
            <a:r>
              <a:rPr sz="1600" b="1" i="1">
                <a:solidFill>
                  <a:srgbClr val="B3261E"/>
                </a:solidFill>
                <a:latin typeface="Cambria"/>
              </a:rPr>
              <a:t>id</a:t>
            </a:r>
            <a:r>
              <a:rPr sz="1600" b="1" i="1" baseline="-25000">
                <a:solidFill>
                  <a:srgbClr val="B3261E"/>
                </a:solidFill>
                <a:latin typeface="Cambria"/>
              </a:rPr>
              <a:t>i</a:t>
            </a:r>
            <a:r>
              <a:rPr sz="1600" b="1" i="0">
                <a:solidFill>
                  <a:srgbClr val="B3261E"/>
                </a:solidFill>
                <a:latin typeface="Calibri"/>
              </a:rPr>
              <a:t>.</a:t>
            </a:r>
          </a:p>
        </p:txBody>
      </p:sp>
      <p:sp>
        <p:nvSpPr>
          <p:cNvPr id="26" name="Rectangle 25"/>
          <p:cNvSpPr/>
          <p:nvPr/>
        </p:nvSpPr>
        <p:spPr>
          <a:xfrm>
            <a:off x="548640" y="5760720"/>
            <a:ext cx="82296" cy="566928"/>
          </a:xfrm>
          <a:prstGeom prst="rect">
            <a:avLst/>
          </a:prstGeom>
          <a:solidFill>
            <a:srgbClr val="B3261E"/>
          </a:solidFill>
          <a:ln>
            <a:noFill/>
          </a:ln>
          <a:effectLst/>
        </p:spPr>
        <p:txBody>
          <a:bodyPr rtlCol="0" anchor="ctr" wrap="square" lIns="73152" rIns="73152" tIns="36576" bIns="36576"/>
          <a:lstStyle/>
          <a:p>
            <a:pPr algn="ctr"/>
          </a:p>
        </p:txBody>
      </p:sp>
      <p:sp>
        <p:nvSpPr>
          <p:cNvPr id="27" name="TextBox 26"/>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2000" b="1" i="0">
                <a:solidFill>
                  <a:srgbClr val="14202E"/>
                </a:solidFill>
                <a:latin typeface="Calibri"/>
              </a:rPr>
              <a:t>The KGC holds everything except the two secrets inside </a:t>
            </a:r>
            <a:r>
              <a:rPr sz="2000" b="1" i="1">
                <a:solidFill>
                  <a:srgbClr val="14202E"/>
                </a:solidFill>
                <a:latin typeface="Cambria"/>
              </a:rPr>
              <a:t>z</a:t>
            </a:r>
            <a:r>
              <a:rPr sz="2000" b="1" i="1" baseline="-25000">
                <a:solidFill>
                  <a:srgbClr val="14202E"/>
                </a:solidFill>
                <a:latin typeface="Cambria"/>
              </a:rPr>
              <a:t>i</a:t>
            </a:r>
            <a:r>
              <a:rPr sz="2000" b="1" i="0">
                <a:solidFill>
                  <a:srgbClr val="14202E"/>
                </a:solidFill>
                <a:latin typeface="Calibri"/>
              </a:rPr>
              <a:t>.</a:t>
            </a:r>
          </a:p>
        </p:txBody>
      </p:sp>
      <p:sp>
        <p:nvSpPr>
          <p:cNvPr id="28" name="PresenterCue"/>
          <p:cNvSpPr/>
          <p:nvPr/>
        </p:nvSpPr>
        <p:spPr>
          <a:xfrm>
            <a:off x="8503920" y="1033271"/>
            <a:ext cx="3136392" cy="457200"/>
          </a:xfrm>
          <a:prstGeom prst="roundRect">
            <a:avLst>
              <a:gd name="adj" fmla="val 10000"/>
            </a:avLst>
          </a:prstGeom>
          <a:solidFill>
            <a:srgbClr val="FFF3B0"/>
          </a:solidFill>
          <a:ln w="12700">
            <a:solidFill>
              <a:srgbClr val="D9B93A"/>
            </a:solidFill>
          </a:ln>
          <a:effectLst/>
        </p:spPr>
        <p:txBody>
          <a:bodyPr rtlCol="0" anchor="ctr" wrap="square" tIns="36576" bIns="36576"/>
          <a:lstStyle/>
          <a:p>
            <a:pPr algn="l">
              <a:lnSpc>
                <a:spcPct val="92000"/>
              </a:lnSpc>
              <a:spcBef>
                <a:spcPts val="0"/>
              </a:spcBef>
              <a:spcAft>
                <a:spcPts val="0"/>
              </a:spcAft>
            </a:pPr>
            <a:r>
              <a:rPr sz="850" b="1" i="0">
                <a:solidFill>
                  <a:srgbClr val="8A6D00"/>
                </a:solidFill>
                <a:latin typeface="Calibri"/>
              </a:rPr>
              <a:t>PRESENTER CUE</a:t>
            </a:r>
          </a:p>
          <a:p>
            <a:pPr algn="l">
              <a:lnSpc>
                <a:spcPct val="92000"/>
              </a:lnSpc>
              <a:spcBef>
                <a:spcPts val="0"/>
              </a:spcBef>
              <a:spcAft>
                <a:spcPts val="0"/>
              </a:spcAft>
            </a:pPr>
            <a:r>
              <a:rPr sz="1250" b="0" i="0">
                <a:solidFill>
                  <a:srgbClr val="4A3B00"/>
                </a:solidFill>
                <a:latin typeface="Calibri"/>
              </a:rPr>
              <a:t>KGC does NOT know </a:t>
            </a:r>
            <a:r>
              <a:rPr sz="1250" b="0" i="1">
                <a:solidFill>
                  <a:srgbClr val="4A3B00"/>
                </a:solidFill>
                <a:latin typeface="Cambria"/>
              </a:rPr>
              <a:t>sk</a:t>
            </a:r>
            <a:r>
              <a:rPr sz="1250" b="0" i="1" baseline="-25000">
                <a:solidFill>
                  <a:srgbClr val="4A3B00"/>
                </a:solidFill>
                <a:latin typeface="Cambria"/>
              </a:rPr>
              <a:t>i</a:t>
            </a:r>
            <a:r>
              <a:rPr sz="1250" b="0" i="0">
                <a:solidFill>
                  <a:srgbClr val="4A3B00"/>
                </a:solidFill>
                <a:latin typeface="Calibri"/>
              </a:rPr>
              <a:t> or </a:t>
            </a:r>
            <a:r>
              <a:rPr sz="1250" b="0" i="1">
                <a:solidFill>
                  <a:srgbClr val="4A3B00"/>
                </a:solidFill>
                <a:latin typeface="Cambria"/>
              </a:rPr>
              <a:t>r</a:t>
            </a:r>
            <a:r>
              <a:rPr sz="1250" b="0" i="0" baseline="-25000">
                <a:solidFill>
                  <a:srgbClr val="4A3B00"/>
                </a:solidFill>
                <a:latin typeface="Cambria"/>
              </a:rPr>
              <a:t>2</a:t>
            </a:r>
            <a:r>
              <a:rPr sz="1250" b="0" i="1" baseline="-25000">
                <a:solidFill>
                  <a:srgbClr val="4A3B00"/>
                </a:solidFill>
                <a:latin typeface="Cambria"/>
              </a:rPr>
              <a:t>i</a:t>
            </a:r>
            <a:r>
              <a:rPr sz="1250" b="0" i="0">
                <a:solidFill>
                  <a:srgbClr val="4A3B00"/>
                </a:solidFill>
                <a:latin typeface="Calibr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III · THE MALICIOUS-KGC ATTACK</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The puzzle</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11 / 32</a:t>
            </a:r>
          </a:p>
        </p:txBody>
      </p:sp>
      <p:sp>
        <p:nvSpPr>
          <p:cNvPr id="8" name="Rounded Rectangle 7"/>
          <p:cNvSpPr/>
          <p:nvPr/>
        </p:nvSpPr>
        <p:spPr>
          <a:xfrm>
            <a:off x="548640" y="1645920"/>
            <a:ext cx="11091672" cy="1417320"/>
          </a:xfrm>
          <a:prstGeom prst="roundRect">
            <a:avLst>
              <a:gd name="adj" fmla="val 7741"/>
            </a:avLst>
          </a:prstGeom>
          <a:solidFill>
            <a:srgbClr val="FCE9E7"/>
          </a:solidFill>
          <a:ln w="25400">
            <a:solidFill>
              <a:srgbClr val="B3261E"/>
            </a:solidFill>
          </a:ln>
          <a:effectLst/>
        </p:spPr>
        <p:txBody>
          <a:bodyPr rtlCol="0" anchor="ctr" wrap="square" lIns="73152" rIns="73152" tIns="36576" bIns="36576"/>
          <a:lstStyle/>
          <a:p>
            <a:pPr algn="ctr"/>
          </a:p>
        </p:txBody>
      </p:sp>
      <p:sp>
        <p:nvSpPr>
          <p:cNvPr id="9" name="TextBox 8"/>
          <p:cNvSpPr txBox="1"/>
          <p:nvPr/>
        </p:nvSpPr>
        <p:spPr>
          <a:xfrm>
            <a:off x="822960" y="1645920"/>
            <a:ext cx="10515600" cy="1417320"/>
          </a:xfrm>
          <a:prstGeom prst="rect">
            <a:avLst/>
          </a:prstGeom>
          <a:noFill/>
        </p:spPr>
        <p:txBody>
          <a:bodyPr wrap="square" lIns="0" rIns="0" tIns="0" bIns="0" anchor="ctr">
            <a:spAutoFit/>
          </a:bodyPr>
          <a:lstStyle/>
          <a:p>
            <a:pPr algn="l">
              <a:lnSpc>
                <a:spcPct val="95000"/>
              </a:lnSpc>
              <a:spcBef>
                <a:spcPts val="0"/>
              </a:spcBef>
              <a:spcAft>
                <a:spcPts val="0"/>
              </a:spcAft>
            </a:pPr>
            <a:r>
              <a:rPr sz="3200" b="1" i="0">
                <a:solidFill>
                  <a:srgbClr val="14202E"/>
                </a:solidFill>
                <a:latin typeface="Cambria"/>
              </a:rPr>
              <a:t>How can the KGC forge a new signature if it does NOT know </a:t>
            </a:r>
            <a:r>
              <a:rPr sz="3200" b="1" i="1">
                <a:solidFill>
                  <a:srgbClr val="14202E"/>
                </a:solidFill>
                <a:latin typeface="Cambria"/>
              </a:rPr>
              <a:t>r</a:t>
            </a:r>
            <a:r>
              <a:rPr sz="3200" b="1" i="0" baseline="-25000">
                <a:solidFill>
                  <a:srgbClr val="14202E"/>
                </a:solidFill>
                <a:latin typeface="Cambria"/>
              </a:rPr>
              <a:t>2</a:t>
            </a:r>
            <a:r>
              <a:rPr sz="3200" b="1" i="1" baseline="-25000">
                <a:solidFill>
                  <a:srgbClr val="14202E"/>
                </a:solidFill>
                <a:latin typeface="Cambria"/>
              </a:rPr>
              <a:t>i</a:t>
            </a:r>
            <a:r>
              <a:rPr sz="3200" b="1" i="0">
                <a:solidFill>
                  <a:srgbClr val="14202E"/>
                </a:solidFill>
                <a:latin typeface="Cambria"/>
              </a:rPr>
              <a:t> or </a:t>
            </a:r>
            <a:r>
              <a:rPr sz="3200" b="1" i="1">
                <a:solidFill>
                  <a:srgbClr val="14202E"/>
                </a:solidFill>
                <a:latin typeface="Cambria"/>
              </a:rPr>
              <a:t>sk</a:t>
            </a:r>
            <a:r>
              <a:rPr sz="3200" b="1" i="1" baseline="-25000">
                <a:solidFill>
                  <a:srgbClr val="14202E"/>
                </a:solidFill>
                <a:latin typeface="Cambria"/>
              </a:rPr>
              <a:t>i</a:t>
            </a:r>
            <a:r>
              <a:rPr sz="3200" b="1" i="0">
                <a:solidFill>
                  <a:srgbClr val="14202E"/>
                </a:solidFill>
                <a:latin typeface="Cambria"/>
              </a:rPr>
              <a:t>?</a:t>
            </a:r>
          </a:p>
        </p:txBody>
      </p:sp>
      <p:sp>
        <p:nvSpPr>
          <p:cNvPr id="10" name="TextBox 9"/>
          <p:cNvSpPr txBox="1"/>
          <p:nvPr/>
        </p:nvSpPr>
        <p:spPr>
          <a:xfrm>
            <a:off x="548640" y="3337560"/>
            <a:ext cx="548640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WHAT THE KGC CAN COMPUTE</a:t>
            </a:r>
          </a:p>
        </p:txBody>
      </p:sp>
      <p:sp>
        <p:nvSpPr>
          <p:cNvPr id="11" name="Rounded Rectangle 10"/>
          <p:cNvSpPr/>
          <p:nvPr/>
        </p:nvSpPr>
        <p:spPr>
          <a:xfrm>
            <a:off x="548640" y="3657600"/>
            <a:ext cx="5120640" cy="640080"/>
          </a:xfrm>
          <a:prstGeom prst="roundRect">
            <a:avLst>
              <a:gd name="adj" fmla="val 17142"/>
            </a:avLst>
          </a:prstGeom>
          <a:solidFill>
            <a:srgbClr val="FFFFFF"/>
          </a:solidFill>
          <a:ln w="15240">
            <a:solidFill>
              <a:srgbClr val="D3D9E1"/>
            </a:solidFill>
          </a:ln>
          <a:effectLst/>
        </p:spPr>
        <p:txBody>
          <a:bodyPr rtlCol="0" anchor="ctr" wrap="square" lIns="182880" rIns="182880" tIns="36576" bIns="36576"/>
          <a:lstStyle/>
          <a:p>
            <a:pPr algn="l">
              <a:spcBef>
                <a:spcPts val="0"/>
              </a:spcBef>
              <a:spcAft>
                <a:spcPts val="0"/>
              </a:spcAft>
            </a:pPr>
            <a:r>
              <a:rPr sz="2200" b="0" i="1">
                <a:solidFill>
                  <a:srgbClr val="14202E"/>
                </a:solidFill>
                <a:latin typeface="Cambria"/>
              </a:rPr>
              <a:t>r</a:t>
            </a:r>
            <a:r>
              <a:rPr sz="2200" b="0" i="0" baseline="-25000">
                <a:solidFill>
                  <a:srgbClr val="14202E"/>
                </a:solidFill>
                <a:latin typeface="Cambria"/>
              </a:rPr>
              <a:t>2</a:t>
            </a:r>
            <a:r>
              <a:rPr sz="2200" b="0" i="1" baseline="-25000">
                <a:solidFill>
                  <a:srgbClr val="14202E"/>
                </a:solidFill>
                <a:latin typeface="Cambria"/>
              </a:rPr>
              <a:t>i</a:t>
            </a:r>
            <a:r>
              <a:rPr sz="2200" b="0" i="1">
                <a:solidFill>
                  <a:srgbClr val="14202E"/>
                </a:solidFill>
                <a:latin typeface="Cambria"/>
              </a:rPr>
              <a:t>P</a:t>
            </a:r>
            <a:r>
              <a:rPr sz="2200" b="0" i="0">
                <a:solidFill>
                  <a:srgbClr val="14202E"/>
                </a:solidFill>
                <a:latin typeface="Cambria"/>
              </a:rPr>
              <a:t> = </a:t>
            </a:r>
            <a:r>
              <a:rPr sz="2200" b="0" i="1">
                <a:solidFill>
                  <a:srgbClr val="14202E"/>
                </a:solidFill>
                <a:latin typeface="Cambria"/>
              </a:rPr>
              <a:t>R</a:t>
            </a:r>
            <a:r>
              <a:rPr sz="2200" b="0" i="1" baseline="-25000">
                <a:solidFill>
                  <a:srgbClr val="14202E"/>
                </a:solidFill>
                <a:latin typeface="Cambria"/>
              </a:rPr>
              <a:t>i</a:t>
            </a:r>
            <a:r>
              <a:rPr sz="2200" b="0" i="0">
                <a:solidFill>
                  <a:srgbClr val="14202E"/>
                </a:solidFill>
                <a:latin typeface="Cambria"/>
              </a:rPr>
              <a:t> − </a:t>
            </a:r>
            <a:r>
              <a:rPr sz="2200" b="0" i="1">
                <a:solidFill>
                  <a:srgbClr val="14202E"/>
                </a:solidFill>
                <a:latin typeface="Cambria"/>
              </a:rPr>
              <a:t>R</a:t>
            </a:r>
            <a:r>
              <a:rPr sz="2200" b="0" i="0" baseline="-25000">
                <a:solidFill>
                  <a:srgbClr val="14202E"/>
                </a:solidFill>
                <a:latin typeface="Cambria"/>
              </a:rPr>
              <a:t>1</a:t>
            </a:r>
            <a:r>
              <a:rPr sz="2200" b="0" i="1" baseline="-25000">
                <a:solidFill>
                  <a:srgbClr val="14202E"/>
                </a:solidFill>
                <a:latin typeface="Cambria"/>
              </a:rPr>
              <a:t>i</a:t>
            </a:r>
            <a:r>
              <a:rPr sz="2200" b="0" i="0">
                <a:solidFill>
                  <a:srgbClr val="14202E"/>
                </a:solidFill>
                <a:latin typeface="Calibri"/>
              </a:rPr>
              <a:t>       a point</a:t>
            </a:r>
          </a:p>
        </p:txBody>
      </p:sp>
      <p:sp>
        <p:nvSpPr>
          <p:cNvPr id="12" name="Rounded Rectangle 11"/>
          <p:cNvSpPr/>
          <p:nvPr/>
        </p:nvSpPr>
        <p:spPr>
          <a:xfrm>
            <a:off x="548640" y="4434840"/>
            <a:ext cx="5120640" cy="640080"/>
          </a:xfrm>
          <a:prstGeom prst="roundRect">
            <a:avLst>
              <a:gd name="adj" fmla="val 17142"/>
            </a:avLst>
          </a:prstGeom>
          <a:solidFill>
            <a:srgbClr val="FFFFFF"/>
          </a:solidFill>
          <a:ln w="15240">
            <a:solidFill>
              <a:srgbClr val="D3D9E1"/>
            </a:solidFill>
          </a:ln>
          <a:effectLst/>
        </p:spPr>
        <p:txBody>
          <a:bodyPr rtlCol="0" anchor="ctr" wrap="square" lIns="182880" rIns="182880" tIns="36576" bIns="36576"/>
          <a:lstStyle/>
          <a:p>
            <a:pPr algn="l">
              <a:spcBef>
                <a:spcPts val="0"/>
              </a:spcBef>
              <a:spcAft>
                <a:spcPts val="0"/>
              </a:spcAft>
            </a:pPr>
            <a:r>
              <a:rPr sz="2200" b="0" i="1">
                <a:solidFill>
                  <a:srgbClr val="14202E"/>
                </a:solidFill>
                <a:latin typeface="Cambria"/>
              </a:rPr>
              <a:t>z</a:t>
            </a:r>
            <a:r>
              <a:rPr sz="2200" b="0" i="1" baseline="-25000">
                <a:solidFill>
                  <a:srgbClr val="14202E"/>
                </a:solidFill>
                <a:latin typeface="Cambria"/>
              </a:rPr>
              <a:t>i</a:t>
            </a:r>
            <a:r>
              <a:rPr sz="2200" b="0" i="0">
                <a:solidFill>
                  <a:srgbClr val="14202E"/>
                </a:solidFill>
                <a:latin typeface="Cambria"/>
              </a:rPr>
              <a:t> − </a:t>
            </a:r>
            <a:r>
              <a:rPr sz="2200" b="0" i="1">
                <a:solidFill>
                  <a:srgbClr val="14202E"/>
                </a:solidFill>
                <a:latin typeface="Cambria"/>
              </a:rPr>
              <a:t>c</a:t>
            </a:r>
            <a:r>
              <a:rPr sz="2200" b="0" i="1" baseline="-25000">
                <a:solidFill>
                  <a:srgbClr val="14202E"/>
                </a:solidFill>
                <a:latin typeface="Cambria"/>
              </a:rPr>
              <a:t>i</a:t>
            </a:r>
            <a:r>
              <a:rPr sz="2200" b="0" i="0">
                <a:solidFill>
                  <a:srgbClr val="14202E"/>
                </a:solidFill>
                <a:latin typeface="Calibri"/>
              </a:rPr>
              <a:t>   =</a:t>
            </a:r>
          </a:p>
        </p:txBody>
      </p:sp>
      <p:sp>
        <p:nvSpPr>
          <p:cNvPr id="13" name="Rounded Rectangle 12"/>
          <p:cNvSpPr/>
          <p:nvPr/>
        </p:nvSpPr>
        <p:spPr>
          <a:xfrm>
            <a:off x="1808162" y="4498848"/>
            <a:ext cx="2651760" cy="512064"/>
          </a:xfrm>
          <a:prstGeom prst="roundRect">
            <a:avLst>
              <a:gd name="adj" fmla="val 21428"/>
            </a:avLst>
          </a:prstGeom>
          <a:solidFill>
            <a:srgbClr val="FCE9E7"/>
          </a:solidFill>
          <a:ln w="15240">
            <a:solidFill>
              <a:srgbClr val="B3261E"/>
            </a:solidFill>
            <a:prstDash val="dash"/>
          </a:ln>
          <a:effectLst/>
        </p:spPr>
        <p:txBody>
          <a:bodyPr rtlCol="0" anchor="ctr" wrap="square" lIns="73152" rIns="73152" tIns="36576" bIns="36576"/>
          <a:lstStyle/>
          <a:p>
            <a:pPr algn="ctr">
              <a:spcBef>
                <a:spcPts val="0"/>
              </a:spcBef>
              <a:spcAft>
                <a:spcPts val="0"/>
              </a:spcAft>
            </a:pPr>
            <a:r>
              <a:rPr sz="2100" b="0" i="1">
                <a:solidFill>
                  <a:srgbClr val="14202E"/>
                </a:solidFill>
                <a:latin typeface="Cambria"/>
              </a:rPr>
              <a:t>r</a:t>
            </a:r>
            <a:r>
              <a:rPr sz="2100" b="0" i="0" baseline="-25000">
                <a:solidFill>
                  <a:srgbClr val="14202E"/>
                </a:solidFill>
                <a:latin typeface="Cambria"/>
              </a:rPr>
              <a:t>2</a:t>
            </a:r>
            <a:r>
              <a:rPr sz="2100" b="0" i="1" baseline="-25000">
                <a:solidFill>
                  <a:srgbClr val="14202E"/>
                </a:solidFill>
                <a:latin typeface="Cambria"/>
              </a:rPr>
              <a:t>i</a:t>
            </a:r>
            <a:r>
              <a:rPr sz="2100" b="0" i="0">
                <a:solidFill>
                  <a:srgbClr val="14202E"/>
                </a:solidFill>
                <a:latin typeface="Cambria"/>
              </a:rPr>
              <a:t> + </a:t>
            </a:r>
            <a:r>
              <a:rPr sz="2100" b="0" i="1">
                <a:solidFill>
                  <a:srgbClr val="14202E"/>
                </a:solidFill>
                <a:latin typeface="Cambria"/>
              </a:rPr>
              <a:t>sk</a:t>
            </a:r>
            <a:r>
              <a:rPr sz="2100" b="0" i="1" baseline="-25000">
                <a:solidFill>
                  <a:srgbClr val="14202E"/>
                </a:solidFill>
                <a:latin typeface="Cambria"/>
              </a:rPr>
              <a:t>i</a:t>
            </a:r>
            <a:r>
              <a:rPr sz="2100" b="0" i="1">
                <a:solidFill>
                  <a:srgbClr val="14202E"/>
                </a:solidFill>
                <a:latin typeface="Cambria"/>
              </a:rPr>
              <a:t>v</a:t>
            </a:r>
            <a:r>
              <a:rPr sz="2100" b="0" i="1" baseline="-25000">
                <a:solidFill>
                  <a:srgbClr val="14202E"/>
                </a:solidFill>
                <a:latin typeface="Cambria"/>
              </a:rPr>
              <a:t>i</a:t>
            </a:r>
          </a:p>
        </p:txBody>
      </p:sp>
      <p:sp>
        <p:nvSpPr>
          <p:cNvPr id="14" name="Rounded Rectangle 13"/>
          <p:cNvSpPr/>
          <p:nvPr/>
        </p:nvSpPr>
        <p:spPr>
          <a:xfrm>
            <a:off x="1880034" y="4589922"/>
            <a:ext cx="185440" cy="123626"/>
          </a:xfrm>
          <a:prstGeom prst="roundRect">
            <a:avLst>
              <a:gd name="adj" fmla="val 22189"/>
            </a:avLst>
          </a:prstGeom>
          <a:solidFill>
            <a:srgbClr val="B3261E"/>
          </a:solidFill>
          <a:ln>
            <a:noFill/>
          </a:ln>
          <a:effectLst/>
        </p:spPr>
        <p:txBody>
          <a:bodyPr rtlCol="0" anchor="ctr" wrap="square" lIns="73152" rIns="73152" tIns="36576" bIns="36576"/>
          <a:lstStyle/>
          <a:p>
            <a:pPr algn="ctr"/>
          </a:p>
        </p:txBody>
      </p:sp>
      <p:sp>
        <p:nvSpPr>
          <p:cNvPr id="15" name="Freeform 14"/>
          <p:cNvSpPr/>
          <p:nvPr/>
        </p:nvSpPr>
        <p:spPr>
          <a:xfrm>
            <a:off x="1917122" y="4494824"/>
            <a:ext cx="111264" cy="95098"/>
          </a:xfrm>
          <a:custGeom>
            <a:avLst/>
            <a:gdLst/>
            <a:ahLst/>
            <a:cxnLst/>
            <a:rect l="l" t="t" r="r" b="b"/>
            <a:pathLst>
              <a:path w="111264" h="95098">
                <a:moveTo>
                  <a:pt x="0" y="95098"/>
                </a:moveTo>
                <a:lnTo>
                  <a:pt x="0" y="38039"/>
                </a:lnTo>
                <a:lnTo>
                  <a:pt x="25962" y="0"/>
                </a:lnTo>
                <a:lnTo>
                  <a:pt x="85302" y="0"/>
                </a:lnTo>
                <a:lnTo>
                  <a:pt x="111264" y="38039"/>
                </a:lnTo>
                <a:lnTo>
                  <a:pt x="111264" y="95098"/>
                </a:lnTo>
              </a:path>
            </a:pathLst>
          </a:custGeom>
          <a:noFill/>
          <a:ln w="18161">
            <a:solidFill>
              <a:srgbClr val="B3261E"/>
            </a:solidFill>
          </a:ln>
          <a:effectLst/>
        </p:spPr>
        <p:txBody>
          <a:bodyPr rtlCol="0" anchor="ctr"/>
          <a:lstStyle/>
          <a:p>
            <a:pPr algn="ctr"/>
          </a:p>
        </p:txBody>
      </p:sp>
      <p:sp>
        <p:nvSpPr>
          <p:cNvPr id="16" name="TextBox 15"/>
          <p:cNvSpPr txBox="1"/>
          <p:nvPr/>
        </p:nvSpPr>
        <p:spPr>
          <a:xfrm>
            <a:off x="6400800" y="3337560"/>
            <a:ext cx="521208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WHAT A FORGERY ON </a:t>
            </a:r>
            <a:r>
              <a:rPr sz="1150" b="1" i="1" spc="100">
                <a:solidFill>
                  <a:srgbClr val="5B6675"/>
                </a:solidFill>
                <a:latin typeface="Cambria"/>
              </a:rPr>
              <a:t>m</a:t>
            </a:r>
            <a:r>
              <a:rPr sz="1150" b="1" i="0" spc="100">
                <a:solidFill>
                  <a:srgbClr val="5B6675"/>
                </a:solidFill>
                <a:latin typeface="Cambria"/>
              </a:rPr>
              <a:t>′</a:t>
            </a:r>
            <a:r>
              <a:rPr sz="1150" b="1" i="1" baseline="-25000" spc="100">
                <a:solidFill>
                  <a:srgbClr val="5B6675"/>
                </a:solidFill>
                <a:latin typeface="Cambria"/>
              </a:rPr>
              <a:t>i</a:t>
            </a:r>
            <a:r>
              <a:rPr sz="1150" b="1" i="0" spc="100">
                <a:solidFill>
                  <a:srgbClr val="5B6675"/>
                </a:solidFill>
                <a:latin typeface="Calibri"/>
              </a:rPr>
              <a:t> WOULD NEED</a:t>
            </a:r>
          </a:p>
        </p:txBody>
      </p:sp>
      <p:sp>
        <p:nvSpPr>
          <p:cNvPr id="17" name="Rounded Rectangle 16"/>
          <p:cNvSpPr/>
          <p:nvPr/>
        </p:nvSpPr>
        <p:spPr>
          <a:xfrm>
            <a:off x="6400800" y="3657600"/>
            <a:ext cx="5239512" cy="1417320"/>
          </a:xfrm>
          <a:prstGeom prst="roundRect">
            <a:avLst>
              <a:gd name="adj" fmla="val 7741"/>
            </a:avLst>
          </a:prstGeom>
          <a:solidFill>
            <a:srgbClr val="FFFFFF"/>
          </a:solidFill>
          <a:ln w="15240">
            <a:solidFill>
              <a:srgbClr val="D3D9E1"/>
            </a:solidFill>
          </a:ln>
          <a:effectLst/>
        </p:spPr>
        <p:txBody>
          <a:bodyPr rtlCol="0" anchor="ctr" wrap="square" lIns="228600" rIns="228600" tIns="36576" bIns="36576"/>
          <a:lstStyle/>
          <a:p>
            <a:pPr algn="l">
              <a:spcBef>
                <a:spcPts val="0"/>
              </a:spcBef>
              <a:spcAft>
                <a:spcPts val="400"/>
              </a:spcAft>
            </a:pPr>
            <a:r>
              <a:rPr sz="2000" b="1" i="0">
                <a:solidFill>
                  <a:srgbClr val="14202E"/>
                </a:solidFill>
                <a:latin typeface="Calibri"/>
              </a:rPr>
              <a:t>a matching commitment and response</a:t>
            </a:r>
          </a:p>
          <a:p>
            <a:pPr algn="l">
              <a:spcBef>
                <a:spcPts val="0"/>
              </a:spcBef>
              <a:spcAft>
                <a:spcPts val="600"/>
              </a:spcAft>
            </a:pPr>
            <a:r>
              <a:rPr sz="2000" b="0" i="0">
                <a:solidFill>
                  <a:srgbClr val="14202E"/>
                </a:solidFill>
                <a:latin typeface="Calibri"/>
              </a:rPr>
              <a:t>for a new hash value </a:t>
            </a:r>
            <a:r>
              <a:rPr sz="2000" b="0" i="1">
                <a:solidFill>
                  <a:srgbClr val="14202E"/>
                </a:solidFill>
                <a:latin typeface="Cambria"/>
              </a:rPr>
              <a:t>v</a:t>
            </a:r>
            <a:r>
              <a:rPr sz="2000" b="0" i="0">
                <a:solidFill>
                  <a:srgbClr val="14202E"/>
                </a:solidFill>
                <a:latin typeface="Cambria"/>
              </a:rPr>
              <a:t>′</a:t>
            </a:r>
            <a:r>
              <a:rPr sz="2000" b="0" i="1" baseline="-25000">
                <a:solidFill>
                  <a:srgbClr val="14202E"/>
                </a:solidFill>
                <a:latin typeface="Cambria"/>
              </a:rPr>
              <a:t>i</a:t>
            </a:r>
          </a:p>
          <a:p>
            <a:pPr algn="l">
              <a:spcBef>
                <a:spcPts val="0"/>
              </a:spcBef>
              <a:spcAft>
                <a:spcPts val="0"/>
              </a:spcAft>
            </a:pPr>
            <a:r>
              <a:rPr sz="1700" b="0" i="0">
                <a:solidFill>
                  <a:srgbClr val="B3261E"/>
                </a:solidFill>
                <a:latin typeface="Calibri"/>
              </a:rPr>
              <a:t>with </a:t>
            </a:r>
            <a:r>
              <a:rPr sz="1700" b="0" i="1">
                <a:solidFill>
                  <a:srgbClr val="B3261E"/>
                </a:solidFill>
                <a:latin typeface="Cambria"/>
              </a:rPr>
              <a:t>sk</a:t>
            </a:r>
            <a:r>
              <a:rPr sz="1700" b="0" i="1" baseline="-25000">
                <a:solidFill>
                  <a:srgbClr val="B3261E"/>
                </a:solidFill>
                <a:latin typeface="Cambria"/>
              </a:rPr>
              <a:t>i</a:t>
            </a:r>
            <a:r>
              <a:rPr sz="1700" b="0" i="0">
                <a:solidFill>
                  <a:srgbClr val="B3261E"/>
                </a:solidFill>
                <a:latin typeface="Calibri"/>
              </a:rPr>
              <a:t> and </a:t>
            </a:r>
            <a:r>
              <a:rPr sz="1700" b="0" i="1">
                <a:solidFill>
                  <a:srgbClr val="B3261E"/>
                </a:solidFill>
                <a:latin typeface="Cambria"/>
              </a:rPr>
              <a:t>r</a:t>
            </a:r>
            <a:r>
              <a:rPr sz="1700" b="0" i="0" baseline="-25000">
                <a:solidFill>
                  <a:srgbClr val="B3261E"/>
                </a:solidFill>
                <a:latin typeface="Cambria"/>
              </a:rPr>
              <a:t>2</a:t>
            </a:r>
            <a:r>
              <a:rPr sz="1700" b="0" i="1" baseline="-25000">
                <a:solidFill>
                  <a:srgbClr val="B3261E"/>
                </a:solidFill>
                <a:latin typeface="Cambria"/>
              </a:rPr>
              <a:t>i</a:t>
            </a:r>
            <a:r>
              <a:rPr sz="1700" b="0" i="0">
                <a:solidFill>
                  <a:srgbClr val="B3261E"/>
                </a:solidFill>
                <a:latin typeface="Calibri"/>
              </a:rPr>
              <a:t> still unknown</a:t>
            </a:r>
          </a:p>
        </p:txBody>
      </p:sp>
      <p:sp>
        <p:nvSpPr>
          <p:cNvPr id="18" name="Rectangle 17"/>
          <p:cNvSpPr/>
          <p:nvPr/>
        </p:nvSpPr>
        <p:spPr>
          <a:xfrm>
            <a:off x="548640" y="5760720"/>
            <a:ext cx="82296" cy="566928"/>
          </a:xfrm>
          <a:prstGeom prst="rect">
            <a:avLst/>
          </a:prstGeom>
          <a:solidFill>
            <a:srgbClr val="B3261E"/>
          </a:solidFill>
          <a:ln>
            <a:noFill/>
          </a:ln>
          <a:effectLst/>
        </p:spPr>
        <p:txBody>
          <a:bodyPr rtlCol="0" anchor="ctr" wrap="square" lIns="73152" rIns="73152" tIns="36576" bIns="36576"/>
          <a:lstStyle/>
          <a:p>
            <a:pPr algn="ctr"/>
          </a:p>
        </p:txBody>
      </p:sp>
      <p:sp>
        <p:nvSpPr>
          <p:cNvPr id="19" name="TextBox 18"/>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2000" b="1" i="0">
                <a:solidFill>
                  <a:srgbClr val="14202E"/>
                </a:solidFill>
                <a:latin typeface="Calibri"/>
              </a:rPr>
              <a:t>Hint: it does not have to open the sealed number. It only has to rescale it.</a:t>
            </a:r>
          </a:p>
        </p:txBody>
      </p:sp>
      <p:sp>
        <p:nvSpPr>
          <p:cNvPr id="20" name="PresenterCue"/>
          <p:cNvSpPr/>
          <p:nvPr/>
        </p:nvSpPr>
        <p:spPr>
          <a:xfrm>
            <a:off x="8503920" y="1033271"/>
            <a:ext cx="3136392" cy="457200"/>
          </a:xfrm>
          <a:prstGeom prst="roundRect">
            <a:avLst>
              <a:gd name="adj" fmla="val 10000"/>
            </a:avLst>
          </a:prstGeom>
          <a:solidFill>
            <a:srgbClr val="FFF3B0"/>
          </a:solidFill>
          <a:ln w="12700">
            <a:solidFill>
              <a:srgbClr val="D9B93A"/>
            </a:solidFill>
          </a:ln>
          <a:effectLst/>
        </p:spPr>
        <p:txBody>
          <a:bodyPr rtlCol="0" anchor="ctr" wrap="square" tIns="36576" bIns="36576"/>
          <a:lstStyle/>
          <a:p>
            <a:pPr algn="l">
              <a:lnSpc>
                <a:spcPct val="92000"/>
              </a:lnSpc>
              <a:spcBef>
                <a:spcPts val="0"/>
              </a:spcBef>
              <a:spcAft>
                <a:spcPts val="0"/>
              </a:spcAft>
            </a:pPr>
            <a:r>
              <a:rPr sz="850" b="1" i="0">
                <a:solidFill>
                  <a:srgbClr val="8A6D00"/>
                </a:solidFill>
                <a:latin typeface="Calibri"/>
              </a:rPr>
              <a:t>PRESENTER CUE</a:t>
            </a:r>
          </a:p>
          <a:p>
            <a:pPr algn="l">
              <a:lnSpc>
                <a:spcPct val="92000"/>
              </a:lnSpc>
              <a:spcBef>
                <a:spcPts val="0"/>
              </a:spcBef>
              <a:spcAft>
                <a:spcPts val="0"/>
              </a:spcAft>
            </a:pPr>
            <a:r>
              <a:rPr sz="1250" b="0" i="0">
                <a:solidFill>
                  <a:srgbClr val="4A3B00"/>
                </a:solidFill>
                <a:latin typeface="Calibri"/>
              </a:rPr>
              <a:t>Pause. Answer: rescale, don't open.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III · THE ATTACK</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Step 1: strip off the certificate</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12 / 32</a:t>
            </a:r>
          </a:p>
        </p:txBody>
      </p:sp>
      <p:sp>
        <p:nvSpPr>
          <p:cNvPr id="8" name="TextBox 7"/>
          <p:cNvSpPr txBox="1"/>
          <p:nvPr/>
        </p:nvSpPr>
        <p:spPr>
          <a:xfrm>
            <a:off x="548640" y="1572768"/>
            <a:ext cx="292608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THE ATTACK, IN FIVE STEPS</a:t>
            </a:r>
          </a:p>
        </p:txBody>
      </p:sp>
      <p:sp>
        <p:nvSpPr>
          <p:cNvPr id="9" name="Rounded Rectangle 8"/>
          <p:cNvSpPr/>
          <p:nvPr/>
        </p:nvSpPr>
        <p:spPr>
          <a:xfrm>
            <a:off x="548640" y="1920240"/>
            <a:ext cx="2926080" cy="566928"/>
          </a:xfrm>
          <a:prstGeom prst="roundRect">
            <a:avLst>
              <a:gd name="adj" fmla="val 12903"/>
            </a:avLst>
          </a:prstGeom>
          <a:solidFill>
            <a:srgbClr val="FCE9E7"/>
          </a:solidFill>
          <a:ln w="25400">
            <a:solidFill>
              <a:srgbClr val="B3261E"/>
            </a:solidFill>
          </a:ln>
          <a:effectLst/>
        </p:spPr>
        <p:txBody>
          <a:bodyPr rtlCol="0" anchor="ctr" wrap="square" lIns="164592" rIns="164592" tIns="36576" bIns="36576"/>
          <a:lstStyle/>
          <a:p>
            <a:pPr algn="l">
              <a:spcBef>
                <a:spcPts val="0"/>
              </a:spcBef>
              <a:spcAft>
                <a:spcPts val="0"/>
              </a:spcAft>
            </a:pPr>
            <a:r>
              <a:rPr sz="1550" b="1" i="0">
                <a:solidFill>
                  <a:srgbClr val="B3261E"/>
                </a:solidFill>
                <a:latin typeface="Calibri"/>
              </a:rPr>
              <a:t>① strip the certificate</a:t>
            </a:r>
          </a:p>
        </p:txBody>
      </p:sp>
      <p:cxnSp>
        <p:nvCxnSpPr>
          <p:cNvPr id="10" name="Connector 9"/>
          <p:cNvCxnSpPr/>
          <p:nvPr/>
        </p:nvCxnSpPr>
        <p:spPr>
          <a:xfrm>
            <a:off x="2011680" y="2487168"/>
            <a:ext cx="0" cy="146304"/>
          </a:xfrm>
          <a:prstGeom prst="line">
            <a:avLst/>
          </a:prstGeom>
          <a:ln w="19050">
            <a:solidFill>
              <a:srgbClr val="D3D9E1"/>
            </a:solidFill>
            <a:tailEnd type="triangle" w="med" len="med"/>
          </a:ln>
        </p:spPr>
      </p:cxnSp>
      <p:sp>
        <p:nvSpPr>
          <p:cNvPr id="11" name="Rounded Rectangle 10"/>
          <p:cNvSpPr/>
          <p:nvPr/>
        </p:nvSpPr>
        <p:spPr>
          <a:xfrm>
            <a:off x="548640" y="2633472"/>
            <a:ext cx="2926080" cy="566928"/>
          </a:xfrm>
          <a:prstGeom prst="roundRect">
            <a:avLst>
              <a:gd name="adj" fmla="val 12903"/>
            </a:avLst>
          </a:prstGeom>
          <a:solidFill>
            <a:srgbClr val="F2F5F8"/>
          </a:solidFill>
          <a:ln>
            <a:noFill/>
          </a:ln>
          <a:effectLst/>
        </p:spPr>
        <p:txBody>
          <a:bodyPr rtlCol="0" anchor="ctr" wrap="square" lIns="164592" rIns="164592" tIns="36576" bIns="36576"/>
          <a:lstStyle/>
          <a:p>
            <a:pPr algn="l">
              <a:spcBef>
                <a:spcPts val="0"/>
              </a:spcBef>
              <a:spcAft>
                <a:spcPts val="0"/>
              </a:spcAft>
            </a:pPr>
            <a:r>
              <a:rPr sz="1550" b="0" i="0">
                <a:solidFill>
                  <a:srgbClr val="5B6675"/>
                </a:solidFill>
                <a:latin typeface="Calibri"/>
              </a:rPr>
              <a:t>② normalise by </a:t>
            </a:r>
            <a:r>
              <a:rPr sz="1550" b="0" i="1">
                <a:solidFill>
                  <a:srgbClr val="5B6675"/>
                </a:solidFill>
                <a:latin typeface="Cambria"/>
              </a:rPr>
              <a:t>v</a:t>
            </a:r>
            <a:r>
              <a:rPr sz="1550" b="0" i="1" baseline="-25000">
                <a:solidFill>
                  <a:srgbClr val="5B6675"/>
                </a:solidFill>
                <a:latin typeface="Cambria"/>
              </a:rPr>
              <a:t>i</a:t>
            </a:r>
          </a:p>
        </p:txBody>
      </p:sp>
      <p:cxnSp>
        <p:nvCxnSpPr>
          <p:cNvPr id="12" name="Connector 11"/>
          <p:cNvCxnSpPr/>
          <p:nvPr/>
        </p:nvCxnSpPr>
        <p:spPr>
          <a:xfrm>
            <a:off x="2011680" y="3200400"/>
            <a:ext cx="0" cy="146304"/>
          </a:xfrm>
          <a:prstGeom prst="line">
            <a:avLst/>
          </a:prstGeom>
          <a:ln w="19050">
            <a:solidFill>
              <a:srgbClr val="D3D9E1"/>
            </a:solidFill>
            <a:tailEnd type="triangle" w="med" len="med"/>
          </a:ln>
        </p:spPr>
      </p:cxnSp>
      <p:sp>
        <p:nvSpPr>
          <p:cNvPr id="13" name="Rounded Rectangle 12"/>
          <p:cNvSpPr/>
          <p:nvPr/>
        </p:nvSpPr>
        <p:spPr>
          <a:xfrm>
            <a:off x="548640" y="3346704"/>
            <a:ext cx="2926080" cy="566928"/>
          </a:xfrm>
          <a:prstGeom prst="roundRect">
            <a:avLst>
              <a:gd name="adj" fmla="val 12903"/>
            </a:avLst>
          </a:prstGeom>
          <a:solidFill>
            <a:srgbClr val="F2F5F8"/>
          </a:solidFill>
          <a:ln>
            <a:noFill/>
          </a:ln>
          <a:effectLst/>
        </p:spPr>
        <p:txBody>
          <a:bodyPr rtlCol="0" anchor="ctr" wrap="square" lIns="164592" rIns="164592" tIns="36576" bIns="36576"/>
          <a:lstStyle/>
          <a:p>
            <a:pPr algn="l">
              <a:spcBef>
                <a:spcPts val="0"/>
              </a:spcBef>
              <a:spcAft>
                <a:spcPts val="0"/>
              </a:spcAft>
            </a:pPr>
            <a:r>
              <a:rPr sz="1550" b="0" i="0">
                <a:solidFill>
                  <a:srgbClr val="5B6675"/>
                </a:solidFill>
                <a:latin typeface="Calibri"/>
              </a:rPr>
              <a:t>③ choose </a:t>
            </a:r>
            <a:r>
              <a:rPr sz="1550" b="0" i="1">
                <a:solidFill>
                  <a:srgbClr val="5B6675"/>
                </a:solidFill>
                <a:latin typeface="Cambria"/>
              </a:rPr>
              <a:t>m</a:t>
            </a:r>
            <a:r>
              <a:rPr sz="1550" b="0" i="0">
                <a:solidFill>
                  <a:srgbClr val="5B6675"/>
                </a:solidFill>
                <a:latin typeface="Cambria"/>
              </a:rPr>
              <a:t>′</a:t>
            </a:r>
            <a:r>
              <a:rPr sz="1550" b="0" i="1" baseline="-25000">
                <a:solidFill>
                  <a:srgbClr val="5B6675"/>
                </a:solidFill>
                <a:latin typeface="Cambria"/>
              </a:rPr>
              <a:t>i</a:t>
            </a:r>
            <a:r>
              <a:rPr sz="1550" b="0" i="0">
                <a:solidFill>
                  <a:srgbClr val="5B6675"/>
                </a:solidFill>
                <a:latin typeface="Calibri"/>
              </a:rPr>
              <a:t>, get </a:t>
            </a:r>
            <a:r>
              <a:rPr sz="1550" b="0" i="1">
                <a:solidFill>
                  <a:srgbClr val="5B6675"/>
                </a:solidFill>
                <a:latin typeface="Cambria"/>
              </a:rPr>
              <a:t>v</a:t>
            </a:r>
            <a:r>
              <a:rPr sz="1550" b="0" i="0">
                <a:solidFill>
                  <a:srgbClr val="5B6675"/>
                </a:solidFill>
                <a:latin typeface="Cambria"/>
              </a:rPr>
              <a:t>′</a:t>
            </a:r>
            <a:r>
              <a:rPr sz="1550" b="0" i="1" baseline="-25000">
                <a:solidFill>
                  <a:srgbClr val="5B6675"/>
                </a:solidFill>
                <a:latin typeface="Cambria"/>
              </a:rPr>
              <a:t>i</a:t>
            </a:r>
          </a:p>
        </p:txBody>
      </p:sp>
      <p:cxnSp>
        <p:nvCxnSpPr>
          <p:cNvPr id="14" name="Connector 13"/>
          <p:cNvCxnSpPr/>
          <p:nvPr/>
        </p:nvCxnSpPr>
        <p:spPr>
          <a:xfrm>
            <a:off x="2011680" y="3913632"/>
            <a:ext cx="0" cy="146304"/>
          </a:xfrm>
          <a:prstGeom prst="line">
            <a:avLst/>
          </a:prstGeom>
          <a:ln w="19050">
            <a:solidFill>
              <a:srgbClr val="D3D9E1"/>
            </a:solidFill>
            <a:tailEnd type="triangle" w="med" len="med"/>
          </a:ln>
        </p:spPr>
      </p:cxnSp>
      <p:sp>
        <p:nvSpPr>
          <p:cNvPr id="15" name="Rounded Rectangle 14"/>
          <p:cNvSpPr/>
          <p:nvPr/>
        </p:nvSpPr>
        <p:spPr>
          <a:xfrm>
            <a:off x="548640" y="4059935"/>
            <a:ext cx="2926080" cy="566928"/>
          </a:xfrm>
          <a:prstGeom prst="roundRect">
            <a:avLst>
              <a:gd name="adj" fmla="val 12903"/>
            </a:avLst>
          </a:prstGeom>
          <a:solidFill>
            <a:srgbClr val="F2F5F8"/>
          </a:solidFill>
          <a:ln>
            <a:noFill/>
          </a:ln>
          <a:effectLst/>
        </p:spPr>
        <p:txBody>
          <a:bodyPr rtlCol="0" anchor="ctr" wrap="square" lIns="164592" rIns="164592" tIns="36576" bIns="36576"/>
          <a:lstStyle/>
          <a:p>
            <a:pPr algn="l">
              <a:spcBef>
                <a:spcPts val="0"/>
              </a:spcBef>
              <a:spcAft>
                <a:spcPts val="0"/>
              </a:spcAft>
            </a:pPr>
            <a:r>
              <a:rPr sz="1550" b="0" i="0">
                <a:solidFill>
                  <a:srgbClr val="5B6675"/>
                </a:solidFill>
                <a:latin typeface="Calibri"/>
              </a:rPr>
              <a:t>④ build </a:t>
            </a:r>
            <a:r>
              <a:rPr sz="1550" b="0" i="1">
                <a:solidFill>
                  <a:srgbClr val="5B6675"/>
                </a:solidFill>
                <a:latin typeface="Cambria"/>
              </a:rPr>
              <a:t>R</a:t>
            </a:r>
            <a:r>
              <a:rPr sz="1550" b="0" i="0">
                <a:solidFill>
                  <a:srgbClr val="5B6675"/>
                </a:solidFill>
                <a:latin typeface="Cambria"/>
              </a:rPr>
              <a:t>′</a:t>
            </a:r>
            <a:r>
              <a:rPr sz="1550" b="0" i="1" baseline="-25000">
                <a:solidFill>
                  <a:srgbClr val="5B6675"/>
                </a:solidFill>
                <a:latin typeface="Cambria"/>
              </a:rPr>
              <a:t>i</a:t>
            </a:r>
          </a:p>
        </p:txBody>
      </p:sp>
      <p:cxnSp>
        <p:nvCxnSpPr>
          <p:cNvPr id="16" name="Connector 15"/>
          <p:cNvCxnSpPr/>
          <p:nvPr/>
        </p:nvCxnSpPr>
        <p:spPr>
          <a:xfrm>
            <a:off x="2011680" y="4626864"/>
            <a:ext cx="0" cy="146304"/>
          </a:xfrm>
          <a:prstGeom prst="line">
            <a:avLst/>
          </a:prstGeom>
          <a:ln w="19050">
            <a:solidFill>
              <a:srgbClr val="D3D9E1"/>
            </a:solidFill>
            <a:tailEnd type="triangle" w="med" len="med"/>
          </a:ln>
        </p:spPr>
      </p:cxnSp>
      <p:sp>
        <p:nvSpPr>
          <p:cNvPr id="17" name="Rounded Rectangle 16"/>
          <p:cNvSpPr/>
          <p:nvPr/>
        </p:nvSpPr>
        <p:spPr>
          <a:xfrm>
            <a:off x="548640" y="4773168"/>
            <a:ext cx="2926080" cy="566928"/>
          </a:xfrm>
          <a:prstGeom prst="roundRect">
            <a:avLst>
              <a:gd name="adj" fmla="val 12903"/>
            </a:avLst>
          </a:prstGeom>
          <a:solidFill>
            <a:srgbClr val="F2F5F8"/>
          </a:solidFill>
          <a:ln>
            <a:noFill/>
          </a:ln>
          <a:effectLst/>
        </p:spPr>
        <p:txBody>
          <a:bodyPr rtlCol="0" anchor="ctr" wrap="square" lIns="164592" rIns="164592" tIns="36576" bIns="36576"/>
          <a:lstStyle/>
          <a:p>
            <a:pPr algn="l">
              <a:spcBef>
                <a:spcPts val="0"/>
              </a:spcBef>
              <a:spcAft>
                <a:spcPts val="0"/>
              </a:spcAft>
            </a:pPr>
            <a:r>
              <a:rPr sz="1550" b="0" i="0">
                <a:solidFill>
                  <a:srgbClr val="5B6675"/>
                </a:solidFill>
                <a:latin typeface="Calibri"/>
              </a:rPr>
              <a:t>⑤ build </a:t>
            </a:r>
            <a:r>
              <a:rPr sz="1550" b="0" i="1">
                <a:solidFill>
                  <a:srgbClr val="5B6675"/>
                </a:solidFill>
                <a:latin typeface="Cambria"/>
              </a:rPr>
              <a:t>z</a:t>
            </a:r>
            <a:r>
              <a:rPr sz="1550" b="0" i="0">
                <a:solidFill>
                  <a:srgbClr val="5B6675"/>
                </a:solidFill>
                <a:latin typeface="Cambria"/>
              </a:rPr>
              <a:t>′</a:t>
            </a:r>
            <a:r>
              <a:rPr sz="1550" b="0" i="1" baseline="-25000">
                <a:solidFill>
                  <a:srgbClr val="5B6675"/>
                </a:solidFill>
                <a:latin typeface="Cambria"/>
              </a:rPr>
              <a:t>i</a:t>
            </a:r>
          </a:p>
        </p:txBody>
      </p:sp>
      <p:sp>
        <p:nvSpPr>
          <p:cNvPr id="18" name="TextBox 17"/>
          <p:cNvSpPr txBox="1"/>
          <p:nvPr/>
        </p:nvSpPr>
        <p:spPr>
          <a:xfrm>
            <a:off x="3840480" y="1645920"/>
            <a:ext cx="7772400" cy="548640"/>
          </a:xfrm>
          <a:prstGeom prst="rect">
            <a:avLst/>
          </a:prstGeom>
          <a:noFill/>
        </p:spPr>
        <p:txBody>
          <a:bodyPr wrap="square" lIns="0" rIns="0" tIns="0" bIns="0" anchor="t">
            <a:spAutoFit/>
          </a:bodyPr>
          <a:lstStyle/>
          <a:p>
            <a:pPr algn="l">
              <a:spcBef>
                <a:spcPts val="0"/>
              </a:spcBef>
              <a:spcAft>
                <a:spcPts val="0"/>
              </a:spcAft>
            </a:pPr>
            <a:r>
              <a:rPr sz="2100" b="0" i="0">
                <a:solidFill>
                  <a:srgbClr val="14202E"/>
                </a:solidFill>
                <a:latin typeface="Calibri"/>
              </a:rPr>
              <a:t>The KGC issued </a:t>
            </a:r>
            <a:r>
              <a:rPr sz="2100" b="0" i="1">
                <a:solidFill>
                  <a:srgbClr val="14202E"/>
                </a:solidFill>
                <a:latin typeface="Cambria"/>
              </a:rPr>
              <a:t>R</a:t>
            </a:r>
            <a:r>
              <a:rPr sz="2100" b="0" i="0" baseline="-25000">
                <a:solidFill>
                  <a:srgbClr val="14202E"/>
                </a:solidFill>
                <a:latin typeface="Cambria"/>
              </a:rPr>
              <a:t>1</a:t>
            </a:r>
            <a:r>
              <a:rPr sz="2100" b="0" i="1" baseline="-25000">
                <a:solidFill>
                  <a:srgbClr val="14202E"/>
                </a:solidFill>
                <a:latin typeface="Cambria"/>
              </a:rPr>
              <a:t>i</a:t>
            </a:r>
            <a:r>
              <a:rPr sz="2100" b="0" i="0">
                <a:solidFill>
                  <a:srgbClr val="14202E"/>
                </a:solidFill>
                <a:latin typeface="Calibri"/>
              </a:rPr>
              <a:t> and </a:t>
            </a:r>
            <a:r>
              <a:rPr sz="2100" b="0" i="1">
                <a:solidFill>
                  <a:srgbClr val="14202E"/>
                </a:solidFill>
                <a:latin typeface="Cambria"/>
              </a:rPr>
              <a:t>c</a:t>
            </a:r>
            <a:r>
              <a:rPr sz="2100" b="0" i="1" baseline="-25000">
                <a:solidFill>
                  <a:srgbClr val="14202E"/>
                </a:solidFill>
                <a:latin typeface="Cambria"/>
              </a:rPr>
              <a:t>i</a:t>
            </a:r>
            <a:r>
              <a:rPr sz="2100" b="0" i="0">
                <a:solidFill>
                  <a:srgbClr val="14202E"/>
                </a:solidFill>
                <a:latin typeface="Calibri"/>
              </a:rPr>
              <a:t>, so it can subtract them:</a:t>
            </a:r>
          </a:p>
        </p:txBody>
      </p:sp>
      <p:sp>
        <p:nvSpPr>
          <p:cNvPr id="19" name="TextBox 18"/>
          <p:cNvSpPr txBox="1"/>
          <p:nvPr/>
        </p:nvSpPr>
        <p:spPr>
          <a:xfrm>
            <a:off x="3840480" y="2377440"/>
            <a:ext cx="7772400" cy="640080"/>
          </a:xfrm>
          <a:prstGeom prst="rect">
            <a:avLst/>
          </a:prstGeom>
          <a:noFill/>
        </p:spPr>
        <p:txBody>
          <a:bodyPr wrap="square" lIns="0" rIns="0" tIns="0" bIns="0" anchor="t">
            <a:spAutoFit/>
          </a:bodyPr>
          <a:lstStyle/>
          <a:p>
            <a:pPr algn="l">
              <a:spcBef>
                <a:spcPts val="0"/>
              </a:spcBef>
              <a:spcAft>
                <a:spcPts val="0"/>
              </a:spcAft>
            </a:pPr>
            <a:r>
              <a:rPr sz="3400" b="0" i="1">
                <a:solidFill>
                  <a:srgbClr val="14202E"/>
                </a:solidFill>
                <a:latin typeface="Cambria"/>
              </a:rPr>
              <a:t>r</a:t>
            </a:r>
            <a:r>
              <a:rPr sz="3400" b="0" i="0" baseline="-25000">
                <a:solidFill>
                  <a:srgbClr val="14202E"/>
                </a:solidFill>
                <a:latin typeface="Cambria"/>
              </a:rPr>
              <a:t>2</a:t>
            </a:r>
            <a:r>
              <a:rPr sz="3400" b="0" i="1" baseline="-25000">
                <a:solidFill>
                  <a:srgbClr val="14202E"/>
                </a:solidFill>
                <a:latin typeface="Cambria"/>
              </a:rPr>
              <a:t>i</a:t>
            </a:r>
            <a:r>
              <a:rPr sz="3400" b="0" i="1">
                <a:solidFill>
                  <a:srgbClr val="14202E"/>
                </a:solidFill>
                <a:latin typeface="Cambria"/>
              </a:rPr>
              <a:t>P</a:t>
            </a:r>
            <a:r>
              <a:rPr sz="3400" b="0" i="0">
                <a:solidFill>
                  <a:srgbClr val="14202E"/>
                </a:solidFill>
                <a:latin typeface="Cambria"/>
              </a:rPr>
              <a:t> = </a:t>
            </a:r>
            <a:r>
              <a:rPr sz="3400" b="0" i="1">
                <a:solidFill>
                  <a:srgbClr val="14202E"/>
                </a:solidFill>
                <a:latin typeface="Cambria"/>
              </a:rPr>
              <a:t>R</a:t>
            </a:r>
            <a:r>
              <a:rPr sz="3400" b="0" i="1" baseline="-25000">
                <a:solidFill>
                  <a:srgbClr val="14202E"/>
                </a:solidFill>
                <a:latin typeface="Cambria"/>
              </a:rPr>
              <a:t>i</a:t>
            </a:r>
            <a:r>
              <a:rPr sz="3400" b="0" i="0">
                <a:solidFill>
                  <a:srgbClr val="14202E"/>
                </a:solidFill>
                <a:latin typeface="Cambria"/>
              </a:rPr>
              <a:t> − </a:t>
            </a:r>
            <a:r>
              <a:rPr sz="3400" b="0" i="1">
                <a:solidFill>
                  <a:srgbClr val="14202E"/>
                </a:solidFill>
                <a:latin typeface="Cambria"/>
              </a:rPr>
              <a:t>R</a:t>
            </a:r>
            <a:r>
              <a:rPr sz="3400" b="0" i="0" baseline="-25000">
                <a:solidFill>
                  <a:srgbClr val="14202E"/>
                </a:solidFill>
                <a:latin typeface="Cambria"/>
              </a:rPr>
              <a:t>1</a:t>
            </a:r>
            <a:r>
              <a:rPr sz="3400" b="0" i="1" baseline="-25000">
                <a:solidFill>
                  <a:srgbClr val="14202E"/>
                </a:solidFill>
                <a:latin typeface="Cambria"/>
              </a:rPr>
              <a:t>i</a:t>
            </a:r>
          </a:p>
        </p:txBody>
      </p:sp>
      <p:sp>
        <p:nvSpPr>
          <p:cNvPr id="20" name="TextBox 19"/>
          <p:cNvSpPr txBox="1"/>
          <p:nvPr/>
        </p:nvSpPr>
        <p:spPr>
          <a:xfrm>
            <a:off x="3840480" y="2999232"/>
            <a:ext cx="7772400" cy="365760"/>
          </a:xfrm>
          <a:prstGeom prst="rect">
            <a:avLst/>
          </a:prstGeom>
          <a:noFill/>
        </p:spPr>
        <p:txBody>
          <a:bodyPr wrap="square" lIns="0" rIns="0" tIns="0" bIns="0" anchor="t">
            <a:spAutoFit/>
          </a:bodyPr>
          <a:lstStyle/>
          <a:p>
            <a:pPr algn="l">
              <a:spcBef>
                <a:spcPts val="0"/>
              </a:spcBef>
              <a:spcAft>
                <a:spcPts val="0"/>
              </a:spcAft>
            </a:pPr>
            <a:r>
              <a:rPr sz="1500" b="0" i="0">
                <a:solidFill>
                  <a:srgbClr val="5B6675"/>
                </a:solidFill>
                <a:latin typeface="Calibri"/>
              </a:rPr>
              <a:t>a group element: the KGC can compute it, but cannot take its discrete logarithm</a:t>
            </a:r>
          </a:p>
        </p:txBody>
      </p:sp>
      <p:sp>
        <p:nvSpPr>
          <p:cNvPr id="21" name="Rounded Rectangle 20"/>
          <p:cNvSpPr/>
          <p:nvPr/>
        </p:nvSpPr>
        <p:spPr>
          <a:xfrm>
            <a:off x="3794759" y="4050792"/>
            <a:ext cx="2051517" cy="658368"/>
          </a:xfrm>
          <a:prstGeom prst="roundRect">
            <a:avLst>
              <a:gd name="adj" fmla="val 11111"/>
            </a:avLst>
          </a:prstGeom>
          <a:solidFill>
            <a:srgbClr val="FCE9E7"/>
          </a:solidFill>
          <a:ln w="22225">
            <a:solidFill>
              <a:srgbClr val="B3261E"/>
            </a:solidFill>
            <a:prstDash val="dash"/>
          </a:ln>
          <a:effectLst/>
        </p:spPr>
        <p:txBody>
          <a:bodyPr rtlCol="0" anchor="ctr" wrap="square" lIns="73152" rIns="73152" tIns="36576" bIns="36576"/>
          <a:lstStyle/>
          <a:p>
            <a:pPr algn="ctr"/>
          </a:p>
        </p:txBody>
      </p:sp>
      <p:sp>
        <p:nvSpPr>
          <p:cNvPr id="22" name="TextBox 21"/>
          <p:cNvSpPr txBox="1"/>
          <p:nvPr/>
        </p:nvSpPr>
        <p:spPr>
          <a:xfrm>
            <a:off x="3931920" y="4069080"/>
            <a:ext cx="7589520" cy="658368"/>
          </a:xfrm>
          <a:prstGeom prst="rect">
            <a:avLst/>
          </a:prstGeom>
          <a:noFill/>
        </p:spPr>
        <p:txBody>
          <a:bodyPr wrap="square" lIns="0" rIns="0" tIns="0" bIns="0" anchor="ctr">
            <a:spAutoFit/>
          </a:bodyPr>
          <a:lstStyle/>
          <a:p>
            <a:pPr algn="l">
              <a:spcBef>
                <a:spcPts val="0"/>
              </a:spcBef>
              <a:spcAft>
                <a:spcPts val="0"/>
              </a:spcAft>
            </a:pPr>
            <a:r>
              <a:rPr sz="3400" b="0" i="1">
                <a:solidFill>
                  <a:srgbClr val="14202E"/>
                </a:solidFill>
                <a:latin typeface="Cambria"/>
              </a:rPr>
              <a:t>r</a:t>
            </a:r>
            <a:r>
              <a:rPr sz="3400" b="0" i="0" baseline="-25000">
                <a:solidFill>
                  <a:srgbClr val="14202E"/>
                </a:solidFill>
                <a:latin typeface="Cambria"/>
              </a:rPr>
              <a:t>2</a:t>
            </a:r>
            <a:r>
              <a:rPr sz="3400" b="0" i="1" baseline="-25000">
                <a:solidFill>
                  <a:srgbClr val="14202E"/>
                </a:solidFill>
                <a:latin typeface="Cambria"/>
              </a:rPr>
              <a:t>i</a:t>
            </a:r>
            <a:r>
              <a:rPr sz="3400" b="0" i="0">
                <a:solidFill>
                  <a:srgbClr val="14202E"/>
                </a:solidFill>
                <a:latin typeface="Cambria"/>
              </a:rPr>
              <a:t> + </a:t>
            </a:r>
            <a:r>
              <a:rPr sz="3400" b="0" i="1">
                <a:solidFill>
                  <a:srgbClr val="14202E"/>
                </a:solidFill>
                <a:latin typeface="Cambria"/>
              </a:rPr>
              <a:t>sk</a:t>
            </a:r>
            <a:r>
              <a:rPr sz="3400" b="0" i="1" baseline="-25000">
                <a:solidFill>
                  <a:srgbClr val="14202E"/>
                </a:solidFill>
                <a:latin typeface="Cambria"/>
              </a:rPr>
              <a:t>i</a:t>
            </a:r>
            <a:r>
              <a:rPr sz="3400" b="0" i="1">
                <a:solidFill>
                  <a:srgbClr val="14202E"/>
                </a:solidFill>
                <a:latin typeface="Cambria"/>
              </a:rPr>
              <a:t>v</a:t>
            </a:r>
            <a:r>
              <a:rPr sz="3400" b="0" i="1" baseline="-25000">
                <a:solidFill>
                  <a:srgbClr val="14202E"/>
                </a:solidFill>
                <a:latin typeface="Cambria"/>
              </a:rPr>
              <a:t>i</a:t>
            </a:r>
            <a:r>
              <a:rPr sz="3400" b="0" i="0">
                <a:solidFill>
                  <a:srgbClr val="14202E"/>
                </a:solidFill>
                <a:latin typeface="Calibri"/>
              </a:rPr>
              <a:t>    </a:t>
            </a:r>
            <a:r>
              <a:rPr sz="3400" b="0" i="0">
                <a:solidFill>
                  <a:srgbClr val="14202E"/>
                </a:solidFill>
                <a:latin typeface="Cambria"/>
              </a:rPr>
              <a:t>= </a:t>
            </a:r>
            <a:r>
              <a:rPr sz="3400" b="0" i="1">
                <a:solidFill>
                  <a:srgbClr val="14202E"/>
                </a:solidFill>
                <a:latin typeface="Cambria"/>
              </a:rPr>
              <a:t>z</a:t>
            </a:r>
            <a:r>
              <a:rPr sz="3400" b="0" i="1" baseline="-25000">
                <a:solidFill>
                  <a:srgbClr val="14202E"/>
                </a:solidFill>
                <a:latin typeface="Cambria"/>
              </a:rPr>
              <a:t>i</a:t>
            </a:r>
            <a:r>
              <a:rPr sz="3400" b="0" i="0">
                <a:solidFill>
                  <a:srgbClr val="14202E"/>
                </a:solidFill>
                <a:latin typeface="Cambria"/>
              </a:rPr>
              <a:t> − </a:t>
            </a:r>
            <a:r>
              <a:rPr sz="3400" b="0" i="1">
                <a:solidFill>
                  <a:srgbClr val="14202E"/>
                </a:solidFill>
                <a:latin typeface="Cambria"/>
              </a:rPr>
              <a:t>c</a:t>
            </a:r>
            <a:r>
              <a:rPr sz="3400" b="0" i="1" baseline="-25000">
                <a:solidFill>
                  <a:srgbClr val="14202E"/>
                </a:solidFill>
                <a:latin typeface="Cambria"/>
              </a:rPr>
              <a:t>i</a:t>
            </a:r>
          </a:p>
        </p:txBody>
      </p:sp>
      <p:sp>
        <p:nvSpPr>
          <p:cNvPr id="23" name="Rounded Rectangle 22"/>
          <p:cNvSpPr/>
          <p:nvPr/>
        </p:nvSpPr>
        <p:spPr>
          <a:xfrm>
            <a:off x="3866631" y="3931554"/>
            <a:ext cx="185440" cy="123626"/>
          </a:xfrm>
          <a:prstGeom prst="roundRect">
            <a:avLst>
              <a:gd name="adj" fmla="val 22189"/>
            </a:avLst>
          </a:prstGeom>
          <a:solidFill>
            <a:srgbClr val="B3261E"/>
          </a:solidFill>
          <a:ln>
            <a:noFill/>
          </a:ln>
          <a:effectLst/>
        </p:spPr>
        <p:txBody>
          <a:bodyPr rtlCol="0" anchor="ctr" wrap="square" lIns="73152" rIns="73152" tIns="36576" bIns="36576"/>
          <a:lstStyle/>
          <a:p>
            <a:pPr algn="ctr"/>
          </a:p>
        </p:txBody>
      </p:sp>
      <p:sp>
        <p:nvSpPr>
          <p:cNvPr id="24" name="Freeform 23"/>
          <p:cNvSpPr/>
          <p:nvPr/>
        </p:nvSpPr>
        <p:spPr>
          <a:xfrm>
            <a:off x="3903719" y="3836456"/>
            <a:ext cx="111265" cy="95098"/>
          </a:xfrm>
          <a:custGeom>
            <a:avLst/>
            <a:gdLst/>
            <a:ahLst/>
            <a:cxnLst/>
            <a:rect l="l" t="t" r="r" b="b"/>
            <a:pathLst>
              <a:path w="111265" h="95098">
                <a:moveTo>
                  <a:pt x="0" y="95098"/>
                </a:moveTo>
                <a:lnTo>
                  <a:pt x="0" y="38039"/>
                </a:lnTo>
                <a:lnTo>
                  <a:pt x="25962" y="0"/>
                </a:lnTo>
                <a:lnTo>
                  <a:pt x="85303" y="0"/>
                </a:lnTo>
                <a:lnTo>
                  <a:pt x="111265" y="38039"/>
                </a:lnTo>
                <a:lnTo>
                  <a:pt x="111265" y="95098"/>
                </a:lnTo>
              </a:path>
            </a:pathLst>
          </a:custGeom>
          <a:noFill/>
          <a:ln w="18161">
            <a:solidFill>
              <a:srgbClr val="B3261E"/>
            </a:solidFill>
          </a:ln>
          <a:effectLst/>
        </p:spPr>
        <p:txBody>
          <a:bodyPr rtlCol="0" anchor="ctr"/>
          <a:lstStyle/>
          <a:p>
            <a:pPr algn="ctr"/>
          </a:p>
        </p:txBody>
      </p:sp>
      <p:sp>
        <p:nvSpPr>
          <p:cNvPr id="25" name="TextBox 24"/>
          <p:cNvSpPr txBox="1"/>
          <p:nvPr/>
        </p:nvSpPr>
        <p:spPr>
          <a:xfrm>
            <a:off x="3840480" y="4754880"/>
            <a:ext cx="7772400" cy="365760"/>
          </a:xfrm>
          <a:prstGeom prst="rect">
            <a:avLst/>
          </a:prstGeom>
          <a:noFill/>
        </p:spPr>
        <p:txBody>
          <a:bodyPr wrap="square" lIns="0" rIns="0" tIns="0" bIns="0" anchor="t">
            <a:spAutoFit/>
          </a:bodyPr>
          <a:lstStyle/>
          <a:p>
            <a:pPr algn="l">
              <a:spcBef>
                <a:spcPts val="0"/>
              </a:spcBef>
              <a:spcAft>
                <a:spcPts val="0"/>
              </a:spcAft>
            </a:pPr>
            <a:r>
              <a:rPr sz="1500" b="0" i="0">
                <a:solidFill>
                  <a:srgbClr val="B3261E"/>
                </a:solidFill>
                <a:latin typeface="Calibri"/>
              </a:rPr>
              <a:t>two unknowns in one number: it stays sealed</a:t>
            </a:r>
          </a:p>
        </p:txBody>
      </p:sp>
      <p:sp>
        <p:nvSpPr>
          <p:cNvPr id="26" name="TextBox 25"/>
          <p:cNvSpPr txBox="1"/>
          <p:nvPr/>
        </p:nvSpPr>
        <p:spPr>
          <a:xfrm>
            <a:off x="3840480" y="5138928"/>
            <a:ext cx="7772400" cy="365760"/>
          </a:xfrm>
          <a:prstGeom prst="rect">
            <a:avLst/>
          </a:prstGeom>
          <a:noFill/>
        </p:spPr>
        <p:txBody>
          <a:bodyPr wrap="square" lIns="0" rIns="0" tIns="0" bIns="0" anchor="t">
            <a:spAutoFit/>
          </a:bodyPr>
          <a:lstStyle/>
          <a:p>
            <a:pPr algn="l">
              <a:spcBef>
                <a:spcPts val="0"/>
              </a:spcBef>
              <a:spcAft>
                <a:spcPts val="0"/>
              </a:spcAft>
            </a:pPr>
            <a:r>
              <a:rPr sz="1600" b="0" i="0">
                <a:solidFill>
                  <a:srgbClr val="5B6675"/>
                </a:solidFill>
                <a:latin typeface="Calibri"/>
              </a:rPr>
              <a:t>where </a:t>
            </a:r>
            <a:r>
              <a:rPr sz="1600" b="0" i="1">
                <a:solidFill>
                  <a:srgbClr val="5B6675"/>
                </a:solidFill>
                <a:latin typeface="Cambria"/>
              </a:rPr>
              <a:t>v</a:t>
            </a:r>
            <a:r>
              <a:rPr sz="1600" b="0" i="1" baseline="-25000">
                <a:solidFill>
                  <a:srgbClr val="5B6675"/>
                </a:solidFill>
                <a:latin typeface="Cambria"/>
              </a:rPr>
              <a:t>i</a:t>
            </a:r>
            <a:r>
              <a:rPr sz="1600" b="0" i="0">
                <a:solidFill>
                  <a:srgbClr val="5B6675"/>
                </a:solidFill>
                <a:latin typeface="Cambria"/>
              </a:rPr>
              <a:t> = </a:t>
            </a:r>
            <a:r>
              <a:rPr sz="1600" b="0" i="1">
                <a:solidFill>
                  <a:srgbClr val="5B6675"/>
                </a:solidFill>
                <a:latin typeface="Cambria"/>
              </a:rPr>
              <a:t>H</a:t>
            </a:r>
            <a:r>
              <a:rPr sz="1600" b="0" i="0" baseline="-25000">
                <a:solidFill>
                  <a:srgbClr val="5B6675"/>
                </a:solidFill>
                <a:latin typeface="Cambria"/>
              </a:rPr>
              <a:t>1</a:t>
            </a:r>
            <a:r>
              <a:rPr sz="1600" b="0" i="0">
                <a:solidFill>
                  <a:srgbClr val="5B6675"/>
                </a:solidFill>
                <a:latin typeface="Cambria"/>
              </a:rPr>
              <a:t>(</a:t>
            </a:r>
            <a:r>
              <a:rPr sz="1600" b="0" i="1">
                <a:solidFill>
                  <a:srgbClr val="5B6675"/>
                </a:solidFill>
                <a:latin typeface="Cambria"/>
              </a:rPr>
              <a:t>m</a:t>
            </a:r>
            <a:r>
              <a:rPr sz="1600" b="0" i="1" baseline="-25000">
                <a:solidFill>
                  <a:srgbClr val="5B6675"/>
                </a:solidFill>
                <a:latin typeface="Cambria"/>
              </a:rPr>
              <a:t>i</a:t>
            </a:r>
            <a:r>
              <a:rPr sz="1600" b="0" i="0">
                <a:solidFill>
                  <a:srgbClr val="5B6675"/>
                </a:solidFill>
                <a:latin typeface="Cambria"/>
              </a:rPr>
              <a:t>‖</a:t>
            </a:r>
            <a:r>
              <a:rPr sz="1600" b="0" i="1">
                <a:solidFill>
                  <a:srgbClr val="5B6675"/>
                </a:solidFill>
                <a:latin typeface="Cambria"/>
              </a:rPr>
              <a:t>pk</a:t>
            </a:r>
            <a:r>
              <a:rPr sz="1600" b="0" i="1" baseline="-25000">
                <a:solidFill>
                  <a:srgbClr val="5B6675"/>
                </a:solidFill>
                <a:latin typeface="Cambria"/>
              </a:rPr>
              <a:t>i</a:t>
            </a:r>
            <a:r>
              <a:rPr sz="1600" b="0" i="0">
                <a:solidFill>
                  <a:srgbClr val="5B6675"/>
                </a:solidFill>
                <a:latin typeface="Cambria"/>
              </a:rPr>
              <a:t>‖</a:t>
            </a:r>
            <a:r>
              <a:rPr sz="1600" b="0" i="1">
                <a:solidFill>
                  <a:srgbClr val="5B6675"/>
                </a:solidFill>
                <a:latin typeface="Cambria"/>
              </a:rPr>
              <a:t>id</a:t>
            </a:r>
            <a:r>
              <a:rPr sz="1600" b="0" i="1" baseline="-25000">
                <a:solidFill>
                  <a:srgbClr val="5B6675"/>
                </a:solidFill>
                <a:latin typeface="Cambria"/>
              </a:rPr>
              <a:t>i</a:t>
            </a:r>
            <a:r>
              <a:rPr sz="1600" b="0" i="0">
                <a:solidFill>
                  <a:srgbClr val="5B6675"/>
                </a:solidFill>
                <a:latin typeface="Cambria"/>
              </a:rPr>
              <a:t>‖Δ)</a:t>
            </a:r>
            <a:r>
              <a:rPr sz="1600" b="0" i="0">
                <a:solidFill>
                  <a:srgbClr val="5B6675"/>
                </a:solidFill>
                <a:latin typeface="Calibri"/>
              </a:rPr>
              <a:t> can be computed by anyone</a:t>
            </a:r>
          </a:p>
        </p:txBody>
      </p:sp>
      <p:sp>
        <p:nvSpPr>
          <p:cNvPr id="27" name="Rectangle 26"/>
          <p:cNvSpPr/>
          <p:nvPr/>
        </p:nvSpPr>
        <p:spPr>
          <a:xfrm>
            <a:off x="548640" y="5760720"/>
            <a:ext cx="82296" cy="566928"/>
          </a:xfrm>
          <a:prstGeom prst="rect">
            <a:avLst/>
          </a:prstGeom>
          <a:solidFill>
            <a:srgbClr val="B3261E"/>
          </a:solidFill>
          <a:ln>
            <a:noFill/>
          </a:ln>
          <a:effectLst/>
        </p:spPr>
        <p:txBody>
          <a:bodyPr rtlCol="0" anchor="ctr" wrap="square" lIns="73152" rIns="73152" tIns="36576" bIns="36576"/>
          <a:lstStyle/>
          <a:p>
            <a:pPr algn="ctr"/>
          </a:p>
        </p:txBody>
      </p:sp>
      <p:sp>
        <p:nvSpPr>
          <p:cNvPr id="28" name="TextBox 27"/>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2000" b="1" i="0">
                <a:solidFill>
                  <a:srgbClr val="14202E"/>
                </a:solidFill>
                <a:latin typeface="Calibri"/>
              </a:rPr>
              <a:t>Known: the point </a:t>
            </a:r>
            <a:r>
              <a:rPr sz="2000" b="1" i="1">
                <a:solidFill>
                  <a:srgbClr val="14202E"/>
                </a:solidFill>
                <a:latin typeface="Cambria"/>
              </a:rPr>
              <a:t>r</a:t>
            </a:r>
            <a:r>
              <a:rPr sz="2000" b="1" i="0" baseline="-25000">
                <a:solidFill>
                  <a:srgbClr val="14202E"/>
                </a:solidFill>
                <a:latin typeface="Cambria"/>
              </a:rPr>
              <a:t>2</a:t>
            </a:r>
            <a:r>
              <a:rPr sz="2000" b="1" i="1" baseline="-25000">
                <a:solidFill>
                  <a:srgbClr val="14202E"/>
                </a:solidFill>
                <a:latin typeface="Cambria"/>
              </a:rPr>
              <a:t>i</a:t>
            </a:r>
            <a:r>
              <a:rPr sz="2000" b="1" i="1">
                <a:solidFill>
                  <a:srgbClr val="14202E"/>
                </a:solidFill>
                <a:latin typeface="Cambria"/>
              </a:rPr>
              <a:t>P</a:t>
            </a:r>
            <a:r>
              <a:rPr sz="2000" b="1" i="0">
                <a:solidFill>
                  <a:srgbClr val="14202E"/>
                </a:solidFill>
                <a:latin typeface="Calibri"/>
              </a:rPr>
              <a:t>. Sealed: the number </a:t>
            </a:r>
            <a:r>
              <a:rPr sz="2000" b="1" i="1">
                <a:solidFill>
                  <a:srgbClr val="14202E"/>
                </a:solidFill>
                <a:latin typeface="Cambria"/>
              </a:rPr>
              <a:t>r</a:t>
            </a:r>
            <a:r>
              <a:rPr sz="2000" b="1" i="0" baseline="-25000">
                <a:solidFill>
                  <a:srgbClr val="14202E"/>
                </a:solidFill>
                <a:latin typeface="Cambria"/>
              </a:rPr>
              <a:t>2</a:t>
            </a:r>
            <a:r>
              <a:rPr sz="2000" b="1" i="1" baseline="-25000">
                <a:solidFill>
                  <a:srgbClr val="14202E"/>
                </a:solidFill>
                <a:latin typeface="Cambria"/>
              </a:rPr>
              <a:t>i</a:t>
            </a:r>
            <a:r>
              <a:rPr sz="2000" b="1" i="0">
                <a:solidFill>
                  <a:srgbClr val="14202E"/>
                </a:solidFill>
                <a:latin typeface="Cambria"/>
              </a:rPr>
              <a:t> + </a:t>
            </a:r>
            <a:r>
              <a:rPr sz="2000" b="1" i="1">
                <a:solidFill>
                  <a:srgbClr val="14202E"/>
                </a:solidFill>
                <a:latin typeface="Cambria"/>
              </a:rPr>
              <a:t>sk</a:t>
            </a:r>
            <a:r>
              <a:rPr sz="2000" b="1" i="1" baseline="-25000">
                <a:solidFill>
                  <a:srgbClr val="14202E"/>
                </a:solidFill>
                <a:latin typeface="Cambria"/>
              </a:rPr>
              <a:t>i</a:t>
            </a:r>
            <a:r>
              <a:rPr sz="2000" b="1" i="1">
                <a:solidFill>
                  <a:srgbClr val="14202E"/>
                </a:solidFill>
                <a:latin typeface="Cambria"/>
              </a:rPr>
              <a:t>v</a:t>
            </a:r>
            <a:r>
              <a:rPr sz="2000" b="1" i="1" baseline="-25000">
                <a:solidFill>
                  <a:srgbClr val="14202E"/>
                </a:solidFill>
                <a:latin typeface="Cambria"/>
              </a:rPr>
              <a:t>i</a:t>
            </a:r>
            <a:r>
              <a:rPr sz="2000" b="1" i="0">
                <a:solidFill>
                  <a:srgbClr val="14202E"/>
                </a:solidFill>
                <a:latin typeface="Calibri"/>
              </a:rPr>
              <a:t>.</a:t>
            </a:r>
          </a:p>
        </p:txBody>
      </p:sp>
      <p:sp>
        <p:nvSpPr>
          <p:cNvPr id="29" name="PresenterCue"/>
          <p:cNvSpPr/>
          <p:nvPr/>
        </p:nvSpPr>
        <p:spPr>
          <a:xfrm>
            <a:off x="8503920" y="1033271"/>
            <a:ext cx="3136392" cy="457200"/>
          </a:xfrm>
          <a:prstGeom prst="roundRect">
            <a:avLst>
              <a:gd name="adj" fmla="val 10000"/>
            </a:avLst>
          </a:prstGeom>
          <a:solidFill>
            <a:srgbClr val="FFF3B0"/>
          </a:solidFill>
          <a:ln w="12700">
            <a:solidFill>
              <a:srgbClr val="D9B93A"/>
            </a:solidFill>
          </a:ln>
          <a:effectLst/>
        </p:spPr>
        <p:txBody>
          <a:bodyPr rtlCol="0" anchor="ctr" wrap="square" tIns="36576" bIns="36576"/>
          <a:lstStyle/>
          <a:p>
            <a:pPr algn="l">
              <a:lnSpc>
                <a:spcPct val="92000"/>
              </a:lnSpc>
              <a:spcBef>
                <a:spcPts val="0"/>
              </a:spcBef>
              <a:spcAft>
                <a:spcPts val="0"/>
              </a:spcAft>
            </a:pPr>
            <a:r>
              <a:rPr sz="850" b="1" i="0">
                <a:solidFill>
                  <a:srgbClr val="8A6D00"/>
                </a:solidFill>
                <a:latin typeface="Calibri"/>
              </a:rPr>
              <a:t>PRESENTER CUE</a:t>
            </a:r>
          </a:p>
          <a:p>
            <a:pPr algn="l">
              <a:lnSpc>
                <a:spcPct val="92000"/>
              </a:lnSpc>
              <a:spcBef>
                <a:spcPts val="0"/>
              </a:spcBef>
              <a:spcAft>
                <a:spcPts val="0"/>
              </a:spcAft>
            </a:pPr>
            <a:r>
              <a:rPr sz="1250" b="0" i="0">
                <a:solidFill>
                  <a:srgbClr val="4A3B00"/>
                </a:solidFill>
                <a:latin typeface="Calibri"/>
              </a:rPr>
              <a:t>Step 1: subtract the certificate.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III · THE ATTACK</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Step 2: normalise by </a:t>
            </a:r>
            <a:r>
              <a:rPr sz="3000" b="1" i="1">
                <a:solidFill>
                  <a:srgbClr val="14202E"/>
                </a:solidFill>
                <a:latin typeface="Cambria"/>
              </a:rPr>
              <a:t>v</a:t>
            </a:r>
            <a:r>
              <a:rPr sz="3000" b="1" i="1" baseline="-25000">
                <a:solidFill>
                  <a:srgbClr val="14202E"/>
                </a:solidFill>
                <a:latin typeface="Cambria"/>
              </a:rPr>
              <a:t>i</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13 / 32</a:t>
            </a:r>
          </a:p>
        </p:txBody>
      </p:sp>
      <p:sp>
        <p:nvSpPr>
          <p:cNvPr id="8" name="TextBox 7"/>
          <p:cNvSpPr txBox="1"/>
          <p:nvPr/>
        </p:nvSpPr>
        <p:spPr>
          <a:xfrm>
            <a:off x="548640" y="1572768"/>
            <a:ext cx="292608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THE ATTACK, IN FIVE STEPS</a:t>
            </a:r>
          </a:p>
        </p:txBody>
      </p:sp>
      <p:sp>
        <p:nvSpPr>
          <p:cNvPr id="9" name="Rounded Rectangle 8"/>
          <p:cNvSpPr/>
          <p:nvPr/>
        </p:nvSpPr>
        <p:spPr>
          <a:xfrm>
            <a:off x="548640" y="1920240"/>
            <a:ext cx="2926080" cy="566928"/>
          </a:xfrm>
          <a:prstGeom prst="roundRect">
            <a:avLst>
              <a:gd name="adj" fmla="val 12903"/>
            </a:avLst>
          </a:prstGeom>
          <a:solidFill>
            <a:srgbClr val="F2F5F8"/>
          </a:solidFill>
          <a:ln>
            <a:noFill/>
          </a:ln>
          <a:effectLst/>
        </p:spPr>
        <p:txBody>
          <a:bodyPr rtlCol="0" anchor="ctr" wrap="square" lIns="164592" rIns="164592" tIns="36576" bIns="36576"/>
          <a:lstStyle/>
          <a:p>
            <a:pPr algn="l">
              <a:spcBef>
                <a:spcPts val="0"/>
              </a:spcBef>
              <a:spcAft>
                <a:spcPts val="0"/>
              </a:spcAft>
            </a:pPr>
            <a:r>
              <a:rPr sz="1550" b="0" i="0">
                <a:solidFill>
                  <a:srgbClr val="5B6675"/>
                </a:solidFill>
                <a:latin typeface="Calibri"/>
              </a:rPr>
              <a:t>① strip the certificate</a:t>
            </a:r>
          </a:p>
        </p:txBody>
      </p:sp>
      <p:cxnSp>
        <p:nvCxnSpPr>
          <p:cNvPr id="10" name="Connector 9"/>
          <p:cNvCxnSpPr/>
          <p:nvPr/>
        </p:nvCxnSpPr>
        <p:spPr>
          <a:xfrm>
            <a:off x="2011680" y="2487168"/>
            <a:ext cx="0" cy="146304"/>
          </a:xfrm>
          <a:prstGeom prst="line">
            <a:avLst/>
          </a:prstGeom>
          <a:ln w="19050">
            <a:solidFill>
              <a:srgbClr val="D3D9E1"/>
            </a:solidFill>
            <a:tailEnd type="triangle" w="med" len="med"/>
          </a:ln>
        </p:spPr>
      </p:cxnSp>
      <p:sp>
        <p:nvSpPr>
          <p:cNvPr id="11" name="Rounded Rectangle 10"/>
          <p:cNvSpPr/>
          <p:nvPr/>
        </p:nvSpPr>
        <p:spPr>
          <a:xfrm>
            <a:off x="548640" y="2633472"/>
            <a:ext cx="2926080" cy="566928"/>
          </a:xfrm>
          <a:prstGeom prst="roundRect">
            <a:avLst>
              <a:gd name="adj" fmla="val 12903"/>
            </a:avLst>
          </a:prstGeom>
          <a:solidFill>
            <a:srgbClr val="FCE9E7"/>
          </a:solidFill>
          <a:ln w="25400">
            <a:solidFill>
              <a:srgbClr val="B3261E"/>
            </a:solidFill>
          </a:ln>
          <a:effectLst/>
        </p:spPr>
        <p:txBody>
          <a:bodyPr rtlCol="0" anchor="ctr" wrap="square" lIns="164592" rIns="164592" tIns="36576" bIns="36576"/>
          <a:lstStyle/>
          <a:p>
            <a:pPr algn="l">
              <a:spcBef>
                <a:spcPts val="0"/>
              </a:spcBef>
              <a:spcAft>
                <a:spcPts val="0"/>
              </a:spcAft>
            </a:pPr>
            <a:r>
              <a:rPr sz="1550" b="1" i="0">
                <a:solidFill>
                  <a:srgbClr val="B3261E"/>
                </a:solidFill>
                <a:latin typeface="Calibri"/>
              </a:rPr>
              <a:t>② normalise by </a:t>
            </a:r>
            <a:r>
              <a:rPr sz="1550" b="1" i="1">
                <a:solidFill>
                  <a:srgbClr val="B3261E"/>
                </a:solidFill>
                <a:latin typeface="Cambria"/>
              </a:rPr>
              <a:t>v</a:t>
            </a:r>
            <a:r>
              <a:rPr sz="1550" b="1" i="1" baseline="-25000">
                <a:solidFill>
                  <a:srgbClr val="B3261E"/>
                </a:solidFill>
                <a:latin typeface="Cambria"/>
              </a:rPr>
              <a:t>i</a:t>
            </a:r>
          </a:p>
        </p:txBody>
      </p:sp>
      <p:cxnSp>
        <p:nvCxnSpPr>
          <p:cNvPr id="12" name="Connector 11"/>
          <p:cNvCxnSpPr/>
          <p:nvPr/>
        </p:nvCxnSpPr>
        <p:spPr>
          <a:xfrm>
            <a:off x="2011680" y="3200400"/>
            <a:ext cx="0" cy="146304"/>
          </a:xfrm>
          <a:prstGeom prst="line">
            <a:avLst/>
          </a:prstGeom>
          <a:ln w="19050">
            <a:solidFill>
              <a:srgbClr val="D3D9E1"/>
            </a:solidFill>
            <a:tailEnd type="triangle" w="med" len="med"/>
          </a:ln>
        </p:spPr>
      </p:cxnSp>
      <p:sp>
        <p:nvSpPr>
          <p:cNvPr id="13" name="Rounded Rectangle 12"/>
          <p:cNvSpPr/>
          <p:nvPr/>
        </p:nvSpPr>
        <p:spPr>
          <a:xfrm>
            <a:off x="548640" y="3346704"/>
            <a:ext cx="2926080" cy="566928"/>
          </a:xfrm>
          <a:prstGeom prst="roundRect">
            <a:avLst>
              <a:gd name="adj" fmla="val 12903"/>
            </a:avLst>
          </a:prstGeom>
          <a:solidFill>
            <a:srgbClr val="F2F5F8"/>
          </a:solidFill>
          <a:ln>
            <a:noFill/>
          </a:ln>
          <a:effectLst/>
        </p:spPr>
        <p:txBody>
          <a:bodyPr rtlCol="0" anchor="ctr" wrap="square" lIns="164592" rIns="164592" tIns="36576" bIns="36576"/>
          <a:lstStyle/>
          <a:p>
            <a:pPr algn="l">
              <a:spcBef>
                <a:spcPts val="0"/>
              </a:spcBef>
              <a:spcAft>
                <a:spcPts val="0"/>
              </a:spcAft>
            </a:pPr>
            <a:r>
              <a:rPr sz="1550" b="0" i="0">
                <a:solidFill>
                  <a:srgbClr val="5B6675"/>
                </a:solidFill>
                <a:latin typeface="Calibri"/>
              </a:rPr>
              <a:t>③ choose </a:t>
            </a:r>
            <a:r>
              <a:rPr sz="1550" b="0" i="1">
                <a:solidFill>
                  <a:srgbClr val="5B6675"/>
                </a:solidFill>
                <a:latin typeface="Cambria"/>
              </a:rPr>
              <a:t>m</a:t>
            </a:r>
            <a:r>
              <a:rPr sz="1550" b="0" i="0">
                <a:solidFill>
                  <a:srgbClr val="5B6675"/>
                </a:solidFill>
                <a:latin typeface="Cambria"/>
              </a:rPr>
              <a:t>′</a:t>
            </a:r>
            <a:r>
              <a:rPr sz="1550" b="0" i="1" baseline="-25000">
                <a:solidFill>
                  <a:srgbClr val="5B6675"/>
                </a:solidFill>
                <a:latin typeface="Cambria"/>
              </a:rPr>
              <a:t>i</a:t>
            </a:r>
            <a:r>
              <a:rPr sz="1550" b="0" i="0">
                <a:solidFill>
                  <a:srgbClr val="5B6675"/>
                </a:solidFill>
                <a:latin typeface="Calibri"/>
              </a:rPr>
              <a:t>, get </a:t>
            </a:r>
            <a:r>
              <a:rPr sz="1550" b="0" i="1">
                <a:solidFill>
                  <a:srgbClr val="5B6675"/>
                </a:solidFill>
                <a:latin typeface="Cambria"/>
              </a:rPr>
              <a:t>v</a:t>
            </a:r>
            <a:r>
              <a:rPr sz="1550" b="0" i="0">
                <a:solidFill>
                  <a:srgbClr val="5B6675"/>
                </a:solidFill>
                <a:latin typeface="Cambria"/>
              </a:rPr>
              <a:t>′</a:t>
            </a:r>
            <a:r>
              <a:rPr sz="1550" b="0" i="1" baseline="-25000">
                <a:solidFill>
                  <a:srgbClr val="5B6675"/>
                </a:solidFill>
                <a:latin typeface="Cambria"/>
              </a:rPr>
              <a:t>i</a:t>
            </a:r>
          </a:p>
        </p:txBody>
      </p:sp>
      <p:cxnSp>
        <p:nvCxnSpPr>
          <p:cNvPr id="14" name="Connector 13"/>
          <p:cNvCxnSpPr/>
          <p:nvPr/>
        </p:nvCxnSpPr>
        <p:spPr>
          <a:xfrm>
            <a:off x="2011680" y="3913632"/>
            <a:ext cx="0" cy="146304"/>
          </a:xfrm>
          <a:prstGeom prst="line">
            <a:avLst/>
          </a:prstGeom>
          <a:ln w="19050">
            <a:solidFill>
              <a:srgbClr val="D3D9E1"/>
            </a:solidFill>
            <a:tailEnd type="triangle" w="med" len="med"/>
          </a:ln>
        </p:spPr>
      </p:cxnSp>
      <p:sp>
        <p:nvSpPr>
          <p:cNvPr id="15" name="Rounded Rectangle 14"/>
          <p:cNvSpPr/>
          <p:nvPr/>
        </p:nvSpPr>
        <p:spPr>
          <a:xfrm>
            <a:off x="548640" y="4059935"/>
            <a:ext cx="2926080" cy="566928"/>
          </a:xfrm>
          <a:prstGeom prst="roundRect">
            <a:avLst>
              <a:gd name="adj" fmla="val 12903"/>
            </a:avLst>
          </a:prstGeom>
          <a:solidFill>
            <a:srgbClr val="F2F5F8"/>
          </a:solidFill>
          <a:ln>
            <a:noFill/>
          </a:ln>
          <a:effectLst/>
        </p:spPr>
        <p:txBody>
          <a:bodyPr rtlCol="0" anchor="ctr" wrap="square" lIns="164592" rIns="164592" tIns="36576" bIns="36576"/>
          <a:lstStyle/>
          <a:p>
            <a:pPr algn="l">
              <a:spcBef>
                <a:spcPts val="0"/>
              </a:spcBef>
              <a:spcAft>
                <a:spcPts val="0"/>
              </a:spcAft>
            </a:pPr>
            <a:r>
              <a:rPr sz="1550" b="0" i="0">
                <a:solidFill>
                  <a:srgbClr val="5B6675"/>
                </a:solidFill>
                <a:latin typeface="Calibri"/>
              </a:rPr>
              <a:t>④ build </a:t>
            </a:r>
            <a:r>
              <a:rPr sz="1550" b="0" i="1">
                <a:solidFill>
                  <a:srgbClr val="5B6675"/>
                </a:solidFill>
                <a:latin typeface="Cambria"/>
              </a:rPr>
              <a:t>R</a:t>
            </a:r>
            <a:r>
              <a:rPr sz="1550" b="0" i="0">
                <a:solidFill>
                  <a:srgbClr val="5B6675"/>
                </a:solidFill>
                <a:latin typeface="Cambria"/>
              </a:rPr>
              <a:t>′</a:t>
            </a:r>
            <a:r>
              <a:rPr sz="1550" b="0" i="1" baseline="-25000">
                <a:solidFill>
                  <a:srgbClr val="5B6675"/>
                </a:solidFill>
                <a:latin typeface="Cambria"/>
              </a:rPr>
              <a:t>i</a:t>
            </a:r>
          </a:p>
        </p:txBody>
      </p:sp>
      <p:cxnSp>
        <p:nvCxnSpPr>
          <p:cNvPr id="16" name="Connector 15"/>
          <p:cNvCxnSpPr/>
          <p:nvPr/>
        </p:nvCxnSpPr>
        <p:spPr>
          <a:xfrm>
            <a:off x="2011680" y="4626864"/>
            <a:ext cx="0" cy="146304"/>
          </a:xfrm>
          <a:prstGeom prst="line">
            <a:avLst/>
          </a:prstGeom>
          <a:ln w="19050">
            <a:solidFill>
              <a:srgbClr val="D3D9E1"/>
            </a:solidFill>
            <a:tailEnd type="triangle" w="med" len="med"/>
          </a:ln>
        </p:spPr>
      </p:cxnSp>
      <p:sp>
        <p:nvSpPr>
          <p:cNvPr id="17" name="Rounded Rectangle 16"/>
          <p:cNvSpPr/>
          <p:nvPr/>
        </p:nvSpPr>
        <p:spPr>
          <a:xfrm>
            <a:off x="548640" y="4773168"/>
            <a:ext cx="2926080" cy="566928"/>
          </a:xfrm>
          <a:prstGeom prst="roundRect">
            <a:avLst>
              <a:gd name="adj" fmla="val 12903"/>
            </a:avLst>
          </a:prstGeom>
          <a:solidFill>
            <a:srgbClr val="F2F5F8"/>
          </a:solidFill>
          <a:ln>
            <a:noFill/>
          </a:ln>
          <a:effectLst/>
        </p:spPr>
        <p:txBody>
          <a:bodyPr rtlCol="0" anchor="ctr" wrap="square" lIns="164592" rIns="164592" tIns="36576" bIns="36576"/>
          <a:lstStyle/>
          <a:p>
            <a:pPr algn="l">
              <a:spcBef>
                <a:spcPts val="0"/>
              </a:spcBef>
              <a:spcAft>
                <a:spcPts val="0"/>
              </a:spcAft>
            </a:pPr>
            <a:r>
              <a:rPr sz="1550" b="0" i="0">
                <a:solidFill>
                  <a:srgbClr val="5B6675"/>
                </a:solidFill>
                <a:latin typeface="Calibri"/>
              </a:rPr>
              <a:t>⑤ build </a:t>
            </a:r>
            <a:r>
              <a:rPr sz="1550" b="0" i="1">
                <a:solidFill>
                  <a:srgbClr val="5B6675"/>
                </a:solidFill>
                <a:latin typeface="Cambria"/>
              </a:rPr>
              <a:t>z</a:t>
            </a:r>
            <a:r>
              <a:rPr sz="1550" b="0" i="0">
                <a:solidFill>
                  <a:srgbClr val="5B6675"/>
                </a:solidFill>
                <a:latin typeface="Cambria"/>
              </a:rPr>
              <a:t>′</a:t>
            </a:r>
            <a:r>
              <a:rPr sz="1550" b="0" i="1" baseline="-25000">
                <a:solidFill>
                  <a:srgbClr val="5B6675"/>
                </a:solidFill>
                <a:latin typeface="Cambria"/>
              </a:rPr>
              <a:t>i</a:t>
            </a:r>
          </a:p>
        </p:txBody>
      </p:sp>
      <p:sp>
        <p:nvSpPr>
          <p:cNvPr id="18" name="TextBox 17"/>
          <p:cNvSpPr txBox="1"/>
          <p:nvPr/>
        </p:nvSpPr>
        <p:spPr>
          <a:xfrm>
            <a:off x="3840480" y="1645920"/>
            <a:ext cx="7772400" cy="822960"/>
          </a:xfrm>
          <a:prstGeom prst="rect">
            <a:avLst/>
          </a:prstGeom>
          <a:noFill/>
        </p:spPr>
        <p:txBody>
          <a:bodyPr wrap="square" lIns="0" rIns="0" tIns="0" bIns="0" anchor="t">
            <a:spAutoFit/>
          </a:bodyPr>
          <a:lstStyle/>
          <a:p>
            <a:pPr algn="l">
              <a:lnSpc>
                <a:spcPct val="95000"/>
              </a:lnSpc>
              <a:spcBef>
                <a:spcPts val="0"/>
              </a:spcBef>
              <a:spcAft>
                <a:spcPts val="0"/>
              </a:spcAft>
            </a:pPr>
            <a:r>
              <a:rPr sz="1900" b="0" i="0">
                <a:solidFill>
                  <a:srgbClr val="14202E"/>
                </a:solidFill>
                <a:latin typeface="Calibri"/>
              </a:rPr>
              <a:t>Divide by </a:t>
            </a:r>
            <a:r>
              <a:rPr sz="1900" b="0" i="1">
                <a:solidFill>
                  <a:srgbClr val="14202E"/>
                </a:solidFill>
                <a:latin typeface="Cambria"/>
              </a:rPr>
              <a:t>v</a:t>
            </a:r>
            <a:r>
              <a:rPr sz="1900" b="0" i="1" baseline="-25000">
                <a:solidFill>
                  <a:srgbClr val="14202E"/>
                </a:solidFill>
                <a:latin typeface="Cambria"/>
              </a:rPr>
              <a:t>i</a:t>
            </a:r>
            <a:r>
              <a:rPr sz="1900" b="0" i="0">
                <a:solidFill>
                  <a:srgbClr val="14202E"/>
                </a:solidFill>
                <a:latin typeface="Calibri"/>
              </a:rPr>
              <a:t>: it is public, and non-zero, so it can be inverted in a prime-order group.</a:t>
            </a:r>
          </a:p>
        </p:txBody>
      </p:sp>
      <p:sp>
        <p:nvSpPr>
          <p:cNvPr id="19" name="Rounded Rectangle 18"/>
          <p:cNvSpPr/>
          <p:nvPr/>
        </p:nvSpPr>
        <p:spPr>
          <a:xfrm>
            <a:off x="6737300" y="2862072"/>
            <a:ext cx="2065597" cy="566928"/>
          </a:xfrm>
          <a:prstGeom prst="roundRect">
            <a:avLst>
              <a:gd name="adj" fmla="val 12903"/>
            </a:avLst>
          </a:prstGeom>
          <a:solidFill>
            <a:srgbClr val="FCE9E7"/>
          </a:solidFill>
          <a:ln w="22225">
            <a:solidFill>
              <a:srgbClr val="B3261E"/>
            </a:solidFill>
            <a:prstDash val="dash"/>
          </a:ln>
          <a:effectLst/>
        </p:spPr>
        <p:txBody>
          <a:bodyPr rtlCol="0" anchor="ctr" wrap="square" lIns="73152" rIns="73152" tIns="36576" bIns="36576"/>
          <a:lstStyle/>
          <a:p>
            <a:pPr algn="ctr"/>
          </a:p>
        </p:txBody>
      </p:sp>
      <p:sp>
        <p:nvSpPr>
          <p:cNvPr id="20" name="TextBox 19"/>
          <p:cNvSpPr txBox="1"/>
          <p:nvPr/>
        </p:nvSpPr>
        <p:spPr>
          <a:xfrm>
            <a:off x="3931920" y="2880360"/>
            <a:ext cx="7589520" cy="566928"/>
          </a:xfrm>
          <a:prstGeom prst="rect">
            <a:avLst/>
          </a:prstGeom>
          <a:noFill/>
        </p:spPr>
        <p:txBody>
          <a:bodyPr wrap="square" lIns="0" rIns="0" tIns="0" bIns="0" anchor="ctr">
            <a:spAutoFit/>
          </a:bodyPr>
          <a:lstStyle/>
          <a:p>
            <a:pPr algn="l">
              <a:spcBef>
                <a:spcPts val="0"/>
              </a:spcBef>
              <a:spcAft>
                <a:spcPts val="0"/>
              </a:spcAft>
            </a:pPr>
            <a:r>
              <a:rPr sz="3000" b="0" i="1">
                <a:solidFill>
                  <a:srgbClr val="14202E"/>
                </a:solidFill>
                <a:latin typeface="Cambria"/>
              </a:rPr>
              <a:t>α</a:t>
            </a:r>
            <a:r>
              <a:rPr sz="3000" b="0" i="0">
                <a:solidFill>
                  <a:srgbClr val="14202E"/>
                </a:solidFill>
                <a:latin typeface="Cambria"/>
              </a:rPr>
              <a:t> = (</a:t>
            </a:r>
            <a:r>
              <a:rPr sz="3000" b="0" i="1">
                <a:solidFill>
                  <a:srgbClr val="14202E"/>
                </a:solidFill>
                <a:latin typeface="Cambria"/>
              </a:rPr>
              <a:t>z</a:t>
            </a:r>
            <a:r>
              <a:rPr sz="3000" b="0" i="1" baseline="-25000">
                <a:solidFill>
                  <a:srgbClr val="14202E"/>
                </a:solidFill>
                <a:latin typeface="Cambria"/>
              </a:rPr>
              <a:t>i</a:t>
            </a:r>
            <a:r>
              <a:rPr sz="3000" b="0" i="0">
                <a:solidFill>
                  <a:srgbClr val="14202E"/>
                </a:solidFill>
                <a:latin typeface="Cambria"/>
              </a:rPr>
              <a:t> − </a:t>
            </a:r>
            <a:r>
              <a:rPr sz="3000" b="0" i="1">
                <a:solidFill>
                  <a:srgbClr val="14202E"/>
                </a:solidFill>
                <a:latin typeface="Cambria"/>
              </a:rPr>
              <a:t>c</a:t>
            </a:r>
            <a:r>
              <a:rPr sz="3000" b="0" i="1" baseline="-25000">
                <a:solidFill>
                  <a:srgbClr val="14202E"/>
                </a:solidFill>
                <a:latin typeface="Cambria"/>
              </a:rPr>
              <a:t>i</a:t>
            </a:r>
            <a:r>
              <a:rPr sz="3000" b="0" i="0">
                <a:solidFill>
                  <a:srgbClr val="14202E"/>
                </a:solidFill>
                <a:latin typeface="Cambria"/>
              </a:rPr>
              <a:t>)/</a:t>
            </a:r>
            <a:r>
              <a:rPr sz="3000" b="0" i="1">
                <a:solidFill>
                  <a:srgbClr val="14202E"/>
                </a:solidFill>
                <a:latin typeface="Cambria"/>
              </a:rPr>
              <a:t>v</a:t>
            </a:r>
            <a:r>
              <a:rPr sz="3000" b="0" i="1" baseline="-25000">
                <a:solidFill>
                  <a:srgbClr val="14202E"/>
                </a:solidFill>
                <a:latin typeface="Cambria"/>
              </a:rPr>
              <a:t>i</a:t>
            </a:r>
            <a:r>
              <a:rPr sz="3000" b="0" i="0">
                <a:solidFill>
                  <a:srgbClr val="14202E"/>
                </a:solidFill>
                <a:latin typeface="Cambria"/>
              </a:rPr>
              <a:t> =</a:t>
            </a:r>
            <a:r>
              <a:rPr sz="3000" b="0" i="0">
                <a:solidFill>
                  <a:srgbClr val="14202E"/>
                </a:solidFill>
                <a:latin typeface="Calibri"/>
              </a:rPr>
              <a:t>    </a:t>
            </a:r>
            <a:r>
              <a:rPr sz="3000" b="0" i="1">
                <a:solidFill>
                  <a:srgbClr val="14202E"/>
                </a:solidFill>
                <a:latin typeface="Cambria"/>
              </a:rPr>
              <a:t>r</a:t>
            </a:r>
            <a:r>
              <a:rPr sz="3000" b="0" i="0" baseline="-25000">
                <a:solidFill>
                  <a:srgbClr val="14202E"/>
                </a:solidFill>
                <a:latin typeface="Cambria"/>
              </a:rPr>
              <a:t>2</a:t>
            </a:r>
            <a:r>
              <a:rPr sz="3000" b="0" i="1" baseline="-25000">
                <a:solidFill>
                  <a:srgbClr val="14202E"/>
                </a:solidFill>
                <a:latin typeface="Cambria"/>
              </a:rPr>
              <a:t>i</a:t>
            </a:r>
            <a:r>
              <a:rPr sz="3000" b="0" i="0">
                <a:solidFill>
                  <a:srgbClr val="14202E"/>
                </a:solidFill>
                <a:latin typeface="Cambria"/>
              </a:rPr>
              <a:t>/</a:t>
            </a:r>
            <a:r>
              <a:rPr sz="3000" b="0" i="1">
                <a:solidFill>
                  <a:srgbClr val="14202E"/>
                </a:solidFill>
                <a:latin typeface="Cambria"/>
              </a:rPr>
              <a:t>v</a:t>
            </a:r>
            <a:r>
              <a:rPr sz="3000" b="0" i="1" baseline="-25000">
                <a:solidFill>
                  <a:srgbClr val="14202E"/>
                </a:solidFill>
                <a:latin typeface="Cambria"/>
              </a:rPr>
              <a:t>i</a:t>
            </a:r>
            <a:r>
              <a:rPr sz="3000" b="0" i="0">
                <a:solidFill>
                  <a:srgbClr val="14202E"/>
                </a:solidFill>
                <a:latin typeface="Cambria"/>
              </a:rPr>
              <a:t> + </a:t>
            </a:r>
            <a:r>
              <a:rPr sz="3000" b="0" i="1">
                <a:solidFill>
                  <a:srgbClr val="14202E"/>
                </a:solidFill>
                <a:latin typeface="Cambria"/>
              </a:rPr>
              <a:t>sk</a:t>
            </a:r>
            <a:r>
              <a:rPr sz="3000" b="0" i="1" baseline="-25000">
                <a:solidFill>
                  <a:srgbClr val="14202E"/>
                </a:solidFill>
                <a:latin typeface="Cambria"/>
              </a:rPr>
              <a:t>i</a:t>
            </a:r>
          </a:p>
        </p:txBody>
      </p:sp>
      <p:sp>
        <p:nvSpPr>
          <p:cNvPr id="21" name="Rounded Rectangle 20"/>
          <p:cNvSpPr/>
          <p:nvPr/>
        </p:nvSpPr>
        <p:spPr>
          <a:xfrm>
            <a:off x="6809172" y="2742834"/>
            <a:ext cx="185440" cy="123626"/>
          </a:xfrm>
          <a:prstGeom prst="roundRect">
            <a:avLst>
              <a:gd name="adj" fmla="val 22189"/>
            </a:avLst>
          </a:prstGeom>
          <a:solidFill>
            <a:srgbClr val="B3261E"/>
          </a:solidFill>
          <a:ln>
            <a:noFill/>
          </a:ln>
          <a:effectLst/>
        </p:spPr>
        <p:txBody>
          <a:bodyPr rtlCol="0" anchor="ctr" wrap="square" lIns="73152" rIns="73152" tIns="36576" bIns="36576"/>
          <a:lstStyle/>
          <a:p>
            <a:pPr algn="ctr"/>
          </a:p>
        </p:txBody>
      </p:sp>
      <p:sp>
        <p:nvSpPr>
          <p:cNvPr id="22" name="Freeform 21"/>
          <p:cNvSpPr/>
          <p:nvPr/>
        </p:nvSpPr>
        <p:spPr>
          <a:xfrm>
            <a:off x="6846260" y="2647736"/>
            <a:ext cx="111264" cy="95098"/>
          </a:xfrm>
          <a:custGeom>
            <a:avLst/>
            <a:gdLst/>
            <a:ahLst/>
            <a:cxnLst/>
            <a:rect l="l" t="t" r="r" b="b"/>
            <a:pathLst>
              <a:path w="111264" h="95098">
                <a:moveTo>
                  <a:pt x="0" y="95098"/>
                </a:moveTo>
                <a:lnTo>
                  <a:pt x="0" y="38039"/>
                </a:lnTo>
                <a:lnTo>
                  <a:pt x="25961" y="0"/>
                </a:lnTo>
                <a:lnTo>
                  <a:pt x="85302" y="0"/>
                </a:lnTo>
                <a:lnTo>
                  <a:pt x="111264" y="38039"/>
                </a:lnTo>
                <a:lnTo>
                  <a:pt x="111264" y="95098"/>
                </a:lnTo>
              </a:path>
            </a:pathLst>
          </a:custGeom>
          <a:noFill/>
          <a:ln w="18161">
            <a:solidFill>
              <a:srgbClr val="B3261E"/>
            </a:solidFill>
          </a:ln>
          <a:effectLst/>
        </p:spPr>
        <p:txBody>
          <a:bodyPr rtlCol="0" anchor="ctr"/>
          <a:lstStyle/>
          <a:p>
            <a:pPr algn="ctr"/>
          </a:p>
        </p:txBody>
      </p:sp>
      <p:sp>
        <p:nvSpPr>
          <p:cNvPr id="23" name="TextBox 22"/>
          <p:cNvSpPr txBox="1"/>
          <p:nvPr/>
        </p:nvSpPr>
        <p:spPr>
          <a:xfrm>
            <a:off x="3840480" y="3520440"/>
            <a:ext cx="7772400" cy="365760"/>
          </a:xfrm>
          <a:prstGeom prst="rect">
            <a:avLst/>
          </a:prstGeom>
          <a:noFill/>
        </p:spPr>
        <p:txBody>
          <a:bodyPr wrap="square" lIns="0" rIns="0" tIns="0" bIns="0" anchor="t">
            <a:spAutoFit/>
          </a:bodyPr>
          <a:lstStyle/>
          <a:p>
            <a:pPr algn="l">
              <a:spcBef>
                <a:spcPts val="0"/>
              </a:spcBef>
              <a:spcAft>
                <a:spcPts val="0"/>
              </a:spcAft>
            </a:pPr>
            <a:r>
              <a:rPr sz="1500" b="0" i="1">
                <a:solidFill>
                  <a:srgbClr val="B3261E"/>
                </a:solidFill>
                <a:latin typeface="Cambria"/>
              </a:rPr>
              <a:t>α</a:t>
            </a:r>
            <a:r>
              <a:rPr sz="1500" b="0" i="0">
                <a:solidFill>
                  <a:srgbClr val="B3261E"/>
                </a:solidFill>
                <a:latin typeface="Calibri"/>
              </a:rPr>
              <a:t> is a number the KGC holds; what it is made of stays sealed</a:t>
            </a:r>
          </a:p>
        </p:txBody>
      </p:sp>
      <p:sp>
        <p:nvSpPr>
          <p:cNvPr id="24" name="TextBox 23"/>
          <p:cNvSpPr txBox="1"/>
          <p:nvPr/>
        </p:nvSpPr>
        <p:spPr>
          <a:xfrm>
            <a:off x="3840480" y="4114800"/>
            <a:ext cx="7772400" cy="640080"/>
          </a:xfrm>
          <a:prstGeom prst="rect">
            <a:avLst/>
          </a:prstGeom>
          <a:noFill/>
        </p:spPr>
        <p:txBody>
          <a:bodyPr wrap="square" lIns="0" rIns="0" tIns="0" bIns="0" anchor="t">
            <a:spAutoFit/>
          </a:bodyPr>
          <a:lstStyle/>
          <a:p>
            <a:pPr algn="l">
              <a:spcBef>
                <a:spcPts val="0"/>
              </a:spcBef>
              <a:spcAft>
                <a:spcPts val="0"/>
              </a:spcAft>
            </a:pPr>
            <a:r>
              <a:rPr sz="3000" b="0" i="1">
                <a:solidFill>
                  <a:srgbClr val="14202E"/>
                </a:solidFill>
                <a:latin typeface="Cambria"/>
              </a:rPr>
              <a:t>A</a:t>
            </a:r>
            <a:r>
              <a:rPr sz="3000" b="0" i="0">
                <a:solidFill>
                  <a:srgbClr val="14202E"/>
                </a:solidFill>
                <a:latin typeface="Cambria"/>
              </a:rPr>
              <a:t> = (</a:t>
            </a:r>
            <a:r>
              <a:rPr sz="3000" b="0" i="1">
                <a:solidFill>
                  <a:srgbClr val="14202E"/>
                </a:solidFill>
                <a:latin typeface="Cambria"/>
              </a:rPr>
              <a:t>R</a:t>
            </a:r>
            <a:r>
              <a:rPr sz="3000" b="0" i="1" baseline="-25000">
                <a:solidFill>
                  <a:srgbClr val="14202E"/>
                </a:solidFill>
                <a:latin typeface="Cambria"/>
              </a:rPr>
              <a:t>i</a:t>
            </a:r>
            <a:r>
              <a:rPr sz="3000" b="0" i="0">
                <a:solidFill>
                  <a:srgbClr val="14202E"/>
                </a:solidFill>
                <a:latin typeface="Cambria"/>
              </a:rPr>
              <a:t> − </a:t>
            </a:r>
            <a:r>
              <a:rPr sz="3000" b="0" i="1">
                <a:solidFill>
                  <a:srgbClr val="14202E"/>
                </a:solidFill>
                <a:latin typeface="Cambria"/>
              </a:rPr>
              <a:t>R</a:t>
            </a:r>
            <a:r>
              <a:rPr sz="3000" b="0" i="0" baseline="-25000">
                <a:solidFill>
                  <a:srgbClr val="14202E"/>
                </a:solidFill>
                <a:latin typeface="Cambria"/>
              </a:rPr>
              <a:t>1</a:t>
            </a:r>
            <a:r>
              <a:rPr sz="3000" b="0" i="1" baseline="-25000">
                <a:solidFill>
                  <a:srgbClr val="14202E"/>
                </a:solidFill>
                <a:latin typeface="Cambria"/>
              </a:rPr>
              <a:t>i</a:t>
            </a:r>
            <a:r>
              <a:rPr sz="3000" b="0" i="0">
                <a:solidFill>
                  <a:srgbClr val="14202E"/>
                </a:solidFill>
                <a:latin typeface="Cambria"/>
              </a:rPr>
              <a:t>)/</a:t>
            </a:r>
            <a:r>
              <a:rPr sz="3000" b="0" i="1">
                <a:solidFill>
                  <a:srgbClr val="14202E"/>
                </a:solidFill>
                <a:latin typeface="Cambria"/>
              </a:rPr>
              <a:t>v</a:t>
            </a:r>
            <a:r>
              <a:rPr sz="3000" b="0" i="1" baseline="-25000">
                <a:solidFill>
                  <a:srgbClr val="14202E"/>
                </a:solidFill>
                <a:latin typeface="Cambria"/>
              </a:rPr>
              <a:t>i</a:t>
            </a:r>
            <a:r>
              <a:rPr sz="3000" b="0" i="0">
                <a:solidFill>
                  <a:srgbClr val="14202E"/>
                </a:solidFill>
                <a:latin typeface="Cambria"/>
              </a:rPr>
              <a:t> = (</a:t>
            </a:r>
            <a:r>
              <a:rPr sz="3000" b="0" i="1">
                <a:solidFill>
                  <a:srgbClr val="14202E"/>
                </a:solidFill>
                <a:latin typeface="Cambria"/>
              </a:rPr>
              <a:t>r</a:t>
            </a:r>
            <a:r>
              <a:rPr sz="3000" b="0" i="0" baseline="-25000">
                <a:solidFill>
                  <a:srgbClr val="14202E"/>
                </a:solidFill>
                <a:latin typeface="Cambria"/>
              </a:rPr>
              <a:t>2</a:t>
            </a:r>
            <a:r>
              <a:rPr sz="3000" b="0" i="1" baseline="-25000">
                <a:solidFill>
                  <a:srgbClr val="14202E"/>
                </a:solidFill>
                <a:latin typeface="Cambria"/>
              </a:rPr>
              <a:t>i</a:t>
            </a:r>
            <a:r>
              <a:rPr sz="3000" b="0" i="0">
                <a:solidFill>
                  <a:srgbClr val="14202E"/>
                </a:solidFill>
                <a:latin typeface="Cambria"/>
              </a:rPr>
              <a:t>/</a:t>
            </a:r>
            <a:r>
              <a:rPr sz="3000" b="0" i="1">
                <a:solidFill>
                  <a:srgbClr val="14202E"/>
                </a:solidFill>
                <a:latin typeface="Cambria"/>
              </a:rPr>
              <a:t>v</a:t>
            </a:r>
            <a:r>
              <a:rPr sz="3000" b="0" i="1" baseline="-25000">
                <a:solidFill>
                  <a:srgbClr val="14202E"/>
                </a:solidFill>
                <a:latin typeface="Cambria"/>
              </a:rPr>
              <a:t>i</a:t>
            </a:r>
            <a:r>
              <a:rPr sz="3000" b="0" i="0">
                <a:solidFill>
                  <a:srgbClr val="14202E"/>
                </a:solidFill>
                <a:latin typeface="Cambria"/>
              </a:rPr>
              <a:t>)</a:t>
            </a:r>
            <a:r>
              <a:rPr sz="3000" b="0" i="1">
                <a:solidFill>
                  <a:srgbClr val="14202E"/>
                </a:solidFill>
                <a:latin typeface="Cambria"/>
              </a:rPr>
              <a:t>P</a:t>
            </a:r>
          </a:p>
        </p:txBody>
      </p:sp>
      <p:sp>
        <p:nvSpPr>
          <p:cNvPr id="25" name="TextBox 24"/>
          <p:cNvSpPr txBox="1"/>
          <p:nvPr/>
        </p:nvSpPr>
        <p:spPr>
          <a:xfrm>
            <a:off x="3840480" y="4709160"/>
            <a:ext cx="7772400" cy="365760"/>
          </a:xfrm>
          <a:prstGeom prst="rect">
            <a:avLst/>
          </a:prstGeom>
          <a:noFill/>
        </p:spPr>
        <p:txBody>
          <a:bodyPr wrap="square" lIns="0" rIns="0" tIns="0" bIns="0" anchor="t">
            <a:spAutoFit/>
          </a:bodyPr>
          <a:lstStyle/>
          <a:p>
            <a:pPr algn="l">
              <a:spcBef>
                <a:spcPts val="0"/>
              </a:spcBef>
              <a:spcAft>
                <a:spcPts val="0"/>
              </a:spcAft>
            </a:pPr>
            <a:r>
              <a:rPr sz="1500" b="0" i="1">
                <a:solidFill>
                  <a:srgbClr val="5B6675"/>
                </a:solidFill>
                <a:latin typeface="Cambria"/>
              </a:rPr>
              <a:t>A</a:t>
            </a:r>
            <a:r>
              <a:rPr sz="1500" b="0" i="0">
                <a:solidFill>
                  <a:srgbClr val="5B6675"/>
                </a:solidFill>
                <a:latin typeface="Calibri"/>
              </a:rPr>
              <a:t> is a group element the KGC holds</a:t>
            </a:r>
          </a:p>
        </p:txBody>
      </p:sp>
      <p:sp>
        <p:nvSpPr>
          <p:cNvPr id="26" name="Rectangle 25"/>
          <p:cNvSpPr/>
          <p:nvPr/>
        </p:nvSpPr>
        <p:spPr>
          <a:xfrm>
            <a:off x="548640" y="5760720"/>
            <a:ext cx="82296" cy="566928"/>
          </a:xfrm>
          <a:prstGeom prst="rect">
            <a:avLst/>
          </a:prstGeom>
          <a:solidFill>
            <a:srgbClr val="B3261E"/>
          </a:solidFill>
          <a:ln>
            <a:noFill/>
          </a:ln>
          <a:effectLst/>
        </p:spPr>
        <p:txBody>
          <a:bodyPr rtlCol="0" anchor="ctr" wrap="square" lIns="73152" rIns="73152" tIns="36576" bIns="36576"/>
          <a:lstStyle/>
          <a:p>
            <a:pPr algn="ctr"/>
          </a:p>
        </p:txBody>
      </p:sp>
      <p:sp>
        <p:nvSpPr>
          <p:cNvPr id="27" name="TextBox 26"/>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2000" b="1" i="0">
                <a:solidFill>
                  <a:srgbClr val="14202E"/>
                </a:solidFill>
                <a:latin typeface="Calibri"/>
              </a:rPr>
              <a:t>Both are scaled by </a:t>
            </a:r>
            <a:r>
              <a:rPr sz="2000" b="1" i="0">
                <a:solidFill>
                  <a:srgbClr val="14202E"/>
                </a:solidFill>
                <a:latin typeface="Cambria"/>
              </a:rPr>
              <a:t>1/</a:t>
            </a:r>
            <a:r>
              <a:rPr sz="2000" b="1" i="1">
                <a:solidFill>
                  <a:srgbClr val="14202E"/>
                </a:solidFill>
                <a:latin typeface="Cambria"/>
              </a:rPr>
              <a:t>v</a:t>
            </a:r>
            <a:r>
              <a:rPr sz="2000" b="1" i="1" baseline="-25000">
                <a:solidFill>
                  <a:srgbClr val="14202E"/>
                </a:solidFill>
                <a:latin typeface="Cambria"/>
              </a:rPr>
              <a:t>i</a:t>
            </a:r>
            <a:r>
              <a:rPr sz="2000" b="1" i="0">
                <a:solidFill>
                  <a:srgbClr val="14202E"/>
                </a:solidFill>
                <a:latin typeface="Calibri"/>
              </a:rPr>
              <a:t>. Neither reveals </a:t>
            </a:r>
            <a:r>
              <a:rPr sz="2000" b="1" i="1">
                <a:solidFill>
                  <a:srgbClr val="14202E"/>
                </a:solidFill>
                <a:latin typeface="Cambria"/>
              </a:rPr>
              <a:t>r</a:t>
            </a:r>
            <a:r>
              <a:rPr sz="2000" b="1" i="0" baseline="-25000">
                <a:solidFill>
                  <a:srgbClr val="14202E"/>
                </a:solidFill>
                <a:latin typeface="Cambria"/>
              </a:rPr>
              <a:t>2</a:t>
            </a:r>
            <a:r>
              <a:rPr sz="2000" b="1" i="1" baseline="-25000">
                <a:solidFill>
                  <a:srgbClr val="14202E"/>
                </a:solidFill>
                <a:latin typeface="Cambria"/>
              </a:rPr>
              <a:t>i</a:t>
            </a:r>
            <a:r>
              <a:rPr sz="2000" b="1" i="0">
                <a:solidFill>
                  <a:srgbClr val="14202E"/>
                </a:solidFill>
                <a:latin typeface="Calibri"/>
              </a:rPr>
              <a:t> or </a:t>
            </a:r>
            <a:r>
              <a:rPr sz="2000" b="1" i="1">
                <a:solidFill>
                  <a:srgbClr val="14202E"/>
                </a:solidFill>
                <a:latin typeface="Cambria"/>
              </a:rPr>
              <a:t>sk</a:t>
            </a:r>
            <a:r>
              <a:rPr sz="2000" b="1" i="1" baseline="-25000">
                <a:solidFill>
                  <a:srgbClr val="14202E"/>
                </a:solidFill>
                <a:latin typeface="Cambria"/>
              </a:rPr>
              <a:t>i</a:t>
            </a:r>
            <a:r>
              <a:rPr sz="2000" b="1" i="0">
                <a:solidFill>
                  <a:srgbClr val="14202E"/>
                </a:solidFill>
                <a:latin typeface="Calibri"/>
              </a:rPr>
              <a:t> on its own.</a:t>
            </a:r>
          </a:p>
        </p:txBody>
      </p:sp>
      <p:sp>
        <p:nvSpPr>
          <p:cNvPr id="28" name="PresenterCue"/>
          <p:cNvSpPr/>
          <p:nvPr/>
        </p:nvSpPr>
        <p:spPr>
          <a:xfrm>
            <a:off x="8503920" y="1033271"/>
            <a:ext cx="3136392" cy="457200"/>
          </a:xfrm>
          <a:prstGeom prst="roundRect">
            <a:avLst>
              <a:gd name="adj" fmla="val 10000"/>
            </a:avLst>
          </a:prstGeom>
          <a:solidFill>
            <a:srgbClr val="FFF3B0"/>
          </a:solidFill>
          <a:ln w="12700">
            <a:solidFill>
              <a:srgbClr val="D9B93A"/>
            </a:solidFill>
          </a:ln>
          <a:effectLst/>
        </p:spPr>
        <p:txBody>
          <a:bodyPr rtlCol="0" anchor="ctr" wrap="square" tIns="36576" bIns="36576"/>
          <a:lstStyle/>
          <a:p>
            <a:pPr algn="l">
              <a:lnSpc>
                <a:spcPct val="92000"/>
              </a:lnSpc>
              <a:spcBef>
                <a:spcPts val="0"/>
              </a:spcBef>
              <a:spcAft>
                <a:spcPts val="0"/>
              </a:spcAft>
            </a:pPr>
            <a:r>
              <a:rPr sz="850" b="1" i="0">
                <a:solidFill>
                  <a:srgbClr val="8A6D00"/>
                </a:solidFill>
                <a:latin typeface="Calibri"/>
              </a:rPr>
              <a:t>PRESENTER CUE</a:t>
            </a:r>
          </a:p>
          <a:p>
            <a:pPr algn="l">
              <a:lnSpc>
                <a:spcPct val="92000"/>
              </a:lnSpc>
              <a:spcBef>
                <a:spcPts val="0"/>
              </a:spcBef>
              <a:spcAft>
                <a:spcPts val="0"/>
              </a:spcAft>
            </a:pPr>
            <a:r>
              <a:rPr sz="1250" b="0" i="0">
                <a:solidFill>
                  <a:srgbClr val="4A3B00"/>
                </a:solidFill>
                <a:latin typeface="Calibri"/>
              </a:rPr>
              <a:t>Step 2: normalise by </a:t>
            </a:r>
            <a:r>
              <a:rPr sz="1250" b="0" i="1">
                <a:solidFill>
                  <a:srgbClr val="4A3B00"/>
                </a:solidFill>
                <a:latin typeface="Cambria"/>
              </a:rPr>
              <a:t>v</a:t>
            </a:r>
            <a:r>
              <a:rPr sz="1250" b="0" i="1" baseline="-25000">
                <a:solidFill>
                  <a:srgbClr val="4A3B00"/>
                </a:solidFill>
                <a:latin typeface="Cambria"/>
              </a:rPr>
              <a:t>i</a:t>
            </a:r>
            <a:r>
              <a:rPr sz="1250" b="0" i="0">
                <a:solidFill>
                  <a:srgbClr val="4A3B00"/>
                </a:solidFill>
                <a:latin typeface="Calibri"/>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III · THE ATTACK</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Step 3: rescale to any message</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14 / 32</a:t>
            </a:r>
          </a:p>
        </p:txBody>
      </p:sp>
      <p:sp>
        <p:nvSpPr>
          <p:cNvPr id="8" name="TextBox 7"/>
          <p:cNvSpPr txBox="1"/>
          <p:nvPr/>
        </p:nvSpPr>
        <p:spPr>
          <a:xfrm>
            <a:off x="548640" y="1572768"/>
            <a:ext cx="292608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THE ATTACK, IN FIVE STEPS</a:t>
            </a:r>
          </a:p>
        </p:txBody>
      </p:sp>
      <p:sp>
        <p:nvSpPr>
          <p:cNvPr id="9" name="Rounded Rectangle 8"/>
          <p:cNvSpPr/>
          <p:nvPr/>
        </p:nvSpPr>
        <p:spPr>
          <a:xfrm>
            <a:off x="548640" y="1920240"/>
            <a:ext cx="2926080" cy="566928"/>
          </a:xfrm>
          <a:prstGeom prst="roundRect">
            <a:avLst>
              <a:gd name="adj" fmla="val 12903"/>
            </a:avLst>
          </a:prstGeom>
          <a:solidFill>
            <a:srgbClr val="F2F5F8"/>
          </a:solidFill>
          <a:ln>
            <a:noFill/>
          </a:ln>
          <a:effectLst/>
        </p:spPr>
        <p:txBody>
          <a:bodyPr rtlCol="0" anchor="ctr" wrap="square" lIns="164592" rIns="164592" tIns="36576" bIns="36576"/>
          <a:lstStyle/>
          <a:p>
            <a:pPr algn="l">
              <a:spcBef>
                <a:spcPts val="0"/>
              </a:spcBef>
              <a:spcAft>
                <a:spcPts val="0"/>
              </a:spcAft>
            </a:pPr>
            <a:r>
              <a:rPr sz="1550" b="0" i="0">
                <a:solidFill>
                  <a:srgbClr val="5B6675"/>
                </a:solidFill>
                <a:latin typeface="Calibri"/>
              </a:rPr>
              <a:t>① strip the certificate</a:t>
            </a:r>
          </a:p>
        </p:txBody>
      </p:sp>
      <p:cxnSp>
        <p:nvCxnSpPr>
          <p:cNvPr id="10" name="Connector 9"/>
          <p:cNvCxnSpPr/>
          <p:nvPr/>
        </p:nvCxnSpPr>
        <p:spPr>
          <a:xfrm>
            <a:off x="2011680" y="2487168"/>
            <a:ext cx="0" cy="146304"/>
          </a:xfrm>
          <a:prstGeom prst="line">
            <a:avLst/>
          </a:prstGeom>
          <a:ln w="19050">
            <a:solidFill>
              <a:srgbClr val="D3D9E1"/>
            </a:solidFill>
            <a:tailEnd type="triangle" w="med" len="med"/>
          </a:ln>
        </p:spPr>
      </p:cxnSp>
      <p:sp>
        <p:nvSpPr>
          <p:cNvPr id="11" name="Rounded Rectangle 10"/>
          <p:cNvSpPr/>
          <p:nvPr/>
        </p:nvSpPr>
        <p:spPr>
          <a:xfrm>
            <a:off x="548640" y="2633472"/>
            <a:ext cx="2926080" cy="566928"/>
          </a:xfrm>
          <a:prstGeom prst="roundRect">
            <a:avLst>
              <a:gd name="adj" fmla="val 12903"/>
            </a:avLst>
          </a:prstGeom>
          <a:solidFill>
            <a:srgbClr val="F2F5F8"/>
          </a:solidFill>
          <a:ln>
            <a:noFill/>
          </a:ln>
          <a:effectLst/>
        </p:spPr>
        <p:txBody>
          <a:bodyPr rtlCol="0" anchor="ctr" wrap="square" lIns="164592" rIns="164592" tIns="36576" bIns="36576"/>
          <a:lstStyle/>
          <a:p>
            <a:pPr algn="l">
              <a:spcBef>
                <a:spcPts val="0"/>
              </a:spcBef>
              <a:spcAft>
                <a:spcPts val="0"/>
              </a:spcAft>
            </a:pPr>
            <a:r>
              <a:rPr sz="1550" b="0" i="0">
                <a:solidFill>
                  <a:srgbClr val="5B6675"/>
                </a:solidFill>
                <a:latin typeface="Calibri"/>
              </a:rPr>
              <a:t>② normalise by </a:t>
            </a:r>
            <a:r>
              <a:rPr sz="1550" b="0" i="1">
                <a:solidFill>
                  <a:srgbClr val="5B6675"/>
                </a:solidFill>
                <a:latin typeface="Cambria"/>
              </a:rPr>
              <a:t>v</a:t>
            </a:r>
            <a:r>
              <a:rPr sz="1550" b="0" i="1" baseline="-25000">
                <a:solidFill>
                  <a:srgbClr val="5B6675"/>
                </a:solidFill>
                <a:latin typeface="Cambria"/>
              </a:rPr>
              <a:t>i</a:t>
            </a:r>
          </a:p>
        </p:txBody>
      </p:sp>
      <p:cxnSp>
        <p:nvCxnSpPr>
          <p:cNvPr id="12" name="Connector 11"/>
          <p:cNvCxnSpPr/>
          <p:nvPr/>
        </p:nvCxnSpPr>
        <p:spPr>
          <a:xfrm>
            <a:off x="2011680" y="3200400"/>
            <a:ext cx="0" cy="146304"/>
          </a:xfrm>
          <a:prstGeom prst="line">
            <a:avLst/>
          </a:prstGeom>
          <a:ln w="19050">
            <a:solidFill>
              <a:srgbClr val="D3D9E1"/>
            </a:solidFill>
            <a:tailEnd type="triangle" w="med" len="med"/>
          </a:ln>
        </p:spPr>
      </p:cxnSp>
      <p:sp>
        <p:nvSpPr>
          <p:cNvPr id="13" name="Rounded Rectangle 12"/>
          <p:cNvSpPr/>
          <p:nvPr/>
        </p:nvSpPr>
        <p:spPr>
          <a:xfrm>
            <a:off x="548640" y="3346704"/>
            <a:ext cx="2926080" cy="566928"/>
          </a:xfrm>
          <a:prstGeom prst="roundRect">
            <a:avLst>
              <a:gd name="adj" fmla="val 12903"/>
            </a:avLst>
          </a:prstGeom>
          <a:solidFill>
            <a:srgbClr val="FCE9E7"/>
          </a:solidFill>
          <a:ln w="25400">
            <a:solidFill>
              <a:srgbClr val="B3261E"/>
            </a:solidFill>
          </a:ln>
          <a:effectLst/>
        </p:spPr>
        <p:txBody>
          <a:bodyPr rtlCol="0" anchor="ctr" wrap="square" lIns="164592" rIns="164592" tIns="36576" bIns="36576"/>
          <a:lstStyle/>
          <a:p>
            <a:pPr algn="l">
              <a:spcBef>
                <a:spcPts val="0"/>
              </a:spcBef>
              <a:spcAft>
                <a:spcPts val="0"/>
              </a:spcAft>
            </a:pPr>
            <a:r>
              <a:rPr sz="1550" b="1" i="0">
                <a:solidFill>
                  <a:srgbClr val="B3261E"/>
                </a:solidFill>
                <a:latin typeface="Calibri"/>
              </a:rPr>
              <a:t>③ choose </a:t>
            </a:r>
            <a:r>
              <a:rPr sz="1550" b="1" i="1">
                <a:solidFill>
                  <a:srgbClr val="B3261E"/>
                </a:solidFill>
                <a:latin typeface="Cambria"/>
              </a:rPr>
              <a:t>m</a:t>
            </a:r>
            <a:r>
              <a:rPr sz="1550" b="1" i="0">
                <a:solidFill>
                  <a:srgbClr val="B3261E"/>
                </a:solidFill>
                <a:latin typeface="Cambria"/>
              </a:rPr>
              <a:t>′</a:t>
            </a:r>
            <a:r>
              <a:rPr sz="1550" b="1" i="1" baseline="-25000">
                <a:solidFill>
                  <a:srgbClr val="B3261E"/>
                </a:solidFill>
                <a:latin typeface="Cambria"/>
              </a:rPr>
              <a:t>i</a:t>
            </a:r>
            <a:r>
              <a:rPr sz="1550" b="1" i="0">
                <a:solidFill>
                  <a:srgbClr val="B3261E"/>
                </a:solidFill>
                <a:latin typeface="Calibri"/>
              </a:rPr>
              <a:t>, get </a:t>
            </a:r>
            <a:r>
              <a:rPr sz="1550" b="1" i="1">
                <a:solidFill>
                  <a:srgbClr val="B3261E"/>
                </a:solidFill>
                <a:latin typeface="Cambria"/>
              </a:rPr>
              <a:t>v</a:t>
            </a:r>
            <a:r>
              <a:rPr sz="1550" b="1" i="0">
                <a:solidFill>
                  <a:srgbClr val="B3261E"/>
                </a:solidFill>
                <a:latin typeface="Cambria"/>
              </a:rPr>
              <a:t>′</a:t>
            </a:r>
            <a:r>
              <a:rPr sz="1550" b="1" i="1" baseline="-25000">
                <a:solidFill>
                  <a:srgbClr val="B3261E"/>
                </a:solidFill>
                <a:latin typeface="Cambria"/>
              </a:rPr>
              <a:t>i</a:t>
            </a:r>
          </a:p>
        </p:txBody>
      </p:sp>
      <p:cxnSp>
        <p:nvCxnSpPr>
          <p:cNvPr id="14" name="Connector 13"/>
          <p:cNvCxnSpPr/>
          <p:nvPr/>
        </p:nvCxnSpPr>
        <p:spPr>
          <a:xfrm>
            <a:off x="2011680" y="3913632"/>
            <a:ext cx="0" cy="146304"/>
          </a:xfrm>
          <a:prstGeom prst="line">
            <a:avLst/>
          </a:prstGeom>
          <a:ln w="19050">
            <a:solidFill>
              <a:srgbClr val="D3D9E1"/>
            </a:solidFill>
            <a:tailEnd type="triangle" w="med" len="med"/>
          </a:ln>
        </p:spPr>
      </p:cxnSp>
      <p:sp>
        <p:nvSpPr>
          <p:cNvPr id="15" name="Rounded Rectangle 14"/>
          <p:cNvSpPr/>
          <p:nvPr/>
        </p:nvSpPr>
        <p:spPr>
          <a:xfrm>
            <a:off x="548640" y="4059935"/>
            <a:ext cx="2926080" cy="566928"/>
          </a:xfrm>
          <a:prstGeom prst="roundRect">
            <a:avLst>
              <a:gd name="adj" fmla="val 12903"/>
            </a:avLst>
          </a:prstGeom>
          <a:solidFill>
            <a:srgbClr val="FCE9E7"/>
          </a:solidFill>
          <a:ln w="25400">
            <a:solidFill>
              <a:srgbClr val="B3261E"/>
            </a:solidFill>
          </a:ln>
          <a:effectLst/>
        </p:spPr>
        <p:txBody>
          <a:bodyPr rtlCol="0" anchor="ctr" wrap="square" lIns="164592" rIns="164592" tIns="36576" bIns="36576"/>
          <a:lstStyle/>
          <a:p>
            <a:pPr algn="l">
              <a:spcBef>
                <a:spcPts val="0"/>
              </a:spcBef>
              <a:spcAft>
                <a:spcPts val="0"/>
              </a:spcAft>
            </a:pPr>
            <a:r>
              <a:rPr sz="1550" b="1" i="0">
                <a:solidFill>
                  <a:srgbClr val="B3261E"/>
                </a:solidFill>
                <a:latin typeface="Calibri"/>
              </a:rPr>
              <a:t>④ build </a:t>
            </a:r>
            <a:r>
              <a:rPr sz="1550" b="1" i="1">
                <a:solidFill>
                  <a:srgbClr val="B3261E"/>
                </a:solidFill>
                <a:latin typeface="Cambria"/>
              </a:rPr>
              <a:t>R</a:t>
            </a:r>
            <a:r>
              <a:rPr sz="1550" b="1" i="0">
                <a:solidFill>
                  <a:srgbClr val="B3261E"/>
                </a:solidFill>
                <a:latin typeface="Cambria"/>
              </a:rPr>
              <a:t>′</a:t>
            </a:r>
            <a:r>
              <a:rPr sz="1550" b="1" i="1" baseline="-25000">
                <a:solidFill>
                  <a:srgbClr val="B3261E"/>
                </a:solidFill>
                <a:latin typeface="Cambria"/>
              </a:rPr>
              <a:t>i</a:t>
            </a:r>
          </a:p>
        </p:txBody>
      </p:sp>
      <p:cxnSp>
        <p:nvCxnSpPr>
          <p:cNvPr id="16" name="Connector 15"/>
          <p:cNvCxnSpPr/>
          <p:nvPr/>
        </p:nvCxnSpPr>
        <p:spPr>
          <a:xfrm>
            <a:off x="2011680" y="4626864"/>
            <a:ext cx="0" cy="146304"/>
          </a:xfrm>
          <a:prstGeom prst="line">
            <a:avLst/>
          </a:prstGeom>
          <a:ln w="19050">
            <a:solidFill>
              <a:srgbClr val="D3D9E1"/>
            </a:solidFill>
            <a:tailEnd type="triangle" w="med" len="med"/>
          </a:ln>
        </p:spPr>
      </p:cxnSp>
      <p:sp>
        <p:nvSpPr>
          <p:cNvPr id="17" name="Rounded Rectangle 16"/>
          <p:cNvSpPr/>
          <p:nvPr/>
        </p:nvSpPr>
        <p:spPr>
          <a:xfrm>
            <a:off x="548640" y="4773168"/>
            <a:ext cx="2926080" cy="566928"/>
          </a:xfrm>
          <a:prstGeom prst="roundRect">
            <a:avLst>
              <a:gd name="adj" fmla="val 12903"/>
            </a:avLst>
          </a:prstGeom>
          <a:solidFill>
            <a:srgbClr val="FCE9E7"/>
          </a:solidFill>
          <a:ln w="25400">
            <a:solidFill>
              <a:srgbClr val="B3261E"/>
            </a:solidFill>
          </a:ln>
          <a:effectLst/>
        </p:spPr>
        <p:txBody>
          <a:bodyPr rtlCol="0" anchor="ctr" wrap="square" lIns="164592" rIns="164592" tIns="36576" bIns="36576"/>
          <a:lstStyle/>
          <a:p>
            <a:pPr algn="l">
              <a:spcBef>
                <a:spcPts val="0"/>
              </a:spcBef>
              <a:spcAft>
                <a:spcPts val="0"/>
              </a:spcAft>
            </a:pPr>
            <a:r>
              <a:rPr sz="1550" b="1" i="0">
                <a:solidFill>
                  <a:srgbClr val="B3261E"/>
                </a:solidFill>
                <a:latin typeface="Calibri"/>
              </a:rPr>
              <a:t>⑤ build </a:t>
            </a:r>
            <a:r>
              <a:rPr sz="1550" b="1" i="1">
                <a:solidFill>
                  <a:srgbClr val="B3261E"/>
                </a:solidFill>
                <a:latin typeface="Cambria"/>
              </a:rPr>
              <a:t>z</a:t>
            </a:r>
            <a:r>
              <a:rPr sz="1550" b="1" i="0">
                <a:solidFill>
                  <a:srgbClr val="B3261E"/>
                </a:solidFill>
                <a:latin typeface="Cambria"/>
              </a:rPr>
              <a:t>′</a:t>
            </a:r>
            <a:r>
              <a:rPr sz="1550" b="1" i="1" baseline="-25000">
                <a:solidFill>
                  <a:srgbClr val="B3261E"/>
                </a:solidFill>
                <a:latin typeface="Cambria"/>
              </a:rPr>
              <a:t>i</a:t>
            </a:r>
          </a:p>
        </p:txBody>
      </p:sp>
      <p:sp>
        <p:nvSpPr>
          <p:cNvPr id="18" name="TextBox 17"/>
          <p:cNvSpPr txBox="1"/>
          <p:nvPr/>
        </p:nvSpPr>
        <p:spPr>
          <a:xfrm>
            <a:off x="3840480" y="1645920"/>
            <a:ext cx="4846320" cy="548640"/>
          </a:xfrm>
          <a:prstGeom prst="rect">
            <a:avLst/>
          </a:prstGeom>
          <a:noFill/>
        </p:spPr>
        <p:txBody>
          <a:bodyPr wrap="square" lIns="0" rIns="0" tIns="0" bIns="0" anchor="t">
            <a:spAutoFit/>
          </a:bodyPr>
          <a:lstStyle/>
          <a:p>
            <a:pPr algn="l">
              <a:spcBef>
                <a:spcPts val="0"/>
              </a:spcBef>
              <a:spcAft>
                <a:spcPts val="0"/>
              </a:spcAft>
            </a:pPr>
            <a:r>
              <a:rPr sz="2600" b="0" i="1">
                <a:solidFill>
                  <a:srgbClr val="14202E"/>
                </a:solidFill>
                <a:latin typeface="Cambria"/>
              </a:rPr>
              <a:t>v</a:t>
            </a:r>
            <a:r>
              <a:rPr sz="2600" b="0" i="0">
                <a:solidFill>
                  <a:srgbClr val="14202E"/>
                </a:solidFill>
                <a:latin typeface="Cambria"/>
              </a:rPr>
              <a:t>′</a:t>
            </a:r>
            <a:r>
              <a:rPr sz="2600" b="0" i="1" baseline="-25000">
                <a:solidFill>
                  <a:srgbClr val="14202E"/>
                </a:solidFill>
                <a:latin typeface="Cambria"/>
              </a:rPr>
              <a:t>i</a:t>
            </a:r>
            <a:r>
              <a:rPr sz="2600" b="0" i="0">
                <a:solidFill>
                  <a:srgbClr val="14202E"/>
                </a:solidFill>
                <a:latin typeface="Cambria"/>
              </a:rPr>
              <a:t> = </a:t>
            </a:r>
            <a:r>
              <a:rPr sz="2600" b="0" i="1">
                <a:solidFill>
                  <a:srgbClr val="14202E"/>
                </a:solidFill>
                <a:latin typeface="Cambria"/>
              </a:rPr>
              <a:t>H</a:t>
            </a:r>
            <a:r>
              <a:rPr sz="2600" b="0" i="0" baseline="-25000">
                <a:solidFill>
                  <a:srgbClr val="14202E"/>
                </a:solidFill>
                <a:latin typeface="Cambria"/>
              </a:rPr>
              <a:t>1</a:t>
            </a:r>
            <a:r>
              <a:rPr sz="2600" b="0" i="0">
                <a:solidFill>
                  <a:srgbClr val="14202E"/>
                </a:solidFill>
                <a:latin typeface="Cambria"/>
              </a:rPr>
              <a:t>(</a:t>
            </a:r>
            <a:r>
              <a:rPr sz="2600" b="0" i="1">
                <a:solidFill>
                  <a:srgbClr val="14202E"/>
                </a:solidFill>
                <a:latin typeface="Cambria"/>
              </a:rPr>
              <a:t>m</a:t>
            </a:r>
            <a:r>
              <a:rPr sz="2600" b="0" i="0">
                <a:solidFill>
                  <a:srgbClr val="14202E"/>
                </a:solidFill>
                <a:latin typeface="Cambria"/>
              </a:rPr>
              <a:t>′</a:t>
            </a:r>
            <a:r>
              <a:rPr sz="2600" b="0" i="1" baseline="-25000">
                <a:solidFill>
                  <a:srgbClr val="14202E"/>
                </a:solidFill>
                <a:latin typeface="Cambria"/>
              </a:rPr>
              <a:t>i</a:t>
            </a:r>
            <a:r>
              <a:rPr sz="2600" b="0" i="0">
                <a:solidFill>
                  <a:srgbClr val="14202E"/>
                </a:solidFill>
                <a:latin typeface="Cambria"/>
              </a:rPr>
              <a:t>‖</a:t>
            </a:r>
            <a:r>
              <a:rPr sz="2600" b="0" i="1">
                <a:solidFill>
                  <a:srgbClr val="14202E"/>
                </a:solidFill>
                <a:latin typeface="Cambria"/>
              </a:rPr>
              <a:t>pk</a:t>
            </a:r>
            <a:r>
              <a:rPr sz="2600" b="0" i="1" baseline="-25000">
                <a:solidFill>
                  <a:srgbClr val="14202E"/>
                </a:solidFill>
                <a:latin typeface="Cambria"/>
              </a:rPr>
              <a:t>i</a:t>
            </a:r>
            <a:r>
              <a:rPr sz="2600" b="0" i="0">
                <a:solidFill>
                  <a:srgbClr val="14202E"/>
                </a:solidFill>
                <a:latin typeface="Cambria"/>
              </a:rPr>
              <a:t>‖</a:t>
            </a:r>
            <a:r>
              <a:rPr sz="2600" b="0" i="1">
                <a:solidFill>
                  <a:srgbClr val="14202E"/>
                </a:solidFill>
                <a:latin typeface="Cambria"/>
              </a:rPr>
              <a:t>id</a:t>
            </a:r>
            <a:r>
              <a:rPr sz="2600" b="0" i="1" baseline="-25000">
                <a:solidFill>
                  <a:srgbClr val="14202E"/>
                </a:solidFill>
                <a:latin typeface="Cambria"/>
              </a:rPr>
              <a:t>i</a:t>
            </a:r>
            <a:r>
              <a:rPr sz="2600" b="0" i="0">
                <a:solidFill>
                  <a:srgbClr val="14202E"/>
                </a:solidFill>
                <a:latin typeface="Cambria"/>
              </a:rPr>
              <a:t>‖Δ)</a:t>
            </a:r>
          </a:p>
        </p:txBody>
      </p:sp>
      <p:sp>
        <p:nvSpPr>
          <p:cNvPr id="19" name="Rounded Rectangle 18"/>
          <p:cNvSpPr/>
          <p:nvPr/>
        </p:nvSpPr>
        <p:spPr>
          <a:xfrm>
            <a:off x="8732520" y="1609344"/>
            <a:ext cx="2907792" cy="658368"/>
          </a:xfrm>
          <a:prstGeom prst="roundRect">
            <a:avLst>
              <a:gd name="adj" fmla="val 16666"/>
            </a:avLst>
          </a:prstGeom>
          <a:solidFill>
            <a:srgbClr val="FCE9E7"/>
          </a:solidFill>
          <a:ln w="15240">
            <a:solidFill>
              <a:srgbClr val="B3261E"/>
            </a:solidFill>
            <a:prstDash val="dash"/>
          </a:ln>
          <a:effectLst/>
        </p:spPr>
        <p:txBody>
          <a:bodyPr rtlCol="0" anchor="ctr" wrap="square" lIns="73152" rIns="73152" tIns="36576" bIns="36576"/>
          <a:lstStyle/>
          <a:p>
            <a:pPr algn="ctr">
              <a:spcBef>
                <a:spcPts val="0"/>
              </a:spcBef>
              <a:spcAft>
                <a:spcPts val="0"/>
              </a:spcAft>
            </a:pPr>
            <a:r>
              <a:rPr sz="1400" b="1" i="0">
                <a:solidFill>
                  <a:srgbClr val="B3261E"/>
                </a:solidFill>
                <a:latin typeface="Calibri"/>
              </a:rPr>
              <a:t>computable now:</a:t>
            </a:r>
          </a:p>
          <a:p>
            <a:pPr algn="ctr">
              <a:spcBef>
                <a:spcPts val="0"/>
              </a:spcBef>
              <a:spcAft>
                <a:spcPts val="0"/>
              </a:spcAft>
            </a:pPr>
            <a:r>
              <a:rPr sz="1500" b="0" i="1">
                <a:solidFill>
                  <a:srgbClr val="14202E"/>
                </a:solidFill>
                <a:latin typeface="Cambria"/>
              </a:rPr>
              <a:t>R</a:t>
            </a:r>
            <a:r>
              <a:rPr sz="1500" b="0" i="0">
                <a:solidFill>
                  <a:srgbClr val="14202E"/>
                </a:solidFill>
                <a:latin typeface="Cambria"/>
              </a:rPr>
              <a:t>′</a:t>
            </a:r>
            <a:r>
              <a:rPr sz="1500" b="0" i="1" baseline="-25000">
                <a:solidFill>
                  <a:srgbClr val="14202E"/>
                </a:solidFill>
                <a:latin typeface="Cambria"/>
              </a:rPr>
              <a:t>i</a:t>
            </a:r>
            <a:r>
              <a:rPr sz="1500" b="0" i="0">
                <a:solidFill>
                  <a:srgbClr val="14202E"/>
                </a:solidFill>
                <a:latin typeface="Calibri"/>
              </a:rPr>
              <a:t> is not an input</a:t>
            </a:r>
          </a:p>
        </p:txBody>
      </p:sp>
      <p:sp>
        <p:nvSpPr>
          <p:cNvPr id="20" name="TextBox 19"/>
          <p:cNvSpPr txBox="1"/>
          <p:nvPr/>
        </p:nvSpPr>
        <p:spPr>
          <a:xfrm>
            <a:off x="3840480" y="2423160"/>
            <a:ext cx="7772400" cy="502920"/>
          </a:xfrm>
          <a:prstGeom prst="rect">
            <a:avLst/>
          </a:prstGeom>
          <a:noFill/>
        </p:spPr>
        <p:txBody>
          <a:bodyPr wrap="square" lIns="0" rIns="0" tIns="0" bIns="0" anchor="t">
            <a:spAutoFit/>
          </a:bodyPr>
          <a:lstStyle/>
          <a:p>
            <a:pPr algn="l">
              <a:spcBef>
                <a:spcPts val="0"/>
              </a:spcBef>
              <a:spcAft>
                <a:spcPts val="0"/>
              </a:spcAft>
            </a:pPr>
            <a:r>
              <a:rPr sz="2800" b="0" i="1">
                <a:solidFill>
                  <a:srgbClr val="14202E"/>
                </a:solidFill>
                <a:latin typeface="Cambria"/>
              </a:rPr>
              <a:t>R</a:t>
            </a:r>
            <a:r>
              <a:rPr sz="2800" b="0" i="0">
                <a:solidFill>
                  <a:srgbClr val="14202E"/>
                </a:solidFill>
                <a:latin typeface="Cambria"/>
              </a:rPr>
              <a:t>′</a:t>
            </a:r>
            <a:r>
              <a:rPr sz="2800" b="0" i="1" baseline="-25000">
                <a:solidFill>
                  <a:srgbClr val="14202E"/>
                </a:solidFill>
                <a:latin typeface="Cambria"/>
              </a:rPr>
              <a:t>i</a:t>
            </a:r>
            <a:r>
              <a:rPr sz="2800" b="0" i="0">
                <a:solidFill>
                  <a:srgbClr val="14202E"/>
                </a:solidFill>
                <a:latin typeface="Cambria"/>
              </a:rPr>
              <a:t> = </a:t>
            </a:r>
            <a:r>
              <a:rPr sz="2800" b="0" i="1">
                <a:solidFill>
                  <a:srgbClr val="14202E"/>
                </a:solidFill>
                <a:latin typeface="Cambria"/>
              </a:rPr>
              <a:t>R</a:t>
            </a:r>
            <a:r>
              <a:rPr sz="2800" b="0" i="0" baseline="-25000">
                <a:solidFill>
                  <a:srgbClr val="14202E"/>
                </a:solidFill>
                <a:latin typeface="Cambria"/>
              </a:rPr>
              <a:t>1</a:t>
            </a:r>
            <a:r>
              <a:rPr sz="2800" b="0" i="1" baseline="-25000">
                <a:solidFill>
                  <a:srgbClr val="14202E"/>
                </a:solidFill>
                <a:latin typeface="Cambria"/>
              </a:rPr>
              <a:t>i</a:t>
            </a:r>
            <a:r>
              <a:rPr sz="2800" b="0" i="0">
                <a:solidFill>
                  <a:srgbClr val="14202E"/>
                </a:solidFill>
                <a:latin typeface="Cambria"/>
              </a:rPr>
              <a:t> + </a:t>
            </a:r>
            <a:r>
              <a:rPr sz="2800" b="0" i="1">
                <a:solidFill>
                  <a:srgbClr val="14202E"/>
                </a:solidFill>
                <a:latin typeface="Cambria"/>
              </a:rPr>
              <a:t>v</a:t>
            </a:r>
            <a:r>
              <a:rPr sz="2800" b="0" i="0">
                <a:solidFill>
                  <a:srgbClr val="14202E"/>
                </a:solidFill>
                <a:latin typeface="Cambria"/>
              </a:rPr>
              <a:t>′</a:t>
            </a:r>
            <a:r>
              <a:rPr sz="2800" b="0" i="1" baseline="-25000">
                <a:solidFill>
                  <a:srgbClr val="14202E"/>
                </a:solidFill>
                <a:latin typeface="Cambria"/>
              </a:rPr>
              <a:t>i</a:t>
            </a:r>
            <a:r>
              <a:rPr sz="2800" b="0" i="0">
                <a:solidFill>
                  <a:srgbClr val="14202E"/>
                </a:solidFill>
                <a:latin typeface="Cambria"/>
              </a:rPr>
              <a:t>·</a:t>
            </a:r>
            <a:r>
              <a:rPr sz="2800" b="0" i="1">
                <a:solidFill>
                  <a:srgbClr val="14202E"/>
                </a:solidFill>
                <a:latin typeface="Cambria"/>
              </a:rPr>
              <a:t>A</a:t>
            </a:r>
          </a:p>
        </p:txBody>
      </p:sp>
      <p:sp>
        <p:nvSpPr>
          <p:cNvPr id="21" name="TextBox 20"/>
          <p:cNvSpPr txBox="1"/>
          <p:nvPr/>
        </p:nvSpPr>
        <p:spPr>
          <a:xfrm>
            <a:off x="4114800" y="2926080"/>
            <a:ext cx="7498079" cy="365760"/>
          </a:xfrm>
          <a:prstGeom prst="rect">
            <a:avLst/>
          </a:prstGeom>
          <a:noFill/>
        </p:spPr>
        <p:txBody>
          <a:bodyPr wrap="square" lIns="0" rIns="0" tIns="0" bIns="0" anchor="t">
            <a:spAutoFit/>
          </a:bodyPr>
          <a:lstStyle/>
          <a:p>
            <a:pPr algn="l">
              <a:spcBef>
                <a:spcPts val="0"/>
              </a:spcBef>
              <a:spcAft>
                <a:spcPts val="0"/>
              </a:spcAft>
            </a:pPr>
            <a:r>
              <a:rPr sz="1900" b="0" i="0">
                <a:solidFill>
                  <a:srgbClr val="5B6675"/>
                </a:solidFill>
                <a:latin typeface="Cambria"/>
              </a:rPr>
              <a:t>= </a:t>
            </a:r>
            <a:r>
              <a:rPr sz="1900" b="0" i="1">
                <a:solidFill>
                  <a:srgbClr val="5B6675"/>
                </a:solidFill>
                <a:latin typeface="Cambria"/>
              </a:rPr>
              <a:t>R</a:t>
            </a:r>
            <a:r>
              <a:rPr sz="1900" b="0" i="0" baseline="-25000">
                <a:solidFill>
                  <a:srgbClr val="5B6675"/>
                </a:solidFill>
                <a:latin typeface="Cambria"/>
              </a:rPr>
              <a:t>1</a:t>
            </a:r>
            <a:r>
              <a:rPr sz="1900" b="0" i="1" baseline="-25000">
                <a:solidFill>
                  <a:srgbClr val="5B6675"/>
                </a:solidFill>
                <a:latin typeface="Cambria"/>
              </a:rPr>
              <a:t>i</a:t>
            </a:r>
            <a:r>
              <a:rPr sz="1900" b="0" i="0">
                <a:solidFill>
                  <a:srgbClr val="5B6675"/>
                </a:solidFill>
                <a:latin typeface="Cambria"/>
              </a:rPr>
              <a:t> + (</a:t>
            </a:r>
            <a:r>
              <a:rPr sz="1900" b="0" i="1">
                <a:solidFill>
                  <a:srgbClr val="5B6675"/>
                </a:solidFill>
                <a:latin typeface="Cambria"/>
              </a:rPr>
              <a:t>v</a:t>
            </a:r>
            <a:r>
              <a:rPr sz="1900" b="0" i="0">
                <a:solidFill>
                  <a:srgbClr val="5B6675"/>
                </a:solidFill>
                <a:latin typeface="Cambria"/>
              </a:rPr>
              <a:t>′</a:t>
            </a:r>
            <a:r>
              <a:rPr sz="1900" b="0" i="1" baseline="-25000">
                <a:solidFill>
                  <a:srgbClr val="5B6675"/>
                </a:solidFill>
                <a:latin typeface="Cambria"/>
              </a:rPr>
              <a:t>i</a:t>
            </a:r>
            <a:r>
              <a:rPr sz="1900" b="0" i="1">
                <a:solidFill>
                  <a:srgbClr val="5B6675"/>
                </a:solidFill>
                <a:latin typeface="Cambria"/>
              </a:rPr>
              <a:t>r</a:t>
            </a:r>
            <a:r>
              <a:rPr sz="1900" b="0" i="0" baseline="-25000">
                <a:solidFill>
                  <a:srgbClr val="5B6675"/>
                </a:solidFill>
                <a:latin typeface="Cambria"/>
              </a:rPr>
              <a:t>2</a:t>
            </a:r>
            <a:r>
              <a:rPr sz="1900" b="0" i="1" baseline="-25000">
                <a:solidFill>
                  <a:srgbClr val="5B6675"/>
                </a:solidFill>
                <a:latin typeface="Cambria"/>
              </a:rPr>
              <a:t>i</a:t>
            </a:r>
            <a:r>
              <a:rPr sz="1900" b="0" i="0">
                <a:solidFill>
                  <a:srgbClr val="5B6675"/>
                </a:solidFill>
                <a:latin typeface="Cambria"/>
              </a:rPr>
              <a:t>/</a:t>
            </a:r>
            <a:r>
              <a:rPr sz="1900" b="0" i="1">
                <a:solidFill>
                  <a:srgbClr val="5B6675"/>
                </a:solidFill>
                <a:latin typeface="Cambria"/>
              </a:rPr>
              <a:t>v</a:t>
            </a:r>
            <a:r>
              <a:rPr sz="1900" b="0" i="1" baseline="-25000">
                <a:solidFill>
                  <a:srgbClr val="5B6675"/>
                </a:solidFill>
                <a:latin typeface="Cambria"/>
              </a:rPr>
              <a:t>i</a:t>
            </a:r>
            <a:r>
              <a:rPr sz="1900" b="0" i="0">
                <a:solidFill>
                  <a:srgbClr val="5B6675"/>
                </a:solidFill>
                <a:latin typeface="Cambria"/>
              </a:rPr>
              <a:t>)</a:t>
            </a:r>
            <a:r>
              <a:rPr sz="1900" b="0" i="1">
                <a:solidFill>
                  <a:srgbClr val="5B6675"/>
                </a:solidFill>
                <a:latin typeface="Cambria"/>
              </a:rPr>
              <a:t>P</a:t>
            </a:r>
          </a:p>
        </p:txBody>
      </p:sp>
      <p:sp>
        <p:nvSpPr>
          <p:cNvPr id="22" name="TextBox 21"/>
          <p:cNvSpPr txBox="1"/>
          <p:nvPr/>
        </p:nvSpPr>
        <p:spPr>
          <a:xfrm>
            <a:off x="3840480" y="3520440"/>
            <a:ext cx="7772400" cy="502920"/>
          </a:xfrm>
          <a:prstGeom prst="rect">
            <a:avLst/>
          </a:prstGeom>
          <a:noFill/>
        </p:spPr>
        <p:txBody>
          <a:bodyPr wrap="square" lIns="0" rIns="0" tIns="0" bIns="0" anchor="t">
            <a:spAutoFit/>
          </a:bodyPr>
          <a:lstStyle/>
          <a:p>
            <a:pPr algn="l">
              <a:spcBef>
                <a:spcPts val="0"/>
              </a:spcBef>
              <a:spcAft>
                <a:spcPts val="0"/>
              </a:spcAft>
            </a:pPr>
            <a:r>
              <a:rPr sz="2800" b="0" i="1">
                <a:solidFill>
                  <a:srgbClr val="14202E"/>
                </a:solidFill>
                <a:latin typeface="Cambria"/>
              </a:rPr>
              <a:t>z</a:t>
            </a:r>
            <a:r>
              <a:rPr sz="2800" b="0" i="0">
                <a:solidFill>
                  <a:srgbClr val="14202E"/>
                </a:solidFill>
                <a:latin typeface="Cambria"/>
              </a:rPr>
              <a:t>′</a:t>
            </a:r>
            <a:r>
              <a:rPr sz="2800" b="0" i="1" baseline="-25000">
                <a:solidFill>
                  <a:srgbClr val="14202E"/>
                </a:solidFill>
                <a:latin typeface="Cambria"/>
              </a:rPr>
              <a:t>i</a:t>
            </a:r>
            <a:r>
              <a:rPr sz="2800" b="0" i="0">
                <a:solidFill>
                  <a:srgbClr val="14202E"/>
                </a:solidFill>
                <a:latin typeface="Cambria"/>
              </a:rPr>
              <a:t> = </a:t>
            </a:r>
            <a:r>
              <a:rPr sz="2800" b="0" i="1">
                <a:solidFill>
                  <a:srgbClr val="14202E"/>
                </a:solidFill>
                <a:latin typeface="Cambria"/>
              </a:rPr>
              <a:t>v</a:t>
            </a:r>
            <a:r>
              <a:rPr sz="2800" b="0" i="0">
                <a:solidFill>
                  <a:srgbClr val="14202E"/>
                </a:solidFill>
                <a:latin typeface="Cambria"/>
              </a:rPr>
              <a:t>′</a:t>
            </a:r>
            <a:r>
              <a:rPr sz="2800" b="0" i="1" baseline="-25000">
                <a:solidFill>
                  <a:srgbClr val="14202E"/>
                </a:solidFill>
                <a:latin typeface="Cambria"/>
              </a:rPr>
              <a:t>i</a:t>
            </a:r>
            <a:r>
              <a:rPr sz="2800" b="0" i="0">
                <a:solidFill>
                  <a:srgbClr val="14202E"/>
                </a:solidFill>
                <a:latin typeface="Cambria"/>
              </a:rPr>
              <a:t>·</a:t>
            </a:r>
            <a:r>
              <a:rPr sz="2800" b="0" i="1">
                <a:solidFill>
                  <a:srgbClr val="14202E"/>
                </a:solidFill>
                <a:latin typeface="Cambria"/>
              </a:rPr>
              <a:t>α</a:t>
            </a:r>
            <a:r>
              <a:rPr sz="2800" b="0" i="0">
                <a:solidFill>
                  <a:srgbClr val="14202E"/>
                </a:solidFill>
                <a:latin typeface="Cambria"/>
              </a:rPr>
              <a:t> + </a:t>
            </a:r>
            <a:r>
              <a:rPr sz="2800" b="0" i="1">
                <a:solidFill>
                  <a:srgbClr val="14202E"/>
                </a:solidFill>
                <a:latin typeface="Cambria"/>
              </a:rPr>
              <a:t>c</a:t>
            </a:r>
            <a:r>
              <a:rPr sz="2800" b="0" i="1" baseline="-25000">
                <a:solidFill>
                  <a:srgbClr val="14202E"/>
                </a:solidFill>
                <a:latin typeface="Cambria"/>
              </a:rPr>
              <a:t>i</a:t>
            </a:r>
          </a:p>
        </p:txBody>
      </p:sp>
      <p:sp>
        <p:nvSpPr>
          <p:cNvPr id="23" name="TextBox 22"/>
          <p:cNvSpPr txBox="1"/>
          <p:nvPr/>
        </p:nvSpPr>
        <p:spPr>
          <a:xfrm>
            <a:off x="4114800" y="4023360"/>
            <a:ext cx="7498079" cy="365760"/>
          </a:xfrm>
          <a:prstGeom prst="rect">
            <a:avLst/>
          </a:prstGeom>
          <a:noFill/>
        </p:spPr>
        <p:txBody>
          <a:bodyPr wrap="square" lIns="0" rIns="0" tIns="0" bIns="0" anchor="t">
            <a:spAutoFit/>
          </a:bodyPr>
          <a:lstStyle/>
          <a:p>
            <a:pPr algn="l">
              <a:spcBef>
                <a:spcPts val="0"/>
              </a:spcBef>
              <a:spcAft>
                <a:spcPts val="0"/>
              </a:spcAft>
            </a:pPr>
            <a:r>
              <a:rPr sz="1900" b="0" i="0">
                <a:solidFill>
                  <a:srgbClr val="5B6675"/>
                </a:solidFill>
                <a:latin typeface="Cambria"/>
              </a:rPr>
              <a:t>= </a:t>
            </a:r>
            <a:r>
              <a:rPr sz="1900" b="0" i="1">
                <a:solidFill>
                  <a:srgbClr val="5B6675"/>
                </a:solidFill>
                <a:latin typeface="Cambria"/>
              </a:rPr>
              <a:t>v</a:t>
            </a:r>
            <a:r>
              <a:rPr sz="1900" b="0" i="0">
                <a:solidFill>
                  <a:srgbClr val="5B6675"/>
                </a:solidFill>
                <a:latin typeface="Cambria"/>
              </a:rPr>
              <a:t>′</a:t>
            </a:r>
            <a:r>
              <a:rPr sz="1900" b="0" i="1" baseline="-25000">
                <a:solidFill>
                  <a:srgbClr val="5B6675"/>
                </a:solidFill>
                <a:latin typeface="Cambria"/>
              </a:rPr>
              <a:t>i</a:t>
            </a:r>
            <a:r>
              <a:rPr sz="1900" b="0" i="1">
                <a:solidFill>
                  <a:srgbClr val="5B6675"/>
                </a:solidFill>
                <a:latin typeface="Cambria"/>
              </a:rPr>
              <a:t>r</a:t>
            </a:r>
            <a:r>
              <a:rPr sz="1900" b="0" i="0" baseline="-25000">
                <a:solidFill>
                  <a:srgbClr val="5B6675"/>
                </a:solidFill>
                <a:latin typeface="Cambria"/>
              </a:rPr>
              <a:t>2</a:t>
            </a:r>
            <a:r>
              <a:rPr sz="1900" b="0" i="1" baseline="-25000">
                <a:solidFill>
                  <a:srgbClr val="5B6675"/>
                </a:solidFill>
                <a:latin typeface="Cambria"/>
              </a:rPr>
              <a:t>i</a:t>
            </a:r>
            <a:r>
              <a:rPr sz="1900" b="0" i="0">
                <a:solidFill>
                  <a:srgbClr val="5B6675"/>
                </a:solidFill>
                <a:latin typeface="Cambria"/>
              </a:rPr>
              <a:t>/</a:t>
            </a:r>
            <a:r>
              <a:rPr sz="1900" b="0" i="1">
                <a:solidFill>
                  <a:srgbClr val="5B6675"/>
                </a:solidFill>
                <a:latin typeface="Cambria"/>
              </a:rPr>
              <a:t>v</a:t>
            </a:r>
            <a:r>
              <a:rPr sz="1900" b="0" i="1" baseline="-25000">
                <a:solidFill>
                  <a:srgbClr val="5B6675"/>
                </a:solidFill>
                <a:latin typeface="Cambria"/>
              </a:rPr>
              <a:t>i</a:t>
            </a:r>
            <a:r>
              <a:rPr sz="1900" b="0" i="0">
                <a:solidFill>
                  <a:srgbClr val="5B6675"/>
                </a:solidFill>
                <a:latin typeface="Cambria"/>
              </a:rPr>
              <a:t> + </a:t>
            </a:r>
            <a:r>
              <a:rPr sz="1900" b="0" i="1">
                <a:solidFill>
                  <a:srgbClr val="5B6675"/>
                </a:solidFill>
                <a:latin typeface="Cambria"/>
              </a:rPr>
              <a:t>c</a:t>
            </a:r>
            <a:r>
              <a:rPr sz="1900" b="0" i="1" baseline="-25000">
                <a:solidFill>
                  <a:srgbClr val="5B6675"/>
                </a:solidFill>
                <a:latin typeface="Cambria"/>
              </a:rPr>
              <a:t>i</a:t>
            </a:r>
            <a:r>
              <a:rPr sz="1900" b="0" i="0">
                <a:solidFill>
                  <a:srgbClr val="5B6675"/>
                </a:solidFill>
                <a:latin typeface="Cambria"/>
              </a:rPr>
              <a:t> + </a:t>
            </a:r>
            <a:r>
              <a:rPr sz="1900" b="0" i="1">
                <a:solidFill>
                  <a:srgbClr val="5B6675"/>
                </a:solidFill>
                <a:latin typeface="Cambria"/>
              </a:rPr>
              <a:t>sk</a:t>
            </a:r>
            <a:r>
              <a:rPr sz="1900" b="0" i="1" baseline="-25000">
                <a:solidFill>
                  <a:srgbClr val="5B6675"/>
                </a:solidFill>
                <a:latin typeface="Cambria"/>
              </a:rPr>
              <a:t>i</a:t>
            </a:r>
            <a:r>
              <a:rPr sz="1900" b="0" i="1">
                <a:solidFill>
                  <a:srgbClr val="5B6675"/>
                </a:solidFill>
                <a:latin typeface="Cambria"/>
              </a:rPr>
              <a:t>v</a:t>
            </a:r>
            <a:r>
              <a:rPr sz="1900" b="0" i="0">
                <a:solidFill>
                  <a:srgbClr val="5B6675"/>
                </a:solidFill>
                <a:latin typeface="Cambria"/>
              </a:rPr>
              <a:t>′</a:t>
            </a:r>
            <a:r>
              <a:rPr sz="1900" b="0" i="1" baseline="-25000">
                <a:solidFill>
                  <a:srgbClr val="5B6675"/>
                </a:solidFill>
                <a:latin typeface="Cambria"/>
              </a:rPr>
              <a:t>i</a:t>
            </a:r>
          </a:p>
        </p:txBody>
      </p:sp>
      <p:sp>
        <p:nvSpPr>
          <p:cNvPr id="24" name="TextBox 23"/>
          <p:cNvSpPr txBox="1"/>
          <p:nvPr/>
        </p:nvSpPr>
        <p:spPr>
          <a:xfrm>
            <a:off x="3840480" y="4617720"/>
            <a:ext cx="4572000" cy="502920"/>
          </a:xfrm>
          <a:prstGeom prst="rect">
            <a:avLst/>
          </a:prstGeom>
          <a:noFill/>
        </p:spPr>
        <p:txBody>
          <a:bodyPr wrap="square" lIns="0" rIns="0" tIns="0" bIns="0" anchor="t">
            <a:spAutoFit/>
          </a:bodyPr>
          <a:lstStyle/>
          <a:p>
            <a:pPr algn="l">
              <a:spcBef>
                <a:spcPts val="0"/>
              </a:spcBef>
              <a:spcAft>
                <a:spcPts val="0"/>
              </a:spcAft>
            </a:pPr>
            <a:r>
              <a:rPr sz="2800" b="1" i="1">
                <a:solidFill>
                  <a:srgbClr val="B3261E"/>
                </a:solidFill>
                <a:latin typeface="Cambria"/>
              </a:rPr>
              <a:t>δ</a:t>
            </a:r>
            <a:r>
              <a:rPr sz="2800" b="1" i="0">
                <a:solidFill>
                  <a:srgbClr val="B3261E"/>
                </a:solidFill>
                <a:latin typeface="Cambria"/>
              </a:rPr>
              <a:t>′</a:t>
            </a:r>
            <a:r>
              <a:rPr sz="2800" b="1" i="1" baseline="-25000">
                <a:solidFill>
                  <a:srgbClr val="B3261E"/>
                </a:solidFill>
                <a:latin typeface="Cambria"/>
              </a:rPr>
              <a:t>i</a:t>
            </a:r>
            <a:r>
              <a:rPr sz="2800" b="1" i="0">
                <a:solidFill>
                  <a:srgbClr val="B3261E"/>
                </a:solidFill>
                <a:latin typeface="Cambria"/>
              </a:rPr>
              <a:t> = (</a:t>
            </a:r>
            <a:r>
              <a:rPr sz="2800" b="1" i="1">
                <a:solidFill>
                  <a:srgbClr val="B3261E"/>
                </a:solidFill>
                <a:latin typeface="Cambria"/>
              </a:rPr>
              <a:t>R</a:t>
            </a:r>
            <a:r>
              <a:rPr sz="2800" b="1" i="0">
                <a:solidFill>
                  <a:srgbClr val="B3261E"/>
                </a:solidFill>
                <a:latin typeface="Cambria"/>
              </a:rPr>
              <a:t>′</a:t>
            </a:r>
            <a:r>
              <a:rPr sz="2800" b="1" i="1" baseline="-25000">
                <a:solidFill>
                  <a:srgbClr val="B3261E"/>
                </a:solidFill>
                <a:latin typeface="Cambria"/>
              </a:rPr>
              <a:t>i</a:t>
            </a:r>
            <a:r>
              <a:rPr sz="2800" b="1" i="0">
                <a:solidFill>
                  <a:srgbClr val="B3261E"/>
                </a:solidFill>
                <a:latin typeface="Cambria"/>
              </a:rPr>
              <a:t>, </a:t>
            </a:r>
            <a:r>
              <a:rPr sz="2800" b="1" i="1">
                <a:solidFill>
                  <a:srgbClr val="B3261E"/>
                </a:solidFill>
                <a:latin typeface="Cambria"/>
              </a:rPr>
              <a:t>z</a:t>
            </a:r>
            <a:r>
              <a:rPr sz="2800" b="1" i="0">
                <a:solidFill>
                  <a:srgbClr val="B3261E"/>
                </a:solidFill>
                <a:latin typeface="Cambria"/>
              </a:rPr>
              <a:t>′</a:t>
            </a:r>
            <a:r>
              <a:rPr sz="2800" b="1" i="1" baseline="-25000">
                <a:solidFill>
                  <a:srgbClr val="B3261E"/>
                </a:solidFill>
                <a:latin typeface="Cambria"/>
              </a:rPr>
              <a:t>i</a:t>
            </a:r>
            <a:r>
              <a:rPr sz="2800" b="1" i="0">
                <a:solidFill>
                  <a:srgbClr val="B3261E"/>
                </a:solidFill>
                <a:latin typeface="Cambria"/>
              </a:rPr>
              <a:t>)</a:t>
            </a:r>
          </a:p>
        </p:txBody>
      </p:sp>
      <p:sp>
        <p:nvSpPr>
          <p:cNvPr id="25" name="Rounded Rectangle 24"/>
          <p:cNvSpPr/>
          <p:nvPr/>
        </p:nvSpPr>
        <p:spPr>
          <a:xfrm>
            <a:off x="7040880" y="4572000"/>
            <a:ext cx="4599432" cy="566928"/>
          </a:xfrm>
          <a:prstGeom prst="roundRect">
            <a:avLst>
              <a:gd name="adj" fmla="val 19354"/>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500" b="0" i="0">
                <a:solidFill>
                  <a:srgbClr val="14202E"/>
                </a:solidFill>
                <a:latin typeface="Calibri"/>
              </a:rPr>
              <a:t>looks honest: fresh nonce </a:t>
            </a:r>
            <a:r>
              <a:rPr sz="1500" b="0" i="1">
                <a:solidFill>
                  <a:srgbClr val="14202E"/>
                </a:solidFill>
                <a:latin typeface="Cambria"/>
              </a:rPr>
              <a:t>v</a:t>
            </a:r>
            <a:r>
              <a:rPr sz="1500" b="0" i="0">
                <a:solidFill>
                  <a:srgbClr val="14202E"/>
                </a:solidFill>
                <a:latin typeface="Cambria"/>
              </a:rPr>
              <a:t>′</a:t>
            </a:r>
            <a:r>
              <a:rPr sz="1500" b="0" i="1" baseline="-25000">
                <a:solidFill>
                  <a:srgbClr val="14202E"/>
                </a:solidFill>
                <a:latin typeface="Cambria"/>
              </a:rPr>
              <a:t>i</a:t>
            </a:r>
            <a:r>
              <a:rPr sz="1500" b="0" i="1">
                <a:solidFill>
                  <a:srgbClr val="14202E"/>
                </a:solidFill>
                <a:latin typeface="Cambria"/>
              </a:rPr>
              <a:t>r</a:t>
            </a:r>
            <a:r>
              <a:rPr sz="1500" b="0" i="0" baseline="-25000">
                <a:solidFill>
                  <a:srgbClr val="14202E"/>
                </a:solidFill>
                <a:latin typeface="Cambria"/>
              </a:rPr>
              <a:t>2</a:t>
            </a:r>
            <a:r>
              <a:rPr sz="1500" b="0" i="1" baseline="-25000">
                <a:solidFill>
                  <a:srgbClr val="14202E"/>
                </a:solidFill>
                <a:latin typeface="Cambria"/>
              </a:rPr>
              <a:t>i</a:t>
            </a:r>
            <a:r>
              <a:rPr sz="1500" b="0" i="0">
                <a:solidFill>
                  <a:srgbClr val="14202E"/>
                </a:solidFill>
                <a:latin typeface="Cambria"/>
              </a:rPr>
              <a:t>/</a:t>
            </a:r>
            <a:r>
              <a:rPr sz="1500" b="0" i="1">
                <a:solidFill>
                  <a:srgbClr val="14202E"/>
                </a:solidFill>
                <a:latin typeface="Cambria"/>
              </a:rPr>
              <a:t>v</a:t>
            </a:r>
            <a:r>
              <a:rPr sz="1500" b="0" i="1" baseline="-25000">
                <a:solidFill>
                  <a:srgbClr val="14202E"/>
                </a:solidFill>
                <a:latin typeface="Cambria"/>
              </a:rPr>
              <a:t>i</a:t>
            </a:r>
          </a:p>
        </p:txBody>
      </p:sp>
      <p:sp>
        <p:nvSpPr>
          <p:cNvPr id="26" name="Rectangle 25"/>
          <p:cNvSpPr/>
          <p:nvPr/>
        </p:nvSpPr>
        <p:spPr>
          <a:xfrm>
            <a:off x="548640" y="5760720"/>
            <a:ext cx="82296" cy="566928"/>
          </a:xfrm>
          <a:prstGeom prst="rect">
            <a:avLst/>
          </a:prstGeom>
          <a:solidFill>
            <a:srgbClr val="B3261E"/>
          </a:solidFill>
          <a:ln>
            <a:noFill/>
          </a:ln>
          <a:effectLst/>
        </p:spPr>
        <p:txBody>
          <a:bodyPr rtlCol="0" anchor="ctr" wrap="square" lIns="73152" rIns="73152" tIns="36576" bIns="36576"/>
          <a:lstStyle/>
          <a:p>
            <a:pPr algn="ctr"/>
          </a:p>
        </p:txBody>
      </p:sp>
      <p:sp>
        <p:nvSpPr>
          <p:cNvPr id="27" name="TextBox 26"/>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2000" b="1" i="0">
                <a:solidFill>
                  <a:srgbClr val="14202E"/>
                </a:solidFill>
                <a:latin typeface="Calibri"/>
              </a:rPr>
              <a:t>The result has exactly the form of an honest signature.</a:t>
            </a:r>
          </a:p>
        </p:txBody>
      </p:sp>
      <p:sp>
        <p:nvSpPr>
          <p:cNvPr id="28" name="PresenterCue"/>
          <p:cNvSpPr/>
          <p:nvPr/>
        </p:nvSpPr>
        <p:spPr>
          <a:xfrm>
            <a:off x="8503920" y="1033271"/>
            <a:ext cx="3136392" cy="457200"/>
          </a:xfrm>
          <a:prstGeom prst="roundRect">
            <a:avLst>
              <a:gd name="adj" fmla="val 10000"/>
            </a:avLst>
          </a:prstGeom>
          <a:solidFill>
            <a:srgbClr val="FFF3B0"/>
          </a:solidFill>
          <a:ln w="12700">
            <a:solidFill>
              <a:srgbClr val="D9B93A"/>
            </a:solidFill>
          </a:ln>
          <a:effectLst/>
        </p:spPr>
        <p:txBody>
          <a:bodyPr rtlCol="0" anchor="ctr" wrap="square" tIns="36576" bIns="36576"/>
          <a:lstStyle/>
          <a:p>
            <a:pPr algn="l">
              <a:lnSpc>
                <a:spcPct val="92000"/>
              </a:lnSpc>
              <a:spcBef>
                <a:spcPts val="0"/>
              </a:spcBef>
              <a:spcAft>
                <a:spcPts val="0"/>
              </a:spcAft>
            </a:pPr>
            <a:r>
              <a:rPr sz="850" b="1" i="0">
                <a:solidFill>
                  <a:srgbClr val="8A6D00"/>
                </a:solidFill>
                <a:latin typeface="Calibri"/>
              </a:rPr>
              <a:t>PRESENTER CUE</a:t>
            </a:r>
          </a:p>
          <a:p>
            <a:pPr algn="l">
              <a:lnSpc>
                <a:spcPct val="92000"/>
              </a:lnSpc>
              <a:spcBef>
                <a:spcPts val="0"/>
              </a:spcBef>
              <a:spcAft>
                <a:spcPts val="0"/>
              </a:spcAft>
            </a:pPr>
            <a:r>
              <a:rPr sz="1250" b="0" i="0">
                <a:solidFill>
                  <a:srgbClr val="4A3B00"/>
                </a:solidFill>
                <a:latin typeface="Calibri"/>
              </a:rPr>
              <a:t>New </a:t>
            </a:r>
            <a:r>
              <a:rPr sz="1250" b="0" i="1">
                <a:solidFill>
                  <a:srgbClr val="4A3B00"/>
                </a:solidFill>
                <a:latin typeface="Cambria"/>
              </a:rPr>
              <a:t>v</a:t>
            </a:r>
            <a:r>
              <a:rPr sz="1250" b="0" i="0">
                <a:solidFill>
                  <a:srgbClr val="4A3B00"/>
                </a:solidFill>
                <a:latin typeface="Cambria"/>
              </a:rPr>
              <a:t>′</a:t>
            </a:r>
            <a:r>
              <a:rPr sz="1250" b="0" i="1" baseline="-25000">
                <a:solidFill>
                  <a:srgbClr val="4A3B00"/>
                </a:solidFill>
                <a:latin typeface="Cambria"/>
              </a:rPr>
              <a:t>i</a:t>
            </a:r>
            <a:r>
              <a:rPr sz="1250" b="0" i="0">
                <a:solidFill>
                  <a:srgbClr val="4A3B00"/>
                </a:solidFill>
                <a:latin typeface="Calibri"/>
              </a:rPr>
              <a:t> → </a:t>
            </a:r>
            <a:r>
              <a:rPr sz="1250" b="0" i="1">
                <a:solidFill>
                  <a:srgbClr val="4A3B00"/>
                </a:solidFill>
                <a:latin typeface="Cambria"/>
              </a:rPr>
              <a:t>R</a:t>
            </a:r>
            <a:r>
              <a:rPr sz="1250" b="0" i="0">
                <a:solidFill>
                  <a:srgbClr val="4A3B00"/>
                </a:solidFill>
                <a:latin typeface="Cambria"/>
              </a:rPr>
              <a:t>′</a:t>
            </a:r>
            <a:r>
              <a:rPr sz="1250" b="0" i="1" baseline="-25000">
                <a:solidFill>
                  <a:srgbClr val="4A3B00"/>
                </a:solidFill>
                <a:latin typeface="Cambria"/>
              </a:rPr>
              <a:t>i</a:t>
            </a:r>
            <a:r>
              <a:rPr sz="1250" b="0" i="0">
                <a:solidFill>
                  <a:srgbClr val="4A3B00"/>
                </a:solidFill>
                <a:latin typeface="Calibri"/>
              </a:rPr>
              <a:t> → </a:t>
            </a:r>
            <a:r>
              <a:rPr sz="1250" b="0" i="1">
                <a:solidFill>
                  <a:srgbClr val="4A3B00"/>
                </a:solidFill>
                <a:latin typeface="Cambria"/>
              </a:rPr>
              <a:t>z</a:t>
            </a:r>
            <a:r>
              <a:rPr sz="1250" b="0" i="0">
                <a:solidFill>
                  <a:srgbClr val="4A3B00"/>
                </a:solidFill>
                <a:latin typeface="Cambria"/>
              </a:rPr>
              <a:t>′</a:t>
            </a:r>
            <a:r>
              <a:rPr sz="1250" b="0" i="1" baseline="-25000">
                <a:solidFill>
                  <a:srgbClr val="4A3B00"/>
                </a:solidFill>
                <a:latin typeface="Cambria"/>
              </a:rPr>
              <a:t>i</a:t>
            </a:r>
            <a:r>
              <a:rPr sz="1250" b="0" i="0">
                <a:solidFill>
                  <a:srgbClr val="4A3B00"/>
                </a:solidFill>
                <a:latin typeface="Calibri"/>
              </a:rPr>
              <a:t> → VALID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III · THE ATTACK, END TO END</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The forgery verifies, and the sealed values were never opened</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15 / 32</a:t>
            </a:r>
          </a:p>
        </p:txBody>
      </p:sp>
      <p:sp>
        <p:nvSpPr>
          <p:cNvPr id="8" name="Rounded Rectangle 7"/>
          <p:cNvSpPr/>
          <p:nvPr/>
        </p:nvSpPr>
        <p:spPr>
          <a:xfrm>
            <a:off x="548640" y="1554480"/>
            <a:ext cx="2011680" cy="3108960"/>
          </a:xfrm>
          <a:prstGeom prst="roundRect">
            <a:avLst>
              <a:gd name="adj" fmla="val 3636"/>
            </a:avLst>
          </a:prstGeom>
          <a:solidFill>
            <a:srgbClr val="E4EEF9"/>
          </a:solidFill>
          <a:ln w="19050">
            <a:solidFill>
              <a:srgbClr val="1D5EA8"/>
            </a:solidFill>
          </a:ln>
          <a:effectLst/>
        </p:spPr>
        <p:txBody>
          <a:bodyPr rtlCol="0" anchor="ctr" wrap="square" lIns="73152" rIns="73152" tIns="36576" bIns="36576"/>
          <a:lstStyle/>
          <a:p>
            <a:pPr algn="ctr"/>
          </a:p>
        </p:txBody>
      </p:sp>
      <p:sp>
        <p:nvSpPr>
          <p:cNvPr id="9" name="TextBox 8"/>
          <p:cNvSpPr txBox="1"/>
          <p:nvPr/>
        </p:nvSpPr>
        <p:spPr>
          <a:xfrm>
            <a:off x="658368" y="1627632"/>
            <a:ext cx="1828800" cy="502920"/>
          </a:xfrm>
          <a:prstGeom prst="rect">
            <a:avLst/>
          </a:prstGeom>
          <a:noFill/>
        </p:spPr>
        <p:txBody>
          <a:bodyPr wrap="square" lIns="0" rIns="0" tIns="0" bIns="0" anchor="t">
            <a:spAutoFit/>
          </a:bodyPr>
          <a:lstStyle/>
          <a:p>
            <a:pPr algn="l">
              <a:spcBef>
                <a:spcPts val="0"/>
              </a:spcBef>
              <a:spcAft>
                <a:spcPts val="0"/>
              </a:spcAft>
            </a:pPr>
            <a:r>
              <a:rPr sz="1450" b="1" i="0">
                <a:solidFill>
                  <a:srgbClr val="1D5EA8"/>
                </a:solidFill>
                <a:latin typeface="Calibri"/>
              </a:rPr>
              <a:t>Legitimate sensor</a:t>
            </a:r>
          </a:p>
          <a:p>
            <a:pPr algn="l">
              <a:spcBef>
                <a:spcPts val="0"/>
              </a:spcBef>
              <a:spcAft>
                <a:spcPts val="0"/>
              </a:spcAft>
            </a:pPr>
            <a:r>
              <a:rPr sz="1350" b="0" i="1">
                <a:solidFill>
                  <a:srgbClr val="5B6675"/>
                </a:solidFill>
                <a:latin typeface="Cambria"/>
              </a:rPr>
              <a:t>id</a:t>
            </a:r>
            <a:r>
              <a:rPr sz="1350" b="0" i="1" baseline="-25000">
                <a:solidFill>
                  <a:srgbClr val="5B6675"/>
                </a:solidFill>
                <a:latin typeface="Cambria"/>
              </a:rPr>
              <a:t>i</a:t>
            </a:r>
          </a:p>
        </p:txBody>
      </p:sp>
      <p:sp>
        <p:nvSpPr>
          <p:cNvPr id="10" name="TextBox 9"/>
          <p:cNvSpPr txBox="1"/>
          <p:nvPr/>
        </p:nvSpPr>
        <p:spPr>
          <a:xfrm>
            <a:off x="658368" y="2286000"/>
            <a:ext cx="1828800" cy="274320"/>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holds, never shares:</a:t>
            </a:r>
          </a:p>
        </p:txBody>
      </p:sp>
      <p:sp>
        <p:nvSpPr>
          <p:cNvPr id="11" name="Rounded Rectangle 10"/>
          <p:cNvSpPr/>
          <p:nvPr/>
        </p:nvSpPr>
        <p:spPr>
          <a:xfrm>
            <a:off x="658368" y="2578608"/>
            <a:ext cx="1792224" cy="365760"/>
          </a:xfrm>
          <a:prstGeom prst="roundRect">
            <a:avLst>
              <a:gd name="adj" fmla="val 30000"/>
            </a:avLst>
          </a:prstGeom>
          <a:solidFill>
            <a:srgbClr val="E4EEF9"/>
          </a:solidFill>
          <a:ln w="15240">
            <a:solidFill>
              <a:srgbClr val="1D5EA8"/>
            </a:solidFill>
            <a:prstDash val="dash"/>
          </a:ln>
          <a:effectLst/>
        </p:spPr>
        <p:txBody>
          <a:bodyPr rtlCol="0" anchor="ctr" wrap="square" lIns="347472" rIns="347472" tIns="36576" bIns="36576"/>
          <a:lstStyle/>
          <a:p>
            <a:pPr algn="l">
              <a:spcBef>
                <a:spcPts val="0"/>
              </a:spcBef>
              <a:spcAft>
                <a:spcPts val="0"/>
              </a:spcAft>
            </a:pPr>
            <a:r>
              <a:rPr sz="1400" b="0" i="1">
                <a:solidFill>
                  <a:srgbClr val="14202E"/>
                </a:solidFill>
                <a:latin typeface="Cambria"/>
              </a:rPr>
              <a:t>sk</a:t>
            </a:r>
            <a:r>
              <a:rPr sz="1400" b="0" i="1" baseline="-25000">
                <a:solidFill>
                  <a:srgbClr val="14202E"/>
                </a:solidFill>
                <a:latin typeface="Cambria"/>
              </a:rPr>
              <a:t>i</a:t>
            </a:r>
          </a:p>
        </p:txBody>
      </p:sp>
      <p:sp>
        <p:nvSpPr>
          <p:cNvPr id="12" name="Rounded Rectangle 11"/>
          <p:cNvSpPr/>
          <p:nvPr/>
        </p:nvSpPr>
        <p:spPr>
          <a:xfrm>
            <a:off x="749533" y="2747040"/>
            <a:ext cx="192572" cy="128381"/>
          </a:xfrm>
          <a:prstGeom prst="roundRect">
            <a:avLst>
              <a:gd name="adj" fmla="val 21367"/>
            </a:avLst>
          </a:prstGeom>
          <a:solidFill>
            <a:srgbClr val="1D5EA8"/>
          </a:solidFill>
          <a:ln>
            <a:noFill/>
          </a:ln>
          <a:effectLst/>
        </p:spPr>
        <p:txBody>
          <a:bodyPr rtlCol="0" anchor="ctr" wrap="square" lIns="73152" rIns="73152" tIns="36576" bIns="36576"/>
          <a:lstStyle/>
          <a:p>
            <a:pPr algn="ctr"/>
          </a:p>
        </p:txBody>
      </p:sp>
      <p:sp>
        <p:nvSpPr>
          <p:cNvPr id="13" name="Freeform 12"/>
          <p:cNvSpPr/>
          <p:nvPr/>
        </p:nvSpPr>
        <p:spPr>
          <a:xfrm>
            <a:off x="788048" y="2648285"/>
            <a:ext cx="115543" cy="98755"/>
          </a:xfrm>
          <a:custGeom>
            <a:avLst/>
            <a:gdLst/>
            <a:ahLst/>
            <a:cxnLst/>
            <a:rect l="l" t="t" r="r" b="b"/>
            <a:pathLst>
              <a:path w="115543" h="98755">
                <a:moveTo>
                  <a:pt x="0" y="98755"/>
                </a:moveTo>
                <a:lnTo>
                  <a:pt x="0" y="39502"/>
                </a:lnTo>
                <a:lnTo>
                  <a:pt x="26960" y="0"/>
                </a:lnTo>
                <a:lnTo>
                  <a:pt x="88583" y="0"/>
                </a:lnTo>
                <a:lnTo>
                  <a:pt x="115543" y="39502"/>
                </a:lnTo>
                <a:lnTo>
                  <a:pt x="115543" y="98755"/>
                </a:lnTo>
              </a:path>
            </a:pathLst>
          </a:custGeom>
          <a:noFill/>
          <a:ln w="18859">
            <a:solidFill>
              <a:srgbClr val="1D5EA8"/>
            </a:solidFill>
          </a:ln>
          <a:effectLst/>
        </p:spPr>
        <p:txBody>
          <a:bodyPr rtlCol="0" anchor="ctr"/>
          <a:lstStyle/>
          <a:p>
            <a:pPr algn="ctr"/>
          </a:p>
        </p:txBody>
      </p:sp>
      <p:sp>
        <p:nvSpPr>
          <p:cNvPr id="14" name="Rounded Rectangle 13"/>
          <p:cNvSpPr/>
          <p:nvPr/>
        </p:nvSpPr>
        <p:spPr>
          <a:xfrm>
            <a:off x="658368" y="3017520"/>
            <a:ext cx="1792224" cy="365760"/>
          </a:xfrm>
          <a:prstGeom prst="roundRect">
            <a:avLst>
              <a:gd name="adj" fmla="val 30000"/>
            </a:avLst>
          </a:prstGeom>
          <a:solidFill>
            <a:srgbClr val="E4EEF9"/>
          </a:solidFill>
          <a:ln w="15240">
            <a:solidFill>
              <a:srgbClr val="1D5EA8"/>
            </a:solidFill>
            <a:prstDash val="dash"/>
          </a:ln>
          <a:effectLst/>
        </p:spPr>
        <p:txBody>
          <a:bodyPr rtlCol="0" anchor="ctr" wrap="square" lIns="347472" rIns="347472" tIns="36576" bIns="36576"/>
          <a:lstStyle/>
          <a:p>
            <a:pPr algn="l">
              <a:spcBef>
                <a:spcPts val="0"/>
              </a:spcBef>
              <a:spcAft>
                <a:spcPts val="0"/>
              </a:spcAft>
            </a:pPr>
            <a:r>
              <a:rPr sz="1300" b="0" i="1">
                <a:solidFill>
                  <a:srgbClr val="14202E"/>
                </a:solidFill>
                <a:latin typeface="Cambria"/>
              </a:rPr>
              <a:t>r</a:t>
            </a:r>
            <a:r>
              <a:rPr sz="1300" b="0" i="0" baseline="-25000">
                <a:solidFill>
                  <a:srgbClr val="14202E"/>
                </a:solidFill>
                <a:latin typeface="Cambria"/>
              </a:rPr>
              <a:t>2</a:t>
            </a:r>
            <a:r>
              <a:rPr sz="1300" b="0" i="1" baseline="-25000">
                <a:solidFill>
                  <a:srgbClr val="14202E"/>
                </a:solidFill>
                <a:latin typeface="Cambria"/>
              </a:rPr>
              <a:t>i</a:t>
            </a:r>
            <a:r>
              <a:rPr sz="1300" b="0" i="0">
                <a:solidFill>
                  <a:srgbClr val="14202E"/>
                </a:solidFill>
                <a:latin typeface="Calibri"/>
              </a:rPr>
              <a:t> fresh nonce</a:t>
            </a:r>
          </a:p>
        </p:txBody>
      </p:sp>
      <p:sp>
        <p:nvSpPr>
          <p:cNvPr id="15" name="Rounded Rectangle 14"/>
          <p:cNvSpPr/>
          <p:nvPr/>
        </p:nvSpPr>
        <p:spPr>
          <a:xfrm>
            <a:off x="749533" y="3185952"/>
            <a:ext cx="192572" cy="128381"/>
          </a:xfrm>
          <a:prstGeom prst="roundRect">
            <a:avLst>
              <a:gd name="adj" fmla="val 21367"/>
            </a:avLst>
          </a:prstGeom>
          <a:solidFill>
            <a:srgbClr val="1D5EA8"/>
          </a:solidFill>
          <a:ln>
            <a:noFill/>
          </a:ln>
          <a:effectLst/>
        </p:spPr>
        <p:txBody>
          <a:bodyPr rtlCol="0" anchor="ctr" wrap="square" lIns="73152" rIns="73152" tIns="36576" bIns="36576"/>
          <a:lstStyle/>
          <a:p>
            <a:pPr algn="ctr"/>
          </a:p>
        </p:txBody>
      </p:sp>
      <p:sp>
        <p:nvSpPr>
          <p:cNvPr id="16" name="Freeform 15"/>
          <p:cNvSpPr/>
          <p:nvPr/>
        </p:nvSpPr>
        <p:spPr>
          <a:xfrm>
            <a:off x="788048" y="3087197"/>
            <a:ext cx="115543" cy="98755"/>
          </a:xfrm>
          <a:custGeom>
            <a:avLst/>
            <a:gdLst/>
            <a:ahLst/>
            <a:cxnLst/>
            <a:rect l="l" t="t" r="r" b="b"/>
            <a:pathLst>
              <a:path w="115543" h="98755">
                <a:moveTo>
                  <a:pt x="0" y="98755"/>
                </a:moveTo>
                <a:lnTo>
                  <a:pt x="0" y="39502"/>
                </a:lnTo>
                <a:lnTo>
                  <a:pt x="26960" y="0"/>
                </a:lnTo>
                <a:lnTo>
                  <a:pt x="88583" y="0"/>
                </a:lnTo>
                <a:lnTo>
                  <a:pt x="115543" y="39502"/>
                </a:lnTo>
                <a:lnTo>
                  <a:pt x="115543" y="98755"/>
                </a:lnTo>
              </a:path>
            </a:pathLst>
          </a:custGeom>
          <a:noFill/>
          <a:ln w="18859">
            <a:solidFill>
              <a:srgbClr val="1D5EA8"/>
            </a:solidFill>
          </a:ln>
          <a:effectLst/>
        </p:spPr>
        <p:txBody>
          <a:bodyPr rtlCol="0" anchor="ctr"/>
          <a:lstStyle/>
          <a:p>
            <a:pPr algn="ctr"/>
          </a:p>
        </p:txBody>
      </p:sp>
      <p:sp>
        <p:nvSpPr>
          <p:cNvPr id="17" name="TextBox 16"/>
          <p:cNvSpPr txBox="1"/>
          <p:nvPr/>
        </p:nvSpPr>
        <p:spPr>
          <a:xfrm>
            <a:off x="658368" y="3547872"/>
            <a:ext cx="1828800" cy="274320"/>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signs a reading </a:t>
            </a:r>
            <a:r>
              <a:rPr sz="1250" b="0" i="1">
                <a:solidFill>
                  <a:srgbClr val="5B6675"/>
                </a:solidFill>
                <a:latin typeface="Cambria"/>
              </a:rPr>
              <a:t>m</a:t>
            </a:r>
            <a:r>
              <a:rPr sz="1250" b="0" i="1" baseline="-25000">
                <a:solidFill>
                  <a:srgbClr val="5B6675"/>
                </a:solidFill>
                <a:latin typeface="Cambria"/>
              </a:rPr>
              <a:t>i</a:t>
            </a:r>
            <a:r>
              <a:rPr sz="1250" b="0" i="0">
                <a:solidFill>
                  <a:srgbClr val="5B6675"/>
                </a:solidFill>
                <a:latin typeface="Calibri"/>
              </a:rPr>
              <a:t>:</a:t>
            </a:r>
          </a:p>
        </p:txBody>
      </p:sp>
      <p:sp>
        <p:nvSpPr>
          <p:cNvPr id="18" name="Rounded Rectangle 17"/>
          <p:cNvSpPr/>
          <p:nvPr/>
        </p:nvSpPr>
        <p:spPr>
          <a:xfrm>
            <a:off x="658368" y="3840480"/>
            <a:ext cx="1792224" cy="530352"/>
          </a:xfrm>
          <a:prstGeom prst="roundRect">
            <a:avLst>
              <a:gd name="adj" fmla="val 20689"/>
            </a:avLst>
          </a:prstGeom>
          <a:solidFill>
            <a:srgbClr val="E4EEF9"/>
          </a:solidFill>
          <a:ln w="15240">
            <a:solidFill>
              <a:srgbClr val="1D5EA8"/>
            </a:solidFill>
          </a:ln>
          <a:effectLst/>
        </p:spPr>
        <p:txBody>
          <a:bodyPr rtlCol="0" anchor="ctr" wrap="square" lIns="73152" rIns="73152" tIns="36576" bIns="36576"/>
          <a:lstStyle/>
          <a:p>
            <a:pPr algn="ctr">
              <a:spcBef>
                <a:spcPts val="0"/>
              </a:spcBef>
              <a:spcAft>
                <a:spcPts val="0"/>
              </a:spcAft>
            </a:pPr>
            <a:r>
              <a:rPr sz="1250" b="0" i="0">
                <a:solidFill>
                  <a:srgbClr val="14202E"/>
                </a:solidFill>
                <a:latin typeface="Calibri"/>
              </a:rPr>
              <a:t>valid signature</a:t>
            </a:r>
          </a:p>
          <a:p>
            <a:pPr algn="ctr">
              <a:spcBef>
                <a:spcPts val="0"/>
              </a:spcBef>
              <a:spcAft>
                <a:spcPts val="0"/>
              </a:spcAft>
            </a:pPr>
            <a:r>
              <a:rPr sz="1400" b="0" i="1">
                <a:solidFill>
                  <a:srgbClr val="14202E"/>
                </a:solidFill>
                <a:latin typeface="Cambria"/>
              </a:rPr>
              <a:t>δ</a:t>
            </a:r>
            <a:r>
              <a:rPr sz="1400" b="0" i="1" baseline="-25000">
                <a:solidFill>
                  <a:srgbClr val="14202E"/>
                </a:solidFill>
                <a:latin typeface="Cambria"/>
              </a:rPr>
              <a:t>i</a:t>
            </a:r>
            <a:r>
              <a:rPr sz="1400" b="0" i="0">
                <a:solidFill>
                  <a:srgbClr val="14202E"/>
                </a:solidFill>
                <a:latin typeface="Cambria"/>
              </a:rPr>
              <a:t> = (</a:t>
            </a:r>
            <a:r>
              <a:rPr sz="1400" b="0" i="1">
                <a:solidFill>
                  <a:srgbClr val="14202E"/>
                </a:solidFill>
                <a:latin typeface="Cambria"/>
              </a:rPr>
              <a:t>R</a:t>
            </a:r>
            <a:r>
              <a:rPr sz="1400" b="0" i="1" baseline="-25000">
                <a:solidFill>
                  <a:srgbClr val="14202E"/>
                </a:solidFill>
                <a:latin typeface="Cambria"/>
              </a:rPr>
              <a:t>i</a:t>
            </a:r>
            <a:r>
              <a:rPr sz="1400" b="0" i="0">
                <a:solidFill>
                  <a:srgbClr val="14202E"/>
                </a:solidFill>
                <a:latin typeface="Cambria"/>
              </a:rPr>
              <a:t>, </a:t>
            </a:r>
            <a:r>
              <a:rPr sz="1400" b="0" i="1">
                <a:solidFill>
                  <a:srgbClr val="14202E"/>
                </a:solidFill>
                <a:latin typeface="Cambria"/>
              </a:rPr>
              <a:t>z</a:t>
            </a:r>
            <a:r>
              <a:rPr sz="1400" b="0" i="1" baseline="-25000">
                <a:solidFill>
                  <a:srgbClr val="14202E"/>
                </a:solidFill>
                <a:latin typeface="Cambria"/>
              </a:rPr>
              <a:t>i</a:t>
            </a:r>
            <a:r>
              <a:rPr sz="1400" b="0" i="0">
                <a:solidFill>
                  <a:srgbClr val="14202E"/>
                </a:solidFill>
                <a:latin typeface="Cambria"/>
              </a:rPr>
              <a:t>)</a:t>
            </a:r>
          </a:p>
        </p:txBody>
      </p:sp>
      <p:sp>
        <p:nvSpPr>
          <p:cNvPr id="19" name="TextBox 18"/>
          <p:cNvSpPr txBox="1"/>
          <p:nvPr/>
        </p:nvSpPr>
        <p:spPr>
          <a:xfrm>
            <a:off x="658368" y="4407408"/>
            <a:ext cx="1828800" cy="237744"/>
          </a:xfrm>
          <a:prstGeom prst="rect">
            <a:avLst/>
          </a:prstGeom>
          <a:noFill/>
        </p:spPr>
        <p:txBody>
          <a:bodyPr wrap="square" lIns="0" rIns="0" tIns="0" bIns="0" anchor="t">
            <a:spAutoFit/>
          </a:bodyPr>
          <a:lstStyle/>
          <a:p>
            <a:pPr algn="l">
              <a:spcBef>
                <a:spcPts val="0"/>
              </a:spcBef>
              <a:spcAft>
                <a:spcPts val="0"/>
              </a:spcAft>
            </a:pPr>
            <a:r>
              <a:rPr sz="1150" b="0" i="0">
                <a:solidFill>
                  <a:srgbClr val="5B6675"/>
                </a:solidFill>
                <a:latin typeface="Calibri"/>
              </a:rPr>
              <a:t>captured by the KGC</a:t>
            </a:r>
          </a:p>
        </p:txBody>
      </p:sp>
      <p:cxnSp>
        <p:nvCxnSpPr>
          <p:cNvPr id="20" name="Connector 19"/>
          <p:cNvCxnSpPr/>
          <p:nvPr/>
        </p:nvCxnSpPr>
        <p:spPr>
          <a:xfrm>
            <a:off x="2560320" y="4105656"/>
            <a:ext cx="228600" cy="0"/>
          </a:xfrm>
          <a:prstGeom prst="line">
            <a:avLst/>
          </a:prstGeom>
          <a:ln w="25400">
            <a:solidFill>
              <a:srgbClr val="14202E"/>
            </a:solidFill>
            <a:tailEnd type="triangle" w="med" len="med"/>
          </a:ln>
        </p:spPr>
      </p:cxnSp>
      <p:sp>
        <p:nvSpPr>
          <p:cNvPr id="21" name="Rounded Rectangle 20"/>
          <p:cNvSpPr/>
          <p:nvPr/>
        </p:nvSpPr>
        <p:spPr>
          <a:xfrm>
            <a:off x="2788920" y="1554480"/>
            <a:ext cx="2468880" cy="4114800"/>
          </a:xfrm>
          <a:prstGeom prst="roundRect">
            <a:avLst>
              <a:gd name="adj" fmla="val 3703"/>
            </a:avLst>
          </a:prstGeom>
          <a:solidFill>
            <a:srgbClr val="FCE9E7"/>
          </a:solidFill>
          <a:ln w="22225">
            <a:solidFill>
              <a:srgbClr val="B3261E"/>
            </a:solidFill>
          </a:ln>
          <a:effectLst/>
        </p:spPr>
        <p:txBody>
          <a:bodyPr rtlCol="0" anchor="ctr" wrap="square" lIns="73152" rIns="73152" tIns="36576" bIns="36576"/>
          <a:lstStyle/>
          <a:p>
            <a:pPr algn="ctr"/>
          </a:p>
        </p:txBody>
      </p:sp>
      <p:sp>
        <p:nvSpPr>
          <p:cNvPr id="22" name="TextBox 21"/>
          <p:cNvSpPr txBox="1"/>
          <p:nvPr/>
        </p:nvSpPr>
        <p:spPr>
          <a:xfrm>
            <a:off x="2907792" y="1609344"/>
            <a:ext cx="2286000" cy="502920"/>
          </a:xfrm>
          <a:prstGeom prst="rect">
            <a:avLst/>
          </a:prstGeom>
          <a:noFill/>
        </p:spPr>
        <p:txBody>
          <a:bodyPr wrap="square" lIns="0" rIns="0" tIns="0" bIns="0" anchor="t">
            <a:spAutoFit/>
          </a:bodyPr>
          <a:lstStyle/>
          <a:p>
            <a:pPr algn="l">
              <a:spcBef>
                <a:spcPts val="0"/>
              </a:spcBef>
              <a:spcAft>
                <a:spcPts val="0"/>
              </a:spcAft>
            </a:pPr>
            <a:r>
              <a:rPr sz="1550" b="1" i="0">
                <a:solidFill>
                  <a:srgbClr val="B3261E"/>
                </a:solidFill>
                <a:latin typeface="Calibri"/>
              </a:rPr>
              <a:t>Malicious KGC</a:t>
            </a:r>
          </a:p>
          <a:p>
            <a:pPr algn="l">
              <a:spcBef>
                <a:spcPts val="0"/>
              </a:spcBef>
              <a:spcAft>
                <a:spcPts val="0"/>
              </a:spcAft>
            </a:pPr>
            <a:r>
              <a:rPr sz="1200" b="0" i="0">
                <a:solidFill>
                  <a:srgbClr val="5B6675"/>
                </a:solidFill>
                <a:latin typeface="Calibri"/>
              </a:rPr>
              <a:t>the paper's attacker </a:t>
            </a:r>
            <a:r>
              <a:rPr sz="1200" b="0" i="1">
                <a:solidFill>
                  <a:srgbClr val="5B6675"/>
                </a:solidFill>
                <a:latin typeface="Cambria"/>
              </a:rPr>
              <a:t>F</a:t>
            </a:r>
            <a:r>
              <a:rPr sz="1200" b="0" i="0" baseline="-25000">
                <a:solidFill>
                  <a:srgbClr val="5B6675"/>
                </a:solidFill>
                <a:latin typeface="Cambria"/>
              </a:rPr>
              <a:t>2</a:t>
            </a:r>
          </a:p>
        </p:txBody>
      </p:sp>
      <p:sp>
        <p:nvSpPr>
          <p:cNvPr id="23" name="Rounded Rectangle 22"/>
          <p:cNvSpPr/>
          <p:nvPr/>
        </p:nvSpPr>
        <p:spPr>
          <a:xfrm>
            <a:off x="2880360" y="2194560"/>
            <a:ext cx="2286000" cy="1645920"/>
          </a:xfrm>
          <a:prstGeom prst="roundRect">
            <a:avLst>
              <a:gd name="adj" fmla="val 3333"/>
            </a:avLst>
          </a:prstGeom>
          <a:solidFill>
            <a:srgbClr val="FFFFFF"/>
          </a:solidFill>
          <a:ln w="15875">
            <a:solidFill>
              <a:srgbClr val="D3D9E1"/>
            </a:solidFill>
          </a:ln>
          <a:effectLst/>
        </p:spPr>
        <p:txBody>
          <a:bodyPr rtlCol="0" anchor="ctr" wrap="square" lIns="73152" rIns="73152" tIns="36576" bIns="36576"/>
          <a:lstStyle/>
          <a:p>
            <a:pPr algn="ctr"/>
          </a:p>
        </p:txBody>
      </p:sp>
      <p:sp>
        <p:nvSpPr>
          <p:cNvPr id="24" name="TextBox 23"/>
          <p:cNvSpPr txBox="1"/>
          <p:nvPr/>
        </p:nvSpPr>
        <p:spPr>
          <a:xfrm>
            <a:off x="2990088" y="2240280"/>
            <a:ext cx="2103120" cy="228600"/>
          </a:xfrm>
          <a:prstGeom prst="rect">
            <a:avLst/>
          </a:prstGeom>
          <a:noFill/>
        </p:spPr>
        <p:txBody>
          <a:bodyPr wrap="square" lIns="0" rIns="0" tIns="0" bIns="0" anchor="t">
            <a:spAutoFit/>
          </a:bodyPr>
          <a:lstStyle/>
          <a:p>
            <a:pPr algn="l">
              <a:spcBef>
                <a:spcPts val="0"/>
              </a:spcBef>
              <a:spcAft>
                <a:spcPts val="0"/>
              </a:spcAft>
            </a:pPr>
            <a:r>
              <a:rPr sz="1150" b="1" i="0" spc="100">
                <a:solidFill>
                  <a:srgbClr val="6B3FA0"/>
                </a:solidFill>
                <a:latin typeface="Calibri"/>
              </a:rPr>
              <a:t>KNOWS</a:t>
            </a:r>
          </a:p>
        </p:txBody>
      </p:sp>
      <p:sp>
        <p:nvSpPr>
          <p:cNvPr id="25" name="TextBox 24"/>
          <p:cNvSpPr txBox="1"/>
          <p:nvPr/>
        </p:nvSpPr>
        <p:spPr>
          <a:xfrm>
            <a:off x="2990088" y="2468880"/>
            <a:ext cx="2148840" cy="1325880"/>
          </a:xfrm>
          <a:prstGeom prst="rect">
            <a:avLst/>
          </a:prstGeom>
          <a:noFill/>
        </p:spPr>
        <p:txBody>
          <a:bodyPr wrap="square" lIns="0" rIns="0" tIns="0" bIns="0" anchor="t">
            <a:spAutoFit/>
          </a:bodyPr>
          <a:lstStyle/>
          <a:p>
            <a:pPr algn="l">
              <a:spcBef>
                <a:spcPts val="0"/>
              </a:spcBef>
              <a:spcAft>
                <a:spcPts val="300"/>
              </a:spcAft>
            </a:pPr>
            <a:r>
              <a:rPr sz="1250" b="0" i="0">
                <a:solidFill>
                  <a:srgbClr val="14202E"/>
                </a:solidFill>
                <a:latin typeface="Calibri"/>
              </a:rPr>
              <a:t>✓  master secret </a:t>
            </a:r>
            <a:r>
              <a:rPr sz="1250" b="0" i="1">
                <a:solidFill>
                  <a:srgbClr val="14202E"/>
                </a:solidFill>
                <a:latin typeface="Cambria"/>
              </a:rPr>
              <a:t>s</a:t>
            </a:r>
          </a:p>
          <a:p>
            <a:pPr algn="l">
              <a:spcBef>
                <a:spcPts val="0"/>
              </a:spcBef>
              <a:spcAft>
                <a:spcPts val="300"/>
              </a:spcAft>
            </a:pPr>
            <a:r>
              <a:rPr sz="1250" b="0" i="0">
                <a:solidFill>
                  <a:srgbClr val="14202E"/>
                </a:solidFill>
                <a:latin typeface="Calibri"/>
              </a:rPr>
              <a:t>✓  </a:t>
            </a:r>
            <a:r>
              <a:rPr sz="1250" b="0" i="1">
                <a:solidFill>
                  <a:srgbClr val="14202E"/>
                </a:solidFill>
                <a:latin typeface="Cambria"/>
              </a:rPr>
              <a:t>Cert</a:t>
            </a:r>
            <a:r>
              <a:rPr sz="1250" b="0" i="1" baseline="-25000">
                <a:solidFill>
                  <a:srgbClr val="14202E"/>
                </a:solidFill>
                <a:latin typeface="Cambria"/>
              </a:rPr>
              <a:t>i</a:t>
            </a:r>
            <a:r>
              <a:rPr sz="1250" b="0" i="0">
                <a:solidFill>
                  <a:srgbClr val="14202E"/>
                </a:solidFill>
                <a:latin typeface="Cambria"/>
              </a:rPr>
              <a:t> = (</a:t>
            </a:r>
            <a:r>
              <a:rPr sz="1250" b="0" i="1">
                <a:solidFill>
                  <a:srgbClr val="14202E"/>
                </a:solidFill>
                <a:latin typeface="Cambria"/>
              </a:rPr>
              <a:t>R</a:t>
            </a:r>
            <a:r>
              <a:rPr sz="1250" b="0" i="0" baseline="-25000">
                <a:solidFill>
                  <a:srgbClr val="14202E"/>
                </a:solidFill>
                <a:latin typeface="Cambria"/>
              </a:rPr>
              <a:t>1</a:t>
            </a:r>
            <a:r>
              <a:rPr sz="1250" b="0" i="1" baseline="-25000">
                <a:solidFill>
                  <a:srgbClr val="14202E"/>
                </a:solidFill>
                <a:latin typeface="Cambria"/>
              </a:rPr>
              <a:t>i</a:t>
            </a:r>
            <a:r>
              <a:rPr sz="1250" b="0" i="0">
                <a:solidFill>
                  <a:srgbClr val="14202E"/>
                </a:solidFill>
                <a:latin typeface="Cambria"/>
              </a:rPr>
              <a:t>, </a:t>
            </a:r>
            <a:r>
              <a:rPr sz="1250" b="0" i="1">
                <a:solidFill>
                  <a:srgbClr val="14202E"/>
                </a:solidFill>
                <a:latin typeface="Cambria"/>
              </a:rPr>
              <a:t>c</a:t>
            </a:r>
            <a:r>
              <a:rPr sz="1250" b="0" i="1" baseline="-25000">
                <a:solidFill>
                  <a:srgbClr val="14202E"/>
                </a:solidFill>
                <a:latin typeface="Cambria"/>
              </a:rPr>
              <a:t>i</a:t>
            </a:r>
            <a:r>
              <a:rPr sz="1250" b="0" i="0">
                <a:solidFill>
                  <a:srgbClr val="14202E"/>
                </a:solidFill>
                <a:latin typeface="Cambria"/>
              </a:rPr>
              <a:t>)</a:t>
            </a:r>
          </a:p>
          <a:p>
            <a:pPr algn="l">
              <a:spcBef>
                <a:spcPts val="0"/>
              </a:spcBef>
              <a:spcAft>
                <a:spcPts val="300"/>
              </a:spcAft>
            </a:pPr>
            <a:r>
              <a:rPr sz="1250" b="0" i="0">
                <a:solidFill>
                  <a:srgbClr val="14202E"/>
                </a:solidFill>
                <a:latin typeface="Calibri"/>
              </a:rPr>
              <a:t>✓  public </a:t>
            </a:r>
            <a:r>
              <a:rPr sz="1250" b="0" i="1">
                <a:solidFill>
                  <a:srgbClr val="14202E"/>
                </a:solidFill>
                <a:latin typeface="Cambria"/>
              </a:rPr>
              <a:t>id</a:t>
            </a:r>
            <a:r>
              <a:rPr sz="1250" b="0" i="1" baseline="-25000">
                <a:solidFill>
                  <a:srgbClr val="14202E"/>
                </a:solidFill>
                <a:latin typeface="Cambria"/>
              </a:rPr>
              <a:t>i</a:t>
            </a:r>
            <a:r>
              <a:rPr sz="1250" b="0" i="0">
                <a:solidFill>
                  <a:srgbClr val="14202E"/>
                </a:solidFill>
                <a:latin typeface="Cambria"/>
              </a:rPr>
              <a:t>, </a:t>
            </a:r>
            <a:r>
              <a:rPr sz="1250" b="0" i="1">
                <a:solidFill>
                  <a:srgbClr val="14202E"/>
                </a:solidFill>
                <a:latin typeface="Cambria"/>
              </a:rPr>
              <a:t>pk</a:t>
            </a:r>
            <a:r>
              <a:rPr sz="1250" b="0" i="1" baseline="-25000">
                <a:solidFill>
                  <a:srgbClr val="14202E"/>
                </a:solidFill>
                <a:latin typeface="Cambria"/>
              </a:rPr>
              <a:t>i</a:t>
            </a:r>
            <a:r>
              <a:rPr sz="1250" b="0" i="0">
                <a:solidFill>
                  <a:srgbClr val="14202E"/>
                </a:solidFill>
                <a:latin typeface="Cambria"/>
              </a:rPr>
              <a:t>, Δ</a:t>
            </a:r>
            <a:r>
              <a:rPr sz="1250" b="0" i="0">
                <a:solidFill>
                  <a:srgbClr val="14202E"/>
                </a:solidFill>
                <a:latin typeface="Calibri"/>
              </a:rPr>
              <a:t>, </a:t>
            </a:r>
            <a:r>
              <a:rPr sz="1250" b="0" i="1">
                <a:solidFill>
                  <a:srgbClr val="14202E"/>
                </a:solidFill>
                <a:latin typeface="Cambria"/>
              </a:rPr>
              <a:t>P</a:t>
            </a:r>
            <a:r>
              <a:rPr sz="1250" b="0" i="1" baseline="30000">
                <a:solidFill>
                  <a:srgbClr val="14202E"/>
                </a:solidFill>
                <a:latin typeface="Cambria"/>
              </a:rPr>
              <a:t>k</a:t>
            </a:r>
            <a:r>
              <a:rPr sz="1250" b="0" i="1" baseline="-25000">
                <a:solidFill>
                  <a:srgbClr val="14202E"/>
                </a:solidFill>
                <a:latin typeface="Cambria"/>
              </a:rPr>
              <a:t>TA</a:t>
            </a:r>
          </a:p>
          <a:p>
            <a:pPr algn="l">
              <a:spcBef>
                <a:spcPts val="0"/>
              </a:spcBef>
              <a:spcAft>
                <a:spcPts val="0"/>
              </a:spcAft>
            </a:pPr>
            <a:r>
              <a:rPr sz="1250" b="0" i="0">
                <a:solidFill>
                  <a:srgbClr val="14202E"/>
                </a:solidFill>
                <a:latin typeface="Calibri"/>
              </a:rPr>
              <a:t>✓  </a:t>
            </a:r>
            <a:r>
              <a:rPr sz="1250" b="0" i="1">
                <a:solidFill>
                  <a:srgbClr val="14202E"/>
                </a:solidFill>
                <a:latin typeface="Cambria"/>
              </a:rPr>
              <a:t>m</a:t>
            </a:r>
            <a:r>
              <a:rPr sz="1250" b="0" i="1" baseline="-25000">
                <a:solidFill>
                  <a:srgbClr val="14202E"/>
                </a:solidFill>
                <a:latin typeface="Cambria"/>
              </a:rPr>
              <a:t>i</a:t>
            </a:r>
            <a:r>
              <a:rPr sz="1250" b="0" i="0">
                <a:solidFill>
                  <a:srgbClr val="14202E"/>
                </a:solidFill>
                <a:latin typeface="Calibri"/>
              </a:rPr>
              <a:t> and </a:t>
            </a:r>
            <a:r>
              <a:rPr sz="1250" b="0" i="0">
                <a:solidFill>
                  <a:srgbClr val="14202E"/>
                </a:solidFill>
                <a:latin typeface="Cambria"/>
              </a:rPr>
              <a:t>(</a:t>
            </a:r>
            <a:r>
              <a:rPr sz="1250" b="0" i="1">
                <a:solidFill>
                  <a:srgbClr val="14202E"/>
                </a:solidFill>
                <a:latin typeface="Cambria"/>
              </a:rPr>
              <a:t>R</a:t>
            </a:r>
            <a:r>
              <a:rPr sz="1250" b="0" i="1" baseline="-25000">
                <a:solidFill>
                  <a:srgbClr val="14202E"/>
                </a:solidFill>
                <a:latin typeface="Cambria"/>
              </a:rPr>
              <a:t>i</a:t>
            </a:r>
            <a:r>
              <a:rPr sz="1250" b="0" i="0">
                <a:solidFill>
                  <a:srgbClr val="14202E"/>
                </a:solidFill>
                <a:latin typeface="Cambria"/>
              </a:rPr>
              <a:t>, </a:t>
            </a:r>
            <a:r>
              <a:rPr sz="1250" b="0" i="1">
                <a:solidFill>
                  <a:srgbClr val="14202E"/>
                </a:solidFill>
                <a:latin typeface="Cambria"/>
              </a:rPr>
              <a:t>z</a:t>
            </a:r>
            <a:r>
              <a:rPr sz="1250" b="0" i="1" baseline="-25000">
                <a:solidFill>
                  <a:srgbClr val="14202E"/>
                </a:solidFill>
                <a:latin typeface="Cambria"/>
              </a:rPr>
              <a:t>i</a:t>
            </a:r>
            <a:r>
              <a:rPr sz="1250" b="0" i="0">
                <a:solidFill>
                  <a:srgbClr val="14202E"/>
                </a:solidFill>
                <a:latin typeface="Cambria"/>
              </a:rPr>
              <a:t>)</a:t>
            </a:r>
          </a:p>
        </p:txBody>
      </p:sp>
      <p:sp>
        <p:nvSpPr>
          <p:cNvPr id="26" name="Rounded Rectangle 25"/>
          <p:cNvSpPr/>
          <p:nvPr/>
        </p:nvSpPr>
        <p:spPr>
          <a:xfrm>
            <a:off x="2880360" y="3931920"/>
            <a:ext cx="2286000" cy="1645920"/>
          </a:xfrm>
          <a:prstGeom prst="roundRect">
            <a:avLst>
              <a:gd name="adj" fmla="val 3333"/>
            </a:avLst>
          </a:prstGeom>
          <a:solidFill>
            <a:srgbClr val="FCE9E7"/>
          </a:solidFill>
          <a:ln w="15875">
            <a:solidFill>
              <a:srgbClr val="B3261E"/>
            </a:solidFill>
          </a:ln>
          <a:effectLst/>
        </p:spPr>
        <p:txBody>
          <a:bodyPr rtlCol="0" anchor="ctr" wrap="square" lIns="73152" rIns="73152" tIns="36576" bIns="36576"/>
          <a:lstStyle/>
          <a:p>
            <a:pPr algn="ctr"/>
          </a:p>
        </p:txBody>
      </p:sp>
      <p:sp>
        <p:nvSpPr>
          <p:cNvPr id="27" name="TextBox 26"/>
          <p:cNvSpPr txBox="1"/>
          <p:nvPr/>
        </p:nvSpPr>
        <p:spPr>
          <a:xfrm>
            <a:off x="2990088" y="3977639"/>
            <a:ext cx="2103120" cy="228600"/>
          </a:xfrm>
          <a:prstGeom prst="rect">
            <a:avLst/>
          </a:prstGeom>
          <a:noFill/>
        </p:spPr>
        <p:txBody>
          <a:bodyPr wrap="square" lIns="0" rIns="0" tIns="0" bIns="0" anchor="t">
            <a:spAutoFit/>
          </a:bodyPr>
          <a:lstStyle/>
          <a:p>
            <a:pPr algn="l">
              <a:spcBef>
                <a:spcPts val="0"/>
              </a:spcBef>
              <a:spcAft>
                <a:spcPts val="0"/>
              </a:spcAft>
            </a:pPr>
            <a:r>
              <a:rPr sz="1150" b="1" i="0" spc="100">
                <a:solidFill>
                  <a:srgbClr val="B3261E"/>
                </a:solidFill>
                <a:latin typeface="Calibri"/>
              </a:rPr>
              <a:t>DOES NOT KNOW</a:t>
            </a:r>
          </a:p>
        </p:txBody>
      </p:sp>
      <p:sp>
        <p:nvSpPr>
          <p:cNvPr id="28" name="Rounded Rectangle 27"/>
          <p:cNvSpPr/>
          <p:nvPr/>
        </p:nvSpPr>
        <p:spPr>
          <a:xfrm>
            <a:off x="2990088" y="4261104"/>
            <a:ext cx="2066543" cy="365760"/>
          </a:xfrm>
          <a:prstGeom prst="roundRect">
            <a:avLst>
              <a:gd name="adj" fmla="val 30000"/>
            </a:avLst>
          </a:prstGeom>
          <a:solidFill>
            <a:srgbClr val="FCE9E7"/>
          </a:solidFill>
          <a:ln w="15240">
            <a:solidFill>
              <a:srgbClr val="B3261E"/>
            </a:solidFill>
            <a:prstDash val="dash"/>
          </a:ln>
          <a:effectLst/>
        </p:spPr>
        <p:txBody>
          <a:bodyPr rtlCol="0" anchor="ctr" wrap="square" lIns="347472" rIns="347472" tIns="36576" bIns="36576"/>
          <a:lstStyle/>
          <a:p>
            <a:pPr algn="l">
              <a:spcBef>
                <a:spcPts val="0"/>
              </a:spcBef>
              <a:spcAft>
                <a:spcPts val="0"/>
              </a:spcAft>
            </a:pPr>
            <a:r>
              <a:rPr sz="1400" b="0" i="1">
                <a:solidFill>
                  <a:srgbClr val="14202E"/>
                </a:solidFill>
                <a:latin typeface="Cambria"/>
              </a:rPr>
              <a:t>sk</a:t>
            </a:r>
            <a:r>
              <a:rPr sz="1400" b="0" i="1" baseline="-25000">
                <a:solidFill>
                  <a:srgbClr val="14202E"/>
                </a:solidFill>
                <a:latin typeface="Cambria"/>
              </a:rPr>
              <a:t>i</a:t>
            </a:r>
          </a:p>
        </p:txBody>
      </p:sp>
      <p:sp>
        <p:nvSpPr>
          <p:cNvPr id="29" name="Rounded Rectangle 28"/>
          <p:cNvSpPr/>
          <p:nvPr/>
        </p:nvSpPr>
        <p:spPr>
          <a:xfrm>
            <a:off x="3081253" y="4429536"/>
            <a:ext cx="192572" cy="128381"/>
          </a:xfrm>
          <a:prstGeom prst="roundRect">
            <a:avLst>
              <a:gd name="adj" fmla="val 21367"/>
            </a:avLst>
          </a:prstGeom>
          <a:solidFill>
            <a:srgbClr val="B3261E"/>
          </a:solidFill>
          <a:ln>
            <a:noFill/>
          </a:ln>
          <a:effectLst/>
        </p:spPr>
        <p:txBody>
          <a:bodyPr rtlCol="0" anchor="ctr" wrap="square" lIns="73152" rIns="73152" tIns="36576" bIns="36576"/>
          <a:lstStyle/>
          <a:p>
            <a:pPr algn="ctr"/>
          </a:p>
        </p:txBody>
      </p:sp>
      <p:sp>
        <p:nvSpPr>
          <p:cNvPr id="30" name="Freeform 29"/>
          <p:cNvSpPr/>
          <p:nvPr/>
        </p:nvSpPr>
        <p:spPr>
          <a:xfrm>
            <a:off x="3119768" y="4330781"/>
            <a:ext cx="115543" cy="98755"/>
          </a:xfrm>
          <a:custGeom>
            <a:avLst/>
            <a:gdLst/>
            <a:ahLst/>
            <a:cxnLst/>
            <a:rect l="l" t="t" r="r" b="b"/>
            <a:pathLst>
              <a:path w="115543" h="98755">
                <a:moveTo>
                  <a:pt x="0" y="98755"/>
                </a:moveTo>
                <a:lnTo>
                  <a:pt x="0" y="39502"/>
                </a:lnTo>
                <a:lnTo>
                  <a:pt x="26960" y="0"/>
                </a:lnTo>
                <a:lnTo>
                  <a:pt x="88583" y="0"/>
                </a:lnTo>
                <a:lnTo>
                  <a:pt x="115543" y="39502"/>
                </a:lnTo>
                <a:lnTo>
                  <a:pt x="115543" y="98755"/>
                </a:lnTo>
              </a:path>
            </a:pathLst>
          </a:custGeom>
          <a:noFill/>
          <a:ln w="18859">
            <a:solidFill>
              <a:srgbClr val="B3261E"/>
            </a:solidFill>
          </a:ln>
          <a:effectLst/>
        </p:spPr>
        <p:txBody>
          <a:bodyPr rtlCol="0" anchor="ctr"/>
          <a:lstStyle/>
          <a:p>
            <a:pPr algn="ctr"/>
          </a:p>
        </p:txBody>
      </p:sp>
      <p:sp>
        <p:nvSpPr>
          <p:cNvPr id="31" name="Rounded Rectangle 30"/>
          <p:cNvSpPr/>
          <p:nvPr/>
        </p:nvSpPr>
        <p:spPr>
          <a:xfrm>
            <a:off x="2990088" y="4681728"/>
            <a:ext cx="2066543" cy="365760"/>
          </a:xfrm>
          <a:prstGeom prst="roundRect">
            <a:avLst>
              <a:gd name="adj" fmla="val 30000"/>
            </a:avLst>
          </a:prstGeom>
          <a:solidFill>
            <a:srgbClr val="FCE9E7"/>
          </a:solidFill>
          <a:ln w="15240">
            <a:solidFill>
              <a:srgbClr val="B3261E"/>
            </a:solidFill>
            <a:prstDash val="dash"/>
          </a:ln>
          <a:effectLst/>
        </p:spPr>
        <p:txBody>
          <a:bodyPr rtlCol="0" anchor="ctr" wrap="square" lIns="347472" rIns="347472" tIns="36576" bIns="36576"/>
          <a:lstStyle/>
          <a:p>
            <a:pPr algn="l">
              <a:spcBef>
                <a:spcPts val="0"/>
              </a:spcBef>
              <a:spcAft>
                <a:spcPts val="0"/>
              </a:spcAft>
            </a:pPr>
            <a:r>
              <a:rPr sz="1400" b="0" i="1">
                <a:solidFill>
                  <a:srgbClr val="14202E"/>
                </a:solidFill>
                <a:latin typeface="Cambria"/>
              </a:rPr>
              <a:t>r</a:t>
            </a:r>
            <a:r>
              <a:rPr sz="1400" b="0" i="0" baseline="-25000">
                <a:solidFill>
                  <a:srgbClr val="14202E"/>
                </a:solidFill>
                <a:latin typeface="Cambria"/>
              </a:rPr>
              <a:t>2</a:t>
            </a:r>
            <a:r>
              <a:rPr sz="1400" b="0" i="1" baseline="-25000">
                <a:solidFill>
                  <a:srgbClr val="14202E"/>
                </a:solidFill>
                <a:latin typeface="Cambria"/>
              </a:rPr>
              <a:t>i</a:t>
            </a:r>
          </a:p>
        </p:txBody>
      </p:sp>
      <p:sp>
        <p:nvSpPr>
          <p:cNvPr id="32" name="Rounded Rectangle 31"/>
          <p:cNvSpPr/>
          <p:nvPr/>
        </p:nvSpPr>
        <p:spPr>
          <a:xfrm>
            <a:off x="3081253" y="4850160"/>
            <a:ext cx="192572" cy="128381"/>
          </a:xfrm>
          <a:prstGeom prst="roundRect">
            <a:avLst>
              <a:gd name="adj" fmla="val 21367"/>
            </a:avLst>
          </a:prstGeom>
          <a:solidFill>
            <a:srgbClr val="B3261E"/>
          </a:solidFill>
          <a:ln>
            <a:noFill/>
          </a:ln>
          <a:effectLst/>
        </p:spPr>
        <p:txBody>
          <a:bodyPr rtlCol="0" anchor="ctr" wrap="square" lIns="73152" rIns="73152" tIns="36576" bIns="36576"/>
          <a:lstStyle/>
          <a:p>
            <a:pPr algn="ctr"/>
          </a:p>
        </p:txBody>
      </p:sp>
      <p:sp>
        <p:nvSpPr>
          <p:cNvPr id="33" name="Freeform 32"/>
          <p:cNvSpPr/>
          <p:nvPr/>
        </p:nvSpPr>
        <p:spPr>
          <a:xfrm>
            <a:off x="3119768" y="4751405"/>
            <a:ext cx="115543" cy="98755"/>
          </a:xfrm>
          <a:custGeom>
            <a:avLst/>
            <a:gdLst/>
            <a:ahLst/>
            <a:cxnLst/>
            <a:rect l="l" t="t" r="r" b="b"/>
            <a:pathLst>
              <a:path w="115543" h="98755">
                <a:moveTo>
                  <a:pt x="0" y="98755"/>
                </a:moveTo>
                <a:lnTo>
                  <a:pt x="0" y="39502"/>
                </a:lnTo>
                <a:lnTo>
                  <a:pt x="26960" y="0"/>
                </a:lnTo>
                <a:lnTo>
                  <a:pt x="88583" y="0"/>
                </a:lnTo>
                <a:lnTo>
                  <a:pt x="115543" y="39502"/>
                </a:lnTo>
                <a:lnTo>
                  <a:pt x="115543" y="98755"/>
                </a:lnTo>
              </a:path>
            </a:pathLst>
          </a:custGeom>
          <a:noFill/>
          <a:ln w="18859">
            <a:solidFill>
              <a:srgbClr val="B3261E"/>
            </a:solidFill>
          </a:ln>
          <a:effectLst/>
        </p:spPr>
        <p:txBody>
          <a:bodyPr rtlCol="0" anchor="ctr"/>
          <a:lstStyle/>
          <a:p>
            <a:pPr algn="ctr"/>
          </a:p>
        </p:txBody>
      </p:sp>
      <p:sp>
        <p:nvSpPr>
          <p:cNvPr id="34" name="TextBox 33"/>
          <p:cNvSpPr txBox="1"/>
          <p:nvPr/>
        </p:nvSpPr>
        <p:spPr>
          <a:xfrm>
            <a:off x="2990088" y="5138928"/>
            <a:ext cx="2103120" cy="384048"/>
          </a:xfrm>
          <a:prstGeom prst="rect">
            <a:avLst/>
          </a:prstGeom>
          <a:noFill/>
        </p:spPr>
        <p:txBody>
          <a:bodyPr wrap="square" lIns="0" rIns="0" tIns="0" bIns="0" anchor="t">
            <a:spAutoFit/>
          </a:bodyPr>
          <a:lstStyle/>
          <a:p>
            <a:pPr algn="l">
              <a:spcBef>
                <a:spcPts val="0"/>
              </a:spcBef>
              <a:spcAft>
                <a:spcPts val="0"/>
              </a:spcAft>
            </a:pPr>
            <a:r>
              <a:rPr sz="1250" b="1" i="0">
                <a:solidFill>
                  <a:srgbClr val="B3261E"/>
                </a:solidFill>
                <a:latin typeface="Calibri"/>
              </a:rPr>
              <a:t>never learned, at any step</a:t>
            </a:r>
          </a:p>
        </p:txBody>
      </p:sp>
      <p:cxnSp>
        <p:nvCxnSpPr>
          <p:cNvPr id="35" name="Connector 34"/>
          <p:cNvCxnSpPr/>
          <p:nvPr/>
        </p:nvCxnSpPr>
        <p:spPr>
          <a:xfrm>
            <a:off x="5257800" y="2011680"/>
            <a:ext cx="201168" cy="0"/>
          </a:xfrm>
          <a:prstGeom prst="line">
            <a:avLst/>
          </a:prstGeom>
          <a:ln w="28575">
            <a:solidFill>
              <a:srgbClr val="B3261E"/>
            </a:solidFill>
            <a:tailEnd type="triangle" w="med" len="med"/>
          </a:ln>
        </p:spPr>
      </p:cxnSp>
      <p:sp>
        <p:nvSpPr>
          <p:cNvPr id="36" name="Rounded Rectangle 35"/>
          <p:cNvSpPr/>
          <p:nvPr/>
        </p:nvSpPr>
        <p:spPr>
          <a:xfrm>
            <a:off x="5458968" y="1554480"/>
            <a:ext cx="3931920" cy="896112"/>
          </a:xfrm>
          <a:prstGeom prst="roundRect">
            <a:avLst>
              <a:gd name="adj" fmla="val 6122"/>
            </a:avLst>
          </a:prstGeom>
          <a:solidFill>
            <a:srgbClr val="FFFFFF"/>
          </a:solidFill>
          <a:ln w="15875">
            <a:solidFill>
              <a:srgbClr val="14202E"/>
            </a:solidFill>
          </a:ln>
          <a:effectLst/>
        </p:spPr>
        <p:txBody>
          <a:bodyPr rtlCol="0" anchor="ctr" wrap="square" lIns="73152" rIns="73152" tIns="36576" bIns="36576"/>
          <a:lstStyle/>
          <a:p>
            <a:pPr algn="ctr"/>
          </a:p>
        </p:txBody>
      </p:sp>
      <p:sp>
        <p:nvSpPr>
          <p:cNvPr id="37" name="TextBox 36"/>
          <p:cNvSpPr txBox="1"/>
          <p:nvPr/>
        </p:nvSpPr>
        <p:spPr>
          <a:xfrm>
            <a:off x="5568696" y="1591056"/>
            <a:ext cx="3749039" cy="237744"/>
          </a:xfrm>
          <a:prstGeom prst="rect">
            <a:avLst/>
          </a:prstGeom>
          <a:noFill/>
        </p:spPr>
        <p:txBody>
          <a:bodyPr wrap="square" lIns="0" rIns="0" tIns="0" bIns="0" anchor="t">
            <a:spAutoFit/>
          </a:bodyPr>
          <a:lstStyle/>
          <a:p>
            <a:pPr algn="l">
              <a:spcBef>
                <a:spcPts val="0"/>
              </a:spcBef>
              <a:spcAft>
                <a:spcPts val="0"/>
              </a:spcAft>
            </a:pPr>
            <a:r>
              <a:rPr sz="1300" b="1" i="0">
                <a:solidFill>
                  <a:srgbClr val="14202E"/>
                </a:solidFill>
                <a:latin typeface="Calibri"/>
              </a:rPr>
              <a:t>① strip the certificate</a:t>
            </a:r>
          </a:p>
        </p:txBody>
      </p:sp>
      <p:sp>
        <p:nvSpPr>
          <p:cNvPr id="38" name="TextBox 37"/>
          <p:cNvSpPr txBox="1"/>
          <p:nvPr/>
        </p:nvSpPr>
        <p:spPr>
          <a:xfrm>
            <a:off x="5586983" y="1856231"/>
            <a:ext cx="3694176" cy="274320"/>
          </a:xfrm>
          <a:prstGeom prst="rect">
            <a:avLst/>
          </a:prstGeom>
          <a:noFill/>
        </p:spPr>
        <p:txBody>
          <a:bodyPr wrap="square" lIns="0" rIns="0" tIns="0" bIns="0" anchor="t">
            <a:spAutoFit/>
          </a:bodyPr>
          <a:lstStyle/>
          <a:p>
            <a:pPr algn="l">
              <a:spcBef>
                <a:spcPts val="0"/>
              </a:spcBef>
              <a:spcAft>
                <a:spcPts val="0"/>
              </a:spcAft>
            </a:pPr>
            <a:r>
              <a:rPr sz="1350" b="0" i="1">
                <a:solidFill>
                  <a:srgbClr val="5B6675"/>
                </a:solidFill>
                <a:latin typeface="Cambria"/>
              </a:rPr>
              <a:t>r</a:t>
            </a:r>
            <a:r>
              <a:rPr sz="1350" b="0" i="0" baseline="-25000">
                <a:solidFill>
                  <a:srgbClr val="5B6675"/>
                </a:solidFill>
                <a:latin typeface="Cambria"/>
              </a:rPr>
              <a:t>2</a:t>
            </a:r>
            <a:r>
              <a:rPr sz="1350" b="0" i="1" baseline="-25000">
                <a:solidFill>
                  <a:srgbClr val="5B6675"/>
                </a:solidFill>
                <a:latin typeface="Cambria"/>
              </a:rPr>
              <a:t>i</a:t>
            </a:r>
            <a:r>
              <a:rPr sz="1350" b="0" i="1">
                <a:solidFill>
                  <a:srgbClr val="5B6675"/>
                </a:solidFill>
                <a:latin typeface="Cambria"/>
              </a:rPr>
              <a:t>P</a:t>
            </a:r>
            <a:r>
              <a:rPr sz="1350" b="0" i="0">
                <a:solidFill>
                  <a:srgbClr val="5B6675"/>
                </a:solidFill>
                <a:latin typeface="Cambria"/>
              </a:rPr>
              <a:t> = </a:t>
            </a:r>
            <a:r>
              <a:rPr sz="1350" b="0" i="1">
                <a:solidFill>
                  <a:srgbClr val="5B6675"/>
                </a:solidFill>
                <a:latin typeface="Cambria"/>
              </a:rPr>
              <a:t>R</a:t>
            </a:r>
            <a:r>
              <a:rPr sz="1350" b="0" i="1" baseline="-25000">
                <a:solidFill>
                  <a:srgbClr val="5B6675"/>
                </a:solidFill>
                <a:latin typeface="Cambria"/>
              </a:rPr>
              <a:t>i</a:t>
            </a:r>
            <a:r>
              <a:rPr sz="1350" b="0" i="0">
                <a:solidFill>
                  <a:srgbClr val="5B6675"/>
                </a:solidFill>
                <a:latin typeface="Cambria"/>
              </a:rPr>
              <a:t> − </a:t>
            </a:r>
            <a:r>
              <a:rPr sz="1350" b="0" i="1">
                <a:solidFill>
                  <a:srgbClr val="5B6675"/>
                </a:solidFill>
                <a:latin typeface="Cambria"/>
              </a:rPr>
              <a:t>R</a:t>
            </a:r>
            <a:r>
              <a:rPr sz="1350" b="0" i="0" baseline="-25000">
                <a:solidFill>
                  <a:srgbClr val="5B6675"/>
                </a:solidFill>
                <a:latin typeface="Cambria"/>
              </a:rPr>
              <a:t>1</a:t>
            </a:r>
            <a:r>
              <a:rPr sz="1350" b="0" i="1" baseline="-25000">
                <a:solidFill>
                  <a:srgbClr val="5B6675"/>
                </a:solidFill>
                <a:latin typeface="Cambria"/>
              </a:rPr>
              <a:t>i</a:t>
            </a:r>
          </a:p>
        </p:txBody>
      </p:sp>
      <p:sp>
        <p:nvSpPr>
          <p:cNvPr id="39" name="Rounded Rectangle 38"/>
          <p:cNvSpPr/>
          <p:nvPr/>
        </p:nvSpPr>
        <p:spPr>
          <a:xfrm>
            <a:off x="5586983" y="2139696"/>
            <a:ext cx="1236034" cy="274320"/>
          </a:xfrm>
          <a:prstGeom prst="roundRect">
            <a:avLst>
              <a:gd name="adj" fmla="val 38461"/>
            </a:avLst>
          </a:prstGeom>
          <a:solidFill>
            <a:srgbClr val="FCE9E7"/>
          </a:solidFill>
          <a:ln w="15240">
            <a:solidFill>
              <a:srgbClr val="B3261E"/>
            </a:solidFill>
            <a:prstDash val="dash"/>
          </a:ln>
          <a:effectLst/>
        </p:spPr>
        <p:txBody>
          <a:bodyPr rtlCol="0" anchor="ctr" wrap="square" lIns="292608" rIns="292608" tIns="36576" bIns="36576"/>
          <a:lstStyle/>
          <a:p>
            <a:pPr algn="l">
              <a:spcBef>
                <a:spcPts val="0"/>
              </a:spcBef>
              <a:spcAft>
                <a:spcPts val="0"/>
              </a:spcAft>
            </a:pPr>
            <a:r>
              <a:rPr sz="1350" b="0" i="1">
                <a:solidFill>
                  <a:srgbClr val="14202E"/>
                </a:solidFill>
                <a:latin typeface="Cambria"/>
              </a:rPr>
              <a:t>r</a:t>
            </a:r>
            <a:r>
              <a:rPr sz="1350" b="0" i="0" baseline="-25000">
                <a:solidFill>
                  <a:srgbClr val="14202E"/>
                </a:solidFill>
                <a:latin typeface="Cambria"/>
              </a:rPr>
              <a:t>2</a:t>
            </a:r>
            <a:r>
              <a:rPr sz="1350" b="0" i="1" baseline="-25000">
                <a:solidFill>
                  <a:srgbClr val="14202E"/>
                </a:solidFill>
                <a:latin typeface="Cambria"/>
              </a:rPr>
              <a:t>i</a:t>
            </a:r>
            <a:r>
              <a:rPr sz="1350" b="0" i="0">
                <a:solidFill>
                  <a:srgbClr val="14202E"/>
                </a:solidFill>
                <a:latin typeface="Cambria"/>
              </a:rPr>
              <a:t> + </a:t>
            </a:r>
            <a:r>
              <a:rPr sz="1350" b="0" i="1">
                <a:solidFill>
                  <a:srgbClr val="14202E"/>
                </a:solidFill>
                <a:latin typeface="Cambria"/>
              </a:rPr>
              <a:t>sk</a:t>
            </a:r>
            <a:r>
              <a:rPr sz="1350" b="0" i="1" baseline="-25000">
                <a:solidFill>
                  <a:srgbClr val="14202E"/>
                </a:solidFill>
                <a:latin typeface="Cambria"/>
              </a:rPr>
              <a:t>i</a:t>
            </a:r>
            <a:r>
              <a:rPr sz="1350" b="0" i="1">
                <a:solidFill>
                  <a:srgbClr val="14202E"/>
                </a:solidFill>
                <a:latin typeface="Cambria"/>
              </a:rPr>
              <a:t>v</a:t>
            </a:r>
            <a:r>
              <a:rPr sz="1350" b="0" i="1" baseline="-25000">
                <a:solidFill>
                  <a:srgbClr val="14202E"/>
                </a:solidFill>
                <a:latin typeface="Cambria"/>
              </a:rPr>
              <a:t>i</a:t>
            </a:r>
          </a:p>
        </p:txBody>
      </p:sp>
      <p:sp>
        <p:nvSpPr>
          <p:cNvPr id="40" name="Rounded Rectangle 39"/>
          <p:cNvSpPr/>
          <p:nvPr/>
        </p:nvSpPr>
        <p:spPr>
          <a:xfrm>
            <a:off x="5654832" y="2268809"/>
            <a:ext cx="156911" cy="104607"/>
          </a:xfrm>
          <a:prstGeom prst="roundRect">
            <a:avLst>
              <a:gd name="adj" fmla="val 26223"/>
            </a:avLst>
          </a:prstGeom>
          <a:solidFill>
            <a:srgbClr val="B3261E"/>
          </a:solidFill>
          <a:ln>
            <a:noFill/>
          </a:ln>
          <a:effectLst/>
        </p:spPr>
        <p:txBody>
          <a:bodyPr rtlCol="0" anchor="ctr" wrap="square" lIns="73152" rIns="73152" tIns="36576" bIns="36576"/>
          <a:lstStyle/>
          <a:p>
            <a:pPr algn="ctr"/>
          </a:p>
        </p:txBody>
      </p:sp>
      <p:sp>
        <p:nvSpPr>
          <p:cNvPr id="41" name="Freeform 40"/>
          <p:cNvSpPr/>
          <p:nvPr/>
        </p:nvSpPr>
        <p:spPr>
          <a:xfrm>
            <a:off x="5686214" y="2188342"/>
            <a:ext cx="94147" cy="80467"/>
          </a:xfrm>
          <a:custGeom>
            <a:avLst/>
            <a:gdLst/>
            <a:ahLst/>
            <a:cxnLst/>
            <a:rect l="l" t="t" r="r" b="b"/>
            <a:pathLst>
              <a:path w="94147" h="80467">
                <a:moveTo>
                  <a:pt x="0" y="80467"/>
                </a:moveTo>
                <a:lnTo>
                  <a:pt x="0" y="32186"/>
                </a:lnTo>
                <a:lnTo>
                  <a:pt x="21968" y="0"/>
                </a:lnTo>
                <a:lnTo>
                  <a:pt x="72179" y="0"/>
                </a:lnTo>
                <a:lnTo>
                  <a:pt x="94147" y="32186"/>
                </a:lnTo>
                <a:lnTo>
                  <a:pt x="94147" y="80467"/>
                </a:lnTo>
              </a:path>
            </a:pathLst>
          </a:custGeom>
          <a:noFill/>
          <a:ln w="17780">
            <a:solidFill>
              <a:srgbClr val="B3261E"/>
            </a:solidFill>
          </a:ln>
          <a:effectLst/>
        </p:spPr>
        <p:txBody>
          <a:bodyPr rtlCol="0" anchor="ctr"/>
          <a:lstStyle/>
          <a:p>
            <a:pPr algn="ctr"/>
          </a:p>
        </p:txBody>
      </p:sp>
      <p:sp>
        <p:nvSpPr>
          <p:cNvPr id="42" name="TextBox 41"/>
          <p:cNvSpPr txBox="1"/>
          <p:nvPr/>
        </p:nvSpPr>
        <p:spPr>
          <a:xfrm>
            <a:off x="6877882" y="2139696"/>
            <a:ext cx="1463040" cy="274320"/>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mbria"/>
              </a:rPr>
              <a:t>= </a:t>
            </a:r>
            <a:r>
              <a:rPr sz="1350" b="0" i="1">
                <a:solidFill>
                  <a:srgbClr val="14202E"/>
                </a:solidFill>
                <a:latin typeface="Cambria"/>
              </a:rPr>
              <a:t>z</a:t>
            </a:r>
            <a:r>
              <a:rPr sz="1350" b="0" i="1" baseline="-25000">
                <a:solidFill>
                  <a:srgbClr val="14202E"/>
                </a:solidFill>
                <a:latin typeface="Cambria"/>
              </a:rPr>
              <a:t>i</a:t>
            </a:r>
            <a:r>
              <a:rPr sz="1350" b="0" i="0">
                <a:solidFill>
                  <a:srgbClr val="14202E"/>
                </a:solidFill>
                <a:latin typeface="Cambria"/>
              </a:rPr>
              <a:t> − </a:t>
            </a:r>
            <a:r>
              <a:rPr sz="1350" b="0" i="1">
                <a:solidFill>
                  <a:srgbClr val="14202E"/>
                </a:solidFill>
                <a:latin typeface="Cambria"/>
              </a:rPr>
              <a:t>c</a:t>
            </a:r>
            <a:r>
              <a:rPr sz="1350" b="0" i="1" baseline="-25000">
                <a:solidFill>
                  <a:srgbClr val="14202E"/>
                </a:solidFill>
                <a:latin typeface="Cambria"/>
              </a:rPr>
              <a:t>i</a:t>
            </a:r>
          </a:p>
        </p:txBody>
      </p:sp>
      <p:sp>
        <p:nvSpPr>
          <p:cNvPr id="43" name="Rounded Rectangle 42"/>
          <p:cNvSpPr/>
          <p:nvPr/>
        </p:nvSpPr>
        <p:spPr>
          <a:xfrm>
            <a:off x="5458968" y="2505456"/>
            <a:ext cx="3931920" cy="896112"/>
          </a:xfrm>
          <a:prstGeom prst="roundRect">
            <a:avLst>
              <a:gd name="adj" fmla="val 6122"/>
            </a:avLst>
          </a:prstGeom>
          <a:solidFill>
            <a:srgbClr val="FFFFFF"/>
          </a:solidFill>
          <a:ln w="15875">
            <a:solidFill>
              <a:srgbClr val="14202E"/>
            </a:solidFill>
          </a:ln>
          <a:effectLst/>
        </p:spPr>
        <p:txBody>
          <a:bodyPr rtlCol="0" anchor="ctr" wrap="square" lIns="73152" rIns="73152" tIns="36576" bIns="36576"/>
          <a:lstStyle/>
          <a:p>
            <a:pPr algn="ctr"/>
          </a:p>
        </p:txBody>
      </p:sp>
      <p:sp>
        <p:nvSpPr>
          <p:cNvPr id="44" name="TextBox 43"/>
          <p:cNvSpPr txBox="1"/>
          <p:nvPr/>
        </p:nvSpPr>
        <p:spPr>
          <a:xfrm>
            <a:off x="5568696" y="2542032"/>
            <a:ext cx="3749039" cy="237744"/>
          </a:xfrm>
          <a:prstGeom prst="rect">
            <a:avLst/>
          </a:prstGeom>
          <a:noFill/>
        </p:spPr>
        <p:txBody>
          <a:bodyPr wrap="square" lIns="0" rIns="0" tIns="0" bIns="0" anchor="t">
            <a:spAutoFit/>
          </a:bodyPr>
          <a:lstStyle/>
          <a:p>
            <a:pPr algn="l">
              <a:spcBef>
                <a:spcPts val="0"/>
              </a:spcBef>
              <a:spcAft>
                <a:spcPts val="0"/>
              </a:spcAft>
            </a:pPr>
            <a:r>
              <a:rPr sz="1300" b="1" i="0">
                <a:solidFill>
                  <a:srgbClr val="14202E"/>
                </a:solidFill>
                <a:latin typeface="Calibri"/>
              </a:rPr>
              <a:t>② normalise by </a:t>
            </a:r>
            <a:r>
              <a:rPr sz="1300" b="1" i="1">
                <a:solidFill>
                  <a:srgbClr val="14202E"/>
                </a:solidFill>
                <a:latin typeface="Cambria"/>
              </a:rPr>
              <a:t>v</a:t>
            </a:r>
            <a:r>
              <a:rPr sz="1300" b="1" i="1" baseline="-25000">
                <a:solidFill>
                  <a:srgbClr val="14202E"/>
                </a:solidFill>
                <a:latin typeface="Cambria"/>
              </a:rPr>
              <a:t>i</a:t>
            </a:r>
          </a:p>
        </p:txBody>
      </p:sp>
      <p:sp>
        <p:nvSpPr>
          <p:cNvPr id="45" name="Rounded Rectangle 44"/>
          <p:cNvSpPr/>
          <p:nvPr/>
        </p:nvSpPr>
        <p:spPr>
          <a:xfrm>
            <a:off x="6787805" y="2807208"/>
            <a:ext cx="1323833" cy="274320"/>
          </a:xfrm>
          <a:prstGeom prst="roundRect">
            <a:avLst>
              <a:gd name="adj" fmla="val 38461"/>
            </a:avLst>
          </a:prstGeom>
          <a:solidFill>
            <a:srgbClr val="FCE9E7"/>
          </a:solidFill>
          <a:ln w="15240">
            <a:solidFill>
              <a:srgbClr val="B3261E"/>
            </a:solidFill>
            <a:prstDash val="dash"/>
          </a:ln>
          <a:effectLst/>
        </p:spPr>
        <p:txBody>
          <a:bodyPr rtlCol="0" anchor="ctr" wrap="square" lIns="292608" rIns="292608" tIns="36576" bIns="36576"/>
          <a:lstStyle/>
          <a:p>
            <a:pPr algn="l">
              <a:spcBef>
                <a:spcPts val="0"/>
              </a:spcBef>
              <a:spcAft>
                <a:spcPts val="0"/>
              </a:spcAft>
            </a:pPr>
            <a:r>
              <a:rPr sz="1350" b="0" i="1">
                <a:solidFill>
                  <a:srgbClr val="14202E"/>
                </a:solidFill>
                <a:latin typeface="Cambria"/>
              </a:rPr>
              <a:t>r</a:t>
            </a:r>
            <a:r>
              <a:rPr sz="1350" b="0" i="0" baseline="-25000">
                <a:solidFill>
                  <a:srgbClr val="14202E"/>
                </a:solidFill>
                <a:latin typeface="Cambria"/>
              </a:rPr>
              <a:t>2</a:t>
            </a:r>
            <a:r>
              <a:rPr sz="1350" b="0" i="1" baseline="-25000">
                <a:solidFill>
                  <a:srgbClr val="14202E"/>
                </a:solidFill>
                <a:latin typeface="Cambria"/>
              </a:rPr>
              <a:t>i</a:t>
            </a:r>
            <a:r>
              <a:rPr sz="1350" b="0" i="0">
                <a:solidFill>
                  <a:srgbClr val="14202E"/>
                </a:solidFill>
                <a:latin typeface="Cambria"/>
              </a:rPr>
              <a:t>/</a:t>
            </a:r>
            <a:r>
              <a:rPr sz="1350" b="0" i="1">
                <a:solidFill>
                  <a:srgbClr val="14202E"/>
                </a:solidFill>
                <a:latin typeface="Cambria"/>
              </a:rPr>
              <a:t>v</a:t>
            </a:r>
            <a:r>
              <a:rPr sz="1350" b="0" i="1" baseline="-25000">
                <a:solidFill>
                  <a:srgbClr val="14202E"/>
                </a:solidFill>
                <a:latin typeface="Cambria"/>
              </a:rPr>
              <a:t>i</a:t>
            </a:r>
            <a:r>
              <a:rPr sz="1350" b="0" i="0">
                <a:solidFill>
                  <a:srgbClr val="14202E"/>
                </a:solidFill>
                <a:latin typeface="Cambria"/>
              </a:rPr>
              <a:t> + </a:t>
            </a:r>
            <a:r>
              <a:rPr sz="1350" b="0" i="1">
                <a:solidFill>
                  <a:srgbClr val="14202E"/>
                </a:solidFill>
                <a:latin typeface="Cambria"/>
              </a:rPr>
              <a:t>sk</a:t>
            </a:r>
            <a:r>
              <a:rPr sz="1350" b="0" i="1" baseline="-25000">
                <a:solidFill>
                  <a:srgbClr val="14202E"/>
                </a:solidFill>
                <a:latin typeface="Cambria"/>
              </a:rPr>
              <a:t>i</a:t>
            </a:r>
          </a:p>
        </p:txBody>
      </p:sp>
      <p:sp>
        <p:nvSpPr>
          <p:cNvPr id="46" name="Rounded Rectangle 45"/>
          <p:cNvSpPr/>
          <p:nvPr/>
        </p:nvSpPr>
        <p:spPr>
          <a:xfrm>
            <a:off x="6855654" y="2936321"/>
            <a:ext cx="156911" cy="104607"/>
          </a:xfrm>
          <a:prstGeom prst="roundRect">
            <a:avLst>
              <a:gd name="adj" fmla="val 26223"/>
            </a:avLst>
          </a:prstGeom>
          <a:solidFill>
            <a:srgbClr val="B3261E"/>
          </a:solidFill>
          <a:ln>
            <a:noFill/>
          </a:ln>
          <a:effectLst/>
        </p:spPr>
        <p:txBody>
          <a:bodyPr rtlCol="0" anchor="ctr" wrap="square" lIns="73152" rIns="73152" tIns="36576" bIns="36576"/>
          <a:lstStyle/>
          <a:p>
            <a:pPr algn="ctr"/>
          </a:p>
        </p:txBody>
      </p:sp>
      <p:sp>
        <p:nvSpPr>
          <p:cNvPr id="47" name="Freeform 46"/>
          <p:cNvSpPr/>
          <p:nvPr/>
        </p:nvSpPr>
        <p:spPr>
          <a:xfrm>
            <a:off x="6887036" y="2855854"/>
            <a:ext cx="94147" cy="80467"/>
          </a:xfrm>
          <a:custGeom>
            <a:avLst/>
            <a:gdLst/>
            <a:ahLst/>
            <a:cxnLst/>
            <a:rect l="l" t="t" r="r" b="b"/>
            <a:pathLst>
              <a:path w="94147" h="80467">
                <a:moveTo>
                  <a:pt x="0" y="80467"/>
                </a:moveTo>
                <a:lnTo>
                  <a:pt x="0" y="32186"/>
                </a:lnTo>
                <a:lnTo>
                  <a:pt x="21968" y="0"/>
                </a:lnTo>
                <a:lnTo>
                  <a:pt x="72179" y="0"/>
                </a:lnTo>
                <a:lnTo>
                  <a:pt x="94147" y="32186"/>
                </a:lnTo>
                <a:lnTo>
                  <a:pt x="94147" y="80467"/>
                </a:lnTo>
              </a:path>
            </a:pathLst>
          </a:custGeom>
          <a:noFill/>
          <a:ln w="17780">
            <a:solidFill>
              <a:srgbClr val="B3261E"/>
            </a:solidFill>
          </a:ln>
          <a:effectLst/>
        </p:spPr>
        <p:txBody>
          <a:bodyPr rtlCol="0" anchor="ctr"/>
          <a:lstStyle/>
          <a:p>
            <a:pPr algn="ctr"/>
          </a:p>
        </p:txBody>
      </p:sp>
      <p:sp>
        <p:nvSpPr>
          <p:cNvPr id="48" name="TextBox 47"/>
          <p:cNvSpPr txBox="1"/>
          <p:nvPr/>
        </p:nvSpPr>
        <p:spPr>
          <a:xfrm>
            <a:off x="5586983" y="2807208"/>
            <a:ext cx="1246541" cy="274320"/>
          </a:xfrm>
          <a:prstGeom prst="rect">
            <a:avLst/>
          </a:prstGeom>
          <a:noFill/>
        </p:spPr>
        <p:txBody>
          <a:bodyPr wrap="square" lIns="0" rIns="0" tIns="0" bIns="0" anchor="ctr">
            <a:spAutoFit/>
          </a:bodyPr>
          <a:lstStyle/>
          <a:p>
            <a:pPr algn="l">
              <a:spcBef>
                <a:spcPts val="0"/>
              </a:spcBef>
              <a:spcAft>
                <a:spcPts val="0"/>
              </a:spcAft>
            </a:pPr>
            <a:r>
              <a:rPr sz="1350" b="0" i="1">
                <a:solidFill>
                  <a:srgbClr val="14202E"/>
                </a:solidFill>
                <a:latin typeface="Cambria"/>
              </a:rPr>
              <a:t>α</a:t>
            </a:r>
            <a:r>
              <a:rPr sz="1350" b="0" i="0">
                <a:solidFill>
                  <a:srgbClr val="14202E"/>
                </a:solidFill>
                <a:latin typeface="Cambria"/>
              </a:rPr>
              <a:t> = (</a:t>
            </a:r>
            <a:r>
              <a:rPr sz="1350" b="0" i="1">
                <a:solidFill>
                  <a:srgbClr val="14202E"/>
                </a:solidFill>
                <a:latin typeface="Cambria"/>
              </a:rPr>
              <a:t>z</a:t>
            </a:r>
            <a:r>
              <a:rPr sz="1350" b="0" i="1" baseline="-25000">
                <a:solidFill>
                  <a:srgbClr val="14202E"/>
                </a:solidFill>
                <a:latin typeface="Cambria"/>
              </a:rPr>
              <a:t>i</a:t>
            </a:r>
            <a:r>
              <a:rPr sz="1350" b="0" i="0">
                <a:solidFill>
                  <a:srgbClr val="14202E"/>
                </a:solidFill>
                <a:latin typeface="Cambria"/>
              </a:rPr>
              <a:t> − </a:t>
            </a:r>
            <a:r>
              <a:rPr sz="1350" b="0" i="1">
                <a:solidFill>
                  <a:srgbClr val="14202E"/>
                </a:solidFill>
                <a:latin typeface="Cambria"/>
              </a:rPr>
              <a:t>c</a:t>
            </a:r>
            <a:r>
              <a:rPr sz="1350" b="0" i="1" baseline="-25000">
                <a:solidFill>
                  <a:srgbClr val="14202E"/>
                </a:solidFill>
                <a:latin typeface="Cambria"/>
              </a:rPr>
              <a:t>i</a:t>
            </a:r>
            <a:r>
              <a:rPr sz="1350" b="0" i="0">
                <a:solidFill>
                  <a:srgbClr val="14202E"/>
                </a:solidFill>
                <a:latin typeface="Cambria"/>
              </a:rPr>
              <a:t>)/</a:t>
            </a:r>
            <a:r>
              <a:rPr sz="1350" b="0" i="1">
                <a:solidFill>
                  <a:srgbClr val="14202E"/>
                </a:solidFill>
                <a:latin typeface="Cambria"/>
              </a:rPr>
              <a:t>v</a:t>
            </a:r>
            <a:r>
              <a:rPr sz="1350" b="0" i="1" baseline="-25000">
                <a:solidFill>
                  <a:srgbClr val="14202E"/>
                </a:solidFill>
                <a:latin typeface="Cambria"/>
              </a:rPr>
              <a:t>i</a:t>
            </a:r>
            <a:r>
              <a:rPr sz="1350" b="0" i="0">
                <a:solidFill>
                  <a:srgbClr val="14202E"/>
                </a:solidFill>
                <a:latin typeface="Cambria"/>
              </a:rPr>
              <a:t> = </a:t>
            </a:r>
          </a:p>
        </p:txBody>
      </p:sp>
      <p:sp>
        <p:nvSpPr>
          <p:cNvPr id="49" name="TextBox 48"/>
          <p:cNvSpPr txBox="1"/>
          <p:nvPr/>
        </p:nvSpPr>
        <p:spPr>
          <a:xfrm>
            <a:off x="5586983" y="3090672"/>
            <a:ext cx="3694176" cy="274320"/>
          </a:xfrm>
          <a:prstGeom prst="rect">
            <a:avLst/>
          </a:prstGeom>
          <a:noFill/>
        </p:spPr>
        <p:txBody>
          <a:bodyPr wrap="square" lIns="0" rIns="0" tIns="0" bIns="0" anchor="t">
            <a:spAutoFit/>
          </a:bodyPr>
          <a:lstStyle/>
          <a:p>
            <a:pPr algn="l">
              <a:spcBef>
                <a:spcPts val="0"/>
              </a:spcBef>
              <a:spcAft>
                <a:spcPts val="0"/>
              </a:spcAft>
            </a:pPr>
            <a:r>
              <a:rPr sz="1350" b="0" i="1">
                <a:solidFill>
                  <a:srgbClr val="5B6675"/>
                </a:solidFill>
                <a:latin typeface="Cambria"/>
              </a:rPr>
              <a:t>A</a:t>
            </a:r>
            <a:r>
              <a:rPr sz="1350" b="0" i="0">
                <a:solidFill>
                  <a:srgbClr val="5B6675"/>
                </a:solidFill>
                <a:latin typeface="Cambria"/>
              </a:rPr>
              <a:t> = (</a:t>
            </a:r>
            <a:r>
              <a:rPr sz="1350" b="0" i="1">
                <a:solidFill>
                  <a:srgbClr val="5B6675"/>
                </a:solidFill>
                <a:latin typeface="Cambria"/>
              </a:rPr>
              <a:t>R</a:t>
            </a:r>
            <a:r>
              <a:rPr sz="1350" b="0" i="1" baseline="-25000">
                <a:solidFill>
                  <a:srgbClr val="5B6675"/>
                </a:solidFill>
                <a:latin typeface="Cambria"/>
              </a:rPr>
              <a:t>i</a:t>
            </a:r>
            <a:r>
              <a:rPr sz="1350" b="0" i="0">
                <a:solidFill>
                  <a:srgbClr val="5B6675"/>
                </a:solidFill>
                <a:latin typeface="Cambria"/>
              </a:rPr>
              <a:t> − </a:t>
            </a:r>
            <a:r>
              <a:rPr sz="1350" b="0" i="1">
                <a:solidFill>
                  <a:srgbClr val="5B6675"/>
                </a:solidFill>
                <a:latin typeface="Cambria"/>
              </a:rPr>
              <a:t>R</a:t>
            </a:r>
            <a:r>
              <a:rPr sz="1350" b="0" i="0" baseline="-25000">
                <a:solidFill>
                  <a:srgbClr val="5B6675"/>
                </a:solidFill>
                <a:latin typeface="Cambria"/>
              </a:rPr>
              <a:t>1</a:t>
            </a:r>
            <a:r>
              <a:rPr sz="1350" b="0" i="1" baseline="-25000">
                <a:solidFill>
                  <a:srgbClr val="5B6675"/>
                </a:solidFill>
                <a:latin typeface="Cambria"/>
              </a:rPr>
              <a:t>i</a:t>
            </a:r>
            <a:r>
              <a:rPr sz="1350" b="0" i="0">
                <a:solidFill>
                  <a:srgbClr val="5B6675"/>
                </a:solidFill>
                <a:latin typeface="Cambria"/>
              </a:rPr>
              <a:t>)/</a:t>
            </a:r>
            <a:r>
              <a:rPr sz="1350" b="0" i="1">
                <a:solidFill>
                  <a:srgbClr val="5B6675"/>
                </a:solidFill>
                <a:latin typeface="Cambria"/>
              </a:rPr>
              <a:t>v</a:t>
            </a:r>
            <a:r>
              <a:rPr sz="1350" b="0" i="1" baseline="-25000">
                <a:solidFill>
                  <a:srgbClr val="5B6675"/>
                </a:solidFill>
                <a:latin typeface="Cambria"/>
              </a:rPr>
              <a:t>i</a:t>
            </a:r>
          </a:p>
        </p:txBody>
      </p:sp>
      <p:sp>
        <p:nvSpPr>
          <p:cNvPr id="50" name="Rounded Rectangle 49"/>
          <p:cNvSpPr/>
          <p:nvPr/>
        </p:nvSpPr>
        <p:spPr>
          <a:xfrm>
            <a:off x="5458968" y="3456432"/>
            <a:ext cx="3931920" cy="566928"/>
          </a:xfrm>
          <a:prstGeom prst="roundRect">
            <a:avLst>
              <a:gd name="adj" fmla="val 9677"/>
            </a:avLst>
          </a:prstGeom>
          <a:solidFill>
            <a:srgbClr val="FFFFFF"/>
          </a:solidFill>
          <a:ln w="15875">
            <a:solidFill>
              <a:srgbClr val="14202E"/>
            </a:solidFill>
          </a:ln>
          <a:effectLst/>
        </p:spPr>
        <p:txBody>
          <a:bodyPr rtlCol="0" anchor="ctr" wrap="square" lIns="73152" rIns="73152" tIns="36576" bIns="36576"/>
          <a:lstStyle/>
          <a:p>
            <a:pPr algn="ctr"/>
          </a:p>
        </p:txBody>
      </p:sp>
      <p:sp>
        <p:nvSpPr>
          <p:cNvPr id="51" name="TextBox 50"/>
          <p:cNvSpPr txBox="1"/>
          <p:nvPr/>
        </p:nvSpPr>
        <p:spPr>
          <a:xfrm>
            <a:off x="5568696" y="3493008"/>
            <a:ext cx="3749039" cy="237744"/>
          </a:xfrm>
          <a:prstGeom prst="rect">
            <a:avLst/>
          </a:prstGeom>
          <a:noFill/>
        </p:spPr>
        <p:txBody>
          <a:bodyPr wrap="square" lIns="0" rIns="0" tIns="0" bIns="0" anchor="t">
            <a:spAutoFit/>
          </a:bodyPr>
          <a:lstStyle/>
          <a:p>
            <a:pPr algn="l">
              <a:spcBef>
                <a:spcPts val="0"/>
              </a:spcBef>
              <a:spcAft>
                <a:spcPts val="0"/>
              </a:spcAft>
            </a:pPr>
            <a:r>
              <a:rPr sz="1300" b="1" i="0">
                <a:solidFill>
                  <a:srgbClr val="14202E"/>
                </a:solidFill>
                <a:latin typeface="Calibri"/>
              </a:rPr>
              <a:t>③ new message </a:t>
            </a:r>
            <a:r>
              <a:rPr sz="1300" b="1" i="1">
                <a:solidFill>
                  <a:srgbClr val="14202E"/>
                </a:solidFill>
                <a:latin typeface="Cambria"/>
              </a:rPr>
              <a:t>m</a:t>
            </a:r>
            <a:r>
              <a:rPr sz="1300" b="1" i="0">
                <a:solidFill>
                  <a:srgbClr val="14202E"/>
                </a:solidFill>
                <a:latin typeface="Cambria"/>
              </a:rPr>
              <a:t>′</a:t>
            </a:r>
            <a:r>
              <a:rPr sz="1300" b="1" i="1" baseline="-25000">
                <a:solidFill>
                  <a:srgbClr val="14202E"/>
                </a:solidFill>
                <a:latin typeface="Cambria"/>
              </a:rPr>
              <a:t>i</a:t>
            </a:r>
          </a:p>
        </p:txBody>
      </p:sp>
      <p:sp>
        <p:nvSpPr>
          <p:cNvPr id="52" name="TextBox 51"/>
          <p:cNvSpPr txBox="1"/>
          <p:nvPr/>
        </p:nvSpPr>
        <p:spPr>
          <a:xfrm>
            <a:off x="5586983" y="3758183"/>
            <a:ext cx="3694176" cy="274320"/>
          </a:xfrm>
          <a:prstGeom prst="rect">
            <a:avLst/>
          </a:prstGeom>
          <a:noFill/>
        </p:spPr>
        <p:txBody>
          <a:bodyPr wrap="square" lIns="0" rIns="0" tIns="0" bIns="0" anchor="t">
            <a:spAutoFit/>
          </a:bodyPr>
          <a:lstStyle/>
          <a:p>
            <a:pPr algn="l">
              <a:spcBef>
                <a:spcPts val="0"/>
              </a:spcBef>
              <a:spcAft>
                <a:spcPts val="0"/>
              </a:spcAft>
            </a:pPr>
            <a:r>
              <a:rPr sz="1350" b="0" i="1">
                <a:solidFill>
                  <a:srgbClr val="5B6675"/>
                </a:solidFill>
                <a:latin typeface="Cambria"/>
              </a:rPr>
              <a:t>v</a:t>
            </a:r>
            <a:r>
              <a:rPr sz="1350" b="0" i="0">
                <a:solidFill>
                  <a:srgbClr val="5B6675"/>
                </a:solidFill>
                <a:latin typeface="Cambria"/>
              </a:rPr>
              <a:t>′</a:t>
            </a:r>
            <a:r>
              <a:rPr sz="1350" b="0" i="1" baseline="-25000">
                <a:solidFill>
                  <a:srgbClr val="5B6675"/>
                </a:solidFill>
                <a:latin typeface="Cambria"/>
              </a:rPr>
              <a:t>i</a:t>
            </a:r>
            <a:r>
              <a:rPr sz="1350" b="0" i="0">
                <a:solidFill>
                  <a:srgbClr val="5B6675"/>
                </a:solidFill>
                <a:latin typeface="Cambria"/>
              </a:rPr>
              <a:t> = </a:t>
            </a:r>
            <a:r>
              <a:rPr sz="1350" b="0" i="1">
                <a:solidFill>
                  <a:srgbClr val="5B6675"/>
                </a:solidFill>
                <a:latin typeface="Cambria"/>
              </a:rPr>
              <a:t>H</a:t>
            </a:r>
            <a:r>
              <a:rPr sz="1350" b="0" i="0" baseline="-25000">
                <a:solidFill>
                  <a:srgbClr val="5B6675"/>
                </a:solidFill>
                <a:latin typeface="Cambria"/>
              </a:rPr>
              <a:t>1</a:t>
            </a:r>
            <a:r>
              <a:rPr sz="1350" b="0" i="0">
                <a:solidFill>
                  <a:srgbClr val="5B6675"/>
                </a:solidFill>
                <a:latin typeface="Cambria"/>
              </a:rPr>
              <a:t>(</a:t>
            </a:r>
            <a:r>
              <a:rPr sz="1350" b="0" i="1">
                <a:solidFill>
                  <a:srgbClr val="5B6675"/>
                </a:solidFill>
                <a:latin typeface="Cambria"/>
              </a:rPr>
              <a:t>m</a:t>
            </a:r>
            <a:r>
              <a:rPr sz="1350" b="0" i="0">
                <a:solidFill>
                  <a:srgbClr val="5B6675"/>
                </a:solidFill>
                <a:latin typeface="Cambria"/>
              </a:rPr>
              <a:t>′</a:t>
            </a:r>
            <a:r>
              <a:rPr sz="1350" b="0" i="1" baseline="-25000">
                <a:solidFill>
                  <a:srgbClr val="5B6675"/>
                </a:solidFill>
                <a:latin typeface="Cambria"/>
              </a:rPr>
              <a:t>i</a:t>
            </a:r>
            <a:r>
              <a:rPr sz="1350" b="0" i="0">
                <a:solidFill>
                  <a:srgbClr val="5B6675"/>
                </a:solidFill>
                <a:latin typeface="Cambria"/>
              </a:rPr>
              <a:t>, …)</a:t>
            </a:r>
            <a:r>
              <a:rPr sz="1350" b="0" i="0">
                <a:solidFill>
                  <a:srgbClr val="5B6675"/>
                </a:solidFill>
                <a:latin typeface="Calibri"/>
              </a:rPr>
              <a:t>   no </a:t>
            </a:r>
            <a:r>
              <a:rPr sz="1350" b="0" i="1">
                <a:solidFill>
                  <a:srgbClr val="5B6675"/>
                </a:solidFill>
                <a:latin typeface="Cambria"/>
              </a:rPr>
              <a:t>R</a:t>
            </a:r>
            <a:r>
              <a:rPr sz="1350" b="0" i="0">
                <a:solidFill>
                  <a:srgbClr val="5B6675"/>
                </a:solidFill>
                <a:latin typeface="Cambria"/>
              </a:rPr>
              <a:t>′</a:t>
            </a:r>
            <a:r>
              <a:rPr sz="1350" b="0" i="1" baseline="-25000">
                <a:solidFill>
                  <a:srgbClr val="5B6675"/>
                </a:solidFill>
                <a:latin typeface="Cambria"/>
              </a:rPr>
              <a:t>i</a:t>
            </a:r>
            <a:r>
              <a:rPr sz="1350" b="0" i="0">
                <a:solidFill>
                  <a:srgbClr val="5B6675"/>
                </a:solidFill>
                <a:latin typeface="Calibri"/>
              </a:rPr>
              <a:t> needed</a:t>
            </a:r>
          </a:p>
        </p:txBody>
      </p:sp>
      <p:sp>
        <p:nvSpPr>
          <p:cNvPr id="53" name="Rounded Rectangle 52"/>
          <p:cNvSpPr/>
          <p:nvPr/>
        </p:nvSpPr>
        <p:spPr>
          <a:xfrm>
            <a:off x="5458968" y="4059936"/>
            <a:ext cx="3931920" cy="566928"/>
          </a:xfrm>
          <a:prstGeom prst="roundRect">
            <a:avLst>
              <a:gd name="adj" fmla="val 9677"/>
            </a:avLst>
          </a:prstGeom>
          <a:solidFill>
            <a:srgbClr val="FFFFFF"/>
          </a:solidFill>
          <a:ln w="15875">
            <a:solidFill>
              <a:srgbClr val="14202E"/>
            </a:solidFill>
          </a:ln>
          <a:effectLst/>
        </p:spPr>
        <p:txBody>
          <a:bodyPr rtlCol="0" anchor="ctr" wrap="square" lIns="73152" rIns="73152" tIns="36576" bIns="36576"/>
          <a:lstStyle/>
          <a:p>
            <a:pPr algn="ctr"/>
          </a:p>
        </p:txBody>
      </p:sp>
      <p:sp>
        <p:nvSpPr>
          <p:cNvPr id="54" name="TextBox 53"/>
          <p:cNvSpPr txBox="1"/>
          <p:nvPr/>
        </p:nvSpPr>
        <p:spPr>
          <a:xfrm>
            <a:off x="5568696" y="4096512"/>
            <a:ext cx="3749039" cy="237744"/>
          </a:xfrm>
          <a:prstGeom prst="rect">
            <a:avLst/>
          </a:prstGeom>
          <a:noFill/>
        </p:spPr>
        <p:txBody>
          <a:bodyPr wrap="square" lIns="0" rIns="0" tIns="0" bIns="0" anchor="t">
            <a:spAutoFit/>
          </a:bodyPr>
          <a:lstStyle/>
          <a:p>
            <a:pPr algn="l">
              <a:spcBef>
                <a:spcPts val="0"/>
              </a:spcBef>
              <a:spcAft>
                <a:spcPts val="0"/>
              </a:spcAft>
            </a:pPr>
            <a:r>
              <a:rPr sz="1300" b="1" i="0">
                <a:solidFill>
                  <a:srgbClr val="14202E"/>
                </a:solidFill>
                <a:latin typeface="Calibri"/>
              </a:rPr>
              <a:t>④ build the commitment</a:t>
            </a:r>
          </a:p>
        </p:txBody>
      </p:sp>
      <p:sp>
        <p:nvSpPr>
          <p:cNvPr id="55" name="TextBox 54"/>
          <p:cNvSpPr txBox="1"/>
          <p:nvPr/>
        </p:nvSpPr>
        <p:spPr>
          <a:xfrm>
            <a:off x="5586983" y="4361688"/>
            <a:ext cx="3694176" cy="274320"/>
          </a:xfrm>
          <a:prstGeom prst="rect">
            <a:avLst/>
          </a:prstGeom>
          <a:noFill/>
        </p:spPr>
        <p:txBody>
          <a:bodyPr wrap="square" lIns="0" rIns="0" tIns="0" bIns="0" anchor="t">
            <a:spAutoFit/>
          </a:bodyPr>
          <a:lstStyle/>
          <a:p>
            <a:pPr algn="l">
              <a:spcBef>
                <a:spcPts val="0"/>
              </a:spcBef>
              <a:spcAft>
                <a:spcPts val="0"/>
              </a:spcAft>
            </a:pPr>
            <a:r>
              <a:rPr sz="1350" b="0" i="1">
                <a:solidFill>
                  <a:srgbClr val="5B6675"/>
                </a:solidFill>
                <a:latin typeface="Cambria"/>
              </a:rPr>
              <a:t>R</a:t>
            </a:r>
            <a:r>
              <a:rPr sz="1350" b="0" i="0">
                <a:solidFill>
                  <a:srgbClr val="5B6675"/>
                </a:solidFill>
                <a:latin typeface="Cambria"/>
              </a:rPr>
              <a:t>′</a:t>
            </a:r>
            <a:r>
              <a:rPr sz="1350" b="0" i="1" baseline="-25000">
                <a:solidFill>
                  <a:srgbClr val="5B6675"/>
                </a:solidFill>
                <a:latin typeface="Cambria"/>
              </a:rPr>
              <a:t>i</a:t>
            </a:r>
            <a:r>
              <a:rPr sz="1350" b="0" i="0">
                <a:solidFill>
                  <a:srgbClr val="5B6675"/>
                </a:solidFill>
                <a:latin typeface="Cambria"/>
              </a:rPr>
              <a:t> = </a:t>
            </a:r>
            <a:r>
              <a:rPr sz="1350" b="0" i="1">
                <a:solidFill>
                  <a:srgbClr val="5B6675"/>
                </a:solidFill>
                <a:latin typeface="Cambria"/>
              </a:rPr>
              <a:t>R</a:t>
            </a:r>
            <a:r>
              <a:rPr sz="1350" b="0" i="0" baseline="-25000">
                <a:solidFill>
                  <a:srgbClr val="5B6675"/>
                </a:solidFill>
                <a:latin typeface="Cambria"/>
              </a:rPr>
              <a:t>1</a:t>
            </a:r>
            <a:r>
              <a:rPr sz="1350" b="0" i="1" baseline="-25000">
                <a:solidFill>
                  <a:srgbClr val="5B6675"/>
                </a:solidFill>
                <a:latin typeface="Cambria"/>
              </a:rPr>
              <a:t>i</a:t>
            </a:r>
            <a:r>
              <a:rPr sz="1350" b="0" i="0">
                <a:solidFill>
                  <a:srgbClr val="5B6675"/>
                </a:solidFill>
                <a:latin typeface="Cambria"/>
              </a:rPr>
              <a:t> + </a:t>
            </a:r>
            <a:r>
              <a:rPr sz="1350" b="0" i="1">
                <a:solidFill>
                  <a:srgbClr val="5B6675"/>
                </a:solidFill>
                <a:latin typeface="Cambria"/>
              </a:rPr>
              <a:t>v</a:t>
            </a:r>
            <a:r>
              <a:rPr sz="1350" b="0" i="0">
                <a:solidFill>
                  <a:srgbClr val="5B6675"/>
                </a:solidFill>
                <a:latin typeface="Cambria"/>
              </a:rPr>
              <a:t>′</a:t>
            </a:r>
            <a:r>
              <a:rPr sz="1350" b="0" i="1" baseline="-25000">
                <a:solidFill>
                  <a:srgbClr val="5B6675"/>
                </a:solidFill>
                <a:latin typeface="Cambria"/>
              </a:rPr>
              <a:t>i</a:t>
            </a:r>
            <a:r>
              <a:rPr sz="1350" b="0" i="0">
                <a:solidFill>
                  <a:srgbClr val="5B6675"/>
                </a:solidFill>
                <a:latin typeface="Cambria"/>
              </a:rPr>
              <a:t>·</a:t>
            </a:r>
            <a:r>
              <a:rPr sz="1350" b="0" i="1">
                <a:solidFill>
                  <a:srgbClr val="5B6675"/>
                </a:solidFill>
                <a:latin typeface="Cambria"/>
              </a:rPr>
              <a:t>A</a:t>
            </a:r>
          </a:p>
        </p:txBody>
      </p:sp>
      <p:sp>
        <p:nvSpPr>
          <p:cNvPr id="56" name="Rounded Rectangle 55"/>
          <p:cNvSpPr/>
          <p:nvPr/>
        </p:nvSpPr>
        <p:spPr>
          <a:xfrm>
            <a:off x="5458968" y="4663440"/>
            <a:ext cx="3931920" cy="566928"/>
          </a:xfrm>
          <a:prstGeom prst="roundRect">
            <a:avLst>
              <a:gd name="adj" fmla="val 9677"/>
            </a:avLst>
          </a:prstGeom>
          <a:solidFill>
            <a:srgbClr val="FFFFFF"/>
          </a:solidFill>
          <a:ln w="15875">
            <a:solidFill>
              <a:srgbClr val="14202E"/>
            </a:solidFill>
          </a:ln>
          <a:effectLst/>
        </p:spPr>
        <p:txBody>
          <a:bodyPr rtlCol="0" anchor="ctr" wrap="square" lIns="73152" rIns="73152" tIns="36576" bIns="36576"/>
          <a:lstStyle/>
          <a:p>
            <a:pPr algn="ctr"/>
          </a:p>
        </p:txBody>
      </p:sp>
      <p:sp>
        <p:nvSpPr>
          <p:cNvPr id="57" name="TextBox 56"/>
          <p:cNvSpPr txBox="1"/>
          <p:nvPr/>
        </p:nvSpPr>
        <p:spPr>
          <a:xfrm>
            <a:off x="5568696" y="4700016"/>
            <a:ext cx="3749039" cy="237744"/>
          </a:xfrm>
          <a:prstGeom prst="rect">
            <a:avLst/>
          </a:prstGeom>
          <a:noFill/>
        </p:spPr>
        <p:txBody>
          <a:bodyPr wrap="square" lIns="0" rIns="0" tIns="0" bIns="0" anchor="t">
            <a:spAutoFit/>
          </a:bodyPr>
          <a:lstStyle/>
          <a:p>
            <a:pPr algn="l">
              <a:spcBef>
                <a:spcPts val="0"/>
              </a:spcBef>
              <a:spcAft>
                <a:spcPts val="0"/>
              </a:spcAft>
            </a:pPr>
            <a:r>
              <a:rPr sz="1300" b="1" i="0">
                <a:solidFill>
                  <a:srgbClr val="14202E"/>
                </a:solidFill>
                <a:latin typeface="Calibri"/>
              </a:rPr>
              <a:t>⑤ build the response</a:t>
            </a:r>
          </a:p>
        </p:txBody>
      </p:sp>
      <p:sp>
        <p:nvSpPr>
          <p:cNvPr id="58" name="TextBox 57"/>
          <p:cNvSpPr txBox="1"/>
          <p:nvPr/>
        </p:nvSpPr>
        <p:spPr>
          <a:xfrm>
            <a:off x="5586983" y="4965192"/>
            <a:ext cx="3694176" cy="274320"/>
          </a:xfrm>
          <a:prstGeom prst="rect">
            <a:avLst/>
          </a:prstGeom>
          <a:noFill/>
        </p:spPr>
        <p:txBody>
          <a:bodyPr wrap="square" lIns="0" rIns="0" tIns="0" bIns="0" anchor="t">
            <a:spAutoFit/>
          </a:bodyPr>
          <a:lstStyle/>
          <a:p>
            <a:pPr algn="l">
              <a:spcBef>
                <a:spcPts val="0"/>
              </a:spcBef>
              <a:spcAft>
                <a:spcPts val="0"/>
              </a:spcAft>
            </a:pPr>
            <a:r>
              <a:rPr sz="1350" b="0" i="1">
                <a:solidFill>
                  <a:srgbClr val="5B6675"/>
                </a:solidFill>
                <a:latin typeface="Cambria"/>
              </a:rPr>
              <a:t>z</a:t>
            </a:r>
            <a:r>
              <a:rPr sz="1350" b="0" i="0">
                <a:solidFill>
                  <a:srgbClr val="5B6675"/>
                </a:solidFill>
                <a:latin typeface="Cambria"/>
              </a:rPr>
              <a:t>′</a:t>
            </a:r>
            <a:r>
              <a:rPr sz="1350" b="0" i="1" baseline="-25000">
                <a:solidFill>
                  <a:srgbClr val="5B6675"/>
                </a:solidFill>
                <a:latin typeface="Cambria"/>
              </a:rPr>
              <a:t>i</a:t>
            </a:r>
            <a:r>
              <a:rPr sz="1350" b="0" i="0">
                <a:solidFill>
                  <a:srgbClr val="5B6675"/>
                </a:solidFill>
                <a:latin typeface="Cambria"/>
              </a:rPr>
              <a:t> = </a:t>
            </a:r>
            <a:r>
              <a:rPr sz="1350" b="0" i="1">
                <a:solidFill>
                  <a:srgbClr val="5B6675"/>
                </a:solidFill>
                <a:latin typeface="Cambria"/>
              </a:rPr>
              <a:t>v</a:t>
            </a:r>
            <a:r>
              <a:rPr sz="1350" b="0" i="0">
                <a:solidFill>
                  <a:srgbClr val="5B6675"/>
                </a:solidFill>
                <a:latin typeface="Cambria"/>
              </a:rPr>
              <a:t>′</a:t>
            </a:r>
            <a:r>
              <a:rPr sz="1350" b="0" i="1" baseline="-25000">
                <a:solidFill>
                  <a:srgbClr val="5B6675"/>
                </a:solidFill>
                <a:latin typeface="Cambria"/>
              </a:rPr>
              <a:t>i</a:t>
            </a:r>
            <a:r>
              <a:rPr sz="1350" b="0" i="0">
                <a:solidFill>
                  <a:srgbClr val="5B6675"/>
                </a:solidFill>
                <a:latin typeface="Cambria"/>
              </a:rPr>
              <a:t>·</a:t>
            </a:r>
            <a:r>
              <a:rPr sz="1350" b="0" i="1">
                <a:solidFill>
                  <a:srgbClr val="5B6675"/>
                </a:solidFill>
                <a:latin typeface="Cambria"/>
              </a:rPr>
              <a:t>α</a:t>
            </a:r>
            <a:r>
              <a:rPr sz="1350" b="0" i="0">
                <a:solidFill>
                  <a:srgbClr val="5B6675"/>
                </a:solidFill>
                <a:latin typeface="Cambria"/>
              </a:rPr>
              <a:t> + </a:t>
            </a:r>
            <a:r>
              <a:rPr sz="1350" b="0" i="1">
                <a:solidFill>
                  <a:srgbClr val="5B6675"/>
                </a:solidFill>
                <a:latin typeface="Cambria"/>
              </a:rPr>
              <a:t>c</a:t>
            </a:r>
            <a:r>
              <a:rPr sz="1350" b="0" i="1" baseline="-25000">
                <a:solidFill>
                  <a:srgbClr val="5B6675"/>
                </a:solidFill>
                <a:latin typeface="Cambria"/>
              </a:rPr>
              <a:t>i</a:t>
            </a:r>
          </a:p>
        </p:txBody>
      </p:sp>
      <p:sp>
        <p:nvSpPr>
          <p:cNvPr id="59" name="Rounded Rectangle 58"/>
          <p:cNvSpPr/>
          <p:nvPr/>
        </p:nvSpPr>
        <p:spPr>
          <a:xfrm>
            <a:off x="5458968" y="5285232"/>
            <a:ext cx="3931920" cy="384048"/>
          </a:xfrm>
          <a:prstGeom prst="roundRect">
            <a:avLst>
              <a:gd name="adj" fmla="val 19047"/>
            </a:avLst>
          </a:prstGeom>
          <a:solidFill>
            <a:srgbClr val="FCE9E7"/>
          </a:solidFill>
          <a:ln w="22225">
            <a:solidFill>
              <a:srgbClr val="B3261E"/>
            </a:solidFill>
          </a:ln>
          <a:effectLst/>
        </p:spPr>
        <p:txBody>
          <a:bodyPr rtlCol="0" anchor="ctr" wrap="square" lIns="73152" rIns="73152" tIns="36576" bIns="36576"/>
          <a:lstStyle/>
          <a:p>
            <a:pPr algn="ctr">
              <a:spcBef>
                <a:spcPts val="0"/>
              </a:spcBef>
              <a:spcAft>
                <a:spcPts val="0"/>
              </a:spcAft>
            </a:pPr>
            <a:r>
              <a:rPr sz="1450" b="1" i="0">
                <a:solidFill>
                  <a:srgbClr val="B3261E"/>
                </a:solidFill>
                <a:latin typeface="Calibri"/>
              </a:rPr>
              <a:t>forged </a:t>
            </a:r>
            <a:r>
              <a:rPr sz="1450" b="1" i="1">
                <a:solidFill>
                  <a:srgbClr val="B3261E"/>
                </a:solidFill>
                <a:latin typeface="Cambria"/>
              </a:rPr>
              <a:t>δ</a:t>
            </a:r>
            <a:r>
              <a:rPr sz="1450" b="1" i="0">
                <a:solidFill>
                  <a:srgbClr val="B3261E"/>
                </a:solidFill>
                <a:latin typeface="Cambria"/>
              </a:rPr>
              <a:t>′</a:t>
            </a:r>
            <a:r>
              <a:rPr sz="1450" b="1" i="1" baseline="-25000">
                <a:solidFill>
                  <a:srgbClr val="B3261E"/>
                </a:solidFill>
                <a:latin typeface="Cambria"/>
              </a:rPr>
              <a:t>i</a:t>
            </a:r>
            <a:r>
              <a:rPr sz="1450" b="1" i="0">
                <a:solidFill>
                  <a:srgbClr val="B3261E"/>
                </a:solidFill>
                <a:latin typeface="Cambria"/>
              </a:rPr>
              <a:t> = (</a:t>
            </a:r>
            <a:r>
              <a:rPr sz="1450" b="1" i="1">
                <a:solidFill>
                  <a:srgbClr val="B3261E"/>
                </a:solidFill>
                <a:latin typeface="Cambria"/>
              </a:rPr>
              <a:t>R</a:t>
            </a:r>
            <a:r>
              <a:rPr sz="1450" b="1" i="0">
                <a:solidFill>
                  <a:srgbClr val="B3261E"/>
                </a:solidFill>
                <a:latin typeface="Cambria"/>
              </a:rPr>
              <a:t>′</a:t>
            </a:r>
            <a:r>
              <a:rPr sz="1450" b="1" i="1" baseline="-25000">
                <a:solidFill>
                  <a:srgbClr val="B3261E"/>
                </a:solidFill>
                <a:latin typeface="Cambria"/>
              </a:rPr>
              <a:t>i</a:t>
            </a:r>
            <a:r>
              <a:rPr sz="1450" b="1" i="0">
                <a:solidFill>
                  <a:srgbClr val="B3261E"/>
                </a:solidFill>
                <a:latin typeface="Cambria"/>
              </a:rPr>
              <a:t>, </a:t>
            </a:r>
            <a:r>
              <a:rPr sz="1450" b="1" i="1">
                <a:solidFill>
                  <a:srgbClr val="B3261E"/>
                </a:solidFill>
                <a:latin typeface="Cambria"/>
              </a:rPr>
              <a:t>z</a:t>
            </a:r>
            <a:r>
              <a:rPr sz="1450" b="1" i="0">
                <a:solidFill>
                  <a:srgbClr val="B3261E"/>
                </a:solidFill>
                <a:latin typeface="Cambria"/>
              </a:rPr>
              <a:t>′</a:t>
            </a:r>
            <a:r>
              <a:rPr sz="1450" b="1" i="1" baseline="-25000">
                <a:solidFill>
                  <a:srgbClr val="B3261E"/>
                </a:solidFill>
                <a:latin typeface="Cambria"/>
              </a:rPr>
              <a:t>i</a:t>
            </a:r>
            <a:r>
              <a:rPr sz="1450" b="1" i="0">
                <a:solidFill>
                  <a:srgbClr val="B3261E"/>
                </a:solidFill>
                <a:latin typeface="Cambria"/>
              </a:rPr>
              <a:t>)</a:t>
            </a:r>
            <a:r>
              <a:rPr sz="1450" b="1" i="0">
                <a:solidFill>
                  <a:srgbClr val="B3261E"/>
                </a:solidFill>
                <a:latin typeface="Calibri"/>
              </a:rPr>
              <a:t> on </a:t>
            </a:r>
            <a:r>
              <a:rPr sz="1450" b="1" i="1">
                <a:solidFill>
                  <a:srgbClr val="B3261E"/>
                </a:solidFill>
                <a:latin typeface="Cambria"/>
              </a:rPr>
              <a:t>m</a:t>
            </a:r>
            <a:r>
              <a:rPr sz="1450" b="1" i="0">
                <a:solidFill>
                  <a:srgbClr val="B3261E"/>
                </a:solidFill>
                <a:latin typeface="Cambria"/>
              </a:rPr>
              <a:t>′</a:t>
            </a:r>
            <a:r>
              <a:rPr sz="1450" b="1" i="1" baseline="-25000">
                <a:solidFill>
                  <a:srgbClr val="B3261E"/>
                </a:solidFill>
                <a:latin typeface="Cambria"/>
              </a:rPr>
              <a:t>i</a:t>
            </a:r>
          </a:p>
        </p:txBody>
      </p:sp>
      <p:cxnSp>
        <p:nvCxnSpPr>
          <p:cNvPr id="60" name="Connector 59"/>
          <p:cNvCxnSpPr/>
          <p:nvPr/>
        </p:nvCxnSpPr>
        <p:spPr>
          <a:xfrm>
            <a:off x="9390888" y="5477256"/>
            <a:ext cx="1271016" cy="0"/>
          </a:xfrm>
          <a:prstGeom prst="line">
            <a:avLst/>
          </a:prstGeom>
          <a:ln w="28575">
            <a:solidFill>
              <a:srgbClr val="B3261E"/>
            </a:solidFill>
          </a:ln>
        </p:spPr>
      </p:cxnSp>
      <p:cxnSp>
        <p:nvCxnSpPr>
          <p:cNvPr id="61" name="Connector 60"/>
          <p:cNvCxnSpPr/>
          <p:nvPr/>
        </p:nvCxnSpPr>
        <p:spPr>
          <a:xfrm flipV="1">
            <a:off x="10661904" y="4343400"/>
            <a:ext cx="0" cy="1133856"/>
          </a:xfrm>
          <a:prstGeom prst="line">
            <a:avLst/>
          </a:prstGeom>
          <a:ln w="28575">
            <a:solidFill>
              <a:srgbClr val="B3261E"/>
            </a:solidFill>
            <a:tailEnd type="triangle" w="med" len="med"/>
          </a:ln>
        </p:spPr>
      </p:cxnSp>
      <p:sp>
        <p:nvSpPr>
          <p:cNvPr id="62" name="Rounded Rectangle 61"/>
          <p:cNvSpPr/>
          <p:nvPr/>
        </p:nvSpPr>
        <p:spPr>
          <a:xfrm>
            <a:off x="9692640" y="2011680"/>
            <a:ext cx="1947672" cy="2331720"/>
          </a:xfrm>
          <a:prstGeom prst="roundRect">
            <a:avLst>
              <a:gd name="adj" fmla="val 3755"/>
            </a:avLst>
          </a:prstGeom>
          <a:solidFill>
            <a:srgbClr val="E6EBF0"/>
          </a:solidFill>
          <a:ln w="19050">
            <a:solidFill>
              <a:srgbClr val="455A6E"/>
            </a:solidFill>
          </a:ln>
          <a:effectLst/>
        </p:spPr>
        <p:txBody>
          <a:bodyPr rtlCol="0" anchor="ctr" wrap="square" lIns="73152" rIns="73152" tIns="36576" bIns="36576"/>
          <a:lstStyle/>
          <a:p>
            <a:pPr algn="ctr"/>
          </a:p>
        </p:txBody>
      </p:sp>
      <p:sp>
        <p:nvSpPr>
          <p:cNvPr id="63" name="TextBox 62"/>
          <p:cNvSpPr txBox="1"/>
          <p:nvPr/>
        </p:nvSpPr>
        <p:spPr>
          <a:xfrm>
            <a:off x="9802368" y="2066543"/>
            <a:ext cx="1737360" cy="274320"/>
          </a:xfrm>
          <a:prstGeom prst="rect">
            <a:avLst/>
          </a:prstGeom>
          <a:noFill/>
        </p:spPr>
        <p:txBody>
          <a:bodyPr wrap="square" lIns="0" rIns="0" tIns="0" bIns="0" anchor="t">
            <a:spAutoFit/>
          </a:bodyPr>
          <a:lstStyle/>
          <a:p>
            <a:pPr algn="l">
              <a:spcBef>
                <a:spcPts val="0"/>
              </a:spcBef>
              <a:spcAft>
                <a:spcPts val="0"/>
              </a:spcAft>
            </a:pPr>
            <a:r>
              <a:rPr sz="1500" b="1" i="0">
                <a:solidFill>
                  <a:srgbClr val="455A6E"/>
                </a:solidFill>
                <a:latin typeface="Calibri"/>
              </a:rPr>
              <a:t>Verifier</a:t>
            </a:r>
          </a:p>
        </p:txBody>
      </p:sp>
      <p:sp>
        <p:nvSpPr>
          <p:cNvPr id="64" name="TextBox 63"/>
          <p:cNvSpPr txBox="1"/>
          <p:nvPr/>
        </p:nvSpPr>
        <p:spPr>
          <a:xfrm>
            <a:off x="9802368" y="2395728"/>
            <a:ext cx="1783080" cy="1280160"/>
          </a:xfrm>
          <a:prstGeom prst="rect">
            <a:avLst/>
          </a:prstGeom>
          <a:noFill/>
        </p:spPr>
        <p:txBody>
          <a:bodyPr wrap="square" lIns="0" rIns="0" tIns="0" bIns="0" anchor="t">
            <a:spAutoFit/>
          </a:bodyPr>
          <a:lstStyle/>
          <a:p>
            <a:pPr algn="l">
              <a:spcBef>
                <a:spcPts val="0"/>
              </a:spcBef>
              <a:spcAft>
                <a:spcPts val="0"/>
              </a:spcAft>
            </a:pPr>
            <a:r>
              <a:rPr sz="1200" b="0" i="0">
                <a:solidFill>
                  <a:srgbClr val="5B6675"/>
                </a:solidFill>
                <a:latin typeface="Calibri"/>
              </a:rPr>
              <a:t>checks</a:t>
            </a:r>
          </a:p>
          <a:p>
            <a:pPr algn="l">
              <a:spcBef>
                <a:spcPts val="0"/>
              </a:spcBef>
              <a:spcAft>
                <a:spcPts val="0"/>
              </a:spcAft>
            </a:pPr>
            <a:r>
              <a:rPr sz="1250" b="0" i="1">
                <a:solidFill>
                  <a:srgbClr val="14202E"/>
                </a:solidFill>
                <a:latin typeface="Cambria"/>
              </a:rPr>
              <a:t>z</a:t>
            </a:r>
            <a:r>
              <a:rPr sz="1250" b="0" i="0">
                <a:solidFill>
                  <a:srgbClr val="14202E"/>
                </a:solidFill>
                <a:latin typeface="Cambria"/>
              </a:rPr>
              <a:t>′</a:t>
            </a:r>
            <a:r>
              <a:rPr sz="1250" b="0" i="1" baseline="-25000">
                <a:solidFill>
                  <a:srgbClr val="14202E"/>
                </a:solidFill>
                <a:latin typeface="Cambria"/>
              </a:rPr>
              <a:t>i</a:t>
            </a:r>
            <a:r>
              <a:rPr sz="1250" b="0" i="1">
                <a:solidFill>
                  <a:srgbClr val="14202E"/>
                </a:solidFill>
                <a:latin typeface="Cambria"/>
              </a:rPr>
              <a:t>P</a:t>
            </a:r>
            <a:r>
              <a:rPr sz="1250" b="0" i="0">
                <a:solidFill>
                  <a:srgbClr val="14202E"/>
                </a:solidFill>
                <a:latin typeface="Cambria"/>
              </a:rPr>
              <a:t> = </a:t>
            </a:r>
            <a:r>
              <a:rPr sz="1250" b="0" i="1">
                <a:solidFill>
                  <a:srgbClr val="14202E"/>
                </a:solidFill>
                <a:latin typeface="Cambria"/>
              </a:rPr>
              <a:t>R</a:t>
            </a:r>
            <a:r>
              <a:rPr sz="1250" b="0" i="0">
                <a:solidFill>
                  <a:srgbClr val="14202E"/>
                </a:solidFill>
                <a:latin typeface="Cambria"/>
              </a:rPr>
              <a:t>′</a:t>
            </a:r>
            <a:r>
              <a:rPr sz="1250" b="0" i="1" baseline="-25000">
                <a:solidFill>
                  <a:srgbClr val="14202E"/>
                </a:solidFill>
                <a:latin typeface="Cambria"/>
              </a:rPr>
              <a:t>i</a:t>
            </a:r>
          </a:p>
          <a:p>
            <a:pPr algn="l">
              <a:spcBef>
                <a:spcPts val="0"/>
              </a:spcBef>
              <a:spcAft>
                <a:spcPts val="0"/>
              </a:spcAft>
            </a:pPr>
            <a:r>
              <a:rPr sz="1250" b="0" i="0">
                <a:solidFill>
                  <a:srgbClr val="14202E"/>
                </a:solidFill>
                <a:latin typeface="Cambria"/>
              </a:rPr>
              <a:t>+ </a:t>
            </a:r>
            <a:r>
              <a:rPr sz="1250" b="0" i="1">
                <a:solidFill>
                  <a:srgbClr val="14202E"/>
                </a:solidFill>
                <a:latin typeface="Cambria"/>
              </a:rPr>
              <a:t>H</a:t>
            </a:r>
            <a:r>
              <a:rPr sz="1250" b="0" i="0" baseline="-25000">
                <a:solidFill>
                  <a:srgbClr val="14202E"/>
                </a:solidFill>
                <a:latin typeface="Cambria"/>
              </a:rPr>
              <a:t>0</a:t>
            </a:r>
            <a:r>
              <a:rPr sz="1250" b="0" i="0">
                <a:solidFill>
                  <a:srgbClr val="14202E"/>
                </a:solidFill>
                <a:latin typeface="Cambria"/>
              </a:rPr>
              <a:t>(</a:t>
            </a:r>
            <a:r>
              <a:rPr sz="1250" b="0" i="1">
                <a:solidFill>
                  <a:srgbClr val="14202E"/>
                </a:solidFill>
                <a:latin typeface="Cambria"/>
              </a:rPr>
              <a:t>id</a:t>
            </a:r>
            <a:r>
              <a:rPr sz="1250" b="0" i="1" baseline="-25000">
                <a:solidFill>
                  <a:srgbClr val="14202E"/>
                </a:solidFill>
                <a:latin typeface="Cambria"/>
              </a:rPr>
              <a:t>i</a:t>
            </a:r>
            <a:r>
              <a:rPr sz="1250" b="0" i="0">
                <a:solidFill>
                  <a:srgbClr val="14202E"/>
                </a:solidFill>
                <a:latin typeface="Cambria"/>
              </a:rPr>
              <a:t>‖</a:t>
            </a:r>
            <a:r>
              <a:rPr sz="1250" b="0" i="1">
                <a:solidFill>
                  <a:srgbClr val="14202E"/>
                </a:solidFill>
                <a:latin typeface="Cambria"/>
              </a:rPr>
              <a:t>pk</a:t>
            </a:r>
            <a:r>
              <a:rPr sz="1250" b="0" i="1" baseline="-25000">
                <a:solidFill>
                  <a:srgbClr val="14202E"/>
                </a:solidFill>
                <a:latin typeface="Cambria"/>
              </a:rPr>
              <a:t>i</a:t>
            </a:r>
            <a:r>
              <a:rPr sz="1250" b="0" i="0">
                <a:solidFill>
                  <a:srgbClr val="14202E"/>
                </a:solidFill>
                <a:latin typeface="Cambria"/>
              </a:rPr>
              <a:t>)</a:t>
            </a:r>
            <a:r>
              <a:rPr sz="1250" b="0" i="1">
                <a:solidFill>
                  <a:srgbClr val="14202E"/>
                </a:solidFill>
                <a:latin typeface="Cambria"/>
              </a:rPr>
              <a:t>P</a:t>
            </a:r>
            <a:r>
              <a:rPr sz="1250" b="0" i="1" baseline="30000">
                <a:solidFill>
                  <a:srgbClr val="14202E"/>
                </a:solidFill>
                <a:latin typeface="Cambria"/>
              </a:rPr>
              <a:t>k</a:t>
            </a:r>
            <a:r>
              <a:rPr sz="1250" b="0" i="1" baseline="-25000">
                <a:solidFill>
                  <a:srgbClr val="14202E"/>
                </a:solidFill>
                <a:latin typeface="Cambria"/>
              </a:rPr>
              <a:t>TA</a:t>
            </a:r>
          </a:p>
          <a:p>
            <a:pPr algn="l">
              <a:spcBef>
                <a:spcPts val="0"/>
              </a:spcBef>
              <a:spcAft>
                <a:spcPts val="0"/>
              </a:spcAft>
            </a:pPr>
            <a:r>
              <a:rPr sz="1250" b="0" i="0">
                <a:solidFill>
                  <a:srgbClr val="14202E"/>
                </a:solidFill>
                <a:latin typeface="Cambria"/>
              </a:rPr>
              <a:t>+ </a:t>
            </a:r>
            <a:r>
              <a:rPr sz="1250" b="0" i="1">
                <a:solidFill>
                  <a:srgbClr val="14202E"/>
                </a:solidFill>
                <a:latin typeface="Cambria"/>
              </a:rPr>
              <a:t>v</a:t>
            </a:r>
            <a:r>
              <a:rPr sz="1250" b="0" i="0">
                <a:solidFill>
                  <a:srgbClr val="14202E"/>
                </a:solidFill>
                <a:latin typeface="Cambria"/>
              </a:rPr>
              <a:t>′</a:t>
            </a:r>
            <a:r>
              <a:rPr sz="1250" b="0" i="1" baseline="-25000">
                <a:solidFill>
                  <a:srgbClr val="14202E"/>
                </a:solidFill>
                <a:latin typeface="Cambria"/>
              </a:rPr>
              <a:t>i</a:t>
            </a:r>
            <a:r>
              <a:rPr sz="1250" b="0" i="1">
                <a:solidFill>
                  <a:srgbClr val="14202E"/>
                </a:solidFill>
                <a:latin typeface="Cambria"/>
              </a:rPr>
              <a:t>pk</a:t>
            </a:r>
            <a:r>
              <a:rPr sz="1250" b="0" i="1" baseline="-25000">
                <a:solidFill>
                  <a:srgbClr val="14202E"/>
                </a:solidFill>
                <a:latin typeface="Cambria"/>
              </a:rPr>
              <a:t>i</a:t>
            </a:r>
          </a:p>
        </p:txBody>
      </p:sp>
      <p:sp>
        <p:nvSpPr>
          <p:cNvPr id="65" name="TextBox 64"/>
          <p:cNvSpPr txBox="1"/>
          <p:nvPr/>
        </p:nvSpPr>
        <p:spPr>
          <a:xfrm>
            <a:off x="9802368" y="3520440"/>
            <a:ext cx="1783080" cy="365760"/>
          </a:xfrm>
          <a:prstGeom prst="rect">
            <a:avLst/>
          </a:prstGeom>
          <a:noFill/>
        </p:spPr>
        <p:txBody>
          <a:bodyPr wrap="square" lIns="0" rIns="0" tIns="0" bIns="0" anchor="t">
            <a:spAutoFit/>
          </a:bodyPr>
          <a:lstStyle/>
          <a:p>
            <a:pPr algn="l">
              <a:spcBef>
                <a:spcPts val="0"/>
              </a:spcBef>
              <a:spcAft>
                <a:spcPts val="0"/>
              </a:spcAft>
            </a:pPr>
            <a:r>
              <a:rPr sz="2100" b="1" i="0">
                <a:solidFill>
                  <a:srgbClr val="B3261E"/>
                </a:solidFill>
                <a:latin typeface="Calibri"/>
              </a:rPr>
              <a:t>ACCEPTED</a:t>
            </a:r>
          </a:p>
        </p:txBody>
      </p:sp>
      <p:sp>
        <p:nvSpPr>
          <p:cNvPr id="66" name="TextBox 65"/>
          <p:cNvSpPr txBox="1"/>
          <p:nvPr/>
        </p:nvSpPr>
        <p:spPr>
          <a:xfrm>
            <a:off x="9802368" y="3858768"/>
            <a:ext cx="1783080" cy="457200"/>
          </a:xfrm>
          <a:prstGeom prst="rect">
            <a:avLst/>
          </a:prstGeom>
          <a:noFill/>
        </p:spPr>
        <p:txBody>
          <a:bodyPr wrap="square" lIns="0" rIns="0" tIns="0" bIns="0" anchor="t">
            <a:spAutoFit/>
          </a:bodyPr>
          <a:lstStyle/>
          <a:p>
            <a:pPr algn="l">
              <a:spcBef>
                <a:spcPts val="0"/>
              </a:spcBef>
              <a:spcAft>
                <a:spcPts val="0"/>
              </a:spcAft>
            </a:pPr>
            <a:r>
              <a:rPr sz="1150" b="0" i="0">
                <a:solidFill>
                  <a:srgbClr val="B3261E"/>
                </a:solidFill>
                <a:latin typeface="Calibri"/>
              </a:rPr>
              <a:t>also inside an aggregate</a:t>
            </a:r>
          </a:p>
        </p:txBody>
      </p:sp>
      <p:sp>
        <p:nvSpPr>
          <p:cNvPr id="67" name="Rounded Rectangle 66"/>
          <p:cNvSpPr/>
          <p:nvPr/>
        </p:nvSpPr>
        <p:spPr>
          <a:xfrm>
            <a:off x="548640" y="5760720"/>
            <a:ext cx="11091672" cy="566928"/>
          </a:xfrm>
          <a:prstGeom prst="roundRect">
            <a:avLst>
              <a:gd name="adj" fmla="val 12903"/>
            </a:avLst>
          </a:prstGeom>
          <a:solidFill>
            <a:srgbClr val="FCE9E7"/>
          </a:solidFill>
          <a:ln w="22225">
            <a:solidFill>
              <a:srgbClr val="B3261E"/>
            </a:solidFill>
          </a:ln>
          <a:effectLst/>
        </p:spPr>
        <p:txBody>
          <a:bodyPr rtlCol="0" anchor="ctr" wrap="square" lIns="73152" rIns="73152" tIns="36576" bIns="36576"/>
          <a:lstStyle/>
          <a:p>
            <a:pPr algn="ctr"/>
          </a:p>
        </p:txBody>
      </p:sp>
      <p:sp>
        <p:nvSpPr>
          <p:cNvPr id="68" name="TextBox 67"/>
          <p:cNvSpPr txBox="1"/>
          <p:nvPr/>
        </p:nvSpPr>
        <p:spPr>
          <a:xfrm>
            <a:off x="731520" y="5760720"/>
            <a:ext cx="10789920" cy="566928"/>
          </a:xfrm>
          <a:prstGeom prst="rect">
            <a:avLst/>
          </a:prstGeom>
          <a:noFill/>
        </p:spPr>
        <p:txBody>
          <a:bodyPr wrap="square" lIns="0" rIns="0" tIns="0" bIns="0" anchor="ctr">
            <a:spAutoFit/>
          </a:bodyPr>
          <a:lstStyle/>
          <a:p>
            <a:pPr algn="l">
              <a:spcBef>
                <a:spcPts val="0"/>
              </a:spcBef>
              <a:spcAft>
                <a:spcPts val="0"/>
              </a:spcAft>
            </a:pPr>
            <a:r>
              <a:rPr sz="1900" b="1" i="0">
                <a:solidFill>
                  <a:srgbClr val="B3261E"/>
                </a:solidFill>
                <a:latin typeface="Calibri"/>
              </a:rPr>
              <a:t>The attacker never learns </a:t>
            </a:r>
            <a:r>
              <a:rPr sz="1900" b="1" i="1">
                <a:solidFill>
                  <a:srgbClr val="B3261E"/>
                </a:solidFill>
                <a:latin typeface="Cambria"/>
              </a:rPr>
              <a:t>r</a:t>
            </a:r>
            <a:r>
              <a:rPr sz="1900" b="1" i="0" baseline="-25000">
                <a:solidFill>
                  <a:srgbClr val="B3261E"/>
                </a:solidFill>
                <a:latin typeface="Cambria"/>
              </a:rPr>
              <a:t>2</a:t>
            </a:r>
            <a:r>
              <a:rPr sz="1900" b="1" i="1" baseline="-25000">
                <a:solidFill>
                  <a:srgbClr val="B3261E"/>
                </a:solidFill>
                <a:latin typeface="Cambria"/>
              </a:rPr>
              <a:t>i</a:t>
            </a:r>
            <a:r>
              <a:rPr sz="1900" b="1" i="0">
                <a:solidFill>
                  <a:srgbClr val="B3261E"/>
                </a:solidFill>
                <a:latin typeface="Calibri"/>
              </a:rPr>
              <a:t> or </a:t>
            </a:r>
            <a:r>
              <a:rPr sz="1900" b="1" i="1">
                <a:solidFill>
                  <a:srgbClr val="B3261E"/>
                </a:solidFill>
                <a:latin typeface="Cambria"/>
              </a:rPr>
              <a:t>sk</a:t>
            </a:r>
            <a:r>
              <a:rPr sz="1900" b="1" i="1" baseline="-25000">
                <a:solidFill>
                  <a:srgbClr val="B3261E"/>
                </a:solidFill>
                <a:latin typeface="Cambria"/>
              </a:rPr>
              <a:t>i</a:t>
            </a:r>
            <a:r>
              <a:rPr sz="1900" b="1" i="0">
                <a:solidFill>
                  <a:srgbClr val="B3261E"/>
                </a:solidFill>
                <a:latin typeface="Calibri"/>
              </a:rPr>
              <a:t>: it rescales the sealed combination.</a:t>
            </a:r>
          </a:p>
        </p:txBody>
      </p:sp>
      <p:sp>
        <p:nvSpPr>
          <p:cNvPr id="69" name="PresenterCue"/>
          <p:cNvSpPr/>
          <p:nvPr/>
        </p:nvSpPr>
        <p:spPr>
          <a:xfrm>
            <a:off x="8503920" y="1060704"/>
            <a:ext cx="3136392" cy="457200"/>
          </a:xfrm>
          <a:prstGeom prst="roundRect">
            <a:avLst>
              <a:gd name="adj" fmla="val 10000"/>
            </a:avLst>
          </a:prstGeom>
          <a:solidFill>
            <a:srgbClr val="FFF3B0"/>
          </a:solidFill>
          <a:ln w="12700">
            <a:solidFill>
              <a:srgbClr val="D9B93A"/>
            </a:solidFill>
          </a:ln>
          <a:effectLst/>
        </p:spPr>
        <p:txBody>
          <a:bodyPr rtlCol="0" anchor="ctr" wrap="square" tIns="36576" bIns="36576"/>
          <a:lstStyle/>
          <a:p>
            <a:pPr algn="l">
              <a:lnSpc>
                <a:spcPct val="92000"/>
              </a:lnSpc>
              <a:spcBef>
                <a:spcPts val="0"/>
              </a:spcBef>
              <a:spcAft>
                <a:spcPts val="0"/>
              </a:spcAft>
            </a:pPr>
            <a:r>
              <a:rPr sz="850" b="1" i="0">
                <a:solidFill>
                  <a:srgbClr val="8A6D00"/>
                </a:solidFill>
                <a:latin typeface="Calibri"/>
              </a:rPr>
              <a:t>PRESENTER CUE</a:t>
            </a:r>
          </a:p>
          <a:p>
            <a:pPr algn="l">
              <a:lnSpc>
                <a:spcPct val="92000"/>
              </a:lnSpc>
              <a:spcBef>
                <a:spcPts val="0"/>
              </a:spcBef>
              <a:spcAft>
                <a:spcPts val="0"/>
              </a:spcAft>
            </a:pPr>
            <a:r>
              <a:rPr sz="1250" b="0" i="0">
                <a:solidFill>
                  <a:srgbClr val="4A3B00"/>
                </a:solidFill>
                <a:latin typeface="Calibri"/>
              </a:rPr>
              <a:t>Say it: it never learns </a:t>
            </a:r>
            <a:r>
              <a:rPr sz="1250" b="0" i="1">
                <a:solidFill>
                  <a:srgbClr val="4A3B00"/>
                </a:solidFill>
                <a:latin typeface="Cambria"/>
              </a:rPr>
              <a:t>r</a:t>
            </a:r>
            <a:r>
              <a:rPr sz="1250" b="0" i="0" baseline="-25000">
                <a:solidFill>
                  <a:srgbClr val="4A3B00"/>
                </a:solidFill>
                <a:latin typeface="Cambria"/>
              </a:rPr>
              <a:t>2</a:t>
            </a:r>
            <a:r>
              <a:rPr sz="1250" b="0" i="1" baseline="-25000">
                <a:solidFill>
                  <a:srgbClr val="4A3B00"/>
                </a:solidFill>
                <a:latin typeface="Cambria"/>
              </a:rPr>
              <a:t>i</a:t>
            </a:r>
            <a:r>
              <a:rPr sz="1250" b="0" i="0">
                <a:solidFill>
                  <a:srgbClr val="4A3B00"/>
                </a:solidFill>
                <a:latin typeface="Calibri"/>
              </a:rPr>
              <a:t> or </a:t>
            </a:r>
            <a:r>
              <a:rPr sz="1250" b="0" i="1">
                <a:solidFill>
                  <a:srgbClr val="4A3B00"/>
                </a:solidFill>
                <a:latin typeface="Cambria"/>
              </a:rPr>
              <a:t>sk</a:t>
            </a:r>
            <a:r>
              <a:rPr sz="1250" b="0" i="1" baseline="-25000">
                <a:solidFill>
                  <a:srgbClr val="4A3B00"/>
                </a:solidFill>
                <a:latin typeface="Cambria"/>
              </a:rPr>
              <a:t>i</a:t>
            </a:r>
            <a:r>
              <a:rPr sz="1250" b="0" i="0">
                <a:solidFill>
                  <a:srgbClr val="4A3B00"/>
                </a:solidFill>
                <a:latin typeface="Calibri"/>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III · REPRODUCTION · DEMO 1</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Demo 1: we run the attack on Verma et al.</a:t>
            </a:r>
          </a:p>
        </p:txBody>
      </p:sp>
      <p:sp>
        <p:nvSpPr>
          <p:cNvPr id="4" name="Rounded Rectangle 3"/>
          <p:cNvSpPr/>
          <p:nvPr/>
        </p:nvSpPr>
        <p:spPr>
          <a:xfrm>
            <a:off x="10652760" y="274320"/>
            <a:ext cx="987551" cy="246888"/>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EXPERIMENT</a:t>
            </a:r>
          </a:p>
        </p:txBody>
      </p:sp>
      <p:sp>
        <p:nvSpPr>
          <p:cNvPr id="5" name="Rounded Rectangle 4"/>
          <p:cNvSpPr/>
          <p:nvPr/>
        </p:nvSpPr>
        <p:spPr>
          <a:xfrm>
            <a:off x="9592056" y="274320"/>
            <a:ext cx="987551" cy="246888"/>
          </a:xfrm>
          <a:prstGeom prst="roundRect">
            <a:avLst>
              <a:gd name="adj" fmla="val 50000"/>
            </a:avLst>
          </a:prstGeom>
          <a:solidFill>
            <a:srgbClr val="0E7C86"/>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REPRODUCED</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16 / 32</a:t>
            </a:r>
          </a:p>
        </p:txBody>
      </p:sp>
      <p:sp>
        <p:nvSpPr>
          <p:cNvPr id="9" name="Rounded Rectangle 8"/>
          <p:cNvSpPr/>
          <p:nvPr/>
        </p:nvSpPr>
        <p:spPr>
          <a:xfrm>
            <a:off x="548640" y="1645920"/>
            <a:ext cx="4754880" cy="640080"/>
          </a:xfrm>
          <a:prstGeom prst="roundRect">
            <a:avLst>
              <a:gd name="adj" fmla="val 11428"/>
            </a:avLst>
          </a:prstGeom>
          <a:solidFill>
            <a:srgbClr val="101923"/>
          </a:solidFill>
          <a:ln>
            <a:noFill/>
          </a:ln>
          <a:effectLst/>
        </p:spPr>
        <p:txBody>
          <a:bodyPr rtlCol="0" anchor="ctr" wrap="square" lIns="73152" rIns="73152" tIns="36576" bIns="36576"/>
          <a:lstStyle/>
          <a:p>
            <a:pPr algn="ctr"/>
          </a:p>
        </p:txBody>
      </p:sp>
      <p:sp>
        <p:nvSpPr>
          <p:cNvPr id="10" name="TextBox 9"/>
          <p:cNvSpPr txBox="1"/>
          <p:nvPr/>
        </p:nvSpPr>
        <p:spPr>
          <a:xfrm>
            <a:off x="777240" y="1645920"/>
            <a:ext cx="4389120" cy="640080"/>
          </a:xfrm>
          <a:prstGeom prst="rect">
            <a:avLst/>
          </a:prstGeom>
          <a:noFill/>
        </p:spPr>
        <p:txBody>
          <a:bodyPr wrap="square" lIns="0" rIns="0" tIns="0" bIns="0" anchor="ctr">
            <a:spAutoFit/>
          </a:bodyPr>
          <a:lstStyle/>
          <a:p>
            <a:pPr algn="l">
              <a:spcBef>
                <a:spcPts val="0"/>
              </a:spcBef>
              <a:spcAft>
                <a:spcPts val="0"/>
              </a:spcAft>
            </a:pPr>
            <a:r>
              <a:rPr sz="2200" b="0" i="0">
                <a:solidFill>
                  <a:srgbClr val="8FA1B3"/>
                </a:solidFill>
                <a:latin typeface="Courier New"/>
              </a:rPr>
              <a:t>$</a:t>
            </a:r>
            <a:r>
              <a:rPr sz="2200" b="0" i="0">
                <a:solidFill>
                  <a:srgbClr val="DDE5EE"/>
                </a:solidFill>
                <a:latin typeface="Courier New"/>
              </a:rPr>
              <a:t> </a:t>
            </a:r>
            <a:r>
              <a:rPr sz="2200" b="0" i="0">
                <a:solidFill>
                  <a:srgbClr val="DDE5EE"/>
                </a:solidFill>
                <a:latin typeface="Courier New"/>
              </a:rPr>
              <a:t>make attack</a:t>
            </a:r>
          </a:p>
        </p:txBody>
      </p:sp>
      <p:sp>
        <p:nvSpPr>
          <p:cNvPr id="11" name="TextBox 10"/>
          <p:cNvSpPr txBox="1"/>
          <p:nvPr/>
        </p:nvSpPr>
        <p:spPr>
          <a:xfrm>
            <a:off x="548640" y="2514600"/>
            <a:ext cx="475488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WHAT TO POINT AT</a:t>
            </a:r>
          </a:p>
        </p:txBody>
      </p:sp>
      <p:sp>
        <p:nvSpPr>
          <p:cNvPr id="12" name="Rounded Rectangle 11"/>
          <p:cNvSpPr/>
          <p:nvPr/>
        </p:nvSpPr>
        <p:spPr>
          <a:xfrm>
            <a:off x="548640" y="2898648"/>
            <a:ext cx="384048" cy="384048"/>
          </a:xfrm>
          <a:prstGeom prst="roundRect">
            <a:avLst>
              <a:gd name="adj" fmla="val 50000"/>
            </a:avLst>
          </a:prstGeom>
          <a:solidFill>
            <a:srgbClr val="14202E"/>
          </a:solidFill>
          <a:ln>
            <a:noFill/>
          </a:ln>
          <a:effectLst/>
        </p:spPr>
        <p:txBody>
          <a:bodyPr rtlCol="0" anchor="ctr" wrap="square" lIns="36576" rIns="36576" tIns="36576" bIns="36576"/>
          <a:lstStyle/>
          <a:p>
            <a:pPr algn="ctr">
              <a:spcBef>
                <a:spcPts val="0"/>
              </a:spcBef>
              <a:spcAft>
                <a:spcPts val="0"/>
              </a:spcAft>
            </a:pPr>
            <a:r>
              <a:rPr sz="1500" b="1" i="0">
                <a:solidFill>
                  <a:srgbClr val="FFFFFF"/>
                </a:solidFill>
                <a:latin typeface="Calibri"/>
              </a:rPr>
              <a:t>1</a:t>
            </a:r>
          </a:p>
        </p:txBody>
      </p:sp>
      <p:sp>
        <p:nvSpPr>
          <p:cNvPr id="13" name="TextBox 12"/>
          <p:cNvSpPr txBox="1"/>
          <p:nvPr/>
        </p:nvSpPr>
        <p:spPr>
          <a:xfrm>
            <a:off x="1097280" y="2788920"/>
            <a:ext cx="4206240" cy="621792"/>
          </a:xfrm>
          <a:prstGeom prst="rect">
            <a:avLst/>
          </a:prstGeom>
          <a:noFill/>
        </p:spPr>
        <p:txBody>
          <a:bodyPr wrap="square" lIns="0" rIns="0" tIns="0" bIns="0" anchor="ctr">
            <a:spAutoFit/>
          </a:bodyPr>
          <a:lstStyle/>
          <a:p>
            <a:pPr algn="l">
              <a:lnSpc>
                <a:spcPct val="95000"/>
              </a:lnSpc>
              <a:spcBef>
                <a:spcPts val="0"/>
              </a:spcBef>
              <a:spcAft>
                <a:spcPts val="0"/>
              </a:spcAft>
            </a:pPr>
            <a:r>
              <a:rPr sz="1700" b="0" i="0">
                <a:solidFill>
                  <a:srgbClr val="14202E"/>
                </a:solidFill>
                <a:latin typeface="Calibri"/>
              </a:rPr>
              <a:t>The honest signature verifies.</a:t>
            </a:r>
          </a:p>
        </p:txBody>
      </p:sp>
      <p:sp>
        <p:nvSpPr>
          <p:cNvPr id="14" name="Rounded Rectangle 13"/>
          <p:cNvSpPr/>
          <p:nvPr/>
        </p:nvSpPr>
        <p:spPr>
          <a:xfrm>
            <a:off x="548640" y="3593591"/>
            <a:ext cx="384048" cy="384048"/>
          </a:xfrm>
          <a:prstGeom prst="roundRect">
            <a:avLst>
              <a:gd name="adj" fmla="val 50000"/>
            </a:avLst>
          </a:prstGeom>
          <a:solidFill>
            <a:srgbClr val="14202E"/>
          </a:solidFill>
          <a:ln>
            <a:noFill/>
          </a:ln>
          <a:effectLst/>
        </p:spPr>
        <p:txBody>
          <a:bodyPr rtlCol="0" anchor="ctr" wrap="square" lIns="36576" rIns="36576" tIns="36576" bIns="36576"/>
          <a:lstStyle/>
          <a:p>
            <a:pPr algn="ctr">
              <a:spcBef>
                <a:spcPts val="0"/>
              </a:spcBef>
              <a:spcAft>
                <a:spcPts val="0"/>
              </a:spcAft>
            </a:pPr>
            <a:r>
              <a:rPr sz="1500" b="1" i="0">
                <a:solidFill>
                  <a:srgbClr val="FFFFFF"/>
                </a:solidFill>
                <a:latin typeface="Calibri"/>
              </a:rPr>
              <a:t>2</a:t>
            </a:r>
          </a:p>
        </p:txBody>
      </p:sp>
      <p:sp>
        <p:nvSpPr>
          <p:cNvPr id="15" name="TextBox 14"/>
          <p:cNvSpPr txBox="1"/>
          <p:nvPr/>
        </p:nvSpPr>
        <p:spPr>
          <a:xfrm>
            <a:off x="1097280" y="3483863"/>
            <a:ext cx="4206240" cy="621792"/>
          </a:xfrm>
          <a:prstGeom prst="rect">
            <a:avLst/>
          </a:prstGeom>
          <a:noFill/>
        </p:spPr>
        <p:txBody>
          <a:bodyPr wrap="square" lIns="0" rIns="0" tIns="0" bIns="0" anchor="ctr">
            <a:spAutoFit/>
          </a:bodyPr>
          <a:lstStyle/>
          <a:p>
            <a:pPr algn="l">
              <a:lnSpc>
                <a:spcPct val="95000"/>
              </a:lnSpc>
              <a:spcBef>
                <a:spcPts val="0"/>
              </a:spcBef>
              <a:spcAft>
                <a:spcPts val="0"/>
              </a:spcAft>
            </a:pPr>
            <a:r>
              <a:rPr sz="1700" b="0" i="0">
                <a:solidFill>
                  <a:srgbClr val="14202E"/>
                </a:solidFill>
                <a:latin typeface="Calibri"/>
              </a:rPr>
              <a:t>The attacker is the KGC; it does not know </a:t>
            </a:r>
            <a:r>
              <a:rPr sz="1700" b="0" i="1">
                <a:solidFill>
                  <a:srgbClr val="14202E"/>
                </a:solidFill>
                <a:latin typeface="Cambria"/>
              </a:rPr>
              <a:t>sk</a:t>
            </a:r>
            <a:r>
              <a:rPr sz="1700" b="0" i="1" baseline="-25000">
                <a:solidFill>
                  <a:srgbClr val="14202E"/>
                </a:solidFill>
                <a:latin typeface="Cambria"/>
              </a:rPr>
              <a:t>i</a:t>
            </a:r>
            <a:r>
              <a:rPr sz="1700" b="0" i="0">
                <a:solidFill>
                  <a:srgbClr val="14202E"/>
                </a:solidFill>
                <a:latin typeface="Calibri"/>
              </a:rPr>
              <a:t>.</a:t>
            </a:r>
          </a:p>
        </p:txBody>
      </p:sp>
      <p:sp>
        <p:nvSpPr>
          <p:cNvPr id="16" name="Rounded Rectangle 15"/>
          <p:cNvSpPr/>
          <p:nvPr/>
        </p:nvSpPr>
        <p:spPr>
          <a:xfrm>
            <a:off x="548640" y="4288536"/>
            <a:ext cx="384048" cy="384048"/>
          </a:xfrm>
          <a:prstGeom prst="roundRect">
            <a:avLst>
              <a:gd name="adj" fmla="val 50000"/>
            </a:avLst>
          </a:prstGeom>
          <a:solidFill>
            <a:srgbClr val="14202E"/>
          </a:solidFill>
          <a:ln>
            <a:noFill/>
          </a:ln>
          <a:effectLst/>
        </p:spPr>
        <p:txBody>
          <a:bodyPr rtlCol="0" anchor="ctr" wrap="square" lIns="36576" rIns="36576" tIns="36576" bIns="36576"/>
          <a:lstStyle/>
          <a:p>
            <a:pPr algn="ctr">
              <a:spcBef>
                <a:spcPts val="0"/>
              </a:spcBef>
              <a:spcAft>
                <a:spcPts val="0"/>
              </a:spcAft>
            </a:pPr>
            <a:r>
              <a:rPr sz="1500" b="1" i="0">
                <a:solidFill>
                  <a:srgbClr val="FFFFFF"/>
                </a:solidFill>
                <a:latin typeface="Calibri"/>
              </a:rPr>
              <a:t>3</a:t>
            </a:r>
          </a:p>
        </p:txBody>
      </p:sp>
      <p:sp>
        <p:nvSpPr>
          <p:cNvPr id="17" name="TextBox 16"/>
          <p:cNvSpPr txBox="1"/>
          <p:nvPr/>
        </p:nvSpPr>
        <p:spPr>
          <a:xfrm>
            <a:off x="1097280" y="4178808"/>
            <a:ext cx="4206240" cy="621792"/>
          </a:xfrm>
          <a:prstGeom prst="rect">
            <a:avLst/>
          </a:prstGeom>
          <a:noFill/>
        </p:spPr>
        <p:txBody>
          <a:bodyPr wrap="square" lIns="0" rIns="0" tIns="0" bIns="0" anchor="ctr">
            <a:spAutoFit/>
          </a:bodyPr>
          <a:lstStyle/>
          <a:p>
            <a:pPr algn="l">
              <a:lnSpc>
                <a:spcPct val="95000"/>
              </a:lnSpc>
              <a:spcBef>
                <a:spcPts val="0"/>
              </a:spcBef>
              <a:spcAft>
                <a:spcPts val="0"/>
              </a:spcAft>
            </a:pPr>
            <a:r>
              <a:rPr sz="1700" b="0" i="0">
                <a:solidFill>
                  <a:srgbClr val="14202E"/>
                </a:solidFill>
                <a:latin typeface="Calibri"/>
              </a:rPr>
              <a:t>The forged signature verifies, even inside an aggregate.</a:t>
            </a:r>
          </a:p>
        </p:txBody>
      </p:sp>
      <p:sp>
        <p:nvSpPr>
          <p:cNvPr id="18" name="Rounded Rectangle 17"/>
          <p:cNvSpPr/>
          <p:nvPr/>
        </p:nvSpPr>
        <p:spPr>
          <a:xfrm>
            <a:off x="5532120" y="1645920"/>
            <a:ext cx="6108192" cy="3200400"/>
          </a:xfrm>
          <a:prstGeom prst="roundRect">
            <a:avLst>
              <a:gd name="adj" fmla="val 2857"/>
            </a:avLst>
          </a:prstGeom>
          <a:solidFill>
            <a:srgbClr val="101923"/>
          </a:solidFill>
          <a:ln w="12700">
            <a:solidFill>
              <a:srgbClr val="2B3A4A"/>
            </a:solidFill>
          </a:ln>
          <a:effectLst/>
        </p:spPr>
        <p:txBody>
          <a:bodyPr rtlCol="0" anchor="ctr" wrap="square" lIns="73152" rIns="73152" tIns="36576" bIns="36576"/>
          <a:lstStyle/>
          <a:p>
            <a:pPr algn="ctr"/>
          </a:p>
        </p:txBody>
      </p:sp>
      <p:sp>
        <p:nvSpPr>
          <p:cNvPr id="19" name="TextBox 18"/>
          <p:cNvSpPr txBox="1"/>
          <p:nvPr/>
        </p:nvSpPr>
        <p:spPr>
          <a:xfrm>
            <a:off x="5715000" y="1773936"/>
            <a:ext cx="5742431" cy="274320"/>
          </a:xfrm>
          <a:prstGeom prst="rect">
            <a:avLst/>
          </a:prstGeom>
          <a:noFill/>
        </p:spPr>
        <p:txBody>
          <a:bodyPr wrap="square" lIns="0" rIns="0" tIns="0" bIns="0" anchor="t">
            <a:spAutoFit/>
          </a:bodyPr>
          <a:lstStyle/>
          <a:p>
            <a:pPr algn="l">
              <a:spcBef>
                <a:spcPts val="0"/>
              </a:spcBef>
              <a:spcAft>
                <a:spcPts val="0"/>
              </a:spcAft>
            </a:pPr>
            <a:r>
              <a:rPr sz="1200" b="0" i="0">
                <a:solidFill>
                  <a:srgbClr val="8FA1B3"/>
                </a:solidFill>
                <a:latin typeface="Courier New"/>
              </a:rPr>
              <a:t>$ make attack</a:t>
            </a:r>
          </a:p>
        </p:txBody>
      </p:sp>
      <p:sp>
        <p:nvSpPr>
          <p:cNvPr id="20" name="TextBox 19"/>
          <p:cNvSpPr txBox="1"/>
          <p:nvPr/>
        </p:nvSpPr>
        <p:spPr>
          <a:xfrm>
            <a:off x="5715000" y="2084831"/>
            <a:ext cx="5742431" cy="2670048"/>
          </a:xfrm>
          <a:prstGeom prst="rect">
            <a:avLst/>
          </a:prstGeom>
          <a:noFill/>
        </p:spPr>
        <p:txBody>
          <a:bodyPr wrap="square" lIns="0" rIns="0" tIns="0" bIns="0" anchor="t">
            <a:spAutoFit/>
          </a:bodyPr>
          <a:lstStyle/>
          <a:p>
            <a:pPr algn="l">
              <a:spcBef>
                <a:spcPts val="0"/>
              </a:spcBef>
              <a:spcAft>
                <a:spcPts val="200"/>
              </a:spcAft>
            </a:pPr>
            <a:r>
              <a:rPr sz="1300" b="0" i="0">
                <a:solidFill>
                  <a:srgbClr val="8FA1B3"/>
                </a:solidFill>
                <a:latin typeface="Courier New"/>
              </a:rPr>
              <a:t>TARGET 1  Verma et al., CB-CAS (IEEE IoT-J 2020)</a:t>
            </a:r>
          </a:p>
          <a:p>
            <a:pPr algn="l">
              <a:spcBef>
                <a:spcPts val="0"/>
              </a:spcBef>
              <a:spcAft>
                <a:spcPts val="200"/>
              </a:spcAft>
            </a:pPr>
            <a:r>
              <a:rPr sz="1300" b="0" i="0">
                <a:solidFill>
                  <a:srgbClr val="DDE5EE"/>
                </a:solidFill>
                <a:latin typeface="Courier New"/>
              </a:rPr>
              <a:t>  honest message      : temp=21.4C;line=A;seq=17</a:t>
            </a:r>
          </a:p>
          <a:p>
            <a:pPr algn="l">
              <a:spcBef>
                <a:spcPts val="0"/>
              </a:spcBef>
              <a:spcAft>
                <a:spcPts val="200"/>
              </a:spcAft>
            </a:pPr>
            <a:r>
              <a:rPr sz="1300" b="0" i="0">
                <a:solidFill>
                  <a:srgbClr val="DDE5EE"/>
                </a:solidFill>
                <a:latin typeface="Courier New"/>
              </a:rPr>
              <a:t>  honest sig verifies : </a:t>
            </a:r>
            <a:r>
              <a:rPr sz="1300" b="0" i="0">
                <a:solidFill>
                  <a:srgbClr val="7BD88F"/>
                </a:solidFill>
                <a:latin typeface="Courier New"/>
              </a:rPr>
              <a:t>True</a:t>
            </a:r>
          </a:p>
          <a:p>
            <a:pPr algn="l">
              <a:spcBef>
                <a:spcPts val="0"/>
              </a:spcBef>
              <a:spcAft>
                <a:spcPts val="200"/>
              </a:spcAft>
            </a:pPr>
            <a:r>
              <a:rPr sz="1300" b="0" i="0">
                <a:solidFill>
                  <a:srgbClr val="DDE5EE"/>
                </a:solidFill>
                <a:latin typeface="Courier New"/>
              </a:rPr>
              <a:t>  </a:t>
            </a:r>
            <a:r>
              <a:rPr sz="1300" b="0" i="0">
                <a:solidFill>
                  <a:srgbClr val="8FA1B3"/>
                </a:solidFill>
                <a:latin typeface="Courier New"/>
              </a:rPr>
              <a:t>attacker is the KGC: holds the master key and</a:t>
            </a:r>
          </a:p>
          <a:p>
            <a:pPr algn="l">
              <a:spcBef>
                <a:spcPts val="0"/>
              </a:spcBef>
              <a:spcAft>
                <a:spcPts val="200"/>
              </a:spcAft>
            </a:pPr>
            <a:r>
              <a:rPr sz="1300" b="0" i="0">
                <a:solidFill>
                  <a:srgbClr val="DDE5EE"/>
                </a:solidFill>
                <a:latin typeface="Courier New"/>
              </a:rPr>
              <a:t>  </a:t>
            </a:r>
            <a:r>
              <a:rPr sz="1300" b="0" i="0">
                <a:solidFill>
                  <a:srgbClr val="8FA1B3"/>
                </a:solidFill>
                <a:latin typeface="Courier New"/>
              </a:rPr>
              <a:t>the certificate, has seen ONE signature.</a:t>
            </a:r>
          </a:p>
          <a:p>
            <a:pPr algn="l">
              <a:spcBef>
                <a:spcPts val="0"/>
              </a:spcBef>
              <a:spcAft>
                <a:spcPts val="200"/>
              </a:spcAft>
            </a:pPr>
            <a:r>
              <a:rPr sz="1300" b="0" i="0">
                <a:solidFill>
                  <a:srgbClr val="DDE5EE"/>
                </a:solidFill>
                <a:latin typeface="Courier New"/>
              </a:rPr>
              <a:t>  </a:t>
            </a:r>
            <a:r>
              <a:rPr sz="1300" b="0" i="0">
                <a:solidFill>
                  <a:srgbClr val="8FA1B3"/>
                </a:solidFill>
                <a:latin typeface="Courier New"/>
              </a:rPr>
              <a:t>It does NOT know sk_i.</a:t>
            </a:r>
          </a:p>
          <a:p>
            <a:pPr algn="l">
              <a:spcBef>
                <a:spcPts val="0"/>
              </a:spcBef>
              <a:spcAft>
                <a:spcPts val="200"/>
              </a:spcAft>
            </a:pPr>
            <a:r>
              <a:rPr sz="1300" b="0" i="0">
                <a:solidFill>
                  <a:srgbClr val="DDE5EE"/>
                </a:solidFill>
                <a:latin typeface="Courier New"/>
              </a:rPr>
              <a:t>  target message      : temp=-40.0C;line=A;seq=17;SHUTDOWN</a:t>
            </a:r>
          </a:p>
          <a:p>
            <a:pPr algn="l">
              <a:spcBef>
                <a:spcPts val="0"/>
              </a:spcBef>
              <a:spcAft>
                <a:spcPts val="200"/>
              </a:spcAft>
            </a:pPr>
            <a:r>
              <a:rPr sz="1300" b="0" i="0">
                <a:solidFill>
                  <a:srgbClr val="DDE5EE"/>
                </a:solidFill>
                <a:latin typeface="Courier New"/>
              </a:rPr>
              <a:t>  forged sig verifies : </a:t>
            </a:r>
            <a:r>
              <a:rPr sz="1300" b="0" i="0">
                <a:solidFill>
                  <a:srgbClr val="FF8F85"/>
                </a:solidFill>
                <a:latin typeface="Courier New"/>
              </a:rPr>
              <a:t>True    &lt;-- FORGERY SUCCEEDED</a:t>
            </a:r>
          </a:p>
          <a:p>
            <a:pPr algn="l">
              <a:spcBef>
                <a:spcPts val="0"/>
              </a:spcBef>
              <a:spcAft>
                <a:spcPts val="200"/>
              </a:spcAft>
            </a:pPr>
            <a:r>
              <a:rPr sz="1300" b="0" i="0">
                <a:solidFill>
                  <a:srgbClr val="DDE5EE"/>
                </a:solidFill>
                <a:latin typeface="Courier New"/>
              </a:rPr>
              <a:t>  forgery survives aggregation : </a:t>
            </a:r>
            <a:r>
              <a:rPr sz="1300" b="0" i="0">
                <a:solidFill>
                  <a:srgbClr val="FF8F85"/>
                </a:solidFill>
                <a:latin typeface="Courier New"/>
              </a:rPr>
              <a:t>True</a:t>
            </a:r>
          </a:p>
        </p:txBody>
      </p:sp>
      <p:sp>
        <p:nvSpPr>
          <p:cNvPr id="21" name="Rounded Rectangle 20"/>
          <p:cNvSpPr/>
          <p:nvPr/>
        </p:nvSpPr>
        <p:spPr>
          <a:xfrm>
            <a:off x="548640" y="5029200"/>
            <a:ext cx="3593592" cy="566928"/>
          </a:xfrm>
          <a:prstGeom prst="roundRect">
            <a:avLst>
              <a:gd name="adj" fmla="val 19354"/>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450" b="0" i="0">
                <a:solidFill>
                  <a:srgbClr val="14202E"/>
                </a:solidFill>
                <a:latin typeface="Calibri"/>
              </a:rPr>
              <a:t>8 / 8 forgeries verify: 4 messages × 2 backends</a:t>
            </a:r>
          </a:p>
        </p:txBody>
      </p:sp>
      <p:sp>
        <p:nvSpPr>
          <p:cNvPr id="22" name="Rounded Rectangle 21"/>
          <p:cNvSpPr/>
          <p:nvPr/>
        </p:nvSpPr>
        <p:spPr>
          <a:xfrm>
            <a:off x="4297679" y="5029200"/>
            <a:ext cx="3593592" cy="566928"/>
          </a:xfrm>
          <a:prstGeom prst="roundRect">
            <a:avLst>
              <a:gd name="adj" fmla="val 19354"/>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450" b="0" i="0">
                <a:solidFill>
                  <a:srgbClr val="14202E"/>
                </a:solidFill>
                <a:latin typeface="Calibri"/>
              </a:rPr>
              <a:t>8 / 8 also pass AggVerify with an honest signature</a:t>
            </a:r>
          </a:p>
        </p:txBody>
      </p:sp>
      <p:sp>
        <p:nvSpPr>
          <p:cNvPr id="23" name="Rounded Rectangle 22"/>
          <p:cNvSpPr/>
          <p:nvPr/>
        </p:nvSpPr>
        <p:spPr>
          <a:xfrm>
            <a:off x="8046719" y="5029200"/>
            <a:ext cx="3593592" cy="566928"/>
          </a:xfrm>
          <a:prstGeom prst="roundRect">
            <a:avLst>
              <a:gd name="adj" fmla="val 19354"/>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450" b="0" i="0">
                <a:solidFill>
                  <a:srgbClr val="14202E"/>
                </a:solidFill>
                <a:latin typeface="Calibri"/>
              </a:rPr>
              <a:t>the forging function takes no secret-key argument</a:t>
            </a:r>
          </a:p>
        </p:txBody>
      </p:sp>
      <p:sp>
        <p:nvSpPr>
          <p:cNvPr id="24" name="Rectangle 23"/>
          <p:cNvSpPr/>
          <p:nvPr/>
        </p:nvSpPr>
        <p:spPr>
          <a:xfrm>
            <a:off x="548640" y="5760720"/>
            <a:ext cx="82296" cy="566928"/>
          </a:xfrm>
          <a:prstGeom prst="rect">
            <a:avLst/>
          </a:prstGeom>
          <a:solidFill>
            <a:srgbClr val="B3261E"/>
          </a:solidFill>
          <a:ln>
            <a:noFill/>
          </a:ln>
          <a:effectLst/>
        </p:spPr>
        <p:txBody>
          <a:bodyPr rtlCol="0" anchor="ctr" wrap="square" lIns="73152" rIns="73152" tIns="36576" bIns="36576"/>
          <a:lstStyle/>
          <a:p>
            <a:pPr algn="ctr"/>
          </a:p>
        </p:txBody>
      </p:sp>
      <p:sp>
        <p:nvSpPr>
          <p:cNvPr id="25" name="TextBox 24"/>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900" b="1" i="0">
                <a:solidFill>
                  <a:srgbClr val="14202E"/>
                </a:solidFill>
                <a:latin typeface="Calibri"/>
              </a:rPr>
              <a:t>Reproduced: one observed signature plus the issued certificate forges messages of the attacker's choice.</a:t>
            </a:r>
          </a:p>
        </p:txBody>
      </p:sp>
      <p:sp>
        <p:nvSpPr>
          <p:cNvPr id="26" name="PresenterCue_B11">
            <a:hlinkClick action="ppaction://hlinksldjump" r:id="rId3"/>
          </p:cNvPr>
          <p:cNvSpPr/>
          <p:nvPr/>
        </p:nvSpPr>
        <p:spPr>
          <a:xfrm>
            <a:off x="8503920" y="1033271"/>
            <a:ext cx="3136392" cy="457200"/>
          </a:xfrm>
          <a:prstGeom prst="roundRect">
            <a:avLst>
              <a:gd name="adj" fmla="val 10000"/>
            </a:avLst>
          </a:prstGeom>
          <a:solidFill>
            <a:srgbClr val="FFF3B0"/>
          </a:solidFill>
          <a:ln w="12700">
            <a:solidFill>
              <a:srgbClr val="D9B93A"/>
            </a:solidFill>
          </a:ln>
          <a:effectLst/>
        </p:spPr>
        <p:txBody>
          <a:bodyPr rtlCol="0" anchor="ctr" wrap="square" tIns="36576" bIns="36576"/>
          <a:lstStyle/>
          <a:p>
            <a:pPr algn="l">
              <a:lnSpc>
                <a:spcPct val="92000"/>
              </a:lnSpc>
              <a:spcBef>
                <a:spcPts val="0"/>
              </a:spcBef>
              <a:spcAft>
                <a:spcPts val="0"/>
              </a:spcAft>
            </a:pPr>
            <a:r>
              <a:rPr sz="850" b="1" i="0">
                <a:solidFill>
                  <a:srgbClr val="8A6D00"/>
                </a:solidFill>
                <a:latin typeface="Calibri"/>
              </a:rPr>
              <a:t>PRESENTER CUE</a:t>
            </a:r>
          </a:p>
          <a:p>
            <a:pPr algn="l">
              <a:lnSpc>
                <a:spcPct val="92000"/>
              </a:lnSpc>
              <a:spcBef>
                <a:spcPts val="0"/>
              </a:spcBef>
              <a:spcAft>
                <a:spcPts val="0"/>
              </a:spcAft>
            </a:pPr>
            <a:r>
              <a:rPr sz="1250" b="0" i="0">
                <a:solidFill>
                  <a:srgbClr val="4A3B00"/>
                </a:solidFill>
                <a:latin typeface="Calibri"/>
              </a:rPr>
              <a:t>Terminal fails? → Backup B11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IV · THE REPAIR</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Qiao et al.: the same six algorithms, with new objects</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17 / 32</a:t>
            </a:r>
          </a:p>
        </p:txBody>
      </p:sp>
      <p:sp>
        <p:nvSpPr>
          <p:cNvPr id="8" name="Rounded Rectangle 7"/>
          <p:cNvSpPr/>
          <p:nvPr/>
        </p:nvSpPr>
        <p:spPr>
          <a:xfrm>
            <a:off x="1847088" y="1481328"/>
            <a:ext cx="1598676" cy="301752"/>
          </a:xfrm>
          <a:prstGeom prst="roundRect">
            <a:avLst>
              <a:gd name="adj" fmla="val 12121"/>
            </a:avLst>
          </a:prstGeom>
          <a:solidFill>
            <a:srgbClr val="F2F5F8"/>
          </a:solidFill>
          <a:ln>
            <a:noFill/>
          </a:ln>
          <a:effectLst/>
        </p:spPr>
        <p:txBody>
          <a:bodyPr rtlCol="0" anchor="ctr" wrap="square" lIns="73152" rIns="73152" tIns="36576" bIns="36576"/>
          <a:lstStyle/>
          <a:p>
            <a:pPr algn="ctr">
              <a:spcBef>
                <a:spcPts val="0"/>
              </a:spcBef>
              <a:spcAft>
                <a:spcPts val="0"/>
              </a:spcAft>
            </a:pPr>
            <a:r>
              <a:rPr sz="1250" b="0" i="0">
                <a:solidFill>
                  <a:srgbClr val="5B6675"/>
                </a:solidFill>
                <a:latin typeface="Calibri"/>
              </a:rPr>
              <a:t>configuration</a:t>
            </a:r>
          </a:p>
        </p:txBody>
      </p:sp>
      <p:sp>
        <p:nvSpPr>
          <p:cNvPr id="9" name="Rounded Rectangle 8"/>
          <p:cNvSpPr/>
          <p:nvPr/>
        </p:nvSpPr>
        <p:spPr>
          <a:xfrm>
            <a:off x="3482340" y="1481328"/>
            <a:ext cx="3233928" cy="301752"/>
          </a:xfrm>
          <a:prstGeom prst="roundRect">
            <a:avLst>
              <a:gd name="adj" fmla="val 12121"/>
            </a:avLst>
          </a:prstGeom>
          <a:solidFill>
            <a:srgbClr val="F2F5F8"/>
          </a:solidFill>
          <a:ln>
            <a:noFill/>
          </a:ln>
          <a:effectLst/>
        </p:spPr>
        <p:txBody>
          <a:bodyPr rtlCol="0" anchor="ctr" wrap="square" lIns="73152" rIns="73152" tIns="36576" bIns="36576"/>
          <a:lstStyle/>
          <a:p>
            <a:pPr algn="ctr">
              <a:spcBef>
                <a:spcPts val="0"/>
              </a:spcBef>
              <a:spcAft>
                <a:spcPts val="0"/>
              </a:spcAft>
            </a:pPr>
            <a:r>
              <a:rPr sz="1250" b="0" i="0">
                <a:solidFill>
                  <a:srgbClr val="5B6675"/>
                </a:solidFill>
                <a:latin typeface="Calibri"/>
              </a:rPr>
              <a:t>per sensor, once: keys and certificate</a:t>
            </a:r>
          </a:p>
        </p:txBody>
      </p:sp>
      <p:sp>
        <p:nvSpPr>
          <p:cNvPr id="10" name="Rounded Rectangle 9"/>
          <p:cNvSpPr/>
          <p:nvPr/>
        </p:nvSpPr>
        <p:spPr>
          <a:xfrm>
            <a:off x="6752844" y="1481328"/>
            <a:ext cx="1598676" cy="301752"/>
          </a:xfrm>
          <a:prstGeom prst="roundRect">
            <a:avLst>
              <a:gd name="adj" fmla="val 12121"/>
            </a:avLst>
          </a:prstGeom>
          <a:solidFill>
            <a:srgbClr val="F2F5F8"/>
          </a:solidFill>
          <a:ln>
            <a:noFill/>
          </a:ln>
          <a:effectLst/>
        </p:spPr>
        <p:txBody>
          <a:bodyPr rtlCol="0" anchor="ctr" wrap="square" lIns="73152" rIns="73152" tIns="36576" bIns="36576"/>
          <a:lstStyle/>
          <a:p>
            <a:pPr algn="ctr">
              <a:spcBef>
                <a:spcPts val="0"/>
              </a:spcBef>
              <a:spcAft>
                <a:spcPts val="0"/>
              </a:spcAft>
            </a:pPr>
            <a:r>
              <a:rPr sz="1250" b="0" i="0">
                <a:solidFill>
                  <a:srgbClr val="5B6675"/>
                </a:solidFill>
                <a:latin typeface="Calibri"/>
              </a:rPr>
              <a:t>signing, per reading</a:t>
            </a:r>
          </a:p>
        </p:txBody>
      </p:sp>
      <p:sp>
        <p:nvSpPr>
          <p:cNvPr id="11" name="Rounded Rectangle 10"/>
          <p:cNvSpPr/>
          <p:nvPr/>
        </p:nvSpPr>
        <p:spPr>
          <a:xfrm>
            <a:off x="8388095" y="1481328"/>
            <a:ext cx="1598676" cy="301752"/>
          </a:xfrm>
          <a:prstGeom prst="roundRect">
            <a:avLst>
              <a:gd name="adj" fmla="val 12121"/>
            </a:avLst>
          </a:prstGeom>
          <a:solidFill>
            <a:srgbClr val="F2F5F8"/>
          </a:solidFill>
          <a:ln>
            <a:noFill/>
          </a:ln>
          <a:effectLst/>
        </p:spPr>
        <p:txBody>
          <a:bodyPr rtlCol="0" anchor="ctr" wrap="square" lIns="73152" rIns="73152" tIns="36576" bIns="36576"/>
          <a:lstStyle/>
          <a:p>
            <a:pPr algn="ctr">
              <a:spcBef>
                <a:spcPts val="0"/>
              </a:spcBef>
              <a:spcAft>
                <a:spcPts val="0"/>
              </a:spcAft>
            </a:pPr>
            <a:r>
              <a:rPr sz="1250" b="0" i="0">
                <a:solidFill>
                  <a:srgbClr val="5B6675"/>
                </a:solidFill>
                <a:latin typeface="Calibri"/>
              </a:rPr>
              <a:t>aggregation</a:t>
            </a:r>
          </a:p>
        </p:txBody>
      </p:sp>
      <p:sp>
        <p:nvSpPr>
          <p:cNvPr id="12" name="Rounded Rectangle 11"/>
          <p:cNvSpPr/>
          <p:nvPr/>
        </p:nvSpPr>
        <p:spPr>
          <a:xfrm>
            <a:off x="10023348" y="1481328"/>
            <a:ext cx="1598676" cy="301752"/>
          </a:xfrm>
          <a:prstGeom prst="roundRect">
            <a:avLst>
              <a:gd name="adj" fmla="val 12121"/>
            </a:avLst>
          </a:prstGeom>
          <a:solidFill>
            <a:srgbClr val="F2F5F8"/>
          </a:solidFill>
          <a:ln>
            <a:noFill/>
          </a:ln>
          <a:effectLst/>
        </p:spPr>
        <p:txBody>
          <a:bodyPr rtlCol="0" anchor="ctr" wrap="square" lIns="73152" rIns="73152" tIns="36576" bIns="36576"/>
          <a:lstStyle/>
          <a:p>
            <a:pPr algn="ctr">
              <a:spcBef>
                <a:spcPts val="0"/>
              </a:spcBef>
              <a:spcAft>
                <a:spcPts val="0"/>
              </a:spcAft>
            </a:pPr>
            <a:r>
              <a:rPr sz="1250" b="0" i="0">
                <a:solidFill>
                  <a:srgbClr val="5B6675"/>
                </a:solidFill>
                <a:latin typeface="Calibri"/>
              </a:rPr>
              <a:t>verification</a:t>
            </a:r>
          </a:p>
        </p:txBody>
      </p:sp>
      <p:sp>
        <p:nvSpPr>
          <p:cNvPr id="13" name="TextBox 12"/>
          <p:cNvSpPr txBox="1"/>
          <p:nvPr/>
        </p:nvSpPr>
        <p:spPr>
          <a:xfrm>
            <a:off x="1828800" y="1810512"/>
            <a:ext cx="1635252" cy="365760"/>
          </a:xfrm>
          <a:prstGeom prst="rect">
            <a:avLst/>
          </a:prstGeom>
          <a:noFill/>
        </p:spPr>
        <p:txBody>
          <a:bodyPr wrap="square" lIns="0" rIns="0" tIns="0" bIns="0" anchor="ctr">
            <a:spAutoFit/>
          </a:bodyPr>
          <a:lstStyle/>
          <a:p>
            <a:pPr algn="ctr">
              <a:spcBef>
                <a:spcPts val="0"/>
              </a:spcBef>
              <a:spcAft>
                <a:spcPts val="0"/>
              </a:spcAft>
            </a:pPr>
            <a:r>
              <a:rPr sz="1500" b="1" i="0">
                <a:solidFill>
                  <a:srgbClr val="14202E"/>
                </a:solidFill>
                <a:latin typeface="Calibri"/>
              </a:rPr>
              <a:t>① Setup</a:t>
            </a:r>
          </a:p>
        </p:txBody>
      </p:sp>
      <p:sp>
        <p:nvSpPr>
          <p:cNvPr id="14" name="TextBox 13"/>
          <p:cNvSpPr txBox="1"/>
          <p:nvPr/>
        </p:nvSpPr>
        <p:spPr>
          <a:xfrm>
            <a:off x="3464052" y="1810512"/>
            <a:ext cx="1635252" cy="365760"/>
          </a:xfrm>
          <a:prstGeom prst="rect">
            <a:avLst/>
          </a:prstGeom>
          <a:noFill/>
        </p:spPr>
        <p:txBody>
          <a:bodyPr wrap="square" lIns="0" rIns="0" tIns="0" bIns="0" anchor="ctr">
            <a:spAutoFit/>
          </a:bodyPr>
          <a:lstStyle/>
          <a:p>
            <a:pPr algn="ctr">
              <a:spcBef>
                <a:spcPts val="0"/>
              </a:spcBef>
              <a:spcAft>
                <a:spcPts val="0"/>
              </a:spcAft>
            </a:pPr>
            <a:r>
              <a:rPr sz="1500" b="1" i="0">
                <a:solidFill>
                  <a:srgbClr val="14202E"/>
                </a:solidFill>
                <a:latin typeface="Calibri"/>
              </a:rPr>
              <a:t>② KeyGen</a:t>
            </a:r>
          </a:p>
        </p:txBody>
      </p:sp>
      <p:sp>
        <p:nvSpPr>
          <p:cNvPr id="15" name="TextBox 14"/>
          <p:cNvSpPr txBox="1"/>
          <p:nvPr/>
        </p:nvSpPr>
        <p:spPr>
          <a:xfrm>
            <a:off x="5099304" y="1810512"/>
            <a:ext cx="1635252" cy="365760"/>
          </a:xfrm>
          <a:prstGeom prst="rect">
            <a:avLst/>
          </a:prstGeom>
          <a:noFill/>
        </p:spPr>
        <p:txBody>
          <a:bodyPr wrap="square" lIns="0" rIns="0" tIns="0" bIns="0" anchor="ctr">
            <a:spAutoFit/>
          </a:bodyPr>
          <a:lstStyle/>
          <a:p>
            <a:pPr algn="ctr">
              <a:spcBef>
                <a:spcPts val="0"/>
              </a:spcBef>
              <a:spcAft>
                <a:spcPts val="0"/>
              </a:spcAft>
            </a:pPr>
            <a:r>
              <a:rPr sz="1500" b="1" i="0">
                <a:solidFill>
                  <a:srgbClr val="14202E"/>
                </a:solidFill>
                <a:latin typeface="Calibri"/>
              </a:rPr>
              <a:t>③ CertGen</a:t>
            </a:r>
          </a:p>
        </p:txBody>
      </p:sp>
      <p:sp>
        <p:nvSpPr>
          <p:cNvPr id="16" name="TextBox 15"/>
          <p:cNvSpPr txBox="1"/>
          <p:nvPr/>
        </p:nvSpPr>
        <p:spPr>
          <a:xfrm>
            <a:off x="6734556" y="1810512"/>
            <a:ext cx="1635252" cy="365760"/>
          </a:xfrm>
          <a:prstGeom prst="rect">
            <a:avLst/>
          </a:prstGeom>
          <a:noFill/>
        </p:spPr>
        <p:txBody>
          <a:bodyPr wrap="square" lIns="0" rIns="0" tIns="0" bIns="0" anchor="ctr">
            <a:spAutoFit/>
          </a:bodyPr>
          <a:lstStyle/>
          <a:p>
            <a:pPr algn="ctr">
              <a:spcBef>
                <a:spcPts val="0"/>
              </a:spcBef>
              <a:spcAft>
                <a:spcPts val="0"/>
              </a:spcAft>
            </a:pPr>
            <a:r>
              <a:rPr sz="1500" b="1" i="0">
                <a:solidFill>
                  <a:srgbClr val="14202E"/>
                </a:solidFill>
                <a:latin typeface="Calibri"/>
              </a:rPr>
              <a:t>④ Sign</a:t>
            </a:r>
          </a:p>
        </p:txBody>
      </p:sp>
      <p:sp>
        <p:nvSpPr>
          <p:cNvPr id="17" name="TextBox 16"/>
          <p:cNvSpPr txBox="1"/>
          <p:nvPr/>
        </p:nvSpPr>
        <p:spPr>
          <a:xfrm>
            <a:off x="8369807" y="1810512"/>
            <a:ext cx="1635252" cy="365760"/>
          </a:xfrm>
          <a:prstGeom prst="rect">
            <a:avLst/>
          </a:prstGeom>
          <a:noFill/>
        </p:spPr>
        <p:txBody>
          <a:bodyPr wrap="square" lIns="0" rIns="0" tIns="0" bIns="0" anchor="ctr">
            <a:spAutoFit/>
          </a:bodyPr>
          <a:lstStyle/>
          <a:p>
            <a:pPr algn="ctr">
              <a:spcBef>
                <a:spcPts val="0"/>
              </a:spcBef>
              <a:spcAft>
                <a:spcPts val="0"/>
              </a:spcAft>
            </a:pPr>
            <a:r>
              <a:rPr sz="1500" b="1" i="0">
                <a:solidFill>
                  <a:srgbClr val="14202E"/>
                </a:solidFill>
                <a:latin typeface="Calibri"/>
              </a:rPr>
              <a:t>⑤ AggSign</a:t>
            </a:r>
          </a:p>
        </p:txBody>
      </p:sp>
      <p:sp>
        <p:nvSpPr>
          <p:cNvPr id="18" name="TextBox 17"/>
          <p:cNvSpPr txBox="1"/>
          <p:nvPr/>
        </p:nvSpPr>
        <p:spPr>
          <a:xfrm>
            <a:off x="10005060" y="1810512"/>
            <a:ext cx="1635252" cy="365760"/>
          </a:xfrm>
          <a:prstGeom prst="rect">
            <a:avLst/>
          </a:prstGeom>
          <a:noFill/>
        </p:spPr>
        <p:txBody>
          <a:bodyPr wrap="square" lIns="0" rIns="0" tIns="0" bIns="0" anchor="ctr">
            <a:spAutoFit/>
          </a:bodyPr>
          <a:lstStyle/>
          <a:p>
            <a:pPr algn="ctr">
              <a:spcBef>
                <a:spcPts val="0"/>
              </a:spcBef>
              <a:spcAft>
                <a:spcPts val="0"/>
              </a:spcAft>
            </a:pPr>
            <a:r>
              <a:rPr sz="1500" b="1" i="0">
                <a:solidFill>
                  <a:srgbClr val="14202E"/>
                </a:solidFill>
                <a:latin typeface="Calibri"/>
              </a:rPr>
              <a:t>⑥ AggVerify</a:t>
            </a:r>
          </a:p>
        </p:txBody>
      </p:sp>
      <p:sp>
        <p:nvSpPr>
          <p:cNvPr id="19" name="Rounded Rectangle 18"/>
          <p:cNvSpPr/>
          <p:nvPr/>
        </p:nvSpPr>
        <p:spPr>
          <a:xfrm>
            <a:off x="548640" y="2231136"/>
            <a:ext cx="11091672" cy="1152144"/>
          </a:xfrm>
          <a:prstGeom prst="roundRect">
            <a:avLst>
              <a:gd name="adj" fmla="val 4761"/>
            </a:avLst>
          </a:prstGeom>
          <a:solidFill>
            <a:srgbClr val="EFE8F8"/>
          </a:solidFill>
          <a:ln>
            <a:noFill/>
          </a:ln>
          <a:effectLst/>
        </p:spPr>
        <p:txBody>
          <a:bodyPr rtlCol="0" anchor="ctr" wrap="square" lIns="73152" rIns="73152" tIns="36576" bIns="36576"/>
          <a:lstStyle/>
          <a:p>
            <a:pPr algn="ctr"/>
          </a:p>
        </p:txBody>
      </p:sp>
      <p:sp>
        <p:nvSpPr>
          <p:cNvPr id="20" name="TextBox 19"/>
          <p:cNvSpPr txBox="1"/>
          <p:nvPr/>
        </p:nvSpPr>
        <p:spPr>
          <a:xfrm>
            <a:off x="658368" y="2304288"/>
            <a:ext cx="1188720" cy="502920"/>
          </a:xfrm>
          <a:prstGeom prst="rect">
            <a:avLst/>
          </a:prstGeom>
          <a:noFill/>
        </p:spPr>
        <p:txBody>
          <a:bodyPr wrap="square" lIns="0" rIns="0" tIns="0" bIns="0" anchor="t">
            <a:spAutoFit/>
          </a:bodyPr>
          <a:lstStyle/>
          <a:p>
            <a:pPr algn="l">
              <a:spcBef>
                <a:spcPts val="0"/>
              </a:spcBef>
              <a:spcAft>
                <a:spcPts val="0"/>
              </a:spcAft>
            </a:pPr>
            <a:r>
              <a:rPr sz="1450" b="1" i="0">
                <a:solidFill>
                  <a:srgbClr val="6B3FA0"/>
                </a:solidFill>
                <a:latin typeface="Calibri"/>
              </a:rPr>
              <a:t>KGC</a:t>
            </a:r>
          </a:p>
          <a:p>
            <a:pPr algn="l">
              <a:spcBef>
                <a:spcPts val="0"/>
              </a:spcBef>
              <a:spcAft>
                <a:spcPts val="0"/>
              </a:spcAft>
            </a:pPr>
            <a:r>
              <a:rPr sz="1150" b="0" i="0">
                <a:solidFill>
                  <a:srgbClr val="5B6675"/>
                </a:solidFill>
                <a:latin typeface="Calibri"/>
              </a:rPr>
              <a:t>trusted authority</a:t>
            </a:r>
          </a:p>
        </p:txBody>
      </p:sp>
      <p:sp>
        <p:nvSpPr>
          <p:cNvPr id="21" name="Rounded Rectangle 20"/>
          <p:cNvSpPr/>
          <p:nvPr/>
        </p:nvSpPr>
        <p:spPr>
          <a:xfrm>
            <a:off x="548640" y="3419856"/>
            <a:ext cx="11091672" cy="1152144"/>
          </a:xfrm>
          <a:prstGeom prst="roundRect">
            <a:avLst>
              <a:gd name="adj" fmla="val 4761"/>
            </a:avLst>
          </a:prstGeom>
          <a:solidFill>
            <a:srgbClr val="E4EEF9"/>
          </a:solidFill>
          <a:ln>
            <a:noFill/>
          </a:ln>
          <a:effectLst/>
        </p:spPr>
        <p:txBody>
          <a:bodyPr rtlCol="0" anchor="ctr" wrap="square" lIns="73152" rIns="73152" tIns="36576" bIns="36576"/>
          <a:lstStyle/>
          <a:p>
            <a:pPr algn="ctr"/>
          </a:p>
        </p:txBody>
      </p:sp>
      <p:sp>
        <p:nvSpPr>
          <p:cNvPr id="22" name="TextBox 21"/>
          <p:cNvSpPr txBox="1"/>
          <p:nvPr/>
        </p:nvSpPr>
        <p:spPr>
          <a:xfrm>
            <a:off x="658368" y="3493008"/>
            <a:ext cx="1188720" cy="502920"/>
          </a:xfrm>
          <a:prstGeom prst="rect">
            <a:avLst/>
          </a:prstGeom>
          <a:noFill/>
        </p:spPr>
        <p:txBody>
          <a:bodyPr wrap="square" lIns="0" rIns="0" tIns="0" bIns="0" anchor="t">
            <a:spAutoFit/>
          </a:bodyPr>
          <a:lstStyle/>
          <a:p>
            <a:pPr algn="l">
              <a:spcBef>
                <a:spcPts val="0"/>
              </a:spcBef>
              <a:spcAft>
                <a:spcPts val="0"/>
              </a:spcAft>
            </a:pPr>
            <a:r>
              <a:rPr sz="1450" b="1" i="0">
                <a:solidFill>
                  <a:srgbClr val="1D5EA8"/>
                </a:solidFill>
                <a:latin typeface="Calibri"/>
              </a:rPr>
              <a:t>Sensor </a:t>
            </a:r>
            <a:r>
              <a:rPr sz="1450" b="1" i="1">
                <a:solidFill>
                  <a:srgbClr val="1D5EA8"/>
                </a:solidFill>
                <a:latin typeface="Cambria"/>
              </a:rPr>
              <a:t>i</a:t>
            </a:r>
          </a:p>
          <a:p>
            <a:pPr algn="l">
              <a:spcBef>
                <a:spcPts val="0"/>
              </a:spcBef>
              <a:spcAft>
                <a:spcPts val="0"/>
              </a:spcAft>
            </a:pPr>
            <a:r>
              <a:rPr sz="1150" b="0" i="0">
                <a:solidFill>
                  <a:srgbClr val="5B6675"/>
                </a:solidFill>
                <a:latin typeface="Calibri"/>
              </a:rPr>
              <a:t>× n devices</a:t>
            </a:r>
          </a:p>
        </p:txBody>
      </p:sp>
      <p:sp>
        <p:nvSpPr>
          <p:cNvPr id="23" name="Rounded Rectangle 22"/>
          <p:cNvSpPr/>
          <p:nvPr/>
        </p:nvSpPr>
        <p:spPr>
          <a:xfrm>
            <a:off x="548640" y="4608575"/>
            <a:ext cx="11091672" cy="740664"/>
          </a:xfrm>
          <a:prstGeom prst="roundRect">
            <a:avLst>
              <a:gd name="adj" fmla="val 7407"/>
            </a:avLst>
          </a:prstGeom>
          <a:solidFill>
            <a:srgbClr val="FBF0DC"/>
          </a:solidFill>
          <a:ln>
            <a:noFill/>
          </a:ln>
          <a:effectLst/>
        </p:spPr>
        <p:txBody>
          <a:bodyPr rtlCol="0" anchor="ctr" wrap="square" lIns="73152" rIns="73152" tIns="36576" bIns="36576"/>
          <a:lstStyle/>
          <a:p>
            <a:pPr algn="ctr"/>
          </a:p>
        </p:txBody>
      </p:sp>
      <p:sp>
        <p:nvSpPr>
          <p:cNvPr id="24" name="TextBox 23"/>
          <p:cNvSpPr txBox="1"/>
          <p:nvPr/>
        </p:nvSpPr>
        <p:spPr>
          <a:xfrm>
            <a:off x="658368" y="4681727"/>
            <a:ext cx="1188720" cy="502920"/>
          </a:xfrm>
          <a:prstGeom prst="rect">
            <a:avLst/>
          </a:prstGeom>
          <a:noFill/>
        </p:spPr>
        <p:txBody>
          <a:bodyPr wrap="square" lIns="0" rIns="0" tIns="0" bIns="0" anchor="t">
            <a:spAutoFit/>
          </a:bodyPr>
          <a:lstStyle/>
          <a:p>
            <a:pPr algn="l">
              <a:spcBef>
                <a:spcPts val="0"/>
              </a:spcBef>
              <a:spcAft>
                <a:spcPts val="0"/>
              </a:spcAft>
            </a:pPr>
            <a:r>
              <a:rPr sz="1450" b="1" i="0">
                <a:solidFill>
                  <a:srgbClr val="B26A00"/>
                </a:solidFill>
                <a:latin typeface="Calibri"/>
              </a:rPr>
              <a:t>Aggregator</a:t>
            </a:r>
          </a:p>
          <a:p>
            <a:pPr algn="l">
              <a:spcBef>
                <a:spcPts val="0"/>
              </a:spcBef>
              <a:spcAft>
                <a:spcPts val="0"/>
              </a:spcAft>
            </a:pPr>
            <a:r>
              <a:rPr sz="1150" b="0" i="0">
                <a:solidFill>
                  <a:srgbClr val="5B6675"/>
                </a:solidFill>
                <a:latin typeface="Calibri"/>
              </a:rPr>
              <a:t>holds no secret</a:t>
            </a:r>
          </a:p>
        </p:txBody>
      </p:sp>
      <p:sp>
        <p:nvSpPr>
          <p:cNvPr id="25" name="Rounded Rectangle 24"/>
          <p:cNvSpPr/>
          <p:nvPr/>
        </p:nvSpPr>
        <p:spPr>
          <a:xfrm>
            <a:off x="548640" y="5385816"/>
            <a:ext cx="11091672" cy="832103"/>
          </a:xfrm>
          <a:prstGeom prst="roundRect">
            <a:avLst>
              <a:gd name="adj" fmla="val 6593"/>
            </a:avLst>
          </a:prstGeom>
          <a:solidFill>
            <a:srgbClr val="E6EBF0"/>
          </a:solidFill>
          <a:ln>
            <a:noFill/>
          </a:ln>
          <a:effectLst/>
        </p:spPr>
        <p:txBody>
          <a:bodyPr rtlCol="0" anchor="ctr" wrap="square" lIns="73152" rIns="73152" tIns="36576" bIns="36576"/>
          <a:lstStyle/>
          <a:p>
            <a:pPr algn="ctr"/>
          </a:p>
        </p:txBody>
      </p:sp>
      <p:sp>
        <p:nvSpPr>
          <p:cNvPr id="26" name="TextBox 25"/>
          <p:cNvSpPr txBox="1"/>
          <p:nvPr/>
        </p:nvSpPr>
        <p:spPr>
          <a:xfrm>
            <a:off x="658368" y="5458968"/>
            <a:ext cx="1188720" cy="502920"/>
          </a:xfrm>
          <a:prstGeom prst="rect">
            <a:avLst/>
          </a:prstGeom>
          <a:noFill/>
        </p:spPr>
        <p:txBody>
          <a:bodyPr wrap="square" lIns="0" rIns="0" tIns="0" bIns="0" anchor="t">
            <a:spAutoFit/>
          </a:bodyPr>
          <a:lstStyle/>
          <a:p>
            <a:pPr algn="l">
              <a:spcBef>
                <a:spcPts val="0"/>
              </a:spcBef>
              <a:spcAft>
                <a:spcPts val="0"/>
              </a:spcAft>
            </a:pPr>
            <a:r>
              <a:rPr sz="1450" b="1" i="0">
                <a:solidFill>
                  <a:srgbClr val="455A6E"/>
                </a:solidFill>
                <a:latin typeface="Calibri"/>
              </a:rPr>
              <a:t>Cloud / Verifier</a:t>
            </a:r>
          </a:p>
          <a:p>
            <a:pPr algn="l">
              <a:spcBef>
                <a:spcPts val="0"/>
              </a:spcBef>
              <a:spcAft>
                <a:spcPts val="0"/>
              </a:spcAft>
            </a:pPr>
            <a:r>
              <a:rPr sz="1150" b="0" i="0">
                <a:solidFill>
                  <a:srgbClr val="5B6675"/>
                </a:solidFill>
                <a:latin typeface="Calibri"/>
              </a:rPr>
              <a:t>checks the aggregate</a:t>
            </a:r>
          </a:p>
        </p:txBody>
      </p:sp>
      <p:sp>
        <p:nvSpPr>
          <p:cNvPr id="27" name="Rounded Rectangle 26"/>
          <p:cNvSpPr/>
          <p:nvPr/>
        </p:nvSpPr>
        <p:spPr>
          <a:xfrm>
            <a:off x="1956816" y="2304288"/>
            <a:ext cx="1371600" cy="420624"/>
          </a:xfrm>
          <a:prstGeom prst="roundRect">
            <a:avLst>
              <a:gd name="adj" fmla="val 17391"/>
            </a:avLst>
          </a:prstGeom>
          <a:solidFill>
            <a:srgbClr val="EFE8F8"/>
          </a:solidFill>
          <a:ln w="22225">
            <a:solidFill>
              <a:srgbClr val="6B3FA0"/>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Setup</a:t>
            </a:r>
          </a:p>
        </p:txBody>
      </p:sp>
      <p:sp>
        <p:nvSpPr>
          <p:cNvPr id="28" name="Rounded Rectangle 27"/>
          <p:cNvSpPr/>
          <p:nvPr/>
        </p:nvSpPr>
        <p:spPr>
          <a:xfrm>
            <a:off x="3592068" y="3493008"/>
            <a:ext cx="1371600" cy="420624"/>
          </a:xfrm>
          <a:prstGeom prst="roundRect">
            <a:avLst>
              <a:gd name="adj" fmla="val 17391"/>
            </a:avLst>
          </a:prstGeom>
          <a:solidFill>
            <a:srgbClr val="E4EEF9"/>
          </a:solidFill>
          <a:ln w="22225">
            <a:solidFill>
              <a:srgbClr val="1D5EA8"/>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KeyGen</a:t>
            </a:r>
          </a:p>
        </p:txBody>
      </p:sp>
      <p:sp>
        <p:nvSpPr>
          <p:cNvPr id="29" name="Rounded Rectangle 28"/>
          <p:cNvSpPr/>
          <p:nvPr/>
        </p:nvSpPr>
        <p:spPr>
          <a:xfrm>
            <a:off x="5227319" y="2304288"/>
            <a:ext cx="1371600" cy="420624"/>
          </a:xfrm>
          <a:prstGeom prst="roundRect">
            <a:avLst>
              <a:gd name="adj" fmla="val 17391"/>
            </a:avLst>
          </a:prstGeom>
          <a:solidFill>
            <a:srgbClr val="EFE8F8"/>
          </a:solidFill>
          <a:ln w="22225">
            <a:solidFill>
              <a:srgbClr val="6B3FA0"/>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CertGen</a:t>
            </a:r>
          </a:p>
        </p:txBody>
      </p:sp>
      <p:sp>
        <p:nvSpPr>
          <p:cNvPr id="30" name="Rounded Rectangle 29"/>
          <p:cNvSpPr/>
          <p:nvPr/>
        </p:nvSpPr>
        <p:spPr>
          <a:xfrm>
            <a:off x="6862572" y="3493008"/>
            <a:ext cx="1371600" cy="420624"/>
          </a:xfrm>
          <a:prstGeom prst="roundRect">
            <a:avLst>
              <a:gd name="adj" fmla="val 17391"/>
            </a:avLst>
          </a:prstGeom>
          <a:solidFill>
            <a:srgbClr val="E4EEF9"/>
          </a:solidFill>
          <a:ln w="22225">
            <a:solidFill>
              <a:srgbClr val="1D5EA8"/>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Sign</a:t>
            </a:r>
          </a:p>
        </p:txBody>
      </p:sp>
      <p:sp>
        <p:nvSpPr>
          <p:cNvPr id="31" name="Rounded Rectangle 30"/>
          <p:cNvSpPr/>
          <p:nvPr/>
        </p:nvSpPr>
        <p:spPr>
          <a:xfrm>
            <a:off x="8497824" y="4681727"/>
            <a:ext cx="1371600" cy="365760"/>
          </a:xfrm>
          <a:prstGeom prst="roundRect">
            <a:avLst>
              <a:gd name="adj" fmla="val 20000"/>
            </a:avLst>
          </a:prstGeom>
          <a:solidFill>
            <a:srgbClr val="FBF0DC"/>
          </a:solidFill>
          <a:ln w="22225">
            <a:solidFill>
              <a:srgbClr val="B26A00"/>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AggSign</a:t>
            </a:r>
          </a:p>
        </p:txBody>
      </p:sp>
      <p:sp>
        <p:nvSpPr>
          <p:cNvPr id="32" name="Rounded Rectangle 31"/>
          <p:cNvSpPr/>
          <p:nvPr/>
        </p:nvSpPr>
        <p:spPr>
          <a:xfrm>
            <a:off x="10133076" y="5458968"/>
            <a:ext cx="1371600" cy="420624"/>
          </a:xfrm>
          <a:prstGeom prst="roundRect">
            <a:avLst>
              <a:gd name="adj" fmla="val 17391"/>
            </a:avLst>
          </a:prstGeom>
          <a:solidFill>
            <a:srgbClr val="E6EBF0"/>
          </a:solidFill>
          <a:ln w="22225">
            <a:solidFill>
              <a:srgbClr val="455A6E"/>
            </a:solidFill>
          </a:ln>
          <a:effectLst/>
        </p:spPr>
        <p:txBody>
          <a:bodyPr rtlCol="0" anchor="ctr" wrap="square" lIns="73152" rIns="73152" tIns="36576" bIns="36576"/>
          <a:lstStyle/>
          <a:p>
            <a:pPr algn="ctr">
              <a:spcBef>
                <a:spcPts val="0"/>
              </a:spcBef>
              <a:spcAft>
                <a:spcPts val="0"/>
              </a:spcAft>
            </a:pPr>
            <a:r>
              <a:rPr sz="1600" b="1" i="0">
                <a:solidFill>
                  <a:srgbClr val="14202E"/>
                </a:solidFill>
                <a:latin typeface="Calibri"/>
              </a:rPr>
              <a:t>AggVerify</a:t>
            </a:r>
          </a:p>
        </p:txBody>
      </p:sp>
      <p:sp>
        <p:nvSpPr>
          <p:cNvPr id="33" name="Rounded Rectangle 32"/>
          <p:cNvSpPr/>
          <p:nvPr/>
        </p:nvSpPr>
        <p:spPr>
          <a:xfrm>
            <a:off x="1956816" y="2798064"/>
            <a:ext cx="1371600" cy="246888"/>
          </a:xfrm>
          <a:prstGeom prst="roundRect">
            <a:avLst>
              <a:gd name="adj" fmla="val 38461"/>
            </a:avLst>
          </a:prstGeom>
          <a:solidFill>
            <a:srgbClr val="EFE8F8"/>
          </a:solidFill>
          <a:ln w="15240">
            <a:solidFill>
              <a:srgbClr val="6B3FA0"/>
            </a:solidFill>
            <a:prstDash val="dash"/>
          </a:ln>
          <a:effectLst/>
        </p:spPr>
        <p:txBody>
          <a:bodyPr rtlCol="0" anchor="ctr" wrap="square" lIns="274320" rIns="274320" tIns="36576" bIns="36576"/>
          <a:lstStyle/>
          <a:p>
            <a:pPr algn="l">
              <a:spcBef>
                <a:spcPts val="0"/>
              </a:spcBef>
              <a:spcAft>
                <a:spcPts val="0"/>
              </a:spcAft>
            </a:pPr>
            <a:r>
              <a:rPr sz="1250" b="0" i="1">
                <a:solidFill>
                  <a:srgbClr val="14202E"/>
                </a:solidFill>
                <a:latin typeface="Cambria"/>
              </a:rPr>
              <a:t>s</a:t>
            </a:r>
            <a:r>
              <a:rPr sz="1250" b="0" i="1" baseline="30000">
                <a:solidFill>
                  <a:srgbClr val="14202E"/>
                </a:solidFill>
                <a:latin typeface="Cambria"/>
              </a:rPr>
              <a:t>k</a:t>
            </a:r>
            <a:r>
              <a:rPr sz="1250" b="0" i="1" baseline="-25000">
                <a:solidFill>
                  <a:srgbClr val="14202E"/>
                </a:solidFill>
                <a:latin typeface="Cambria"/>
              </a:rPr>
              <a:t>TA</a:t>
            </a:r>
            <a:r>
              <a:rPr sz="1250" b="0" i="0">
                <a:solidFill>
                  <a:srgbClr val="14202E"/>
                </a:solidFill>
                <a:latin typeface="Calibri"/>
              </a:rPr>
              <a:t>  secret</a:t>
            </a:r>
          </a:p>
        </p:txBody>
      </p:sp>
      <p:sp>
        <p:nvSpPr>
          <p:cNvPr id="34" name="Rounded Rectangle 33"/>
          <p:cNvSpPr/>
          <p:nvPr/>
        </p:nvSpPr>
        <p:spPr>
          <a:xfrm>
            <a:off x="2034814" y="2908523"/>
            <a:ext cx="164043" cy="109362"/>
          </a:xfrm>
          <a:prstGeom prst="roundRect">
            <a:avLst>
              <a:gd name="adj" fmla="val 25083"/>
            </a:avLst>
          </a:prstGeom>
          <a:solidFill>
            <a:srgbClr val="6B3FA0"/>
          </a:solidFill>
          <a:ln>
            <a:noFill/>
          </a:ln>
          <a:effectLst/>
        </p:spPr>
        <p:txBody>
          <a:bodyPr rtlCol="0" anchor="ctr" wrap="square" lIns="73152" rIns="73152" tIns="36576" bIns="36576"/>
          <a:lstStyle/>
          <a:p>
            <a:pPr algn="ctr"/>
          </a:p>
        </p:txBody>
      </p:sp>
      <p:sp>
        <p:nvSpPr>
          <p:cNvPr id="35" name="Freeform 34"/>
          <p:cNvSpPr/>
          <p:nvPr/>
        </p:nvSpPr>
        <p:spPr>
          <a:xfrm>
            <a:off x="2067622" y="2824398"/>
            <a:ext cx="98427" cy="84125"/>
          </a:xfrm>
          <a:custGeom>
            <a:avLst/>
            <a:gdLst/>
            <a:ahLst/>
            <a:cxnLst/>
            <a:rect l="l" t="t" r="r" b="b"/>
            <a:pathLst>
              <a:path w="98427" h="84125">
                <a:moveTo>
                  <a:pt x="0" y="84125"/>
                </a:moveTo>
                <a:lnTo>
                  <a:pt x="0" y="33650"/>
                </a:lnTo>
                <a:lnTo>
                  <a:pt x="22967" y="0"/>
                </a:lnTo>
                <a:lnTo>
                  <a:pt x="75460" y="0"/>
                </a:lnTo>
                <a:lnTo>
                  <a:pt x="98427" y="33650"/>
                </a:lnTo>
                <a:lnTo>
                  <a:pt x="98427" y="84125"/>
                </a:lnTo>
              </a:path>
            </a:pathLst>
          </a:custGeom>
          <a:noFill/>
          <a:ln w="17780">
            <a:solidFill>
              <a:srgbClr val="6B3FA0"/>
            </a:solidFill>
          </a:ln>
          <a:effectLst/>
        </p:spPr>
        <p:txBody>
          <a:bodyPr rtlCol="0" anchor="ctr"/>
          <a:lstStyle/>
          <a:p>
            <a:pPr algn="ctr"/>
          </a:p>
        </p:txBody>
      </p:sp>
      <p:sp>
        <p:nvSpPr>
          <p:cNvPr id="36" name="Rounded Rectangle 35"/>
          <p:cNvSpPr/>
          <p:nvPr/>
        </p:nvSpPr>
        <p:spPr>
          <a:xfrm>
            <a:off x="1956816" y="3072384"/>
            <a:ext cx="1371600" cy="246888"/>
          </a:xfrm>
          <a:prstGeom prst="roundRect">
            <a:avLst>
              <a:gd name="adj" fmla="val 38461"/>
            </a:avLst>
          </a:prstGeom>
          <a:solidFill>
            <a:srgbClr val="EFE8F8"/>
          </a:solidFill>
          <a:ln w="15240">
            <a:solidFill>
              <a:srgbClr val="6B3FA0"/>
            </a:solidFill>
          </a:ln>
          <a:effectLst/>
        </p:spPr>
        <p:txBody>
          <a:bodyPr rtlCol="0" anchor="ctr" wrap="square" lIns="73152" rIns="73152" tIns="36576" bIns="36576"/>
          <a:lstStyle/>
          <a:p>
            <a:pPr algn="ctr">
              <a:spcBef>
                <a:spcPts val="0"/>
              </a:spcBef>
              <a:spcAft>
                <a:spcPts val="0"/>
              </a:spcAft>
            </a:pPr>
            <a:r>
              <a:rPr sz="1250" b="0" i="0">
                <a:solidFill>
                  <a:srgbClr val="14202E"/>
                </a:solidFill>
                <a:latin typeface="Calibri"/>
              </a:rPr>
              <a:t>Params  public</a:t>
            </a:r>
          </a:p>
        </p:txBody>
      </p:sp>
      <p:sp>
        <p:nvSpPr>
          <p:cNvPr id="37" name="Rounded Rectangle 36"/>
          <p:cNvSpPr/>
          <p:nvPr/>
        </p:nvSpPr>
        <p:spPr>
          <a:xfrm>
            <a:off x="3592068" y="3986784"/>
            <a:ext cx="1371600" cy="246888"/>
          </a:xfrm>
          <a:prstGeom prst="roundRect">
            <a:avLst>
              <a:gd name="adj" fmla="val 38461"/>
            </a:avLst>
          </a:prstGeom>
          <a:solidFill>
            <a:srgbClr val="E4EEF9"/>
          </a:solidFill>
          <a:ln w="15240">
            <a:solidFill>
              <a:srgbClr val="1D5EA8"/>
            </a:solidFill>
            <a:prstDash val="dash"/>
          </a:ln>
          <a:effectLst/>
        </p:spPr>
        <p:txBody>
          <a:bodyPr rtlCol="0" anchor="ctr" wrap="square" lIns="274320" rIns="274320" tIns="36576" bIns="36576"/>
          <a:lstStyle/>
          <a:p>
            <a:pPr algn="l">
              <a:spcBef>
                <a:spcPts val="0"/>
              </a:spcBef>
              <a:spcAft>
                <a:spcPts val="0"/>
              </a:spcAft>
            </a:pPr>
            <a:r>
              <a:rPr sz="1250" b="0" i="1">
                <a:solidFill>
                  <a:srgbClr val="14202E"/>
                </a:solidFill>
                <a:latin typeface="Cambria"/>
              </a:rPr>
              <a:t>sk</a:t>
            </a:r>
            <a:r>
              <a:rPr sz="1250" b="0" i="1" baseline="-25000">
                <a:solidFill>
                  <a:srgbClr val="14202E"/>
                </a:solidFill>
                <a:latin typeface="Cambria"/>
              </a:rPr>
              <a:t>i</a:t>
            </a:r>
            <a:r>
              <a:rPr sz="1250" b="0" i="0">
                <a:solidFill>
                  <a:srgbClr val="14202E"/>
                </a:solidFill>
                <a:latin typeface="Calibri"/>
              </a:rPr>
              <a:t>  secret</a:t>
            </a:r>
          </a:p>
        </p:txBody>
      </p:sp>
      <p:sp>
        <p:nvSpPr>
          <p:cNvPr id="38" name="Rounded Rectangle 37"/>
          <p:cNvSpPr/>
          <p:nvPr/>
        </p:nvSpPr>
        <p:spPr>
          <a:xfrm>
            <a:off x="3670066" y="4097243"/>
            <a:ext cx="164043" cy="109362"/>
          </a:xfrm>
          <a:prstGeom prst="roundRect">
            <a:avLst>
              <a:gd name="adj" fmla="val 25083"/>
            </a:avLst>
          </a:prstGeom>
          <a:solidFill>
            <a:srgbClr val="1D5EA8"/>
          </a:solidFill>
          <a:ln>
            <a:noFill/>
          </a:ln>
          <a:effectLst/>
        </p:spPr>
        <p:txBody>
          <a:bodyPr rtlCol="0" anchor="ctr" wrap="square" lIns="73152" rIns="73152" tIns="36576" bIns="36576"/>
          <a:lstStyle/>
          <a:p>
            <a:pPr algn="ctr"/>
          </a:p>
        </p:txBody>
      </p:sp>
      <p:sp>
        <p:nvSpPr>
          <p:cNvPr id="39" name="Freeform 38"/>
          <p:cNvSpPr/>
          <p:nvPr/>
        </p:nvSpPr>
        <p:spPr>
          <a:xfrm>
            <a:off x="3702874" y="4013118"/>
            <a:ext cx="98427" cy="84125"/>
          </a:xfrm>
          <a:custGeom>
            <a:avLst/>
            <a:gdLst/>
            <a:ahLst/>
            <a:cxnLst/>
            <a:rect l="l" t="t" r="r" b="b"/>
            <a:pathLst>
              <a:path w="98427" h="84125">
                <a:moveTo>
                  <a:pt x="0" y="84125"/>
                </a:moveTo>
                <a:lnTo>
                  <a:pt x="0" y="33650"/>
                </a:lnTo>
                <a:lnTo>
                  <a:pt x="22967" y="0"/>
                </a:lnTo>
                <a:lnTo>
                  <a:pt x="75460" y="0"/>
                </a:lnTo>
                <a:lnTo>
                  <a:pt x="98427" y="33650"/>
                </a:lnTo>
                <a:lnTo>
                  <a:pt x="98427" y="84125"/>
                </a:lnTo>
              </a:path>
            </a:pathLst>
          </a:custGeom>
          <a:noFill/>
          <a:ln w="17780">
            <a:solidFill>
              <a:srgbClr val="1D5EA8"/>
            </a:solidFill>
          </a:ln>
          <a:effectLst/>
        </p:spPr>
        <p:txBody>
          <a:bodyPr rtlCol="0" anchor="ctr"/>
          <a:lstStyle/>
          <a:p>
            <a:pPr algn="ctr"/>
          </a:p>
        </p:txBody>
      </p:sp>
      <p:sp>
        <p:nvSpPr>
          <p:cNvPr id="40" name="Rounded Rectangle 39"/>
          <p:cNvSpPr/>
          <p:nvPr/>
        </p:nvSpPr>
        <p:spPr>
          <a:xfrm>
            <a:off x="3592068" y="4261104"/>
            <a:ext cx="1371600" cy="246888"/>
          </a:xfrm>
          <a:prstGeom prst="roundRect">
            <a:avLst>
              <a:gd name="adj" fmla="val 38461"/>
            </a:avLst>
          </a:prstGeom>
          <a:solidFill>
            <a:srgbClr val="E4EEF9"/>
          </a:solidFill>
          <a:ln w="15240">
            <a:solidFill>
              <a:srgbClr val="1D5EA8"/>
            </a:solidFill>
          </a:ln>
          <a:effectLst/>
        </p:spPr>
        <p:txBody>
          <a:bodyPr rtlCol="0" anchor="ctr" wrap="square" lIns="73152" rIns="73152" tIns="36576" bIns="36576"/>
          <a:lstStyle/>
          <a:p>
            <a:pPr algn="ctr">
              <a:spcBef>
                <a:spcPts val="0"/>
              </a:spcBef>
              <a:spcAft>
                <a:spcPts val="0"/>
              </a:spcAft>
            </a:pPr>
            <a:r>
              <a:rPr sz="1250" b="0" i="1">
                <a:solidFill>
                  <a:srgbClr val="14202E"/>
                </a:solidFill>
                <a:latin typeface="Cambria"/>
              </a:rPr>
              <a:t>pk</a:t>
            </a:r>
            <a:r>
              <a:rPr sz="1250" b="0" i="1" baseline="-25000">
                <a:solidFill>
                  <a:srgbClr val="14202E"/>
                </a:solidFill>
                <a:latin typeface="Cambria"/>
              </a:rPr>
              <a:t>i</a:t>
            </a:r>
            <a:r>
              <a:rPr sz="1250" b="0" i="0">
                <a:solidFill>
                  <a:srgbClr val="14202E"/>
                </a:solidFill>
                <a:latin typeface="Calibri"/>
              </a:rPr>
              <a:t>  public</a:t>
            </a:r>
          </a:p>
        </p:txBody>
      </p:sp>
      <p:sp>
        <p:nvSpPr>
          <p:cNvPr id="41" name="Rounded Rectangle 40"/>
          <p:cNvSpPr/>
          <p:nvPr/>
        </p:nvSpPr>
        <p:spPr>
          <a:xfrm>
            <a:off x="5227319" y="2798064"/>
            <a:ext cx="1371600" cy="246888"/>
          </a:xfrm>
          <a:prstGeom prst="roundRect">
            <a:avLst>
              <a:gd name="adj" fmla="val 38461"/>
            </a:avLst>
          </a:prstGeom>
          <a:solidFill>
            <a:srgbClr val="EFE8F8"/>
          </a:solidFill>
          <a:ln w="15240">
            <a:solidFill>
              <a:srgbClr val="6B3FA0"/>
            </a:solidFill>
            <a:prstDash val="dash"/>
          </a:ln>
          <a:effectLst/>
        </p:spPr>
        <p:txBody>
          <a:bodyPr rtlCol="0" anchor="ctr" wrap="square" lIns="274320" rIns="274320" tIns="36576" bIns="36576"/>
          <a:lstStyle/>
          <a:p>
            <a:pPr algn="l">
              <a:spcBef>
                <a:spcPts val="0"/>
              </a:spcBef>
              <a:spcAft>
                <a:spcPts val="0"/>
              </a:spcAft>
            </a:pPr>
            <a:r>
              <a:rPr sz="1250" b="0" i="1">
                <a:solidFill>
                  <a:srgbClr val="14202E"/>
                </a:solidFill>
                <a:latin typeface="Cambria"/>
              </a:rPr>
              <a:t>c</a:t>
            </a:r>
            <a:r>
              <a:rPr sz="1250" b="0" i="1" baseline="-25000">
                <a:solidFill>
                  <a:srgbClr val="14202E"/>
                </a:solidFill>
                <a:latin typeface="Cambria"/>
              </a:rPr>
              <a:t>i</a:t>
            </a:r>
            <a:r>
              <a:rPr sz="1250" b="0" i="0">
                <a:solidFill>
                  <a:srgbClr val="14202E"/>
                </a:solidFill>
                <a:latin typeface="Calibri"/>
              </a:rPr>
              <a:t>  secret</a:t>
            </a:r>
          </a:p>
        </p:txBody>
      </p:sp>
      <p:sp>
        <p:nvSpPr>
          <p:cNvPr id="42" name="Rounded Rectangle 41"/>
          <p:cNvSpPr/>
          <p:nvPr/>
        </p:nvSpPr>
        <p:spPr>
          <a:xfrm>
            <a:off x="5305318" y="2908523"/>
            <a:ext cx="164043" cy="109362"/>
          </a:xfrm>
          <a:prstGeom prst="roundRect">
            <a:avLst>
              <a:gd name="adj" fmla="val 25083"/>
            </a:avLst>
          </a:prstGeom>
          <a:solidFill>
            <a:srgbClr val="6B3FA0"/>
          </a:solidFill>
          <a:ln>
            <a:noFill/>
          </a:ln>
          <a:effectLst/>
        </p:spPr>
        <p:txBody>
          <a:bodyPr rtlCol="0" anchor="ctr" wrap="square" lIns="73152" rIns="73152" tIns="36576" bIns="36576"/>
          <a:lstStyle/>
          <a:p>
            <a:pPr algn="ctr"/>
          </a:p>
        </p:txBody>
      </p:sp>
      <p:sp>
        <p:nvSpPr>
          <p:cNvPr id="43" name="Freeform 42"/>
          <p:cNvSpPr/>
          <p:nvPr/>
        </p:nvSpPr>
        <p:spPr>
          <a:xfrm>
            <a:off x="5338126" y="2824398"/>
            <a:ext cx="98427" cy="84125"/>
          </a:xfrm>
          <a:custGeom>
            <a:avLst/>
            <a:gdLst/>
            <a:ahLst/>
            <a:cxnLst/>
            <a:rect l="l" t="t" r="r" b="b"/>
            <a:pathLst>
              <a:path w="98427" h="84125">
                <a:moveTo>
                  <a:pt x="0" y="84125"/>
                </a:moveTo>
                <a:lnTo>
                  <a:pt x="0" y="33650"/>
                </a:lnTo>
                <a:lnTo>
                  <a:pt x="22967" y="0"/>
                </a:lnTo>
                <a:lnTo>
                  <a:pt x="75460" y="0"/>
                </a:lnTo>
                <a:lnTo>
                  <a:pt x="98427" y="33650"/>
                </a:lnTo>
                <a:lnTo>
                  <a:pt x="98427" y="84125"/>
                </a:lnTo>
              </a:path>
            </a:pathLst>
          </a:custGeom>
          <a:noFill/>
          <a:ln w="17780">
            <a:solidFill>
              <a:srgbClr val="6B3FA0"/>
            </a:solidFill>
          </a:ln>
          <a:effectLst/>
        </p:spPr>
        <p:txBody>
          <a:bodyPr rtlCol="0" anchor="ctr"/>
          <a:lstStyle/>
          <a:p>
            <a:pPr algn="ctr"/>
          </a:p>
        </p:txBody>
      </p:sp>
      <p:sp>
        <p:nvSpPr>
          <p:cNvPr id="44" name="Rounded Rectangle 43"/>
          <p:cNvSpPr/>
          <p:nvPr/>
        </p:nvSpPr>
        <p:spPr>
          <a:xfrm>
            <a:off x="5227319" y="3072384"/>
            <a:ext cx="1371600" cy="246888"/>
          </a:xfrm>
          <a:prstGeom prst="roundRect">
            <a:avLst>
              <a:gd name="adj" fmla="val 38461"/>
            </a:avLst>
          </a:prstGeom>
          <a:solidFill>
            <a:srgbClr val="EFE8F8"/>
          </a:solidFill>
          <a:ln w="15240">
            <a:solidFill>
              <a:srgbClr val="6B3FA0"/>
            </a:solidFill>
          </a:ln>
          <a:effectLst/>
        </p:spPr>
        <p:txBody>
          <a:bodyPr rtlCol="0" anchor="ctr" wrap="square" lIns="73152" rIns="73152" tIns="36576" bIns="36576"/>
          <a:lstStyle/>
          <a:p>
            <a:pPr algn="ctr">
              <a:spcBef>
                <a:spcPts val="0"/>
              </a:spcBef>
              <a:spcAft>
                <a:spcPts val="0"/>
              </a:spcAft>
            </a:pPr>
            <a:r>
              <a:rPr sz="1250" b="0" i="1">
                <a:solidFill>
                  <a:srgbClr val="14202E"/>
                </a:solidFill>
                <a:latin typeface="Cambria"/>
              </a:rPr>
              <a:t>R</a:t>
            </a:r>
            <a:r>
              <a:rPr sz="1250" b="0" i="1" baseline="-25000">
                <a:solidFill>
                  <a:srgbClr val="14202E"/>
                </a:solidFill>
                <a:latin typeface="Cambria"/>
              </a:rPr>
              <a:t>i</a:t>
            </a:r>
            <a:r>
              <a:rPr sz="1250" b="0" i="0">
                <a:solidFill>
                  <a:srgbClr val="14202E"/>
                </a:solidFill>
                <a:latin typeface="Calibri"/>
              </a:rPr>
              <a:t>  public</a:t>
            </a:r>
          </a:p>
        </p:txBody>
      </p:sp>
      <p:sp>
        <p:nvSpPr>
          <p:cNvPr id="45" name="Rounded Rectangle 44"/>
          <p:cNvSpPr/>
          <p:nvPr/>
        </p:nvSpPr>
        <p:spPr>
          <a:xfrm>
            <a:off x="6862572" y="3986784"/>
            <a:ext cx="1371600" cy="246888"/>
          </a:xfrm>
          <a:prstGeom prst="roundRect">
            <a:avLst>
              <a:gd name="adj" fmla="val 38461"/>
            </a:avLst>
          </a:prstGeom>
          <a:solidFill>
            <a:srgbClr val="E4EEF9"/>
          </a:solidFill>
          <a:ln w="15240">
            <a:solidFill>
              <a:srgbClr val="1D5EA8"/>
            </a:solidFill>
            <a:prstDash val="dash"/>
          </a:ln>
          <a:effectLst/>
        </p:spPr>
        <p:txBody>
          <a:bodyPr rtlCol="0" anchor="ctr" wrap="square" lIns="274320" rIns="274320" tIns="36576" bIns="36576"/>
          <a:lstStyle/>
          <a:p>
            <a:pPr algn="l">
              <a:spcBef>
                <a:spcPts val="0"/>
              </a:spcBef>
              <a:spcAft>
                <a:spcPts val="0"/>
              </a:spcAft>
            </a:pPr>
            <a:r>
              <a:rPr sz="1250" b="0" i="1">
                <a:solidFill>
                  <a:srgbClr val="14202E"/>
                </a:solidFill>
                <a:latin typeface="Cambria"/>
              </a:rPr>
              <a:t>t</a:t>
            </a:r>
            <a:r>
              <a:rPr sz="1250" b="0" i="1" baseline="-25000">
                <a:solidFill>
                  <a:srgbClr val="14202E"/>
                </a:solidFill>
                <a:latin typeface="Cambria"/>
              </a:rPr>
              <a:t>i</a:t>
            </a:r>
            <a:r>
              <a:rPr sz="1250" b="0" i="0">
                <a:solidFill>
                  <a:srgbClr val="14202E"/>
                </a:solidFill>
                <a:latin typeface="Calibri"/>
              </a:rPr>
              <a:t>  secret</a:t>
            </a:r>
          </a:p>
        </p:txBody>
      </p:sp>
      <p:sp>
        <p:nvSpPr>
          <p:cNvPr id="46" name="Rounded Rectangle 45"/>
          <p:cNvSpPr/>
          <p:nvPr/>
        </p:nvSpPr>
        <p:spPr>
          <a:xfrm>
            <a:off x="6940570" y="4097243"/>
            <a:ext cx="164043" cy="109362"/>
          </a:xfrm>
          <a:prstGeom prst="roundRect">
            <a:avLst>
              <a:gd name="adj" fmla="val 25083"/>
            </a:avLst>
          </a:prstGeom>
          <a:solidFill>
            <a:srgbClr val="1D5EA8"/>
          </a:solidFill>
          <a:ln>
            <a:noFill/>
          </a:ln>
          <a:effectLst/>
        </p:spPr>
        <p:txBody>
          <a:bodyPr rtlCol="0" anchor="ctr" wrap="square" lIns="73152" rIns="73152" tIns="36576" bIns="36576"/>
          <a:lstStyle/>
          <a:p>
            <a:pPr algn="ctr"/>
          </a:p>
        </p:txBody>
      </p:sp>
      <p:sp>
        <p:nvSpPr>
          <p:cNvPr id="47" name="Freeform 46"/>
          <p:cNvSpPr/>
          <p:nvPr/>
        </p:nvSpPr>
        <p:spPr>
          <a:xfrm>
            <a:off x="6973378" y="4013118"/>
            <a:ext cx="98427" cy="84125"/>
          </a:xfrm>
          <a:custGeom>
            <a:avLst/>
            <a:gdLst/>
            <a:ahLst/>
            <a:cxnLst/>
            <a:rect l="l" t="t" r="r" b="b"/>
            <a:pathLst>
              <a:path w="98427" h="84125">
                <a:moveTo>
                  <a:pt x="0" y="84125"/>
                </a:moveTo>
                <a:lnTo>
                  <a:pt x="0" y="33650"/>
                </a:lnTo>
                <a:lnTo>
                  <a:pt x="22967" y="0"/>
                </a:lnTo>
                <a:lnTo>
                  <a:pt x="75460" y="0"/>
                </a:lnTo>
                <a:lnTo>
                  <a:pt x="98427" y="33650"/>
                </a:lnTo>
                <a:lnTo>
                  <a:pt x="98427" y="84125"/>
                </a:lnTo>
              </a:path>
            </a:pathLst>
          </a:custGeom>
          <a:noFill/>
          <a:ln w="17780">
            <a:solidFill>
              <a:srgbClr val="1D5EA8"/>
            </a:solidFill>
          </a:ln>
          <a:effectLst/>
        </p:spPr>
        <p:txBody>
          <a:bodyPr rtlCol="0" anchor="ctr"/>
          <a:lstStyle/>
          <a:p>
            <a:pPr algn="ctr"/>
          </a:p>
        </p:txBody>
      </p:sp>
      <p:sp>
        <p:nvSpPr>
          <p:cNvPr id="48" name="Rounded Rectangle 47"/>
          <p:cNvSpPr/>
          <p:nvPr/>
        </p:nvSpPr>
        <p:spPr>
          <a:xfrm>
            <a:off x="6862572" y="4261104"/>
            <a:ext cx="1371600" cy="246888"/>
          </a:xfrm>
          <a:prstGeom prst="roundRect">
            <a:avLst>
              <a:gd name="adj" fmla="val 38461"/>
            </a:avLst>
          </a:prstGeom>
          <a:solidFill>
            <a:srgbClr val="E4EEF9"/>
          </a:solidFill>
          <a:ln w="15240">
            <a:solidFill>
              <a:srgbClr val="1D5EA8"/>
            </a:solidFill>
          </a:ln>
          <a:effectLst/>
        </p:spPr>
        <p:txBody>
          <a:bodyPr rtlCol="0" anchor="ctr" wrap="square" lIns="73152" rIns="73152" tIns="36576" bIns="36576"/>
          <a:lstStyle/>
          <a:p>
            <a:pPr algn="ctr">
              <a:spcBef>
                <a:spcPts val="0"/>
              </a:spcBef>
              <a:spcAft>
                <a:spcPts val="0"/>
              </a:spcAft>
            </a:pPr>
            <a:r>
              <a:rPr sz="1250" b="0" i="1">
                <a:solidFill>
                  <a:srgbClr val="14202E"/>
                </a:solidFill>
                <a:latin typeface="Cambria"/>
              </a:rPr>
              <a:t>δ</a:t>
            </a:r>
            <a:r>
              <a:rPr sz="1250" b="0" i="1" baseline="-25000">
                <a:solidFill>
                  <a:srgbClr val="14202E"/>
                </a:solidFill>
                <a:latin typeface="Cambria"/>
              </a:rPr>
              <a:t>i</a:t>
            </a:r>
            <a:r>
              <a:rPr sz="1250" b="0" i="0">
                <a:solidFill>
                  <a:srgbClr val="14202E"/>
                </a:solidFill>
                <a:latin typeface="Cambria"/>
              </a:rPr>
              <a:t> = (</a:t>
            </a:r>
            <a:r>
              <a:rPr sz="1250" b="0" i="1">
                <a:solidFill>
                  <a:srgbClr val="1E7B4F"/>
                </a:solidFill>
                <a:latin typeface="Cambria"/>
              </a:rPr>
              <a:t>T</a:t>
            </a:r>
            <a:r>
              <a:rPr sz="1250" b="0" i="1" baseline="-25000">
                <a:solidFill>
                  <a:srgbClr val="1E7B4F"/>
                </a:solidFill>
                <a:latin typeface="Cambria"/>
              </a:rPr>
              <a:t>i</a:t>
            </a:r>
            <a:r>
              <a:rPr sz="1250" b="0" i="0">
                <a:solidFill>
                  <a:srgbClr val="14202E"/>
                </a:solidFill>
                <a:latin typeface="Cambria"/>
              </a:rPr>
              <a:t>, </a:t>
            </a:r>
            <a:r>
              <a:rPr sz="1250" b="0" i="1">
                <a:solidFill>
                  <a:srgbClr val="14202E"/>
                </a:solidFill>
                <a:latin typeface="Cambria"/>
              </a:rPr>
              <a:t>z</a:t>
            </a:r>
            <a:r>
              <a:rPr sz="1250" b="0" i="1" baseline="-25000">
                <a:solidFill>
                  <a:srgbClr val="14202E"/>
                </a:solidFill>
                <a:latin typeface="Cambria"/>
              </a:rPr>
              <a:t>i</a:t>
            </a:r>
            <a:r>
              <a:rPr sz="1250" b="0" i="0">
                <a:solidFill>
                  <a:srgbClr val="14202E"/>
                </a:solidFill>
                <a:latin typeface="Cambria"/>
              </a:rPr>
              <a:t>)</a:t>
            </a:r>
          </a:p>
        </p:txBody>
      </p:sp>
      <p:sp>
        <p:nvSpPr>
          <p:cNvPr id="49" name="Rounded Rectangle 48"/>
          <p:cNvSpPr/>
          <p:nvPr/>
        </p:nvSpPr>
        <p:spPr>
          <a:xfrm>
            <a:off x="8497824" y="5084064"/>
            <a:ext cx="1371600" cy="246888"/>
          </a:xfrm>
          <a:prstGeom prst="roundRect">
            <a:avLst>
              <a:gd name="adj" fmla="val 38461"/>
            </a:avLst>
          </a:prstGeom>
          <a:solidFill>
            <a:srgbClr val="FBF0DC"/>
          </a:solidFill>
          <a:ln w="15240">
            <a:solidFill>
              <a:srgbClr val="B26A00"/>
            </a:solidFill>
          </a:ln>
          <a:effectLst/>
        </p:spPr>
        <p:txBody>
          <a:bodyPr rtlCol="0" anchor="ctr" wrap="square" lIns="73152" rIns="73152" tIns="36576" bIns="36576"/>
          <a:lstStyle/>
          <a:p>
            <a:pPr algn="ctr">
              <a:spcBef>
                <a:spcPts val="0"/>
              </a:spcBef>
              <a:spcAft>
                <a:spcPts val="0"/>
              </a:spcAft>
            </a:pPr>
            <a:r>
              <a:rPr sz="1250" b="0" i="1">
                <a:solidFill>
                  <a:srgbClr val="14202E"/>
                </a:solidFill>
                <a:latin typeface="Cambria"/>
              </a:rPr>
              <a:t>δ</a:t>
            </a:r>
            <a:r>
              <a:rPr sz="1250" b="0" i="0">
                <a:solidFill>
                  <a:srgbClr val="14202E"/>
                </a:solidFill>
                <a:latin typeface="Cambria"/>
              </a:rPr>
              <a:t> = (</a:t>
            </a:r>
            <a:r>
              <a:rPr sz="1250" b="0" i="1">
                <a:solidFill>
                  <a:srgbClr val="14202E"/>
                </a:solidFill>
                <a:latin typeface="Cambria"/>
              </a:rPr>
              <a:t>T</a:t>
            </a:r>
            <a:r>
              <a:rPr sz="1250" b="0" i="0">
                <a:solidFill>
                  <a:srgbClr val="14202E"/>
                </a:solidFill>
                <a:latin typeface="Cambria"/>
              </a:rPr>
              <a:t>, </a:t>
            </a:r>
            <a:r>
              <a:rPr sz="1250" b="0" i="1">
                <a:solidFill>
                  <a:srgbClr val="14202E"/>
                </a:solidFill>
                <a:latin typeface="Cambria"/>
              </a:rPr>
              <a:t>z</a:t>
            </a:r>
            <a:r>
              <a:rPr sz="1250" b="0" i="0">
                <a:solidFill>
                  <a:srgbClr val="14202E"/>
                </a:solidFill>
                <a:latin typeface="Cambria"/>
              </a:rPr>
              <a:t>)</a:t>
            </a:r>
          </a:p>
        </p:txBody>
      </p:sp>
      <p:sp>
        <p:nvSpPr>
          <p:cNvPr id="50" name="Rounded Rectangle 49"/>
          <p:cNvSpPr/>
          <p:nvPr/>
        </p:nvSpPr>
        <p:spPr>
          <a:xfrm>
            <a:off x="10133076" y="5916168"/>
            <a:ext cx="658368" cy="246888"/>
          </a:xfrm>
          <a:prstGeom prst="roundRect">
            <a:avLst>
              <a:gd name="adj" fmla="val 38461"/>
            </a:avLst>
          </a:prstGeom>
          <a:solidFill>
            <a:srgbClr val="E2F3EA"/>
          </a:solidFill>
          <a:ln w="15240">
            <a:solidFill>
              <a:srgbClr val="1E7B4F"/>
            </a:solidFill>
          </a:ln>
          <a:effectLst/>
        </p:spPr>
        <p:txBody>
          <a:bodyPr rtlCol="0" anchor="ctr" wrap="square" lIns="18288" rIns="18288" tIns="36576" bIns="36576"/>
          <a:lstStyle/>
          <a:p>
            <a:pPr algn="ctr">
              <a:spcBef>
                <a:spcPts val="0"/>
              </a:spcBef>
              <a:spcAft>
                <a:spcPts val="0"/>
              </a:spcAft>
            </a:pPr>
            <a:r>
              <a:rPr sz="1200" b="1" i="0">
                <a:solidFill>
                  <a:srgbClr val="14202E"/>
                </a:solidFill>
                <a:latin typeface="Calibri"/>
              </a:rPr>
              <a:t>1 valid</a:t>
            </a:r>
          </a:p>
        </p:txBody>
      </p:sp>
      <p:sp>
        <p:nvSpPr>
          <p:cNvPr id="51" name="Rounded Rectangle 50"/>
          <p:cNvSpPr/>
          <p:nvPr/>
        </p:nvSpPr>
        <p:spPr>
          <a:xfrm>
            <a:off x="10846308" y="5916168"/>
            <a:ext cx="658368" cy="246888"/>
          </a:xfrm>
          <a:prstGeom prst="roundRect">
            <a:avLst>
              <a:gd name="adj" fmla="val 38461"/>
            </a:avLst>
          </a:prstGeom>
          <a:solidFill>
            <a:srgbClr val="FCE9E7"/>
          </a:solidFill>
          <a:ln w="15240">
            <a:solidFill>
              <a:srgbClr val="B3261E"/>
            </a:solidFill>
          </a:ln>
          <a:effectLst/>
        </p:spPr>
        <p:txBody>
          <a:bodyPr rtlCol="0" anchor="ctr" wrap="square" lIns="18288" rIns="18288" tIns="36576" bIns="36576"/>
          <a:lstStyle/>
          <a:p>
            <a:pPr algn="ctr">
              <a:spcBef>
                <a:spcPts val="0"/>
              </a:spcBef>
              <a:spcAft>
                <a:spcPts val="0"/>
              </a:spcAft>
            </a:pPr>
            <a:r>
              <a:rPr sz="1200" b="1" i="0">
                <a:solidFill>
                  <a:srgbClr val="14202E"/>
                </a:solidFill>
                <a:latin typeface="Calibri"/>
              </a:rPr>
              <a:t>0 reject</a:t>
            </a:r>
          </a:p>
        </p:txBody>
      </p:sp>
      <p:cxnSp>
        <p:nvCxnSpPr>
          <p:cNvPr id="52" name="Connector 51"/>
          <p:cNvCxnSpPr/>
          <p:nvPr/>
        </p:nvCxnSpPr>
        <p:spPr>
          <a:xfrm>
            <a:off x="2642616" y="3291840"/>
            <a:ext cx="0" cy="2167128"/>
          </a:xfrm>
          <a:prstGeom prst="line">
            <a:avLst/>
          </a:prstGeom>
          <a:ln w="22225">
            <a:solidFill>
              <a:srgbClr val="6B3FA0"/>
            </a:solidFill>
            <a:tailEnd type="triangle" w="med" len="med"/>
          </a:ln>
        </p:spPr>
      </p:cxnSp>
      <p:sp>
        <p:nvSpPr>
          <p:cNvPr id="53" name="TextBox 52"/>
          <p:cNvSpPr txBox="1"/>
          <p:nvPr/>
        </p:nvSpPr>
        <p:spPr>
          <a:xfrm>
            <a:off x="2743200" y="4645152"/>
            <a:ext cx="1463040" cy="640080"/>
          </a:xfrm>
          <a:prstGeom prst="rect">
            <a:avLst/>
          </a:prstGeom>
          <a:noFill/>
        </p:spPr>
        <p:txBody>
          <a:bodyPr wrap="square" lIns="0" rIns="0" tIns="0" bIns="0" anchor="t">
            <a:spAutoFit/>
          </a:bodyPr>
          <a:lstStyle/>
          <a:p>
            <a:pPr algn="l">
              <a:lnSpc>
                <a:spcPct val="95000"/>
              </a:lnSpc>
              <a:spcBef>
                <a:spcPts val="0"/>
              </a:spcBef>
              <a:spcAft>
                <a:spcPts val="0"/>
              </a:spcAft>
            </a:pPr>
            <a:r>
              <a:rPr sz="1250" b="0" i="0">
                <a:solidFill>
                  <a:srgbClr val="5B6675"/>
                </a:solidFill>
                <a:latin typeface="Calibri"/>
              </a:rPr>
              <a:t>Params published via the cloud server</a:t>
            </a:r>
          </a:p>
        </p:txBody>
      </p:sp>
      <p:sp>
        <p:nvSpPr>
          <p:cNvPr id="54" name="Rounded Rectangle 53"/>
          <p:cNvSpPr/>
          <p:nvPr/>
        </p:nvSpPr>
        <p:spPr>
          <a:xfrm>
            <a:off x="1956816" y="5458968"/>
            <a:ext cx="1371600" cy="384048"/>
          </a:xfrm>
          <a:prstGeom prst="roundRect">
            <a:avLst>
              <a:gd name="adj" fmla="val 14285"/>
            </a:avLst>
          </a:prstGeom>
          <a:solidFill>
            <a:srgbClr val="FFFFFF"/>
          </a:solidFill>
          <a:ln w="15875">
            <a:solidFill>
              <a:srgbClr val="455A6E"/>
            </a:solidFill>
          </a:ln>
          <a:effectLst/>
        </p:spPr>
        <p:txBody>
          <a:bodyPr rtlCol="0" anchor="ctr" wrap="square" lIns="73152" rIns="73152" tIns="36576" bIns="36576"/>
          <a:lstStyle/>
          <a:p>
            <a:pPr algn="ctr">
              <a:spcBef>
                <a:spcPts val="0"/>
              </a:spcBef>
              <a:spcAft>
                <a:spcPts val="0"/>
              </a:spcAft>
            </a:pPr>
            <a:r>
              <a:rPr sz="1300" b="0" i="0">
                <a:solidFill>
                  <a:srgbClr val="14202E"/>
                </a:solidFill>
                <a:latin typeface="Calibri"/>
              </a:rPr>
              <a:t>stores Params</a:t>
            </a:r>
          </a:p>
        </p:txBody>
      </p:sp>
      <p:cxnSp>
        <p:nvCxnSpPr>
          <p:cNvPr id="55" name="Connector 54"/>
          <p:cNvCxnSpPr/>
          <p:nvPr/>
        </p:nvCxnSpPr>
        <p:spPr>
          <a:xfrm flipV="1">
            <a:off x="4277867" y="2514600"/>
            <a:ext cx="0" cy="978408"/>
          </a:xfrm>
          <a:prstGeom prst="line">
            <a:avLst/>
          </a:prstGeom>
          <a:ln w="22225">
            <a:solidFill>
              <a:srgbClr val="1D5EA8"/>
            </a:solidFill>
          </a:ln>
        </p:spPr>
      </p:cxnSp>
      <p:cxnSp>
        <p:nvCxnSpPr>
          <p:cNvPr id="56" name="Connector 55"/>
          <p:cNvCxnSpPr/>
          <p:nvPr/>
        </p:nvCxnSpPr>
        <p:spPr>
          <a:xfrm>
            <a:off x="4277867" y="2514600"/>
            <a:ext cx="949452" cy="0"/>
          </a:xfrm>
          <a:prstGeom prst="line">
            <a:avLst/>
          </a:prstGeom>
          <a:ln w="22225">
            <a:solidFill>
              <a:srgbClr val="1D5EA8"/>
            </a:solidFill>
            <a:tailEnd type="triangle" w="med" len="med"/>
          </a:ln>
        </p:spPr>
      </p:cxnSp>
      <p:sp>
        <p:nvSpPr>
          <p:cNvPr id="57" name="TextBox 56"/>
          <p:cNvSpPr txBox="1"/>
          <p:nvPr/>
        </p:nvSpPr>
        <p:spPr>
          <a:xfrm>
            <a:off x="3418332" y="2834640"/>
            <a:ext cx="822960" cy="256032"/>
          </a:xfrm>
          <a:prstGeom prst="rect">
            <a:avLst/>
          </a:prstGeom>
          <a:noFill/>
        </p:spPr>
        <p:txBody>
          <a:bodyPr wrap="square" lIns="0" rIns="0" tIns="0" bIns="0" anchor="t">
            <a:spAutoFit/>
          </a:bodyPr>
          <a:lstStyle/>
          <a:p>
            <a:pPr algn="r">
              <a:spcBef>
                <a:spcPts val="0"/>
              </a:spcBef>
              <a:spcAft>
                <a:spcPts val="0"/>
              </a:spcAft>
            </a:pPr>
            <a:r>
              <a:rPr sz="1250" b="0" i="1">
                <a:solidFill>
                  <a:srgbClr val="1D5EA8"/>
                </a:solidFill>
                <a:latin typeface="Cambria"/>
              </a:rPr>
              <a:t>id</a:t>
            </a:r>
            <a:r>
              <a:rPr sz="1250" b="0" i="1" baseline="-25000">
                <a:solidFill>
                  <a:srgbClr val="1D5EA8"/>
                </a:solidFill>
                <a:latin typeface="Cambria"/>
              </a:rPr>
              <a:t>i</a:t>
            </a:r>
            <a:r>
              <a:rPr sz="1250" b="0" i="0">
                <a:solidFill>
                  <a:srgbClr val="1D5EA8"/>
                </a:solidFill>
                <a:latin typeface="Cambria"/>
              </a:rPr>
              <a:t>, </a:t>
            </a:r>
            <a:r>
              <a:rPr sz="1250" b="0" i="1">
                <a:solidFill>
                  <a:srgbClr val="1D5EA8"/>
                </a:solidFill>
                <a:latin typeface="Cambria"/>
              </a:rPr>
              <a:t>pk</a:t>
            </a:r>
            <a:r>
              <a:rPr sz="1250" b="0" i="1" baseline="-25000">
                <a:solidFill>
                  <a:srgbClr val="1D5EA8"/>
                </a:solidFill>
                <a:latin typeface="Cambria"/>
              </a:rPr>
              <a:t>i</a:t>
            </a:r>
          </a:p>
        </p:txBody>
      </p:sp>
      <p:cxnSp>
        <p:nvCxnSpPr>
          <p:cNvPr id="58" name="Connector 57"/>
          <p:cNvCxnSpPr/>
          <p:nvPr/>
        </p:nvCxnSpPr>
        <p:spPr>
          <a:xfrm>
            <a:off x="6598919" y="2514600"/>
            <a:ext cx="958597" cy="0"/>
          </a:xfrm>
          <a:prstGeom prst="line">
            <a:avLst/>
          </a:prstGeom>
          <a:ln w="22225">
            <a:solidFill>
              <a:srgbClr val="6B3FA0"/>
            </a:solidFill>
            <a:prstDash val="dash"/>
          </a:ln>
        </p:spPr>
      </p:cxnSp>
      <p:cxnSp>
        <p:nvCxnSpPr>
          <p:cNvPr id="59" name="Connector 58"/>
          <p:cNvCxnSpPr/>
          <p:nvPr/>
        </p:nvCxnSpPr>
        <p:spPr>
          <a:xfrm>
            <a:off x="7557516" y="2514600"/>
            <a:ext cx="0" cy="978408"/>
          </a:xfrm>
          <a:prstGeom prst="line">
            <a:avLst/>
          </a:prstGeom>
          <a:ln w="22225">
            <a:solidFill>
              <a:srgbClr val="6B3FA0"/>
            </a:solidFill>
            <a:prstDash val="dash"/>
            <a:tailEnd type="triangle" w="med" len="med"/>
          </a:ln>
        </p:spPr>
      </p:cxnSp>
      <p:sp>
        <p:nvSpPr>
          <p:cNvPr id="60" name="TextBox 59"/>
          <p:cNvSpPr txBox="1"/>
          <p:nvPr/>
        </p:nvSpPr>
        <p:spPr>
          <a:xfrm>
            <a:off x="6653784" y="2240280"/>
            <a:ext cx="914400" cy="246888"/>
          </a:xfrm>
          <a:prstGeom prst="rect">
            <a:avLst/>
          </a:prstGeom>
          <a:noFill/>
        </p:spPr>
        <p:txBody>
          <a:bodyPr wrap="square" lIns="0" rIns="0" tIns="0" bIns="0" anchor="t">
            <a:spAutoFit/>
          </a:bodyPr>
          <a:lstStyle/>
          <a:p>
            <a:pPr algn="l">
              <a:spcBef>
                <a:spcPts val="0"/>
              </a:spcBef>
              <a:spcAft>
                <a:spcPts val="0"/>
              </a:spcAft>
            </a:pPr>
            <a:r>
              <a:rPr sz="1300" b="1" i="1">
                <a:solidFill>
                  <a:srgbClr val="6B3FA0"/>
                </a:solidFill>
                <a:latin typeface="Cambria"/>
              </a:rPr>
              <a:t>Cert</a:t>
            </a:r>
            <a:r>
              <a:rPr sz="1300" b="1" i="1" baseline="-25000">
                <a:solidFill>
                  <a:srgbClr val="6B3FA0"/>
                </a:solidFill>
                <a:latin typeface="Cambria"/>
              </a:rPr>
              <a:t>i</a:t>
            </a:r>
          </a:p>
        </p:txBody>
      </p:sp>
      <p:sp>
        <p:nvSpPr>
          <p:cNvPr id="61" name="TextBox 60"/>
          <p:cNvSpPr txBox="1"/>
          <p:nvPr/>
        </p:nvSpPr>
        <p:spPr>
          <a:xfrm>
            <a:off x="7648956" y="2724912"/>
            <a:ext cx="1463040" cy="640080"/>
          </a:xfrm>
          <a:prstGeom prst="rect">
            <a:avLst/>
          </a:prstGeom>
          <a:noFill/>
        </p:spPr>
        <p:txBody>
          <a:bodyPr wrap="square" lIns="0" rIns="0" tIns="0" bIns="0" anchor="t">
            <a:spAutoFit/>
          </a:bodyPr>
          <a:lstStyle/>
          <a:p>
            <a:pPr algn="l">
              <a:lnSpc>
                <a:spcPct val="95000"/>
              </a:lnSpc>
              <a:spcBef>
                <a:spcPts val="0"/>
              </a:spcBef>
              <a:spcAft>
                <a:spcPts val="0"/>
              </a:spcAft>
            </a:pPr>
            <a:r>
              <a:rPr sz="1250" b="0" i="0">
                <a:solidFill>
                  <a:srgbClr val="5B6675"/>
                </a:solidFill>
                <a:latin typeface="Calibri"/>
              </a:rPr>
              <a:t>delivery channel not specified</a:t>
            </a:r>
          </a:p>
        </p:txBody>
      </p:sp>
      <p:cxnSp>
        <p:nvCxnSpPr>
          <p:cNvPr id="62" name="Connector 61"/>
          <p:cNvCxnSpPr/>
          <p:nvPr/>
        </p:nvCxnSpPr>
        <p:spPr>
          <a:xfrm>
            <a:off x="8234172" y="3703320"/>
            <a:ext cx="949452" cy="0"/>
          </a:xfrm>
          <a:prstGeom prst="line">
            <a:avLst/>
          </a:prstGeom>
          <a:ln w="22225">
            <a:solidFill>
              <a:srgbClr val="1D5EA8"/>
            </a:solidFill>
          </a:ln>
        </p:spPr>
      </p:cxnSp>
      <p:cxnSp>
        <p:nvCxnSpPr>
          <p:cNvPr id="63" name="Connector 62"/>
          <p:cNvCxnSpPr/>
          <p:nvPr/>
        </p:nvCxnSpPr>
        <p:spPr>
          <a:xfrm>
            <a:off x="9183624" y="3703320"/>
            <a:ext cx="0" cy="978408"/>
          </a:xfrm>
          <a:prstGeom prst="line">
            <a:avLst/>
          </a:prstGeom>
          <a:ln w="22225">
            <a:solidFill>
              <a:srgbClr val="1D5EA8"/>
            </a:solidFill>
            <a:tailEnd type="triangle" w="med" len="med"/>
          </a:ln>
        </p:spPr>
      </p:cxnSp>
      <p:sp>
        <p:nvSpPr>
          <p:cNvPr id="64" name="TextBox 63"/>
          <p:cNvSpPr txBox="1"/>
          <p:nvPr/>
        </p:nvSpPr>
        <p:spPr>
          <a:xfrm>
            <a:off x="8289036" y="3438144"/>
            <a:ext cx="2011680" cy="246888"/>
          </a:xfrm>
          <a:prstGeom prst="rect">
            <a:avLst/>
          </a:prstGeom>
          <a:noFill/>
        </p:spPr>
        <p:txBody>
          <a:bodyPr wrap="square" lIns="0" rIns="0" tIns="0" bIns="0" anchor="t">
            <a:spAutoFit/>
          </a:bodyPr>
          <a:lstStyle/>
          <a:p>
            <a:pPr algn="l">
              <a:spcBef>
                <a:spcPts val="0"/>
              </a:spcBef>
              <a:spcAft>
                <a:spcPts val="0"/>
              </a:spcAft>
            </a:pPr>
            <a:r>
              <a:rPr sz="1250" b="0" i="1">
                <a:solidFill>
                  <a:srgbClr val="1D5EA8"/>
                </a:solidFill>
                <a:latin typeface="Cambria"/>
              </a:rPr>
              <a:t>m</a:t>
            </a:r>
            <a:r>
              <a:rPr sz="1250" b="0" i="1" baseline="-25000">
                <a:solidFill>
                  <a:srgbClr val="1D5EA8"/>
                </a:solidFill>
                <a:latin typeface="Cambria"/>
              </a:rPr>
              <a:t>i</a:t>
            </a:r>
            <a:r>
              <a:rPr sz="1250" b="0" i="0">
                <a:solidFill>
                  <a:srgbClr val="1D5EA8"/>
                </a:solidFill>
                <a:latin typeface="Cambria"/>
              </a:rPr>
              <a:t>, </a:t>
            </a:r>
            <a:r>
              <a:rPr sz="1250" b="0" i="1">
                <a:solidFill>
                  <a:srgbClr val="1D5EA8"/>
                </a:solidFill>
                <a:latin typeface="Cambria"/>
              </a:rPr>
              <a:t>δ</a:t>
            </a:r>
            <a:r>
              <a:rPr sz="1250" b="0" i="1" baseline="-25000">
                <a:solidFill>
                  <a:srgbClr val="1D5EA8"/>
                </a:solidFill>
                <a:latin typeface="Cambria"/>
              </a:rPr>
              <a:t>i</a:t>
            </a:r>
            <a:r>
              <a:rPr sz="1250" b="0" i="0">
                <a:solidFill>
                  <a:srgbClr val="1D5EA8"/>
                </a:solidFill>
                <a:latin typeface="Calibri"/>
              </a:rPr>
              <a:t> from each sensor</a:t>
            </a:r>
          </a:p>
        </p:txBody>
      </p:sp>
      <p:cxnSp>
        <p:nvCxnSpPr>
          <p:cNvPr id="65" name="Connector 64"/>
          <p:cNvCxnSpPr/>
          <p:nvPr/>
        </p:nvCxnSpPr>
        <p:spPr>
          <a:xfrm>
            <a:off x="9869424" y="4846320"/>
            <a:ext cx="949452" cy="0"/>
          </a:xfrm>
          <a:prstGeom prst="line">
            <a:avLst/>
          </a:prstGeom>
          <a:ln w="22225">
            <a:solidFill>
              <a:srgbClr val="B26A00"/>
            </a:solidFill>
          </a:ln>
        </p:spPr>
      </p:cxnSp>
      <p:cxnSp>
        <p:nvCxnSpPr>
          <p:cNvPr id="66" name="Connector 65"/>
          <p:cNvCxnSpPr/>
          <p:nvPr/>
        </p:nvCxnSpPr>
        <p:spPr>
          <a:xfrm>
            <a:off x="10818876" y="4846320"/>
            <a:ext cx="0" cy="612648"/>
          </a:xfrm>
          <a:prstGeom prst="line">
            <a:avLst/>
          </a:prstGeom>
          <a:ln w="22225">
            <a:solidFill>
              <a:srgbClr val="B26A00"/>
            </a:solidFill>
            <a:tailEnd type="triangle" w="med" len="med"/>
          </a:ln>
        </p:spPr>
      </p:cxnSp>
      <p:sp>
        <p:nvSpPr>
          <p:cNvPr id="67" name="TextBox 66"/>
          <p:cNvSpPr txBox="1"/>
          <p:nvPr/>
        </p:nvSpPr>
        <p:spPr>
          <a:xfrm>
            <a:off x="9924287" y="4599432"/>
            <a:ext cx="1737360" cy="246888"/>
          </a:xfrm>
          <a:prstGeom prst="rect">
            <a:avLst/>
          </a:prstGeom>
          <a:noFill/>
        </p:spPr>
        <p:txBody>
          <a:bodyPr wrap="square" lIns="0" rIns="0" tIns="0" bIns="0" anchor="t">
            <a:spAutoFit/>
          </a:bodyPr>
          <a:lstStyle/>
          <a:p>
            <a:pPr algn="l">
              <a:spcBef>
                <a:spcPts val="0"/>
              </a:spcBef>
              <a:spcAft>
                <a:spcPts val="0"/>
              </a:spcAft>
            </a:pPr>
            <a:r>
              <a:rPr sz="1250" b="0" i="1">
                <a:solidFill>
                  <a:srgbClr val="B26A00"/>
                </a:solidFill>
                <a:latin typeface="Cambria"/>
              </a:rPr>
              <a:t>δ</a:t>
            </a:r>
            <a:r>
              <a:rPr sz="1250" b="0" i="0">
                <a:solidFill>
                  <a:srgbClr val="B26A00"/>
                </a:solidFill>
                <a:latin typeface="Cambria"/>
              </a:rPr>
              <a:t>, </a:t>
            </a:r>
            <a:r>
              <a:rPr sz="1250" b="0" i="1">
                <a:solidFill>
                  <a:srgbClr val="B26A00"/>
                </a:solidFill>
                <a:latin typeface="Cambria"/>
              </a:rPr>
              <a:t>m</a:t>
            </a:r>
            <a:r>
              <a:rPr sz="1250" b="0" i="0" baseline="-25000">
                <a:solidFill>
                  <a:srgbClr val="B26A00"/>
                </a:solidFill>
                <a:latin typeface="Cambria"/>
              </a:rPr>
              <a:t>1</a:t>
            </a:r>
            <a:r>
              <a:rPr sz="1250" b="0" i="0">
                <a:solidFill>
                  <a:srgbClr val="B26A00"/>
                </a:solidFill>
                <a:latin typeface="Cambria"/>
              </a:rPr>
              <a:t>, …, </a:t>
            </a:r>
            <a:r>
              <a:rPr sz="1250" b="0" i="1">
                <a:solidFill>
                  <a:srgbClr val="B26A00"/>
                </a:solidFill>
                <a:latin typeface="Cambria"/>
              </a:rPr>
              <a:t>m</a:t>
            </a:r>
            <a:r>
              <a:rPr sz="1250" b="0" i="1" baseline="-25000">
                <a:solidFill>
                  <a:srgbClr val="B26A00"/>
                </a:solidFill>
                <a:latin typeface="Cambria"/>
              </a:rPr>
              <a:t>n</a:t>
            </a:r>
          </a:p>
        </p:txBody>
      </p:sp>
      <p:sp>
        <p:nvSpPr>
          <p:cNvPr id="68" name="Rounded Rectangle 67"/>
          <p:cNvSpPr/>
          <p:nvPr/>
        </p:nvSpPr>
        <p:spPr>
          <a:xfrm>
            <a:off x="3592068" y="5458968"/>
            <a:ext cx="4297680" cy="713232"/>
          </a:xfrm>
          <a:prstGeom prst="roundRect">
            <a:avLst>
              <a:gd name="adj" fmla="val 7692"/>
            </a:avLst>
          </a:prstGeom>
          <a:solidFill>
            <a:srgbClr val="FFFFFF"/>
          </a:solidFill>
          <a:ln w="15875">
            <a:solidFill>
              <a:srgbClr val="5B6675"/>
            </a:solidFill>
            <a:prstDash val="dash"/>
          </a:ln>
          <a:effectLst/>
        </p:spPr>
        <p:txBody>
          <a:bodyPr rtlCol="0" anchor="ctr" wrap="square" lIns="128016" rIns="128016" tIns="36576" bIns="36576"/>
          <a:lstStyle/>
          <a:p>
            <a:pPr algn="l">
              <a:spcBef>
                <a:spcPts val="0"/>
              </a:spcBef>
              <a:spcAft>
                <a:spcPts val="0"/>
              </a:spcAft>
            </a:pPr>
            <a:r>
              <a:rPr sz="1350" b="0" i="1">
                <a:solidFill>
                  <a:srgbClr val="14202E"/>
                </a:solidFill>
                <a:latin typeface="Cambria"/>
              </a:rPr>
              <a:t>id</a:t>
            </a:r>
            <a:r>
              <a:rPr sz="1350" b="0" i="1" baseline="-25000">
                <a:solidFill>
                  <a:srgbClr val="14202E"/>
                </a:solidFill>
                <a:latin typeface="Cambria"/>
              </a:rPr>
              <a:t>i</a:t>
            </a:r>
            <a:r>
              <a:rPr sz="1350" b="0" i="0">
                <a:solidFill>
                  <a:srgbClr val="14202E"/>
                </a:solidFill>
                <a:latin typeface="Cambria"/>
              </a:rPr>
              <a:t>, </a:t>
            </a:r>
            <a:r>
              <a:rPr sz="1350" b="0" i="1">
                <a:solidFill>
                  <a:srgbClr val="14202E"/>
                </a:solidFill>
                <a:latin typeface="Cambria"/>
              </a:rPr>
              <a:t>pk</a:t>
            </a:r>
            <a:r>
              <a:rPr sz="1350" b="0" i="1" baseline="-25000">
                <a:solidFill>
                  <a:srgbClr val="14202E"/>
                </a:solidFill>
                <a:latin typeface="Cambria"/>
              </a:rPr>
              <a:t>i</a:t>
            </a:r>
            <a:r>
              <a:rPr sz="1350" b="0" i="0">
                <a:solidFill>
                  <a:srgbClr val="14202E"/>
                </a:solidFill>
                <a:latin typeface="Cambria"/>
              </a:rPr>
              <a:t>, </a:t>
            </a:r>
            <a:r>
              <a:rPr sz="1350" b="0" i="1">
                <a:solidFill>
                  <a:srgbClr val="14202E"/>
                </a:solidFill>
                <a:latin typeface="Cambria"/>
              </a:rPr>
              <a:t>R</a:t>
            </a:r>
            <a:r>
              <a:rPr sz="1350" b="0" i="1" baseline="-25000">
                <a:solidFill>
                  <a:srgbClr val="14202E"/>
                </a:solidFill>
                <a:latin typeface="Cambria"/>
              </a:rPr>
              <a:t>i</a:t>
            </a:r>
            <a:r>
              <a:rPr sz="1350" b="0" i="0">
                <a:solidFill>
                  <a:srgbClr val="14202E"/>
                </a:solidFill>
                <a:latin typeface="Calibri"/>
              </a:rPr>
              <a:t> of every signer</a:t>
            </a:r>
          </a:p>
          <a:p>
            <a:pPr algn="l">
              <a:spcBef>
                <a:spcPts val="0"/>
              </a:spcBef>
              <a:spcAft>
                <a:spcPts val="0"/>
              </a:spcAft>
            </a:pPr>
            <a:r>
              <a:rPr sz="1250" b="0" i="0">
                <a:solidFill>
                  <a:srgbClr val="5B6675"/>
                </a:solidFill>
                <a:latin typeface="Calibri"/>
              </a:rPr>
              <a:t>how the verifier obtains them is not specified</a:t>
            </a:r>
          </a:p>
        </p:txBody>
      </p:sp>
      <p:cxnSp>
        <p:nvCxnSpPr>
          <p:cNvPr id="69" name="Connector 68"/>
          <p:cNvCxnSpPr/>
          <p:nvPr/>
        </p:nvCxnSpPr>
        <p:spPr>
          <a:xfrm>
            <a:off x="7889748" y="5669280"/>
            <a:ext cx="2243328" cy="0"/>
          </a:xfrm>
          <a:prstGeom prst="line">
            <a:avLst/>
          </a:prstGeom>
          <a:ln w="22225">
            <a:solidFill>
              <a:srgbClr val="5B6675"/>
            </a:solidFill>
            <a:prstDash val="dash"/>
            <a:tailEnd type="triangle" w="med" len="med"/>
          </a:ln>
        </p:spPr>
      </p:cxnSp>
      <p:sp>
        <p:nvSpPr>
          <p:cNvPr id="70" name="TextBox 69"/>
          <p:cNvSpPr txBox="1"/>
          <p:nvPr/>
        </p:nvSpPr>
        <p:spPr>
          <a:xfrm>
            <a:off x="7990332" y="5413248"/>
            <a:ext cx="1645920" cy="237744"/>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input to AggVerify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IV · THE REPAIR</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What Qiao et al. changed</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18 / 32</a:t>
            </a:r>
          </a:p>
        </p:txBody>
      </p:sp>
      <p:sp>
        <p:nvSpPr>
          <p:cNvPr id="8" name="Rectangle 7"/>
          <p:cNvSpPr/>
          <p:nvPr/>
        </p:nvSpPr>
        <p:spPr>
          <a:xfrm>
            <a:off x="548640" y="1554480"/>
            <a:ext cx="11091672" cy="365760"/>
          </a:xfrm>
          <a:prstGeom prst="rect">
            <a:avLst/>
          </a:prstGeom>
          <a:solidFill>
            <a:srgbClr val="F2F5F8"/>
          </a:solidFill>
          <a:ln>
            <a:noFill/>
          </a:ln>
          <a:effectLst/>
        </p:spPr>
        <p:txBody>
          <a:bodyPr rtlCol="0" anchor="ctr" wrap="square" lIns="73152" rIns="73152" tIns="36576" bIns="36576"/>
          <a:lstStyle/>
          <a:p>
            <a:pPr algn="ctr"/>
          </a:p>
        </p:txBody>
      </p:sp>
      <p:sp>
        <p:nvSpPr>
          <p:cNvPr id="9" name="TextBox 8"/>
          <p:cNvSpPr txBox="1"/>
          <p:nvPr/>
        </p:nvSpPr>
        <p:spPr>
          <a:xfrm>
            <a:off x="640080" y="1554480"/>
            <a:ext cx="1325880" cy="365760"/>
          </a:xfrm>
          <a:prstGeom prst="rect">
            <a:avLst/>
          </a:prstGeom>
          <a:noFill/>
        </p:spPr>
        <p:txBody>
          <a:bodyPr wrap="square" lIns="0" rIns="0" tIns="0" bIns="0" anchor="ctr">
            <a:spAutoFit/>
          </a:bodyPr>
          <a:lstStyle/>
          <a:p>
            <a:pPr algn="l">
              <a:spcBef>
                <a:spcPts val="0"/>
              </a:spcBef>
              <a:spcAft>
                <a:spcPts val="0"/>
              </a:spcAft>
            </a:pPr>
          </a:p>
        </p:txBody>
      </p:sp>
      <p:sp>
        <p:nvSpPr>
          <p:cNvPr id="10" name="TextBox 9"/>
          <p:cNvSpPr txBox="1"/>
          <p:nvPr/>
        </p:nvSpPr>
        <p:spPr>
          <a:xfrm>
            <a:off x="2148840" y="1554480"/>
            <a:ext cx="3794759" cy="365760"/>
          </a:xfrm>
          <a:prstGeom prst="rect">
            <a:avLst/>
          </a:prstGeom>
          <a:noFill/>
        </p:spPr>
        <p:txBody>
          <a:bodyPr wrap="square" lIns="0" rIns="0" tIns="0" bIns="0" anchor="ctr">
            <a:spAutoFit/>
          </a:bodyPr>
          <a:lstStyle/>
          <a:p>
            <a:pPr algn="l">
              <a:spcBef>
                <a:spcPts val="0"/>
              </a:spcBef>
              <a:spcAft>
                <a:spcPts val="0"/>
              </a:spcAft>
            </a:pPr>
            <a:r>
              <a:rPr sz="1300" b="1" i="0" spc="60">
                <a:solidFill>
                  <a:srgbClr val="B3261E"/>
                </a:solidFill>
                <a:latin typeface="Calibri"/>
              </a:rPr>
              <a:t>VERMA ET AL.</a:t>
            </a:r>
          </a:p>
        </p:txBody>
      </p:sp>
      <p:sp>
        <p:nvSpPr>
          <p:cNvPr id="11" name="TextBox 10"/>
          <p:cNvSpPr txBox="1"/>
          <p:nvPr/>
        </p:nvSpPr>
        <p:spPr>
          <a:xfrm>
            <a:off x="6126479" y="1554480"/>
            <a:ext cx="5422392" cy="365760"/>
          </a:xfrm>
          <a:prstGeom prst="rect">
            <a:avLst/>
          </a:prstGeom>
          <a:noFill/>
        </p:spPr>
        <p:txBody>
          <a:bodyPr wrap="square" lIns="0" rIns="0" tIns="0" bIns="0" anchor="ctr">
            <a:spAutoFit/>
          </a:bodyPr>
          <a:lstStyle/>
          <a:p>
            <a:pPr algn="l">
              <a:spcBef>
                <a:spcPts val="0"/>
              </a:spcBef>
              <a:spcAft>
                <a:spcPts val="0"/>
              </a:spcAft>
            </a:pPr>
            <a:r>
              <a:rPr sz="1300" b="1" i="0" spc="60">
                <a:solidFill>
                  <a:srgbClr val="1E7B4F"/>
                </a:solidFill>
                <a:latin typeface="Calibri"/>
              </a:rPr>
              <a:t>QIAO ET AL.</a:t>
            </a:r>
          </a:p>
        </p:txBody>
      </p:sp>
      <p:cxnSp>
        <p:nvCxnSpPr>
          <p:cNvPr id="12" name="Connector 11"/>
          <p:cNvCxnSpPr/>
          <p:nvPr/>
        </p:nvCxnSpPr>
        <p:spPr>
          <a:xfrm>
            <a:off x="548640" y="1920240"/>
            <a:ext cx="11091671" cy="0"/>
          </a:xfrm>
          <a:prstGeom prst="line">
            <a:avLst/>
          </a:prstGeom>
          <a:ln w="15875">
            <a:solidFill>
              <a:srgbClr val="5B6675"/>
            </a:solidFill>
          </a:ln>
        </p:spPr>
      </p:cxnSp>
      <p:sp>
        <p:nvSpPr>
          <p:cNvPr id="13" name="TextBox 12"/>
          <p:cNvSpPr txBox="1"/>
          <p:nvPr/>
        </p:nvSpPr>
        <p:spPr>
          <a:xfrm>
            <a:off x="640080" y="1920240"/>
            <a:ext cx="1325880" cy="530352"/>
          </a:xfrm>
          <a:prstGeom prst="rect">
            <a:avLst/>
          </a:prstGeom>
          <a:noFill/>
        </p:spPr>
        <p:txBody>
          <a:bodyPr wrap="square" lIns="0" rIns="0" tIns="0" bIns="0" anchor="ctr">
            <a:spAutoFit/>
          </a:bodyPr>
          <a:lstStyle/>
          <a:p>
            <a:pPr algn="l">
              <a:spcBef>
                <a:spcPts val="0"/>
              </a:spcBef>
              <a:spcAft>
                <a:spcPts val="0"/>
              </a:spcAft>
            </a:pPr>
            <a:r>
              <a:rPr sz="1550" b="1" i="0">
                <a:solidFill>
                  <a:srgbClr val="5B6675"/>
                </a:solidFill>
                <a:latin typeface="Calibri"/>
              </a:rPr>
              <a:t>Certificate</a:t>
            </a:r>
          </a:p>
        </p:txBody>
      </p:sp>
      <p:sp>
        <p:nvSpPr>
          <p:cNvPr id="14" name="TextBox 13"/>
          <p:cNvSpPr txBox="1"/>
          <p:nvPr/>
        </p:nvSpPr>
        <p:spPr>
          <a:xfrm>
            <a:off x="2148840" y="1920240"/>
            <a:ext cx="3794759" cy="530352"/>
          </a:xfrm>
          <a:prstGeom prst="rect">
            <a:avLst/>
          </a:prstGeom>
          <a:noFill/>
        </p:spPr>
        <p:txBody>
          <a:bodyPr wrap="square" lIns="0" rIns="0" tIns="0" bIns="0" anchor="ctr">
            <a:spAutoFit/>
          </a:bodyPr>
          <a:lstStyle/>
          <a:p>
            <a:pPr algn="l">
              <a:spcBef>
                <a:spcPts val="0"/>
              </a:spcBef>
              <a:spcAft>
                <a:spcPts val="0"/>
              </a:spcAft>
            </a:pPr>
            <a:r>
              <a:rPr sz="1550" b="0" i="1">
                <a:solidFill>
                  <a:srgbClr val="5B6675"/>
                </a:solidFill>
                <a:latin typeface="Cambria"/>
              </a:rPr>
              <a:t>c</a:t>
            </a:r>
            <a:r>
              <a:rPr sz="1550" b="0" i="1" baseline="-25000">
                <a:solidFill>
                  <a:srgbClr val="5B6675"/>
                </a:solidFill>
                <a:latin typeface="Cambria"/>
              </a:rPr>
              <a:t>i</a:t>
            </a:r>
            <a:r>
              <a:rPr sz="1550" b="0" i="0">
                <a:solidFill>
                  <a:srgbClr val="5B6675"/>
                </a:solidFill>
                <a:latin typeface="Cambria"/>
              </a:rPr>
              <a:t> = </a:t>
            </a:r>
            <a:r>
              <a:rPr sz="1550" b="0" i="1">
                <a:solidFill>
                  <a:srgbClr val="5B6675"/>
                </a:solidFill>
                <a:latin typeface="Cambria"/>
              </a:rPr>
              <a:t>r</a:t>
            </a:r>
            <a:r>
              <a:rPr sz="1550" b="0" i="0" baseline="-25000">
                <a:solidFill>
                  <a:srgbClr val="5B6675"/>
                </a:solidFill>
                <a:latin typeface="Cambria"/>
              </a:rPr>
              <a:t>1</a:t>
            </a:r>
            <a:r>
              <a:rPr sz="1550" b="0" i="1" baseline="-25000">
                <a:solidFill>
                  <a:srgbClr val="5B6675"/>
                </a:solidFill>
                <a:latin typeface="Cambria"/>
              </a:rPr>
              <a:t>i</a:t>
            </a:r>
            <a:r>
              <a:rPr sz="1550" b="0" i="0">
                <a:solidFill>
                  <a:srgbClr val="5B6675"/>
                </a:solidFill>
                <a:latin typeface="Cambria"/>
              </a:rPr>
              <a:t> + </a:t>
            </a:r>
            <a:r>
              <a:rPr sz="1550" b="0" i="1">
                <a:solidFill>
                  <a:srgbClr val="5B6675"/>
                </a:solidFill>
                <a:latin typeface="Cambria"/>
              </a:rPr>
              <a:t>s</a:t>
            </a:r>
            <a:r>
              <a:rPr sz="1550" b="0" i="1" baseline="30000">
                <a:solidFill>
                  <a:srgbClr val="5B6675"/>
                </a:solidFill>
                <a:latin typeface="Cambria"/>
              </a:rPr>
              <a:t>k</a:t>
            </a:r>
            <a:r>
              <a:rPr sz="1550" b="0" i="1" baseline="-25000">
                <a:solidFill>
                  <a:srgbClr val="5B6675"/>
                </a:solidFill>
                <a:latin typeface="Cambria"/>
              </a:rPr>
              <a:t>TA</a:t>
            </a:r>
            <a:r>
              <a:rPr sz="1550" b="0" i="1">
                <a:solidFill>
                  <a:srgbClr val="5B6675"/>
                </a:solidFill>
                <a:latin typeface="Cambria"/>
              </a:rPr>
              <a:t>H</a:t>
            </a:r>
            <a:r>
              <a:rPr sz="1550" b="0" i="0" baseline="-25000">
                <a:solidFill>
                  <a:srgbClr val="5B6675"/>
                </a:solidFill>
                <a:latin typeface="Cambria"/>
              </a:rPr>
              <a:t>0</a:t>
            </a:r>
            <a:r>
              <a:rPr sz="1550" b="0" i="0">
                <a:solidFill>
                  <a:srgbClr val="5B6675"/>
                </a:solidFill>
                <a:latin typeface="Cambria"/>
              </a:rPr>
              <a:t>(</a:t>
            </a:r>
            <a:r>
              <a:rPr sz="1550" b="0" i="1">
                <a:solidFill>
                  <a:srgbClr val="5B6675"/>
                </a:solidFill>
                <a:latin typeface="Cambria"/>
              </a:rPr>
              <a:t>id</a:t>
            </a:r>
            <a:r>
              <a:rPr sz="1550" b="0" i="1" baseline="-25000">
                <a:solidFill>
                  <a:srgbClr val="5B6675"/>
                </a:solidFill>
                <a:latin typeface="Cambria"/>
              </a:rPr>
              <a:t>i</a:t>
            </a:r>
            <a:r>
              <a:rPr sz="1550" b="0" i="0">
                <a:solidFill>
                  <a:srgbClr val="5B6675"/>
                </a:solidFill>
                <a:latin typeface="Cambria"/>
              </a:rPr>
              <a:t>‖</a:t>
            </a:r>
            <a:r>
              <a:rPr sz="1550" b="0" i="1">
                <a:solidFill>
                  <a:srgbClr val="5B6675"/>
                </a:solidFill>
                <a:latin typeface="Cambria"/>
              </a:rPr>
              <a:t>pk</a:t>
            </a:r>
            <a:r>
              <a:rPr sz="1550" b="0" i="1" baseline="-25000">
                <a:solidFill>
                  <a:srgbClr val="5B6675"/>
                </a:solidFill>
                <a:latin typeface="Cambria"/>
              </a:rPr>
              <a:t>i</a:t>
            </a:r>
            <a:r>
              <a:rPr sz="1550" b="0" i="0">
                <a:solidFill>
                  <a:srgbClr val="5B6675"/>
                </a:solidFill>
                <a:latin typeface="Cambria"/>
              </a:rPr>
              <a:t>)</a:t>
            </a:r>
          </a:p>
        </p:txBody>
      </p:sp>
      <p:sp>
        <p:nvSpPr>
          <p:cNvPr id="15" name="TextBox 14"/>
          <p:cNvSpPr txBox="1"/>
          <p:nvPr/>
        </p:nvSpPr>
        <p:spPr>
          <a:xfrm>
            <a:off x="6126479" y="1920240"/>
            <a:ext cx="5422392" cy="530352"/>
          </a:xfrm>
          <a:prstGeom prst="rect">
            <a:avLst/>
          </a:prstGeom>
          <a:noFill/>
        </p:spPr>
        <p:txBody>
          <a:bodyPr wrap="square" lIns="0" rIns="0" tIns="0" bIns="0" anchor="ctr">
            <a:spAutoFit/>
          </a:bodyPr>
          <a:lstStyle/>
          <a:p>
            <a:pPr algn="l">
              <a:spcBef>
                <a:spcPts val="0"/>
              </a:spcBef>
              <a:spcAft>
                <a:spcPts val="0"/>
              </a:spcAft>
            </a:pPr>
            <a:r>
              <a:rPr sz="1550" b="0" i="1">
                <a:solidFill>
                  <a:srgbClr val="5B6675"/>
                </a:solidFill>
                <a:latin typeface="Cambria"/>
              </a:rPr>
              <a:t>c</a:t>
            </a:r>
            <a:r>
              <a:rPr sz="1550" b="0" i="1" baseline="-25000">
                <a:solidFill>
                  <a:srgbClr val="5B6675"/>
                </a:solidFill>
                <a:latin typeface="Cambria"/>
              </a:rPr>
              <a:t>i</a:t>
            </a:r>
            <a:r>
              <a:rPr sz="1550" b="0" i="0">
                <a:solidFill>
                  <a:srgbClr val="5B6675"/>
                </a:solidFill>
                <a:latin typeface="Cambria"/>
              </a:rPr>
              <a:t> = </a:t>
            </a:r>
            <a:r>
              <a:rPr sz="1550" b="0" i="1">
                <a:solidFill>
                  <a:srgbClr val="5B6675"/>
                </a:solidFill>
                <a:latin typeface="Cambria"/>
              </a:rPr>
              <a:t>r</a:t>
            </a:r>
            <a:r>
              <a:rPr sz="1550" b="0" i="1" baseline="-25000">
                <a:solidFill>
                  <a:srgbClr val="5B6675"/>
                </a:solidFill>
                <a:latin typeface="Cambria"/>
              </a:rPr>
              <a:t>i</a:t>
            </a:r>
            <a:r>
              <a:rPr sz="1550" b="0" i="0">
                <a:solidFill>
                  <a:srgbClr val="5B6675"/>
                </a:solidFill>
                <a:latin typeface="Cambria"/>
              </a:rPr>
              <a:t> + </a:t>
            </a:r>
            <a:r>
              <a:rPr sz="1550" b="0" i="1">
                <a:solidFill>
                  <a:srgbClr val="5B6675"/>
                </a:solidFill>
                <a:latin typeface="Cambria"/>
              </a:rPr>
              <a:t>s</a:t>
            </a:r>
            <a:r>
              <a:rPr sz="1550" b="0" i="1" baseline="30000">
                <a:solidFill>
                  <a:srgbClr val="5B6675"/>
                </a:solidFill>
                <a:latin typeface="Cambria"/>
              </a:rPr>
              <a:t>k</a:t>
            </a:r>
            <a:r>
              <a:rPr sz="1550" b="0" i="1" baseline="-25000">
                <a:solidFill>
                  <a:srgbClr val="5B6675"/>
                </a:solidFill>
                <a:latin typeface="Cambria"/>
              </a:rPr>
              <a:t>TA</a:t>
            </a:r>
            <a:r>
              <a:rPr sz="1550" b="0" i="1">
                <a:solidFill>
                  <a:srgbClr val="5B6675"/>
                </a:solidFill>
                <a:latin typeface="Cambria"/>
              </a:rPr>
              <a:t>H</a:t>
            </a:r>
            <a:r>
              <a:rPr sz="1550" b="0" i="0" baseline="-25000">
                <a:solidFill>
                  <a:srgbClr val="5B6675"/>
                </a:solidFill>
                <a:latin typeface="Cambria"/>
              </a:rPr>
              <a:t>0</a:t>
            </a:r>
            <a:r>
              <a:rPr sz="1550" b="0" i="0">
                <a:solidFill>
                  <a:srgbClr val="5B6675"/>
                </a:solidFill>
                <a:latin typeface="Cambria"/>
              </a:rPr>
              <a:t>(</a:t>
            </a:r>
            <a:r>
              <a:rPr sz="1550" b="0" i="1">
                <a:solidFill>
                  <a:srgbClr val="5B6675"/>
                </a:solidFill>
                <a:latin typeface="Cambria"/>
              </a:rPr>
              <a:t>id</a:t>
            </a:r>
            <a:r>
              <a:rPr sz="1550" b="0" i="1" baseline="-25000">
                <a:solidFill>
                  <a:srgbClr val="5B6675"/>
                </a:solidFill>
                <a:latin typeface="Cambria"/>
              </a:rPr>
              <a:t>i</a:t>
            </a:r>
            <a:r>
              <a:rPr sz="1550" b="0" i="0">
                <a:solidFill>
                  <a:srgbClr val="5B6675"/>
                </a:solidFill>
                <a:latin typeface="Cambria"/>
              </a:rPr>
              <a:t>‖</a:t>
            </a:r>
            <a:r>
              <a:rPr sz="1550" b="0" i="1">
                <a:solidFill>
                  <a:srgbClr val="5B6675"/>
                </a:solidFill>
                <a:latin typeface="Cambria"/>
              </a:rPr>
              <a:t>pk</a:t>
            </a:r>
            <a:r>
              <a:rPr sz="1550" b="0" i="1" baseline="-25000">
                <a:solidFill>
                  <a:srgbClr val="5B6675"/>
                </a:solidFill>
                <a:latin typeface="Cambria"/>
              </a:rPr>
              <a:t>i</a:t>
            </a:r>
            <a:r>
              <a:rPr sz="1550" b="0" i="0">
                <a:solidFill>
                  <a:srgbClr val="5B6675"/>
                </a:solidFill>
                <a:latin typeface="Cambria"/>
              </a:rPr>
              <a:t>‖</a:t>
            </a:r>
            <a:r>
              <a:rPr sz="1550" b="0" i="1">
                <a:solidFill>
                  <a:srgbClr val="5B6675"/>
                </a:solidFill>
                <a:latin typeface="Cambria"/>
              </a:rPr>
              <a:t>R</a:t>
            </a:r>
            <a:r>
              <a:rPr sz="1550" b="0" i="1" baseline="-25000">
                <a:solidFill>
                  <a:srgbClr val="5B6675"/>
                </a:solidFill>
                <a:latin typeface="Cambria"/>
              </a:rPr>
              <a:t>i</a:t>
            </a:r>
            <a:r>
              <a:rPr sz="1550" b="0" i="0">
                <a:solidFill>
                  <a:srgbClr val="5B6675"/>
                </a:solidFill>
                <a:latin typeface="Cambria"/>
              </a:rPr>
              <a:t>)</a:t>
            </a:r>
            <a:r>
              <a:rPr sz="1550" b="0" i="0">
                <a:solidFill>
                  <a:srgbClr val="5B6675"/>
                </a:solidFill>
                <a:latin typeface="Calibri"/>
              </a:rPr>
              <a:t>,   </a:t>
            </a:r>
            <a:r>
              <a:rPr sz="1550" b="0" i="1">
                <a:solidFill>
                  <a:srgbClr val="5B6675"/>
                </a:solidFill>
                <a:latin typeface="Cambria"/>
              </a:rPr>
              <a:t>R</a:t>
            </a:r>
            <a:r>
              <a:rPr sz="1550" b="0" i="1" baseline="-25000">
                <a:solidFill>
                  <a:srgbClr val="5B6675"/>
                </a:solidFill>
                <a:latin typeface="Cambria"/>
              </a:rPr>
              <a:t>i</a:t>
            </a:r>
            <a:r>
              <a:rPr sz="1550" b="0" i="0">
                <a:solidFill>
                  <a:srgbClr val="5B6675"/>
                </a:solidFill>
                <a:latin typeface="Calibri"/>
              </a:rPr>
              <a:t> public</a:t>
            </a:r>
          </a:p>
        </p:txBody>
      </p:sp>
      <p:cxnSp>
        <p:nvCxnSpPr>
          <p:cNvPr id="16" name="Connector 15"/>
          <p:cNvCxnSpPr/>
          <p:nvPr/>
        </p:nvCxnSpPr>
        <p:spPr>
          <a:xfrm>
            <a:off x="548640" y="2450592"/>
            <a:ext cx="11091671" cy="0"/>
          </a:xfrm>
          <a:prstGeom prst="line">
            <a:avLst/>
          </a:prstGeom>
          <a:ln w="12700">
            <a:solidFill>
              <a:srgbClr val="D3D9E1"/>
            </a:solidFill>
          </a:ln>
        </p:spPr>
      </p:cxnSp>
      <p:sp>
        <p:nvSpPr>
          <p:cNvPr id="17" name="TextBox 16"/>
          <p:cNvSpPr txBox="1"/>
          <p:nvPr/>
        </p:nvSpPr>
        <p:spPr>
          <a:xfrm>
            <a:off x="640080" y="2450592"/>
            <a:ext cx="1325880" cy="530352"/>
          </a:xfrm>
          <a:prstGeom prst="rect">
            <a:avLst/>
          </a:prstGeom>
          <a:noFill/>
        </p:spPr>
        <p:txBody>
          <a:bodyPr wrap="square" lIns="0" rIns="0" tIns="0" bIns="0" anchor="ctr">
            <a:spAutoFit/>
          </a:bodyPr>
          <a:lstStyle/>
          <a:p>
            <a:pPr algn="l">
              <a:spcBef>
                <a:spcPts val="0"/>
              </a:spcBef>
              <a:spcAft>
                <a:spcPts val="0"/>
              </a:spcAft>
            </a:pPr>
            <a:r>
              <a:rPr sz="1550" b="1" i="0">
                <a:solidFill>
                  <a:srgbClr val="5B6675"/>
                </a:solidFill>
                <a:latin typeface="Calibri"/>
              </a:rPr>
              <a:t>Commitment</a:t>
            </a:r>
          </a:p>
        </p:txBody>
      </p:sp>
      <p:sp>
        <p:nvSpPr>
          <p:cNvPr id="18" name="TextBox 17"/>
          <p:cNvSpPr txBox="1"/>
          <p:nvPr/>
        </p:nvSpPr>
        <p:spPr>
          <a:xfrm>
            <a:off x="2148840" y="2450592"/>
            <a:ext cx="3794759" cy="530352"/>
          </a:xfrm>
          <a:prstGeom prst="rect">
            <a:avLst/>
          </a:prstGeom>
          <a:noFill/>
        </p:spPr>
        <p:txBody>
          <a:bodyPr wrap="square" lIns="0" rIns="0" tIns="0" bIns="0" anchor="ctr">
            <a:spAutoFit/>
          </a:bodyPr>
          <a:lstStyle/>
          <a:p>
            <a:pPr algn="l">
              <a:spcBef>
                <a:spcPts val="0"/>
              </a:spcBef>
              <a:spcAft>
                <a:spcPts val="0"/>
              </a:spcAft>
            </a:pPr>
            <a:r>
              <a:rPr sz="1550" b="0" i="1">
                <a:solidFill>
                  <a:srgbClr val="14202E"/>
                </a:solidFill>
                <a:latin typeface="Cambria"/>
              </a:rPr>
              <a:t>R</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R</a:t>
            </a:r>
            <a:r>
              <a:rPr sz="1550" b="0" i="0" baseline="-25000">
                <a:solidFill>
                  <a:srgbClr val="14202E"/>
                </a:solidFill>
                <a:latin typeface="Cambria"/>
              </a:rPr>
              <a:t>1</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r</a:t>
            </a:r>
            <a:r>
              <a:rPr sz="1550" b="0" i="0" baseline="-25000">
                <a:solidFill>
                  <a:srgbClr val="14202E"/>
                </a:solidFill>
                <a:latin typeface="Cambria"/>
              </a:rPr>
              <a:t>2</a:t>
            </a:r>
            <a:r>
              <a:rPr sz="1550" b="0" i="1" baseline="-25000">
                <a:solidFill>
                  <a:srgbClr val="14202E"/>
                </a:solidFill>
                <a:latin typeface="Cambria"/>
              </a:rPr>
              <a:t>i</a:t>
            </a:r>
            <a:r>
              <a:rPr sz="1550" b="0" i="1">
                <a:solidFill>
                  <a:srgbClr val="14202E"/>
                </a:solidFill>
                <a:latin typeface="Cambria"/>
              </a:rPr>
              <a:t>P</a:t>
            </a:r>
          </a:p>
        </p:txBody>
      </p:sp>
      <p:sp>
        <p:nvSpPr>
          <p:cNvPr id="19" name="TextBox 18"/>
          <p:cNvSpPr txBox="1"/>
          <p:nvPr/>
        </p:nvSpPr>
        <p:spPr>
          <a:xfrm>
            <a:off x="6126479" y="2450592"/>
            <a:ext cx="5422392" cy="530352"/>
          </a:xfrm>
          <a:prstGeom prst="rect">
            <a:avLst/>
          </a:prstGeom>
          <a:noFill/>
        </p:spPr>
        <p:txBody>
          <a:bodyPr wrap="square" lIns="0" rIns="0" tIns="0" bIns="0" anchor="ctr">
            <a:spAutoFit/>
          </a:bodyPr>
          <a:lstStyle/>
          <a:p>
            <a:pPr algn="l">
              <a:spcBef>
                <a:spcPts val="0"/>
              </a:spcBef>
              <a:spcAft>
                <a:spcPts val="0"/>
              </a:spcAft>
            </a:pPr>
            <a:r>
              <a:rPr sz="1550" b="0" i="1">
                <a:solidFill>
                  <a:srgbClr val="1E7B4F"/>
                </a:solidFill>
                <a:latin typeface="Cambria"/>
              </a:rPr>
              <a:t>T</a:t>
            </a:r>
            <a:r>
              <a:rPr sz="1550" b="0" i="1" baseline="-25000">
                <a:solidFill>
                  <a:srgbClr val="1E7B4F"/>
                </a:solidFill>
                <a:latin typeface="Cambria"/>
              </a:rPr>
              <a:t>i</a:t>
            </a:r>
            <a:r>
              <a:rPr sz="1550" b="0" i="0">
                <a:solidFill>
                  <a:srgbClr val="1E7B4F"/>
                </a:solidFill>
                <a:latin typeface="Cambria"/>
              </a:rPr>
              <a:t> = </a:t>
            </a:r>
            <a:r>
              <a:rPr sz="1550" b="0" i="1">
                <a:solidFill>
                  <a:srgbClr val="1E7B4F"/>
                </a:solidFill>
                <a:latin typeface="Cambria"/>
              </a:rPr>
              <a:t>t</a:t>
            </a:r>
            <a:r>
              <a:rPr sz="1550" b="0" i="1" baseline="-25000">
                <a:solidFill>
                  <a:srgbClr val="1E7B4F"/>
                </a:solidFill>
                <a:latin typeface="Cambria"/>
              </a:rPr>
              <a:t>i</a:t>
            </a:r>
            <a:r>
              <a:rPr sz="1550" b="0" i="1">
                <a:solidFill>
                  <a:srgbClr val="1E7B4F"/>
                </a:solidFill>
                <a:latin typeface="Cambria"/>
              </a:rPr>
              <a:t>P</a:t>
            </a:r>
          </a:p>
        </p:txBody>
      </p:sp>
      <p:cxnSp>
        <p:nvCxnSpPr>
          <p:cNvPr id="20" name="Connector 19"/>
          <p:cNvCxnSpPr/>
          <p:nvPr/>
        </p:nvCxnSpPr>
        <p:spPr>
          <a:xfrm>
            <a:off x="548640" y="2980944"/>
            <a:ext cx="11091671" cy="0"/>
          </a:xfrm>
          <a:prstGeom prst="line">
            <a:avLst/>
          </a:prstGeom>
          <a:ln w="12700">
            <a:solidFill>
              <a:srgbClr val="D3D9E1"/>
            </a:solidFill>
          </a:ln>
        </p:spPr>
      </p:cxnSp>
      <p:sp>
        <p:nvSpPr>
          <p:cNvPr id="21" name="TextBox 20"/>
          <p:cNvSpPr txBox="1"/>
          <p:nvPr/>
        </p:nvSpPr>
        <p:spPr>
          <a:xfrm>
            <a:off x="640080" y="2980944"/>
            <a:ext cx="1325880" cy="868680"/>
          </a:xfrm>
          <a:prstGeom prst="rect">
            <a:avLst/>
          </a:prstGeom>
          <a:noFill/>
        </p:spPr>
        <p:txBody>
          <a:bodyPr wrap="square" lIns="0" rIns="0" tIns="0" bIns="0" anchor="ctr">
            <a:spAutoFit/>
          </a:bodyPr>
          <a:lstStyle/>
          <a:p>
            <a:pPr algn="l">
              <a:spcBef>
                <a:spcPts val="0"/>
              </a:spcBef>
              <a:spcAft>
                <a:spcPts val="0"/>
              </a:spcAft>
            </a:pPr>
            <a:r>
              <a:rPr sz="1550" b="1" i="0">
                <a:solidFill>
                  <a:srgbClr val="5B6675"/>
                </a:solidFill>
                <a:latin typeface="Calibri"/>
              </a:rPr>
              <a:t>Hash inputs</a:t>
            </a:r>
          </a:p>
        </p:txBody>
      </p:sp>
      <p:sp>
        <p:nvSpPr>
          <p:cNvPr id="22" name="TextBox 21"/>
          <p:cNvSpPr txBox="1"/>
          <p:nvPr/>
        </p:nvSpPr>
        <p:spPr>
          <a:xfrm>
            <a:off x="2148840" y="2980944"/>
            <a:ext cx="3794759" cy="868680"/>
          </a:xfrm>
          <a:prstGeom prst="rect">
            <a:avLst/>
          </a:prstGeom>
          <a:noFill/>
        </p:spPr>
        <p:txBody>
          <a:bodyPr wrap="square" lIns="0" rIns="0" tIns="0" bIns="0" anchor="ctr">
            <a:spAutoFit/>
          </a:bodyPr>
          <a:lstStyle/>
          <a:p>
            <a:pPr algn="l">
              <a:spcBef>
                <a:spcPts val="0"/>
              </a:spcBef>
              <a:spcAft>
                <a:spcPts val="0"/>
              </a:spcAft>
            </a:pPr>
            <a:r>
              <a:rPr sz="1550" b="0" i="1">
                <a:solidFill>
                  <a:srgbClr val="14202E"/>
                </a:solidFill>
                <a:latin typeface="Cambria"/>
              </a:rPr>
              <a:t>v</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H</a:t>
            </a:r>
            <a:r>
              <a:rPr sz="1550" b="0" i="0" baseline="-25000">
                <a:solidFill>
                  <a:srgbClr val="14202E"/>
                </a:solidFill>
                <a:latin typeface="Cambria"/>
              </a:rPr>
              <a:t>1</a:t>
            </a:r>
            <a:r>
              <a:rPr sz="1550" b="0" i="0">
                <a:solidFill>
                  <a:srgbClr val="14202E"/>
                </a:solidFill>
                <a:latin typeface="Cambria"/>
              </a:rPr>
              <a:t>(</a:t>
            </a:r>
            <a:r>
              <a:rPr sz="1550" b="0" i="1">
                <a:solidFill>
                  <a:srgbClr val="14202E"/>
                </a:solidFill>
                <a:latin typeface="Cambria"/>
              </a:rPr>
              <a:t>m</a:t>
            </a:r>
            <a:r>
              <a:rPr sz="1550" b="0" i="1" baseline="-25000">
                <a:solidFill>
                  <a:srgbClr val="14202E"/>
                </a:solidFill>
                <a:latin typeface="Cambria"/>
              </a:rPr>
              <a:t>i</a:t>
            </a:r>
            <a:r>
              <a:rPr sz="1550" b="0" i="0">
                <a:solidFill>
                  <a:srgbClr val="14202E"/>
                </a:solidFill>
                <a:latin typeface="Cambria"/>
              </a:rPr>
              <a:t>‖</a:t>
            </a:r>
            <a:r>
              <a:rPr sz="1550" b="0" i="1">
                <a:solidFill>
                  <a:srgbClr val="14202E"/>
                </a:solidFill>
                <a:latin typeface="Cambria"/>
              </a:rPr>
              <a:t>pk</a:t>
            </a:r>
            <a:r>
              <a:rPr sz="1550" b="0" i="1" baseline="-25000">
                <a:solidFill>
                  <a:srgbClr val="14202E"/>
                </a:solidFill>
                <a:latin typeface="Cambria"/>
              </a:rPr>
              <a:t>i</a:t>
            </a:r>
            <a:r>
              <a:rPr sz="1550" b="0" i="0">
                <a:solidFill>
                  <a:srgbClr val="14202E"/>
                </a:solidFill>
                <a:latin typeface="Cambria"/>
              </a:rPr>
              <a:t>‖</a:t>
            </a:r>
            <a:r>
              <a:rPr sz="1550" b="0" i="1">
                <a:solidFill>
                  <a:srgbClr val="14202E"/>
                </a:solidFill>
                <a:latin typeface="Cambria"/>
              </a:rPr>
              <a:t>id</a:t>
            </a:r>
            <a:r>
              <a:rPr sz="1550" b="0" i="1" baseline="-25000">
                <a:solidFill>
                  <a:srgbClr val="14202E"/>
                </a:solidFill>
                <a:latin typeface="Cambria"/>
              </a:rPr>
              <a:t>i</a:t>
            </a:r>
            <a:r>
              <a:rPr sz="1550" b="0" i="0">
                <a:solidFill>
                  <a:srgbClr val="14202E"/>
                </a:solidFill>
                <a:latin typeface="Cambria"/>
              </a:rPr>
              <a:t>‖Δ)</a:t>
            </a:r>
          </a:p>
        </p:txBody>
      </p:sp>
      <p:sp>
        <p:nvSpPr>
          <p:cNvPr id="23" name="TextBox 22"/>
          <p:cNvSpPr txBox="1"/>
          <p:nvPr/>
        </p:nvSpPr>
        <p:spPr>
          <a:xfrm>
            <a:off x="6126479" y="2980944"/>
            <a:ext cx="5422392" cy="868680"/>
          </a:xfrm>
          <a:prstGeom prst="rect">
            <a:avLst/>
          </a:prstGeom>
          <a:noFill/>
        </p:spPr>
        <p:txBody>
          <a:bodyPr wrap="square" lIns="0" rIns="0" tIns="0" bIns="0" anchor="ctr">
            <a:spAutoFit/>
          </a:bodyPr>
          <a:lstStyle/>
          <a:p>
            <a:pPr algn="l">
              <a:spcBef>
                <a:spcPts val="0"/>
              </a:spcBef>
              <a:spcAft>
                <a:spcPts val="0"/>
              </a:spcAft>
            </a:pPr>
          </a:p>
        </p:txBody>
      </p:sp>
      <p:cxnSp>
        <p:nvCxnSpPr>
          <p:cNvPr id="24" name="Connector 23"/>
          <p:cNvCxnSpPr/>
          <p:nvPr/>
        </p:nvCxnSpPr>
        <p:spPr>
          <a:xfrm>
            <a:off x="548640" y="3849624"/>
            <a:ext cx="11091671" cy="0"/>
          </a:xfrm>
          <a:prstGeom prst="line">
            <a:avLst/>
          </a:prstGeom>
          <a:ln w="12700">
            <a:solidFill>
              <a:srgbClr val="D3D9E1"/>
            </a:solidFill>
          </a:ln>
        </p:spPr>
      </p:cxnSp>
      <p:sp>
        <p:nvSpPr>
          <p:cNvPr id="25" name="TextBox 24"/>
          <p:cNvSpPr txBox="1"/>
          <p:nvPr/>
        </p:nvSpPr>
        <p:spPr>
          <a:xfrm>
            <a:off x="640080" y="3849624"/>
            <a:ext cx="1325880" cy="530352"/>
          </a:xfrm>
          <a:prstGeom prst="rect">
            <a:avLst/>
          </a:prstGeom>
          <a:noFill/>
        </p:spPr>
        <p:txBody>
          <a:bodyPr wrap="square" lIns="0" rIns="0" tIns="0" bIns="0" anchor="ctr">
            <a:spAutoFit/>
          </a:bodyPr>
          <a:lstStyle/>
          <a:p>
            <a:pPr algn="l">
              <a:spcBef>
                <a:spcPts val="0"/>
              </a:spcBef>
              <a:spcAft>
                <a:spcPts val="0"/>
              </a:spcAft>
            </a:pPr>
            <a:r>
              <a:rPr sz="1550" b="1" i="0">
                <a:solidFill>
                  <a:srgbClr val="5B6675"/>
                </a:solidFill>
                <a:latin typeface="Calibri"/>
              </a:rPr>
              <a:t>Response</a:t>
            </a:r>
          </a:p>
        </p:txBody>
      </p:sp>
      <p:sp>
        <p:nvSpPr>
          <p:cNvPr id="26" name="TextBox 25"/>
          <p:cNvSpPr txBox="1"/>
          <p:nvPr/>
        </p:nvSpPr>
        <p:spPr>
          <a:xfrm>
            <a:off x="2148840" y="3849624"/>
            <a:ext cx="3794759" cy="530352"/>
          </a:xfrm>
          <a:prstGeom prst="rect">
            <a:avLst/>
          </a:prstGeom>
          <a:noFill/>
        </p:spPr>
        <p:txBody>
          <a:bodyPr wrap="square" lIns="0" rIns="0" tIns="0" bIns="0" anchor="ctr">
            <a:spAutoFit/>
          </a:bodyPr>
          <a:lstStyle/>
          <a:p>
            <a:pPr algn="l">
              <a:spcBef>
                <a:spcPts val="0"/>
              </a:spcBef>
              <a:spcAft>
                <a:spcPts val="0"/>
              </a:spcAft>
            </a:pPr>
            <a:r>
              <a:rPr sz="1550" b="0" i="1">
                <a:solidFill>
                  <a:srgbClr val="14202E"/>
                </a:solidFill>
                <a:latin typeface="Cambria"/>
              </a:rPr>
              <a:t>z</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r</a:t>
            </a:r>
            <a:r>
              <a:rPr sz="1550" b="0" i="0" baseline="-25000">
                <a:solidFill>
                  <a:srgbClr val="14202E"/>
                </a:solidFill>
                <a:latin typeface="Cambria"/>
              </a:rPr>
              <a:t>2</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c</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sk</a:t>
            </a:r>
            <a:r>
              <a:rPr sz="1550" b="0" i="1" baseline="-25000">
                <a:solidFill>
                  <a:srgbClr val="14202E"/>
                </a:solidFill>
                <a:latin typeface="Cambria"/>
              </a:rPr>
              <a:t>i</a:t>
            </a:r>
            <a:r>
              <a:rPr sz="1550" b="0" i="1">
                <a:solidFill>
                  <a:srgbClr val="14202E"/>
                </a:solidFill>
                <a:latin typeface="Cambria"/>
              </a:rPr>
              <a:t>v</a:t>
            </a:r>
            <a:r>
              <a:rPr sz="1550" b="0" i="1" baseline="-25000">
                <a:solidFill>
                  <a:srgbClr val="14202E"/>
                </a:solidFill>
                <a:latin typeface="Cambria"/>
              </a:rPr>
              <a:t>i</a:t>
            </a:r>
          </a:p>
        </p:txBody>
      </p:sp>
      <p:sp>
        <p:nvSpPr>
          <p:cNvPr id="27" name="TextBox 26"/>
          <p:cNvSpPr txBox="1"/>
          <p:nvPr/>
        </p:nvSpPr>
        <p:spPr>
          <a:xfrm>
            <a:off x="6126479" y="3849624"/>
            <a:ext cx="5422392" cy="530352"/>
          </a:xfrm>
          <a:prstGeom prst="rect">
            <a:avLst/>
          </a:prstGeom>
          <a:noFill/>
        </p:spPr>
        <p:txBody>
          <a:bodyPr wrap="square" lIns="0" rIns="0" tIns="0" bIns="0" anchor="ctr">
            <a:spAutoFit/>
          </a:bodyPr>
          <a:lstStyle/>
          <a:p>
            <a:pPr algn="l">
              <a:spcBef>
                <a:spcPts val="0"/>
              </a:spcBef>
              <a:spcAft>
                <a:spcPts val="0"/>
              </a:spcAft>
            </a:pPr>
            <a:r>
              <a:rPr sz="1550" b="0" i="1">
                <a:solidFill>
                  <a:srgbClr val="14202E"/>
                </a:solidFill>
                <a:latin typeface="Cambria"/>
              </a:rPr>
              <a:t>z</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t</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c</a:t>
            </a:r>
            <a:r>
              <a:rPr sz="1550" b="0" i="1" baseline="-25000">
                <a:solidFill>
                  <a:srgbClr val="14202E"/>
                </a:solidFill>
                <a:latin typeface="Cambria"/>
              </a:rPr>
              <a:t>i</a:t>
            </a:r>
            <a:r>
              <a:rPr sz="1550" b="0" i="1">
                <a:solidFill>
                  <a:srgbClr val="14202E"/>
                </a:solidFill>
                <a:latin typeface="Cambria"/>
              </a:rPr>
              <a:t>u</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sk</a:t>
            </a:r>
            <a:r>
              <a:rPr sz="1550" b="0" i="1" baseline="-25000">
                <a:solidFill>
                  <a:srgbClr val="14202E"/>
                </a:solidFill>
                <a:latin typeface="Cambria"/>
              </a:rPr>
              <a:t>i</a:t>
            </a:r>
            <a:r>
              <a:rPr sz="1550" b="0" i="1">
                <a:solidFill>
                  <a:srgbClr val="14202E"/>
                </a:solidFill>
                <a:latin typeface="Cambria"/>
              </a:rPr>
              <a:t>v</a:t>
            </a:r>
            <a:r>
              <a:rPr sz="1550" b="0" i="1" baseline="-25000">
                <a:solidFill>
                  <a:srgbClr val="14202E"/>
                </a:solidFill>
                <a:latin typeface="Cambria"/>
              </a:rPr>
              <a:t>i</a:t>
            </a:r>
          </a:p>
        </p:txBody>
      </p:sp>
      <p:cxnSp>
        <p:nvCxnSpPr>
          <p:cNvPr id="28" name="Connector 27"/>
          <p:cNvCxnSpPr/>
          <p:nvPr/>
        </p:nvCxnSpPr>
        <p:spPr>
          <a:xfrm>
            <a:off x="548640" y="4379976"/>
            <a:ext cx="11091671" cy="0"/>
          </a:xfrm>
          <a:prstGeom prst="line">
            <a:avLst/>
          </a:prstGeom>
          <a:ln w="12700">
            <a:solidFill>
              <a:srgbClr val="D3D9E1"/>
            </a:solidFill>
          </a:ln>
        </p:spPr>
      </p:cxnSp>
      <p:sp>
        <p:nvSpPr>
          <p:cNvPr id="29" name="TextBox 28"/>
          <p:cNvSpPr txBox="1"/>
          <p:nvPr/>
        </p:nvSpPr>
        <p:spPr>
          <a:xfrm>
            <a:off x="640080" y="4379976"/>
            <a:ext cx="1325880" cy="530352"/>
          </a:xfrm>
          <a:prstGeom prst="rect">
            <a:avLst/>
          </a:prstGeom>
          <a:noFill/>
        </p:spPr>
        <p:txBody>
          <a:bodyPr wrap="square" lIns="0" rIns="0" tIns="0" bIns="0" anchor="ctr">
            <a:spAutoFit/>
          </a:bodyPr>
          <a:lstStyle/>
          <a:p>
            <a:pPr algn="l">
              <a:spcBef>
                <a:spcPts val="0"/>
              </a:spcBef>
              <a:spcAft>
                <a:spcPts val="0"/>
              </a:spcAft>
            </a:pPr>
            <a:r>
              <a:rPr sz="1550" b="1" i="0">
                <a:solidFill>
                  <a:srgbClr val="5B6675"/>
                </a:solidFill>
                <a:latin typeface="Calibri"/>
              </a:rPr>
              <a:t>Aggregate</a:t>
            </a:r>
          </a:p>
        </p:txBody>
      </p:sp>
      <p:sp>
        <p:nvSpPr>
          <p:cNvPr id="30" name="TextBox 29"/>
          <p:cNvSpPr txBox="1"/>
          <p:nvPr/>
        </p:nvSpPr>
        <p:spPr>
          <a:xfrm>
            <a:off x="2148840" y="4379976"/>
            <a:ext cx="3794759" cy="530352"/>
          </a:xfrm>
          <a:prstGeom prst="rect">
            <a:avLst/>
          </a:prstGeom>
          <a:noFill/>
        </p:spPr>
        <p:txBody>
          <a:bodyPr wrap="square" lIns="0" rIns="0" tIns="0" bIns="0" anchor="ctr">
            <a:spAutoFit/>
          </a:bodyPr>
          <a:lstStyle/>
          <a:p>
            <a:pPr algn="l">
              <a:spcBef>
                <a:spcPts val="0"/>
              </a:spcBef>
              <a:spcAft>
                <a:spcPts val="0"/>
              </a:spcAft>
            </a:pPr>
            <a:r>
              <a:rPr sz="1550" b="0" i="0">
                <a:solidFill>
                  <a:srgbClr val="5B6675"/>
                </a:solidFill>
                <a:latin typeface="Cambria"/>
              </a:rPr>
              <a:t>(</a:t>
            </a:r>
            <a:r>
              <a:rPr sz="1550" b="0" i="1">
                <a:solidFill>
                  <a:srgbClr val="5B6675"/>
                </a:solidFill>
                <a:latin typeface="Cambria"/>
              </a:rPr>
              <a:t>R</a:t>
            </a:r>
            <a:r>
              <a:rPr sz="1550" b="0" i="0">
                <a:solidFill>
                  <a:srgbClr val="5B6675"/>
                </a:solidFill>
                <a:latin typeface="Cambria"/>
              </a:rPr>
              <a:t>, </a:t>
            </a:r>
            <a:r>
              <a:rPr sz="1550" b="0" i="1">
                <a:solidFill>
                  <a:srgbClr val="5B6675"/>
                </a:solidFill>
                <a:latin typeface="Cambria"/>
              </a:rPr>
              <a:t>z</a:t>
            </a:r>
            <a:r>
              <a:rPr sz="1550" b="0" i="0">
                <a:solidFill>
                  <a:srgbClr val="5B6675"/>
                </a:solidFill>
                <a:latin typeface="Cambria"/>
              </a:rPr>
              <a:t>) = (Σ</a:t>
            </a:r>
            <a:r>
              <a:rPr sz="1550" b="0" i="1">
                <a:solidFill>
                  <a:srgbClr val="5B6675"/>
                </a:solidFill>
                <a:latin typeface="Cambria"/>
              </a:rPr>
              <a:t>R</a:t>
            </a:r>
            <a:r>
              <a:rPr sz="1550" b="0" i="1" baseline="-25000">
                <a:solidFill>
                  <a:srgbClr val="5B6675"/>
                </a:solidFill>
                <a:latin typeface="Cambria"/>
              </a:rPr>
              <a:t>i</a:t>
            </a:r>
            <a:r>
              <a:rPr sz="1550" b="0" i="0">
                <a:solidFill>
                  <a:srgbClr val="5B6675"/>
                </a:solidFill>
                <a:latin typeface="Cambria"/>
              </a:rPr>
              <a:t>, Σ</a:t>
            </a:r>
            <a:r>
              <a:rPr sz="1550" b="0" i="1">
                <a:solidFill>
                  <a:srgbClr val="5B6675"/>
                </a:solidFill>
                <a:latin typeface="Cambria"/>
              </a:rPr>
              <a:t>z</a:t>
            </a:r>
            <a:r>
              <a:rPr sz="1550" b="0" i="1" baseline="-25000">
                <a:solidFill>
                  <a:srgbClr val="5B6675"/>
                </a:solidFill>
                <a:latin typeface="Cambria"/>
              </a:rPr>
              <a:t>i</a:t>
            </a:r>
            <a:r>
              <a:rPr sz="1550" b="0" i="0">
                <a:solidFill>
                  <a:srgbClr val="5B6675"/>
                </a:solidFill>
                <a:latin typeface="Cambria"/>
              </a:rPr>
              <a:t>)</a:t>
            </a:r>
            <a:r>
              <a:rPr sz="1550" b="0" i="0">
                <a:solidFill>
                  <a:srgbClr val="5B6675"/>
                </a:solidFill>
                <a:latin typeface="Calibri"/>
              </a:rPr>
              <a:t>   one point + one scalar</a:t>
            </a:r>
          </a:p>
        </p:txBody>
      </p:sp>
      <p:sp>
        <p:nvSpPr>
          <p:cNvPr id="31" name="TextBox 30"/>
          <p:cNvSpPr txBox="1"/>
          <p:nvPr/>
        </p:nvSpPr>
        <p:spPr>
          <a:xfrm>
            <a:off x="6126479" y="4379976"/>
            <a:ext cx="5422392" cy="530352"/>
          </a:xfrm>
          <a:prstGeom prst="rect">
            <a:avLst/>
          </a:prstGeom>
          <a:noFill/>
        </p:spPr>
        <p:txBody>
          <a:bodyPr wrap="square" lIns="0" rIns="0" tIns="0" bIns="0" anchor="ctr">
            <a:spAutoFit/>
          </a:bodyPr>
          <a:lstStyle/>
          <a:p>
            <a:pPr algn="l">
              <a:spcBef>
                <a:spcPts val="0"/>
              </a:spcBef>
              <a:spcAft>
                <a:spcPts val="0"/>
              </a:spcAft>
            </a:pPr>
            <a:r>
              <a:rPr sz="1550" b="0" i="0">
                <a:solidFill>
                  <a:srgbClr val="5B6675"/>
                </a:solidFill>
                <a:latin typeface="Cambria"/>
              </a:rPr>
              <a:t>(</a:t>
            </a:r>
            <a:r>
              <a:rPr sz="1550" b="0" i="1">
                <a:solidFill>
                  <a:srgbClr val="5B6675"/>
                </a:solidFill>
                <a:latin typeface="Cambria"/>
              </a:rPr>
              <a:t>T</a:t>
            </a:r>
            <a:r>
              <a:rPr sz="1550" b="0" i="0">
                <a:solidFill>
                  <a:srgbClr val="5B6675"/>
                </a:solidFill>
                <a:latin typeface="Cambria"/>
              </a:rPr>
              <a:t>, </a:t>
            </a:r>
            <a:r>
              <a:rPr sz="1550" b="0" i="1">
                <a:solidFill>
                  <a:srgbClr val="5B6675"/>
                </a:solidFill>
                <a:latin typeface="Cambria"/>
              </a:rPr>
              <a:t>z</a:t>
            </a:r>
            <a:r>
              <a:rPr sz="1550" b="0" i="0">
                <a:solidFill>
                  <a:srgbClr val="5B6675"/>
                </a:solidFill>
                <a:latin typeface="Cambria"/>
              </a:rPr>
              <a:t>)</a:t>
            </a:r>
            <a:r>
              <a:rPr sz="1550" b="0" i="0">
                <a:solidFill>
                  <a:srgbClr val="5B6675"/>
                </a:solidFill>
                <a:latin typeface="Calibri"/>
              </a:rPr>
              <a:t>,  </a:t>
            </a:r>
            <a:r>
              <a:rPr sz="1550" b="0" i="1">
                <a:solidFill>
                  <a:srgbClr val="5B6675"/>
                </a:solidFill>
                <a:latin typeface="Cambria"/>
              </a:rPr>
              <a:t>T</a:t>
            </a:r>
            <a:r>
              <a:rPr sz="1550" b="0" i="0">
                <a:solidFill>
                  <a:srgbClr val="5B6675"/>
                </a:solidFill>
                <a:latin typeface="Cambria"/>
              </a:rPr>
              <a:t> = (</a:t>
            </a:r>
            <a:r>
              <a:rPr sz="1550" b="0" i="1">
                <a:solidFill>
                  <a:srgbClr val="5B6675"/>
                </a:solidFill>
                <a:latin typeface="Cambria"/>
              </a:rPr>
              <a:t>T</a:t>
            </a:r>
            <a:r>
              <a:rPr sz="1550" b="0" i="0" baseline="-25000">
                <a:solidFill>
                  <a:srgbClr val="5B6675"/>
                </a:solidFill>
                <a:latin typeface="Cambria"/>
              </a:rPr>
              <a:t>1</a:t>
            </a:r>
            <a:r>
              <a:rPr sz="1550" b="0" i="0">
                <a:solidFill>
                  <a:srgbClr val="5B6675"/>
                </a:solidFill>
                <a:latin typeface="Cambria"/>
              </a:rPr>
              <a:t>, …, </a:t>
            </a:r>
            <a:r>
              <a:rPr sz="1550" b="0" i="1">
                <a:solidFill>
                  <a:srgbClr val="5B6675"/>
                </a:solidFill>
                <a:latin typeface="Cambria"/>
              </a:rPr>
              <a:t>T</a:t>
            </a:r>
            <a:r>
              <a:rPr sz="1550" b="0" i="1" baseline="-25000">
                <a:solidFill>
                  <a:srgbClr val="5B6675"/>
                </a:solidFill>
                <a:latin typeface="Cambria"/>
              </a:rPr>
              <a:t>n</a:t>
            </a:r>
            <a:r>
              <a:rPr sz="1550" b="0" i="0">
                <a:solidFill>
                  <a:srgbClr val="5B6675"/>
                </a:solidFill>
                <a:latin typeface="Cambria"/>
              </a:rPr>
              <a:t>)</a:t>
            </a:r>
            <a:r>
              <a:rPr sz="1550" b="0" i="0">
                <a:solidFill>
                  <a:srgbClr val="5B6675"/>
                </a:solidFill>
                <a:latin typeface="Calibri"/>
              </a:rPr>
              <a:t>,  </a:t>
            </a:r>
            <a:r>
              <a:rPr sz="1550" b="0" i="1">
                <a:solidFill>
                  <a:srgbClr val="5B6675"/>
                </a:solidFill>
                <a:latin typeface="Cambria"/>
              </a:rPr>
              <a:t>z</a:t>
            </a:r>
            <a:r>
              <a:rPr sz="1550" b="0" i="0">
                <a:solidFill>
                  <a:srgbClr val="5B6675"/>
                </a:solidFill>
                <a:latin typeface="Cambria"/>
              </a:rPr>
              <a:t> = Σ</a:t>
            </a:r>
            <a:r>
              <a:rPr sz="1550" b="0" i="1">
                <a:solidFill>
                  <a:srgbClr val="5B6675"/>
                </a:solidFill>
                <a:latin typeface="Cambria"/>
              </a:rPr>
              <a:t>z</a:t>
            </a:r>
            <a:r>
              <a:rPr sz="1550" b="0" i="1" baseline="-25000">
                <a:solidFill>
                  <a:srgbClr val="5B6675"/>
                </a:solidFill>
                <a:latin typeface="Cambria"/>
              </a:rPr>
              <a:t>i</a:t>
            </a:r>
          </a:p>
        </p:txBody>
      </p:sp>
      <p:cxnSp>
        <p:nvCxnSpPr>
          <p:cNvPr id="32" name="Connector 31"/>
          <p:cNvCxnSpPr/>
          <p:nvPr/>
        </p:nvCxnSpPr>
        <p:spPr>
          <a:xfrm>
            <a:off x="548640" y="4910328"/>
            <a:ext cx="11091671" cy="0"/>
          </a:xfrm>
          <a:prstGeom prst="line">
            <a:avLst/>
          </a:prstGeom>
          <a:ln w="12700">
            <a:solidFill>
              <a:srgbClr val="D3D9E1"/>
            </a:solidFill>
          </a:ln>
        </p:spPr>
      </p:cxnSp>
      <p:sp>
        <p:nvSpPr>
          <p:cNvPr id="33" name="TextBox 32"/>
          <p:cNvSpPr txBox="1"/>
          <p:nvPr/>
        </p:nvSpPr>
        <p:spPr>
          <a:xfrm>
            <a:off x="640080" y="4910328"/>
            <a:ext cx="1325880" cy="548640"/>
          </a:xfrm>
          <a:prstGeom prst="rect">
            <a:avLst/>
          </a:prstGeom>
          <a:noFill/>
        </p:spPr>
        <p:txBody>
          <a:bodyPr wrap="square" lIns="0" rIns="0" tIns="0" bIns="0" anchor="ctr">
            <a:spAutoFit/>
          </a:bodyPr>
          <a:lstStyle/>
          <a:p>
            <a:pPr algn="l">
              <a:spcBef>
                <a:spcPts val="0"/>
              </a:spcBef>
              <a:spcAft>
                <a:spcPts val="0"/>
              </a:spcAft>
            </a:pPr>
            <a:r>
              <a:rPr sz="1550" b="1" i="0">
                <a:solidFill>
                  <a:srgbClr val="5B6675"/>
                </a:solidFill>
                <a:latin typeface="Calibri"/>
              </a:rPr>
              <a:t>Verification</a:t>
            </a:r>
          </a:p>
        </p:txBody>
      </p:sp>
      <p:sp>
        <p:nvSpPr>
          <p:cNvPr id="34" name="TextBox 33"/>
          <p:cNvSpPr txBox="1"/>
          <p:nvPr/>
        </p:nvSpPr>
        <p:spPr>
          <a:xfrm>
            <a:off x="2148840" y="4910328"/>
            <a:ext cx="3794759" cy="548640"/>
          </a:xfrm>
          <a:prstGeom prst="rect">
            <a:avLst/>
          </a:prstGeom>
          <a:noFill/>
        </p:spPr>
        <p:txBody>
          <a:bodyPr wrap="square" lIns="0" rIns="0" tIns="0" bIns="0" anchor="ctr">
            <a:spAutoFit/>
          </a:bodyPr>
          <a:lstStyle/>
          <a:p>
            <a:pPr algn="l">
              <a:spcBef>
                <a:spcPts val="0"/>
              </a:spcBef>
              <a:spcAft>
                <a:spcPts val="0"/>
              </a:spcAft>
            </a:pPr>
            <a:r>
              <a:rPr sz="1550" b="0" i="1">
                <a:solidFill>
                  <a:srgbClr val="5B6675"/>
                </a:solidFill>
                <a:latin typeface="Cambria"/>
              </a:rPr>
              <a:t>zP</a:t>
            </a:r>
            <a:r>
              <a:rPr sz="1550" b="0" i="0">
                <a:solidFill>
                  <a:srgbClr val="5B6675"/>
                </a:solidFill>
                <a:latin typeface="Cambria"/>
              </a:rPr>
              <a:t> = </a:t>
            </a:r>
            <a:r>
              <a:rPr sz="1550" b="0" i="1">
                <a:solidFill>
                  <a:srgbClr val="5B6675"/>
                </a:solidFill>
                <a:latin typeface="Cambria"/>
              </a:rPr>
              <a:t>R</a:t>
            </a:r>
            <a:r>
              <a:rPr sz="1550" b="0" i="0">
                <a:solidFill>
                  <a:srgbClr val="5B6675"/>
                </a:solidFill>
                <a:latin typeface="Cambria"/>
              </a:rPr>
              <a:t> + (Σ</a:t>
            </a:r>
            <a:r>
              <a:rPr sz="1550" b="0" i="1">
                <a:solidFill>
                  <a:srgbClr val="5B6675"/>
                </a:solidFill>
                <a:latin typeface="Cambria"/>
              </a:rPr>
              <a:t>h</a:t>
            </a:r>
            <a:r>
              <a:rPr sz="1550" b="0" i="1" baseline="30000">
                <a:solidFill>
                  <a:srgbClr val="5B6675"/>
                </a:solidFill>
                <a:latin typeface="Cambria"/>
              </a:rPr>
              <a:t>i</a:t>
            </a:r>
            <a:r>
              <a:rPr sz="1550" b="0" i="0" baseline="-25000">
                <a:solidFill>
                  <a:srgbClr val="5B6675"/>
                </a:solidFill>
                <a:latin typeface="Cambria"/>
              </a:rPr>
              <a:t>0</a:t>
            </a:r>
            <a:r>
              <a:rPr sz="1550" b="0" i="0">
                <a:solidFill>
                  <a:srgbClr val="5B6675"/>
                </a:solidFill>
                <a:latin typeface="Cambria"/>
              </a:rPr>
              <a:t>)</a:t>
            </a:r>
            <a:r>
              <a:rPr sz="1550" b="0" i="1">
                <a:solidFill>
                  <a:srgbClr val="5B6675"/>
                </a:solidFill>
                <a:latin typeface="Cambria"/>
              </a:rPr>
              <a:t>P</a:t>
            </a:r>
            <a:r>
              <a:rPr sz="1550" b="0" i="1" baseline="30000">
                <a:solidFill>
                  <a:srgbClr val="5B6675"/>
                </a:solidFill>
                <a:latin typeface="Cambria"/>
              </a:rPr>
              <a:t>k</a:t>
            </a:r>
            <a:r>
              <a:rPr sz="1550" b="0" i="1" baseline="-25000">
                <a:solidFill>
                  <a:srgbClr val="5B6675"/>
                </a:solidFill>
                <a:latin typeface="Cambria"/>
              </a:rPr>
              <a:t>TA</a:t>
            </a:r>
            <a:r>
              <a:rPr sz="1550" b="0" i="0">
                <a:solidFill>
                  <a:srgbClr val="5B6675"/>
                </a:solidFill>
                <a:latin typeface="Cambria"/>
              </a:rPr>
              <a:t> + Σ</a:t>
            </a:r>
            <a:r>
              <a:rPr sz="1550" b="0" i="1">
                <a:solidFill>
                  <a:srgbClr val="5B6675"/>
                </a:solidFill>
                <a:latin typeface="Cambria"/>
              </a:rPr>
              <a:t>v</a:t>
            </a:r>
            <a:r>
              <a:rPr sz="1550" b="0" i="1" baseline="-25000">
                <a:solidFill>
                  <a:srgbClr val="5B6675"/>
                </a:solidFill>
                <a:latin typeface="Cambria"/>
              </a:rPr>
              <a:t>i</a:t>
            </a:r>
            <a:r>
              <a:rPr sz="1550" b="0" i="1">
                <a:solidFill>
                  <a:srgbClr val="5B6675"/>
                </a:solidFill>
                <a:latin typeface="Cambria"/>
              </a:rPr>
              <a:t>pk</a:t>
            </a:r>
            <a:r>
              <a:rPr sz="1550" b="0" i="1" baseline="-25000">
                <a:solidFill>
                  <a:srgbClr val="5B6675"/>
                </a:solidFill>
                <a:latin typeface="Cambria"/>
              </a:rPr>
              <a:t>i</a:t>
            </a:r>
          </a:p>
        </p:txBody>
      </p:sp>
      <p:sp>
        <p:nvSpPr>
          <p:cNvPr id="35" name="TextBox 34"/>
          <p:cNvSpPr txBox="1"/>
          <p:nvPr/>
        </p:nvSpPr>
        <p:spPr>
          <a:xfrm>
            <a:off x="6126479" y="4910328"/>
            <a:ext cx="5422392" cy="548640"/>
          </a:xfrm>
          <a:prstGeom prst="rect">
            <a:avLst/>
          </a:prstGeom>
          <a:noFill/>
        </p:spPr>
        <p:txBody>
          <a:bodyPr wrap="square" lIns="0" rIns="0" tIns="0" bIns="0" anchor="ctr">
            <a:spAutoFit/>
          </a:bodyPr>
          <a:lstStyle/>
          <a:p>
            <a:pPr algn="l">
              <a:spcBef>
                <a:spcPts val="0"/>
              </a:spcBef>
              <a:spcAft>
                <a:spcPts val="0"/>
              </a:spcAft>
            </a:pPr>
            <a:r>
              <a:rPr sz="1550" b="0" i="1">
                <a:solidFill>
                  <a:srgbClr val="5B6675"/>
                </a:solidFill>
                <a:latin typeface="Cambria"/>
              </a:rPr>
              <a:t>zP</a:t>
            </a:r>
            <a:r>
              <a:rPr sz="1550" b="0" i="0">
                <a:solidFill>
                  <a:srgbClr val="5B6675"/>
                </a:solidFill>
                <a:latin typeface="Cambria"/>
              </a:rPr>
              <a:t> = Σ</a:t>
            </a:r>
            <a:r>
              <a:rPr sz="1550" b="0" i="1">
                <a:solidFill>
                  <a:srgbClr val="5B6675"/>
                </a:solidFill>
                <a:latin typeface="Cambria"/>
              </a:rPr>
              <a:t>T</a:t>
            </a:r>
            <a:r>
              <a:rPr sz="1550" b="0" i="1" baseline="-25000">
                <a:solidFill>
                  <a:srgbClr val="5B6675"/>
                </a:solidFill>
                <a:latin typeface="Cambria"/>
              </a:rPr>
              <a:t>i</a:t>
            </a:r>
            <a:r>
              <a:rPr sz="1550" b="0" i="0">
                <a:solidFill>
                  <a:srgbClr val="5B6675"/>
                </a:solidFill>
                <a:latin typeface="Cambria"/>
              </a:rPr>
              <a:t> + Σ</a:t>
            </a:r>
            <a:r>
              <a:rPr sz="1550" b="0" i="1">
                <a:solidFill>
                  <a:srgbClr val="5B6675"/>
                </a:solidFill>
                <a:latin typeface="Cambria"/>
              </a:rPr>
              <a:t>u</a:t>
            </a:r>
            <a:r>
              <a:rPr sz="1550" b="0" i="1" baseline="-25000">
                <a:solidFill>
                  <a:srgbClr val="5B6675"/>
                </a:solidFill>
                <a:latin typeface="Cambria"/>
              </a:rPr>
              <a:t>i</a:t>
            </a:r>
            <a:r>
              <a:rPr sz="1550" b="0" i="1">
                <a:solidFill>
                  <a:srgbClr val="5B6675"/>
                </a:solidFill>
                <a:latin typeface="Cambria"/>
              </a:rPr>
              <a:t>R</a:t>
            </a:r>
            <a:r>
              <a:rPr sz="1550" b="0" i="1" baseline="-25000">
                <a:solidFill>
                  <a:srgbClr val="5B6675"/>
                </a:solidFill>
                <a:latin typeface="Cambria"/>
              </a:rPr>
              <a:t>i</a:t>
            </a:r>
            <a:r>
              <a:rPr sz="1550" b="0" i="0">
                <a:solidFill>
                  <a:srgbClr val="5B6675"/>
                </a:solidFill>
                <a:latin typeface="Cambria"/>
              </a:rPr>
              <a:t> + (Σ</a:t>
            </a:r>
            <a:r>
              <a:rPr sz="1550" b="0" i="1">
                <a:solidFill>
                  <a:srgbClr val="5B6675"/>
                </a:solidFill>
                <a:latin typeface="Cambria"/>
              </a:rPr>
              <a:t>u</a:t>
            </a:r>
            <a:r>
              <a:rPr sz="1550" b="0" i="1" baseline="-25000">
                <a:solidFill>
                  <a:srgbClr val="5B6675"/>
                </a:solidFill>
                <a:latin typeface="Cambria"/>
              </a:rPr>
              <a:t>i</a:t>
            </a:r>
            <a:r>
              <a:rPr sz="1550" b="0" i="1">
                <a:solidFill>
                  <a:srgbClr val="5B6675"/>
                </a:solidFill>
                <a:latin typeface="Cambria"/>
              </a:rPr>
              <a:t>h</a:t>
            </a:r>
            <a:r>
              <a:rPr sz="1550" b="0" i="1" baseline="30000">
                <a:solidFill>
                  <a:srgbClr val="5B6675"/>
                </a:solidFill>
                <a:latin typeface="Cambria"/>
              </a:rPr>
              <a:t>i</a:t>
            </a:r>
            <a:r>
              <a:rPr sz="1550" b="0" i="0" baseline="-25000">
                <a:solidFill>
                  <a:srgbClr val="5B6675"/>
                </a:solidFill>
                <a:latin typeface="Cambria"/>
              </a:rPr>
              <a:t>0</a:t>
            </a:r>
            <a:r>
              <a:rPr sz="1550" b="0" i="0">
                <a:solidFill>
                  <a:srgbClr val="5B6675"/>
                </a:solidFill>
                <a:latin typeface="Cambria"/>
              </a:rPr>
              <a:t>)</a:t>
            </a:r>
            <a:r>
              <a:rPr sz="1550" b="0" i="1">
                <a:solidFill>
                  <a:srgbClr val="5B6675"/>
                </a:solidFill>
                <a:latin typeface="Cambria"/>
              </a:rPr>
              <a:t>P</a:t>
            </a:r>
            <a:r>
              <a:rPr sz="1550" b="0" i="1" baseline="30000">
                <a:solidFill>
                  <a:srgbClr val="5B6675"/>
                </a:solidFill>
                <a:latin typeface="Cambria"/>
              </a:rPr>
              <a:t>k</a:t>
            </a:r>
            <a:r>
              <a:rPr sz="1550" b="0" i="1" baseline="-25000">
                <a:solidFill>
                  <a:srgbClr val="5B6675"/>
                </a:solidFill>
                <a:latin typeface="Cambria"/>
              </a:rPr>
              <a:t>TA</a:t>
            </a:r>
            <a:r>
              <a:rPr sz="1550" b="0" i="0">
                <a:solidFill>
                  <a:srgbClr val="5B6675"/>
                </a:solidFill>
                <a:latin typeface="Cambria"/>
              </a:rPr>
              <a:t> + Σ</a:t>
            </a:r>
            <a:r>
              <a:rPr sz="1550" b="0" i="1">
                <a:solidFill>
                  <a:srgbClr val="5B6675"/>
                </a:solidFill>
                <a:latin typeface="Cambria"/>
              </a:rPr>
              <a:t>v</a:t>
            </a:r>
            <a:r>
              <a:rPr sz="1550" b="0" i="1" baseline="-25000">
                <a:solidFill>
                  <a:srgbClr val="5B6675"/>
                </a:solidFill>
                <a:latin typeface="Cambria"/>
              </a:rPr>
              <a:t>i</a:t>
            </a:r>
            <a:r>
              <a:rPr sz="1550" b="0" i="1">
                <a:solidFill>
                  <a:srgbClr val="5B6675"/>
                </a:solidFill>
                <a:latin typeface="Cambria"/>
              </a:rPr>
              <a:t>pk</a:t>
            </a:r>
            <a:r>
              <a:rPr sz="1550" b="0" i="1" baseline="-25000">
                <a:solidFill>
                  <a:srgbClr val="5B6675"/>
                </a:solidFill>
                <a:latin typeface="Cambria"/>
              </a:rPr>
              <a:t>i</a:t>
            </a:r>
          </a:p>
        </p:txBody>
      </p:sp>
      <p:cxnSp>
        <p:nvCxnSpPr>
          <p:cNvPr id="36" name="Connector 35"/>
          <p:cNvCxnSpPr/>
          <p:nvPr/>
        </p:nvCxnSpPr>
        <p:spPr>
          <a:xfrm>
            <a:off x="548640" y="5458968"/>
            <a:ext cx="11091671" cy="0"/>
          </a:xfrm>
          <a:prstGeom prst="line">
            <a:avLst/>
          </a:prstGeom>
          <a:ln w="12700">
            <a:solidFill>
              <a:srgbClr val="D3D9E1"/>
            </a:solidFill>
          </a:ln>
        </p:spPr>
      </p:cxnSp>
      <p:sp>
        <p:nvSpPr>
          <p:cNvPr id="37" name="TextBox 36"/>
          <p:cNvSpPr txBox="1"/>
          <p:nvPr/>
        </p:nvSpPr>
        <p:spPr>
          <a:xfrm>
            <a:off x="6126479" y="3072384"/>
            <a:ext cx="5394960" cy="320040"/>
          </a:xfrm>
          <a:prstGeom prst="rect">
            <a:avLst/>
          </a:prstGeom>
          <a:noFill/>
        </p:spPr>
        <p:txBody>
          <a:bodyPr wrap="square" lIns="0" rIns="0" tIns="0" bIns="0" anchor="t">
            <a:spAutoFit/>
          </a:bodyPr>
          <a:lstStyle/>
          <a:p>
            <a:pPr algn="l">
              <a:spcBef>
                <a:spcPts val="0"/>
              </a:spcBef>
              <a:spcAft>
                <a:spcPts val="0"/>
              </a:spcAft>
            </a:pPr>
            <a:r>
              <a:rPr sz="1550" b="0" i="1">
                <a:solidFill>
                  <a:srgbClr val="14202E"/>
                </a:solidFill>
                <a:latin typeface="Cambria"/>
              </a:rPr>
              <a:t>v</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H</a:t>
            </a:r>
            <a:r>
              <a:rPr sz="1550" b="0" i="0" baseline="-25000">
                <a:solidFill>
                  <a:srgbClr val="14202E"/>
                </a:solidFill>
                <a:latin typeface="Cambria"/>
              </a:rPr>
              <a:t>1</a:t>
            </a:r>
            <a:r>
              <a:rPr sz="1550" b="0" i="0">
                <a:solidFill>
                  <a:srgbClr val="14202E"/>
                </a:solidFill>
                <a:latin typeface="Cambria"/>
              </a:rPr>
              <a:t>(</a:t>
            </a:r>
            <a:r>
              <a:rPr sz="1550" b="0" i="1">
                <a:solidFill>
                  <a:srgbClr val="14202E"/>
                </a:solidFill>
                <a:latin typeface="Cambria"/>
              </a:rPr>
              <a:t>m</a:t>
            </a:r>
            <a:r>
              <a:rPr sz="1550" b="0" i="1" baseline="-25000">
                <a:solidFill>
                  <a:srgbClr val="14202E"/>
                </a:solidFill>
                <a:latin typeface="Cambria"/>
              </a:rPr>
              <a:t>i</a:t>
            </a:r>
            <a:r>
              <a:rPr sz="1550" b="0" i="0">
                <a:solidFill>
                  <a:srgbClr val="14202E"/>
                </a:solidFill>
                <a:latin typeface="Cambria"/>
              </a:rPr>
              <a:t>‖</a:t>
            </a:r>
            <a:r>
              <a:rPr sz="1550" b="0" i="1">
                <a:solidFill>
                  <a:srgbClr val="14202E"/>
                </a:solidFill>
                <a:latin typeface="Cambria"/>
              </a:rPr>
              <a:t>pk</a:t>
            </a:r>
            <a:r>
              <a:rPr sz="1550" b="0" i="1" baseline="-25000">
                <a:solidFill>
                  <a:srgbClr val="14202E"/>
                </a:solidFill>
                <a:latin typeface="Cambria"/>
              </a:rPr>
              <a:t>i</a:t>
            </a:r>
            <a:r>
              <a:rPr sz="1550" b="0" i="0">
                <a:solidFill>
                  <a:srgbClr val="14202E"/>
                </a:solidFill>
                <a:latin typeface="Cambria"/>
              </a:rPr>
              <a:t>‖</a:t>
            </a:r>
            <a:r>
              <a:rPr sz="1550" b="0" i="1">
                <a:solidFill>
                  <a:srgbClr val="14202E"/>
                </a:solidFill>
                <a:latin typeface="Cambria"/>
              </a:rPr>
              <a:t>R</a:t>
            </a:r>
            <a:r>
              <a:rPr sz="1550" b="0" i="1" baseline="-25000">
                <a:solidFill>
                  <a:srgbClr val="14202E"/>
                </a:solidFill>
                <a:latin typeface="Cambria"/>
              </a:rPr>
              <a:t>i</a:t>
            </a:r>
            <a:r>
              <a:rPr sz="1550" b="0" i="0">
                <a:solidFill>
                  <a:srgbClr val="14202E"/>
                </a:solidFill>
                <a:latin typeface="Cambria"/>
              </a:rPr>
              <a:t>‖</a:t>
            </a:r>
            <a:r>
              <a:rPr sz="1550" b="0" i="1">
                <a:solidFill>
                  <a:srgbClr val="14202E"/>
                </a:solidFill>
                <a:latin typeface="Cambria"/>
              </a:rPr>
              <a:t>id</a:t>
            </a:r>
            <a:r>
              <a:rPr sz="1550" b="0" i="1" baseline="-25000">
                <a:solidFill>
                  <a:srgbClr val="14202E"/>
                </a:solidFill>
                <a:latin typeface="Cambria"/>
              </a:rPr>
              <a:t>i</a:t>
            </a:r>
            <a:r>
              <a:rPr sz="1550" b="0" i="0">
                <a:solidFill>
                  <a:srgbClr val="14202E"/>
                </a:solidFill>
                <a:latin typeface="Cambria"/>
              </a:rPr>
              <a:t>‖</a:t>
            </a:r>
            <a:r>
              <a:rPr sz="1550" b="0" i="1">
                <a:solidFill>
                  <a:srgbClr val="1E7B4F"/>
                </a:solidFill>
                <a:latin typeface="Cambria"/>
              </a:rPr>
              <a:t>T</a:t>
            </a:r>
            <a:r>
              <a:rPr sz="1550" b="0" i="1" baseline="-25000">
                <a:solidFill>
                  <a:srgbClr val="1E7B4F"/>
                </a:solidFill>
                <a:latin typeface="Cambria"/>
              </a:rPr>
              <a:t>i</a:t>
            </a:r>
            <a:r>
              <a:rPr sz="1550" b="0" i="0">
                <a:solidFill>
                  <a:srgbClr val="14202E"/>
                </a:solidFill>
                <a:latin typeface="Cambria"/>
              </a:rPr>
              <a:t>‖Δ)</a:t>
            </a:r>
          </a:p>
        </p:txBody>
      </p:sp>
      <p:sp>
        <p:nvSpPr>
          <p:cNvPr id="38" name="TextBox 37"/>
          <p:cNvSpPr txBox="1"/>
          <p:nvPr/>
        </p:nvSpPr>
        <p:spPr>
          <a:xfrm>
            <a:off x="6126479" y="3456432"/>
            <a:ext cx="5394960" cy="320040"/>
          </a:xfrm>
          <a:prstGeom prst="rect">
            <a:avLst/>
          </a:prstGeom>
          <a:noFill/>
        </p:spPr>
        <p:txBody>
          <a:bodyPr wrap="square" lIns="0" rIns="0" tIns="0" bIns="0" anchor="t">
            <a:spAutoFit/>
          </a:bodyPr>
          <a:lstStyle/>
          <a:p>
            <a:pPr algn="l">
              <a:spcBef>
                <a:spcPts val="0"/>
              </a:spcBef>
              <a:spcAft>
                <a:spcPts val="0"/>
              </a:spcAft>
            </a:pPr>
            <a:r>
              <a:rPr sz="1550" b="0" i="1">
                <a:solidFill>
                  <a:srgbClr val="14202E"/>
                </a:solidFill>
                <a:latin typeface="Cambria"/>
              </a:rPr>
              <a:t>u</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H</a:t>
            </a:r>
            <a:r>
              <a:rPr sz="1550" b="0" i="0" baseline="-25000">
                <a:solidFill>
                  <a:srgbClr val="14202E"/>
                </a:solidFill>
                <a:latin typeface="Cambria"/>
              </a:rPr>
              <a:t>2</a:t>
            </a:r>
            <a:r>
              <a:rPr sz="1550" b="0" i="0">
                <a:solidFill>
                  <a:srgbClr val="14202E"/>
                </a:solidFill>
                <a:latin typeface="Calibri"/>
              </a:rPr>
              <a:t> of the same input</a:t>
            </a:r>
          </a:p>
        </p:txBody>
      </p:sp>
      <p:sp>
        <p:nvSpPr>
          <p:cNvPr id="39" name="TextBox 38"/>
          <p:cNvSpPr txBox="1"/>
          <p:nvPr/>
        </p:nvSpPr>
        <p:spPr>
          <a:xfrm>
            <a:off x="548640" y="5468112"/>
            <a:ext cx="11064240" cy="274320"/>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Typos in §V-A, corrected in our code: KeyGen prints </a:t>
            </a:r>
            <a:r>
              <a:rPr sz="1250" b="0" i="1">
                <a:solidFill>
                  <a:srgbClr val="5B6675"/>
                </a:solidFill>
                <a:latin typeface="Cambria"/>
              </a:rPr>
              <a:t>pk</a:t>
            </a:r>
            <a:r>
              <a:rPr sz="1250" b="0" i="1" baseline="-25000">
                <a:solidFill>
                  <a:srgbClr val="5B6675"/>
                </a:solidFill>
                <a:latin typeface="Cambria"/>
              </a:rPr>
              <a:t>i</a:t>
            </a:r>
            <a:r>
              <a:rPr sz="1250" b="0" i="0">
                <a:solidFill>
                  <a:srgbClr val="5B6675"/>
                </a:solidFill>
                <a:latin typeface="Cambria"/>
              </a:rPr>
              <a:t> = </a:t>
            </a:r>
            <a:r>
              <a:rPr sz="1250" b="0" i="1">
                <a:solidFill>
                  <a:srgbClr val="5B6675"/>
                </a:solidFill>
                <a:latin typeface="Cambria"/>
              </a:rPr>
              <a:t>s</a:t>
            </a:r>
            <a:r>
              <a:rPr sz="1250" b="0" i="1" baseline="-25000">
                <a:solidFill>
                  <a:srgbClr val="5B6675"/>
                </a:solidFill>
                <a:latin typeface="Cambria"/>
              </a:rPr>
              <a:t>i</a:t>
            </a:r>
            <a:r>
              <a:rPr sz="1250" b="0" i="0">
                <a:solidFill>
                  <a:srgbClr val="5B6675"/>
                </a:solidFill>
                <a:latin typeface="Calibri"/>
              </a:rPr>
              <a:t> (we use </a:t>
            </a:r>
            <a:r>
              <a:rPr sz="1250" b="0" i="1">
                <a:solidFill>
                  <a:srgbClr val="5B6675"/>
                </a:solidFill>
                <a:latin typeface="Cambria"/>
              </a:rPr>
              <a:t>s</a:t>
            </a:r>
            <a:r>
              <a:rPr sz="1250" b="0" i="1" baseline="-25000">
                <a:solidFill>
                  <a:srgbClr val="5B6675"/>
                </a:solidFill>
                <a:latin typeface="Cambria"/>
              </a:rPr>
              <a:t>i</a:t>
            </a:r>
            <a:r>
              <a:rPr sz="1250" b="0" i="1">
                <a:solidFill>
                  <a:srgbClr val="5B6675"/>
                </a:solidFill>
                <a:latin typeface="Cambria"/>
              </a:rPr>
              <a:t>P</a:t>
            </a:r>
            <a:r>
              <a:rPr sz="1250" b="0" i="0">
                <a:solidFill>
                  <a:srgbClr val="5B6675"/>
                </a:solidFill>
                <a:latin typeface="Calibri"/>
              </a:rPr>
              <a:t>); the certificate check prints </a:t>
            </a:r>
            <a:r>
              <a:rPr sz="1250" b="0" i="1">
                <a:solidFill>
                  <a:srgbClr val="5B6675"/>
                </a:solidFill>
                <a:latin typeface="Cambria"/>
              </a:rPr>
              <a:t>R</a:t>
            </a:r>
            <a:r>
              <a:rPr sz="1250" b="0" i="0" baseline="-25000">
                <a:solidFill>
                  <a:srgbClr val="5B6675"/>
                </a:solidFill>
                <a:latin typeface="Cambria"/>
              </a:rPr>
              <a:t>1</a:t>
            </a:r>
            <a:r>
              <a:rPr sz="1250" b="0" i="1" baseline="-25000">
                <a:solidFill>
                  <a:srgbClr val="5B6675"/>
                </a:solidFill>
                <a:latin typeface="Cambria"/>
              </a:rPr>
              <a:t>i</a:t>
            </a:r>
            <a:r>
              <a:rPr sz="1250" b="0" i="0">
                <a:solidFill>
                  <a:srgbClr val="5B6675"/>
                </a:solidFill>
                <a:latin typeface="Calibri"/>
              </a:rPr>
              <a:t> (we use </a:t>
            </a:r>
            <a:r>
              <a:rPr sz="1250" b="0" i="1">
                <a:solidFill>
                  <a:srgbClr val="5B6675"/>
                </a:solidFill>
                <a:latin typeface="Cambria"/>
              </a:rPr>
              <a:t>R</a:t>
            </a:r>
            <a:r>
              <a:rPr sz="1250" b="0" i="1" baseline="-25000">
                <a:solidFill>
                  <a:srgbClr val="5B6675"/>
                </a:solidFill>
                <a:latin typeface="Cambria"/>
              </a:rPr>
              <a:t>i</a:t>
            </a:r>
            <a:r>
              <a:rPr sz="1250" b="0" i="0">
                <a:solidFill>
                  <a:srgbClr val="5B6675"/>
                </a:solidFill>
                <a:latin typeface="Calibri"/>
              </a:rPr>
              <a:t>).</a:t>
            </a:r>
          </a:p>
        </p:txBody>
      </p:sp>
      <p:sp>
        <p:nvSpPr>
          <p:cNvPr id="40" name="Rectangle 39"/>
          <p:cNvSpPr/>
          <p:nvPr/>
        </p:nvSpPr>
        <p:spPr>
          <a:xfrm>
            <a:off x="548640" y="5760720"/>
            <a:ext cx="82296" cy="566928"/>
          </a:xfrm>
          <a:prstGeom prst="rect">
            <a:avLst/>
          </a:prstGeom>
          <a:solidFill>
            <a:srgbClr val="1E7B4F"/>
          </a:solidFill>
          <a:ln>
            <a:noFill/>
          </a:ln>
          <a:effectLst/>
        </p:spPr>
        <p:txBody>
          <a:bodyPr rtlCol="0" anchor="ctr" wrap="square" lIns="73152" rIns="73152" tIns="36576" bIns="36576"/>
          <a:lstStyle/>
          <a:p>
            <a:pPr algn="ctr"/>
          </a:p>
        </p:txBody>
      </p:sp>
      <p:sp>
        <p:nvSpPr>
          <p:cNvPr id="41" name="TextBox 40"/>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900" b="1" i="0">
                <a:solidFill>
                  <a:srgbClr val="14202E"/>
                </a:solidFill>
                <a:latin typeface="Calibri"/>
              </a:rPr>
              <a:t>Several things change. For this attack, what matters is that </a:t>
            </a:r>
            <a:r>
              <a:rPr sz="1900" b="1" i="1">
                <a:solidFill>
                  <a:srgbClr val="14202E"/>
                </a:solidFill>
                <a:latin typeface="Cambria"/>
              </a:rPr>
              <a:t>T</a:t>
            </a:r>
            <a:r>
              <a:rPr sz="1900" b="1" i="1" baseline="-25000">
                <a:solidFill>
                  <a:srgbClr val="14202E"/>
                </a:solidFill>
                <a:latin typeface="Cambria"/>
              </a:rPr>
              <a:t>i</a:t>
            </a:r>
            <a:r>
              <a:rPr sz="1900" b="1" i="0">
                <a:solidFill>
                  <a:srgbClr val="14202E"/>
                </a:solidFill>
                <a:latin typeface="Calibri"/>
              </a:rPr>
              <a:t> now enters the hashes.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IV · WHY THE REPAIR CHANGES THE ALGEBRA</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Old vs new: is the commitment coupled to the hash?</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19 / 32</a:t>
            </a:r>
          </a:p>
        </p:txBody>
      </p:sp>
      <p:sp>
        <p:nvSpPr>
          <p:cNvPr id="8" name="Rounded Rectangle 7"/>
          <p:cNvSpPr/>
          <p:nvPr/>
        </p:nvSpPr>
        <p:spPr>
          <a:xfrm>
            <a:off x="548640" y="1554480"/>
            <a:ext cx="5440680" cy="4041648"/>
          </a:xfrm>
          <a:prstGeom prst="roundRect">
            <a:avLst>
              <a:gd name="adj" fmla="val 2262"/>
            </a:avLst>
          </a:prstGeom>
          <a:solidFill>
            <a:srgbClr val="FFFFFF"/>
          </a:solidFill>
          <a:ln w="15875">
            <a:solidFill>
              <a:srgbClr val="D3D9E1"/>
            </a:solidFill>
          </a:ln>
          <a:effectLst/>
        </p:spPr>
        <p:txBody>
          <a:bodyPr rtlCol="0" anchor="ctr" wrap="square" lIns="73152" rIns="73152" tIns="36576" bIns="36576"/>
          <a:lstStyle/>
          <a:p>
            <a:pPr algn="ctr"/>
          </a:p>
        </p:txBody>
      </p:sp>
      <p:sp>
        <p:nvSpPr>
          <p:cNvPr id="9" name="TextBox 8"/>
          <p:cNvSpPr txBox="1"/>
          <p:nvPr/>
        </p:nvSpPr>
        <p:spPr>
          <a:xfrm>
            <a:off x="731520" y="1627632"/>
            <a:ext cx="5029200" cy="320040"/>
          </a:xfrm>
          <a:prstGeom prst="rect">
            <a:avLst/>
          </a:prstGeom>
          <a:noFill/>
        </p:spPr>
        <p:txBody>
          <a:bodyPr wrap="square" lIns="0" rIns="0" tIns="0" bIns="0" anchor="t">
            <a:spAutoFit/>
          </a:bodyPr>
          <a:lstStyle/>
          <a:p>
            <a:pPr algn="l">
              <a:spcBef>
                <a:spcPts val="0"/>
              </a:spcBef>
              <a:spcAft>
                <a:spcPts val="0"/>
              </a:spcAft>
            </a:pPr>
            <a:r>
              <a:rPr sz="1900" b="1" i="0">
                <a:solidFill>
                  <a:srgbClr val="B3261E"/>
                </a:solidFill>
                <a:latin typeface="Calibri"/>
              </a:rPr>
              <a:t>OLD · Verma et al.</a:t>
            </a:r>
          </a:p>
        </p:txBody>
      </p:sp>
      <p:sp>
        <p:nvSpPr>
          <p:cNvPr id="10" name="TextBox 9"/>
          <p:cNvSpPr txBox="1"/>
          <p:nvPr/>
        </p:nvSpPr>
        <p:spPr>
          <a:xfrm>
            <a:off x="731520" y="1965960"/>
            <a:ext cx="5120640" cy="274320"/>
          </a:xfrm>
          <a:prstGeom prst="rect">
            <a:avLst/>
          </a:prstGeom>
          <a:noFill/>
        </p:spPr>
        <p:txBody>
          <a:bodyPr wrap="square" lIns="0" rIns="0" tIns="0" bIns="0" anchor="t">
            <a:spAutoFit/>
          </a:bodyPr>
          <a:lstStyle/>
          <a:p>
            <a:pPr algn="l">
              <a:spcBef>
                <a:spcPts val="0"/>
              </a:spcBef>
              <a:spcAft>
                <a:spcPts val="0"/>
              </a:spcAft>
            </a:pPr>
            <a:r>
              <a:rPr sz="1350" b="0" i="0">
                <a:solidFill>
                  <a:srgbClr val="5B6675"/>
                </a:solidFill>
                <a:latin typeface="Calibri"/>
              </a:rPr>
              <a:t>message and commitment are not coupled through the hash</a:t>
            </a:r>
          </a:p>
        </p:txBody>
      </p:sp>
      <p:sp>
        <p:nvSpPr>
          <p:cNvPr id="11" name="Rounded Rectangle 10"/>
          <p:cNvSpPr/>
          <p:nvPr/>
        </p:nvSpPr>
        <p:spPr>
          <a:xfrm>
            <a:off x="6199632" y="1554480"/>
            <a:ext cx="5440680" cy="4041648"/>
          </a:xfrm>
          <a:prstGeom prst="roundRect">
            <a:avLst>
              <a:gd name="adj" fmla="val 2262"/>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2" name="TextBox 11"/>
          <p:cNvSpPr txBox="1"/>
          <p:nvPr/>
        </p:nvSpPr>
        <p:spPr>
          <a:xfrm>
            <a:off x="6382512" y="1627632"/>
            <a:ext cx="5029200" cy="320040"/>
          </a:xfrm>
          <a:prstGeom prst="rect">
            <a:avLst/>
          </a:prstGeom>
          <a:noFill/>
        </p:spPr>
        <p:txBody>
          <a:bodyPr wrap="square" lIns="0" rIns="0" tIns="0" bIns="0" anchor="t">
            <a:spAutoFit/>
          </a:bodyPr>
          <a:lstStyle/>
          <a:p>
            <a:pPr algn="l">
              <a:spcBef>
                <a:spcPts val="0"/>
              </a:spcBef>
              <a:spcAft>
                <a:spcPts val="0"/>
              </a:spcAft>
            </a:pPr>
            <a:r>
              <a:rPr sz="1900" b="1" i="0">
                <a:solidFill>
                  <a:srgbClr val="1E7B4F"/>
                </a:solidFill>
                <a:latin typeface="Calibri"/>
              </a:rPr>
              <a:t>NEW · Qiao et al.</a:t>
            </a:r>
          </a:p>
        </p:txBody>
      </p:sp>
      <p:sp>
        <p:nvSpPr>
          <p:cNvPr id="13" name="TextBox 12"/>
          <p:cNvSpPr txBox="1"/>
          <p:nvPr/>
        </p:nvSpPr>
        <p:spPr>
          <a:xfrm>
            <a:off x="6382512" y="1965960"/>
            <a:ext cx="5120640" cy="274320"/>
          </a:xfrm>
          <a:prstGeom prst="rect">
            <a:avLst/>
          </a:prstGeom>
          <a:noFill/>
        </p:spPr>
        <p:txBody>
          <a:bodyPr wrap="square" lIns="0" rIns="0" tIns="0" bIns="0" anchor="t">
            <a:spAutoFit/>
          </a:bodyPr>
          <a:lstStyle/>
          <a:p>
            <a:pPr algn="l">
              <a:spcBef>
                <a:spcPts val="0"/>
              </a:spcBef>
              <a:spcAft>
                <a:spcPts val="0"/>
              </a:spcAft>
            </a:pPr>
            <a:r>
              <a:rPr sz="1350" b="0" i="0">
                <a:solidFill>
                  <a:srgbClr val="5B6675"/>
                </a:solidFill>
                <a:latin typeface="Calibri"/>
              </a:rPr>
              <a:t>message and commitment are both inputs to the hash</a:t>
            </a:r>
          </a:p>
        </p:txBody>
      </p:sp>
      <p:sp>
        <p:nvSpPr>
          <p:cNvPr id="14" name="Rounded Rectangle 13"/>
          <p:cNvSpPr/>
          <p:nvPr/>
        </p:nvSpPr>
        <p:spPr>
          <a:xfrm>
            <a:off x="731520" y="2468880"/>
            <a:ext cx="2331720" cy="457200"/>
          </a:xfrm>
          <a:prstGeom prst="roundRect">
            <a:avLst>
              <a:gd name="adj" fmla="val 24000"/>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500" b="0" i="1">
                <a:solidFill>
                  <a:srgbClr val="14202E"/>
                </a:solidFill>
                <a:latin typeface="Cambria"/>
              </a:rPr>
              <a:t>m</a:t>
            </a:r>
            <a:r>
              <a:rPr sz="1500" b="0" i="1" baseline="-25000">
                <a:solidFill>
                  <a:srgbClr val="14202E"/>
                </a:solidFill>
                <a:latin typeface="Cambria"/>
              </a:rPr>
              <a:t>i</a:t>
            </a:r>
            <a:r>
              <a:rPr sz="1500" b="0" i="0">
                <a:solidFill>
                  <a:srgbClr val="14202E"/>
                </a:solidFill>
                <a:latin typeface="Cambria"/>
              </a:rPr>
              <a:t>, </a:t>
            </a:r>
            <a:r>
              <a:rPr sz="1500" b="0" i="1">
                <a:solidFill>
                  <a:srgbClr val="14202E"/>
                </a:solidFill>
                <a:latin typeface="Cambria"/>
              </a:rPr>
              <a:t>pk</a:t>
            </a:r>
            <a:r>
              <a:rPr sz="1500" b="0" i="1" baseline="-25000">
                <a:solidFill>
                  <a:srgbClr val="14202E"/>
                </a:solidFill>
                <a:latin typeface="Cambria"/>
              </a:rPr>
              <a:t>i</a:t>
            </a:r>
            <a:r>
              <a:rPr sz="1500" b="0" i="0">
                <a:solidFill>
                  <a:srgbClr val="14202E"/>
                </a:solidFill>
                <a:latin typeface="Cambria"/>
              </a:rPr>
              <a:t>, </a:t>
            </a:r>
            <a:r>
              <a:rPr sz="1500" b="0" i="1">
                <a:solidFill>
                  <a:srgbClr val="14202E"/>
                </a:solidFill>
                <a:latin typeface="Cambria"/>
              </a:rPr>
              <a:t>id</a:t>
            </a:r>
            <a:r>
              <a:rPr sz="1500" b="0" i="1" baseline="-25000">
                <a:solidFill>
                  <a:srgbClr val="14202E"/>
                </a:solidFill>
                <a:latin typeface="Cambria"/>
              </a:rPr>
              <a:t>i</a:t>
            </a:r>
            <a:r>
              <a:rPr sz="1500" b="0" i="0">
                <a:solidFill>
                  <a:srgbClr val="14202E"/>
                </a:solidFill>
                <a:latin typeface="Cambria"/>
              </a:rPr>
              <a:t>, Δ</a:t>
            </a:r>
          </a:p>
        </p:txBody>
      </p:sp>
      <p:cxnSp>
        <p:nvCxnSpPr>
          <p:cNvPr id="15" name="Connector 14"/>
          <p:cNvCxnSpPr/>
          <p:nvPr/>
        </p:nvCxnSpPr>
        <p:spPr>
          <a:xfrm>
            <a:off x="3063240" y="2697480"/>
            <a:ext cx="365760" cy="0"/>
          </a:xfrm>
          <a:prstGeom prst="line">
            <a:avLst/>
          </a:prstGeom>
          <a:ln w="22225">
            <a:solidFill>
              <a:srgbClr val="14202E"/>
            </a:solidFill>
            <a:tailEnd type="triangle" w="med" len="med"/>
          </a:ln>
        </p:spPr>
      </p:cxnSp>
      <p:sp>
        <p:nvSpPr>
          <p:cNvPr id="16" name="Rounded Rectangle 15"/>
          <p:cNvSpPr/>
          <p:nvPr/>
        </p:nvSpPr>
        <p:spPr>
          <a:xfrm>
            <a:off x="3429000" y="2468880"/>
            <a:ext cx="777240" cy="457200"/>
          </a:xfrm>
          <a:prstGeom prst="roundRect">
            <a:avLst>
              <a:gd name="adj" fmla="val 12000"/>
            </a:avLst>
          </a:prstGeom>
          <a:solidFill>
            <a:srgbClr val="F2F5F8"/>
          </a:solidFill>
          <a:ln w="19050">
            <a:solidFill>
              <a:srgbClr val="14202E"/>
            </a:solidFill>
          </a:ln>
          <a:effectLst/>
        </p:spPr>
        <p:txBody>
          <a:bodyPr rtlCol="0" anchor="ctr" wrap="square" lIns="73152" rIns="73152" tIns="36576" bIns="36576"/>
          <a:lstStyle/>
          <a:p>
            <a:pPr algn="ctr">
              <a:spcBef>
                <a:spcPts val="0"/>
              </a:spcBef>
              <a:spcAft>
                <a:spcPts val="0"/>
              </a:spcAft>
            </a:pPr>
            <a:r>
              <a:rPr sz="1700" b="1" i="1">
                <a:solidFill>
                  <a:srgbClr val="14202E"/>
                </a:solidFill>
                <a:latin typeface="Cambria"/>
              </a:rPr>
              <a:t>H</a:t>
            </a:r>
            <a:r>
              <a:rPr sz="1700" b="1" i="0" baseline="-25000">
                <a:solidFill>
                  <a:srgbClr val="14202E"/>
                </a:solidFill>
                <a:latin typeface="Cambria"/>
              </a:rPr>
              <a:t>1</a:t>
            </a:r>
          </a:p>
        </p:txBody>
      </p:sp>
      <p:cxnSp>
        <p:nvCxnSpPr>
          <p:cNvPr id="17" name="Connector 16"/>
          <p:cNvCxnSpPr/>
          <p:nvPr/>
        </p:nvCxnSpPr>
        <p:spPr>
          <a:xfrm>
            <a:off x="4206240" y="2697480"/>
            <a:ext cx="365760" cy="0"/>
          </a:xfrm>
          <a:prstGeom prst="line">
            <a:avLst/>
          </a:prstGeom>
          <a:ln w="22225">
            <a:solidFill>
              <a:srgbClr val="14202E"/>
            </a:solidFill>
            <a:tailEnd type="triangle" w="med" len="med"/>
          </a:ln>
        </p:spPr>
      </p:cxnSp>
      <p:sp>
        <p:nvSpPr>
          <p:cNvPr id="18" name="Rounded Rectangle 17"/>
          <p:cNvSpPr/>
          <p:nvPr/>
        </p:nvSpPr>
        <p:spPr>
          <a:xfrm>
            <a:off x="4572000" y="2468880"/>
            <a:ext cx="685800" cy="457200"/>
          </a:xfrm>
          <a:prstGeom prst="roundRect">
            <a:avLst>
              <a:gd name="adj" fmla="val 24000"/>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600" b="0" i="1">
                <a:solidFill>
                  <a:srgbClr val="14202E"/>
                </a:solidFill>
                <a:latin typeface="Cambria"/>
              </a:rPr>
              <a:t>v</a:t>
            </a:r>
            <a:r>
              <a:rPr sz="1600" b="0" i="1" baseline="-25000">
                <a:solidFill>
                  <a:srgbClr val="14202E"/>
                </a:solidFill>
                <a:latin typeface="Cambria"/>
              </a:rPr>
              <a:t>i</a:t>
            </a:r>
          </a:p>
        </p:txBody>
      </p:sp>
      <p:sp>
        <p:nvSpPr>
          <p:cNvPr id="19" name="Rounded Rectangle 18"/>
          <p:cNvSpPr/>
          <p:nvPr/>
        </p:nvSpPr>
        <p:spPr>
          <a:xfrm>
            <a:off x="731520" y="3383280"/>
            <a:ext cx="1097280" cy="457200"/>
          </a:xfrm>
          <a:prstGeom prst="roundRect">
            <a:avLst>
              <a:gd name="adj" fmla="val 24000"/>
            </a:avLst>
          </a:prstGeom>
          <a:solidFill>
            <a:srgbClr val="E4EEF9"/>
          </a:solidFill>
          <a:ln w="15240">
            <a:solidFill>
              <a:srgbClr val="1D5EA8"/>
            </a:solidFill>
            <a:prstDash val="dash"/>
          </a:ln>
          <a:effectLst/>
        </p:spPr>
        <p:txBody>
          <a:bodyPr rtlCol="0" anchor="ctr" wrap="square" lIns="365760" rIns="365760" tIns="36576" bIns="36576"/>
          <a:lstStyle/>
          <a:p>
            <a:pPr algn="l">
              <a:spcBef>
                <a:spcPts val="0"/>
              </a:spcBef>
              <a:spcAft>
                <a:spcPts val="0"/>
              </a:spcAft>
            </a:pPr>
            <a:r>
              <a:rPr sz="1600" b="0" i="1">
                <a:solidFill>
                  <a:srgbClr val="14202E"/>
                </a:solidFill>
                <a:latin typeface="Cambria"/>
              </a:rPr>
              <a:t>r</a:t>
            </a:r>
            <a:r>
              <a:rPr sz="1600" b="0" i="0" baseline="-25000">
                <a:solidFill>
                  <a:srgbClr val="14202E"/>
                </a:solidFill>
                <a:latin typeface="Cambria"/>
              </a:rPr>
              <a:t>2</a:t>
            </a:r>
            <a:r>
              <a:rPr sz="1600" b="0" i="1" baseline="-25000">
                <a:solidFill>
                  <a:srgbClr val="14202E"/>
                </a:solidFill>
                <a:latin typeface="Cambria"/>
              </a:rPr>
              <a:t>i</a:t>
            </a:r>
          </a:p>
        </p:txBody>
      </p:sp>
      <p:sp>
        <p:nvSpPr>
          <p:cNvPr id="20" name="Rounded Rectangle 19"/>
          <p:cNvSpPr/>
          <p:nvPr/>
        </p:nvSpPr>
        <p:spPr>
          <a:xfrm>
            <a:off x="831829" y="3570000"/>
            <a:ext cx="192572" cy="128381"/>
          </a:xfrm>
          <a:prstGeom prst="roundRect">
            <a:avLst>
              <a:gd name="adj" fmla="val 21367"/>
            </a:avLst>
          </a:prstGeom>
          <a:solidFill>
            <a:srgbClr val="1D5EA8"/>
          </a:solidFill>
          <a:ln>
            <a:noFill/>
          </a:ln>
          <a:effectLst/>
        </p:spPr>
        <p:txBody>
          <a:bodyPr rtlCol="0" anchor="ctr" wrap="square" lIns="73152" rIns="73152" tIns="36576" bIns="36576"/>
          <a:lstStyle/>
          <a:p>
            <a:pPr algn="ctr"/>
          </a:p>
        </p:txBody>
      </p:sp>
      <p:sp>
        <p:nvSpPr>
          <p:cNvPr id="21" name="Freeform 20"/>
          <p:cNvSpPr/>
          <p:nvPr/>
        </p:nvSpPr>
        <p:spPr>
          <a:xfrm>
            <a:off x="870344" y="3471245"/>
            <a:ext cx="115543" cy="98755"/>
          </a:xfrm>
          <a:custGeom>
            <a:avLst/>
            <a:gdLst/>
            <a:ahLst/>
            <a:cxnLst/>
            <a:rect l="l" t="t" r="r" b="b"/>
            <a:pathLst>
              <a:path w="115543" h="98755">
                <a:moveTo>
                  <a:pt x="0" y="98755"/>
                </a:moveTo>
                <a:lnTo>
                  <a:pt x="0" y="39502"/>
                </a:lnTo>
                <a:lnTo>
                  <a:pt x="26960" y="0"/>
                </a:lnTo>
                <a:lnTo>
                  <a:pt x="88583" y="0"/>
                </a:lnTo>
                <a:lnTo>
                  <a:pt x="115543" y="39502"/>
                </a:lnTo>
                <a:lnTo>
                  <a:pt x="115543" y="98755"/>
                </a:lnTo>
              </a:path>
            </a:pathLst>
          </a:custGeom>
          <a:noFill/>
          <a:ln w="18859">
            <a:solidFill>
              <a:srgbClr val="1D5EA8"/>
            </a:solidFill>
          </a:ln>
          <a:effectLst/>
        </p:spPr>
        <p:txBody>
          <a:bodyPr rtlCol="0" anchor="ctr"/>
          <a:lstStyle/>
          <a:p>
            <a:pPr algn="ctr"/>
          </a:p>
        </p:txBody>
      </p:sp>
      <p:cxnSp>
        <p:nvCxnSpPr>
          <p:cNvPr id="22" name="Connector 21"/>
          <p:cNvCxnSpPr/>
          <p:nvPr/>
        </p:nvCxnSpPr>
        <p:spPr>
          <a:xfrm>
            <a:off x="1828800" y="3611880"/>
            <a:ext cx="320040" cy="0"/>
          </a:xfrm>
          <a:prstGeom prst="line">
            <a:avLst/>
          </a:prstGeom>
          <a:ln w="22225">
            <a:solidFill>
              <a:srgbClr val="1D5EA8"/>
            </a:solidFill>
            <a:tailEnd type="triangle" w="med" len="med"/>
          </a:ln>
        </p:spPr>
      </p:cxnSp>
      <p:sp>
        <p:nvSpPr>
          <p:cNvPr id="23" name="Rounded Rectangle 22"/>
          <p:cNvSpPr/>
          <p:nvPr/>
        </p:nvSpPr>
        <p:spPr>
          <a:xfrm>
            <a:off x="2148840" y="3383280"/>
            <a:ext cx="2377440" cy="457200"/>
          </a:xfrm>
          <a:prstGeom prst="roundRect">
            <a:avLst>
              <a:gd name="adj" fmla="val 24000"/>
            </a:avLst>
          </a:prstGeom>
          <a:solidFill>
            <a:srgbClr val="E4EEF9"/>
          </a:solidFill>
          <a:ln w="15240">
            <a:solidFill>
              <a:srgbClr val="1D5EA8"/>
            </a:solidFill>
          </a:ln>
          <a:effectLst/>
        </p:spPr>
        <p:txBody>
          <a:bodyPr rtlCol="0" anchor="ctr" wrap="square" lIns="73152" rIns="73152" tIns="36576" bIns="36576"/>
          <a:lstStyle/>
          <a:p>
            <a:pPr algn="ctr">
              <a:spcBef>
                <a:spcPts val="0"/>
              </a:spcBef>
              <a:spcAft>
                <a:spcPts val="0"/>
              </a:spcAft>
            </a:pPr>
            <a:r>
              <a:rPr sz="1500" b="0" i="1">
                <a:solidFill>
                  <a:srgbClr val="14202E"/>
                </a:solidFill>
                <a:latin typeface="Cambria"/>
              </a:rPr>
              <a:t>R</a:t>
            </a:r>
            <a:r>
              <a:rPr sz="1500" b="0" i="1" baseline="-25000">
                <a:solidFill>
                  <a:srgbClr val="14202E"/>
                </a:solidFill>
                <a:latin typeface="Cambria"/>
              </a:rPr>
              <a:t>i</a:t>
            </a:r>
            <a:r>
              <a:rPr sz="1500" b="0" i="0">
                <a:solidFill>
                  <a:srgbClr val="14202E"/>
                </a:solidFill>
                <a:latin typeface="Cambria"/>
              </a:rPr>
              <a:t> = </a:t>
            </a:r>
            <a:r>
              <a:rPr sz="1500" b="0" i="1">
                <a:solidFill>
                  <a:srgbClr val="14202E"/>
                </a:solidFill>
                <a:latin typeface="Cambria"/>
              </a:rPr>
              <a:t>R</a:t>
            </a:r>
            <a:r>
              <a:rPr sz="1500" b="0" i="0" baseline="-25000">
                <a:solidFill>
                  <a:srgbClr val="14202E"/>
                </a:solidFill>
                <a:latin typeface="Cambria"/>
              </a:rPr>
              <a:t>1</a:t>
            </a:r>
            <a:r>
              <a:rPr sz="1500" b="0" i="1" baseline="-25000">
                <a:solidFill>
                  <a:srgbClr val="14202E"/>
                </a:solidFill>
                <a:latin typeface="Cambria"/>
              </a:rPr>
              <a:t>i</a:t>
            </a:r>
            <a:r>
              <a:rPr sz="1500" b="0" i="0">
                <a:solidFill>
                  <a:srgbClr val="14202E"/>
                </a:solidFill>
                <a:latin typeface="Cambria"/>
              </a:rPr>
              <a:t> + </a:t>
            </a:r>
            <a:r>
              <a:rPr sz="1500" b="0" i="1">
                <a:solidFill>
                  <a:srgbClr val="14202E"/>
                </a:solidFill>
                <a:latin typeface="Cambria"/>
              </a:rPr>
              <a:t>r</a:t>
            </a:r>
            <a:r>
              <a:rPr sz="1500" b="0" i="0" baseline="-25000">
                <a:solidFill>
                  <a:srgbClr val="14202E"/>
                </a:solidFill>
                <a:latin typeface="Cambria"/>
              </a:rPr>
              <a:t>2</a:t>
            </a:r>
            <a:r>
              <a:rPr sz="1500" b="0" i="1" baseline="-25000">
                <a:solidFill>
                  <a:srgbClr val="14202E"/>
                </a:solidFill>
                <a:latin typeface="Cambria"/>
              </a:rPr>
              <a:t>i</a:t>
            </a:r>
            <a:r>
              <a:rPr sz="1500" b="0" i="1">
                <a:solidFill>
                  <a:srgbClr val="14202E"/>
                </a:solidFill>
                <a:latin typeface="Cambria"/>
              </a:rPr>
              <a:t>P</a:t>
            </a:r>
          </a:p>
        </p:txBody>
      </p:sp>
      <p:cxnSp>
        <p:nvCxnSpPr>
          <p:cNvPr id="24" name="Connector 23"/>
          <p:cNvCxnSpPr/>
          <p:nvPr/>
        </p:nvCxnSpPr>
        <p:spPr>
          <a:xfrm flipV="1">
            <a:off x="3813048" y="2944368"/>
            <a:ext cx="0" cy="438912"/>
          </a:xfrm>
          <a:prstGeom prst="line">
            <a:avLst/>
          </a:prstGeom>
          <a:ln w="28575">
            <a:solidFill>
              <a:srgbClr val="B3261E"/>
            </a:solidFill>
            <a:prstDash val="dash"/>
          </a:ln>
        </p:spPr>
      </p:cxnSp>
      <p:sp>
        <p:nvSpPr>
          <p:cNvPr id="25" name="TextBox 24"/>
          <p:cNvSpPr txBox="1"/>
          <p:nvPr/>
        </p:nvSpPr>
        <p:spPr>
          <a:xfrm>
            <a:off x="3931920" y="3063240"/>
            <a:ext cx="1554480" cy="274320"/>
          </a:xfrm>
          <a:prstGeom prst="rect">
            <a:avLst/>
          </a:prstGeom>
          <a:noFill/>
        </p:spPr>
        <p:txBody>
          <a:bodyPr wrap="square" lIns="0" rIns="0" tIns="0" bIns="0" anchor="t">
            <a:spAutoFit/>
          </a:bodyPr>
          <a:lstStyle/>
          <a:p>
            <a:pPr algn="l">
              <a:spcBef>
                <a:spcPts val="0"/>
              </a:spcBef>
              <a:spcAft>
                <a:spcPts val="0"/>
              </a:spcAft>
            </a:pPr>
            <a:r>
              <a:rPr sz="1400" b="1" i="0">
                <a:solidFill>
                  <a:srgbClr val="B3261E"/>
                </a:solidFill>
                <a:latin typeface="Calibri"/>
              </a:rPr>
              <a:t>✗ not hashed</a:t>
            </a:r>
          </a:p>
        </p:txBody>
      </p:sp>
      <p:sp>
        <p:nvSpPr>
          <p:cNvPr id="26" name="TextBox 25"/>
          <p:cNvSpPr txBox="1"/>
          <p:nvPr/>
        </p:nvSpPr>
        <p:spPr>
          <a:xfrm>
            <a:off x="731520" y="3977639"/>
            <a:ext cx="502920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THE ATTACKER'S ORDER</a:t>
            </a:r>
          </a:p>
        </p:txBody>
      </p:sp>
      <p:sp>
        <p:nvSpPr>
          <p:cNvPr id="27" name="TextBox 26"/>
          <p:cNvSpPr txBox="1"/>
          <p:nvPr/>
        </p:nvSpPr>
        <p:spPr>
          <a:xfrm>
            <a:off x="731520" y="4224528"/>
            <a:ext cx="5029200" cy="914400"/>
          </a:xfrm>
          <a:prstGeom prst="rect">
            <a:avLst/>
          </a:prstGeom>
          <a:noFill/>
        </p:spPr>
        <p:txBody>
          <a:bodyPr wrap="square" lIns="0" rIns="0" tIns="0" bIns="0" anchor="t">
            <a:spAutoFit/>
          </a:bodyPr>
          <a:lstStyle/>
          <a:p>
            <a:pPr algn="l">
              <a:spcBef>
                <a:spcPts val="0"/>
              </a:spcBef>
              <a:spcAft>
                <a:spcPts val="100"/>
              </a:spcAft>
            </a:pPr>
            <a:r>
              <a:rPr sz="1500" b="0" i="0">
                <a:solidFill>
                  <a:srgbClr val="14202E"/>
                </a:solidFill>
                <a:latin typeface="Calibri"/>
              </a:rPr>
              <a:t>① pick any </a:t>
            </a:r>
            <a:r>
              <a:rPr sz="1500" b="0" i="1">
                <a:solidFill>
                  <a:srgbClr val="14202E"/>
                </a:solidFill>
                <a:latin typeface="Cambria"/>
              </a:rPr>
              <a:t>m</a:t>
            </a:r>
            <a:r>
              <a:rPr sz="1500" b="0" i="0">
                <a:solidFill>
                  <a:srgbClr val="14202E"/>
                </a:solidFill>
                <a:latin typeface="Cambria"/>
              </a:rPr>
              <a:t>′</a:t>
            </a:r>
            <a:r>
              <a:rPr sz="1500" b="0" i="1" baseline="-25000">
                <a:solidFill>
                  <a:srgbClr val="14202E"/>
                </a:solidFill>
                <a:latin typeface="Cambria"/>
              </a:rPr>
              <a:t>i</a:t>
            </a:r>
          </a:p>
          <a:p>
            <a:pPr algn="l">
              <a:spcBef>
                <a:spcPts val="0"/>
              </a:spcBef>
              <a:spcAft>
                <a:spcPts val="100"/>
              </a:spcAft>
            </a:pPr>
            <a:r>
              <a:rPr sz="1500" b="0" i="0">
                <a:solidFill>
                  <a:srgbClr val="14202E"/>
                </a:solidFill>
                <a:latin typeface="Calibri"/>
              </a:rPr>
              <a:t>② compute </a:t>
            </a:r>
            <a:r>
              <a:rPr sz="1500" b="0" i="1">
                <a:solidFill>
                  <a:srgbClr val="14202E"/>
                </a:solidFill>
                <a:latin typeface="Cambria"/>
              </a:rPr>
              <a:t>v</a:t>
            </a:r>
            <a:r>
              <a:rPr sz="1500" b="0" i="0">
                <a:solidFill>
                  <a:srgbClr val="14202E"/>
                </a:solidFill>
                <a:latin typeface="Cambria"/>
              </a:rPr>
              <a:t>′</a:t>
            </a:r>
            <a:r>
              <a:rPr sz="1500" b="0" i="1" baseline="-25000">
                <a:solidFill>
                  <a:srgbClr val="14202E"/>
                </a:solidFill>
                <a:latin typeface="Cambria"/>
              </a:rPr>
              <a:t>i</a:t>
            </a:r>
            <a:r>
              <a:rPr sz="1500" b="0" i="0">
                <a:solidFill>
                  <a:srgbClr val="14202E"/>
                </a:solidFill>
                <a:latin typeface="Calibri"/>
              </a:rPr>
              <a:t>, which needs no </a:t>
            </a:r>
            <a:r>
              <a:rPr sz="1500" b="0" i="1">
                <a:solidFill>
                  <a:srgbClr val="14202E"/>
                </a:solidFill>
                <a:latin typeface="Cambria"/>
              </a:rPr>
              <a:t>R</a:t>
            </a:r>
            <a:r>
              <a:rPr sz="1500" b="0" i="0">
                <a:solidFill>
                  <a:srgbClr val="14202E"/>
                </a:solidFill>
                <a:latin typeface="Cambria"/>
              </a:rPr>
              <a:t>′</a:t>
            </a:r>
            <a:r>
              <a:rPr sz="1500" b="0" i="1" baseline="-25000">
                <a:solidFill>
                  <a:srgbClr val="14202E"/>
                </a:solidFill>
                <a:latin typeface="Cambria"/>
              </a:rPr>
              <a:t>i</a:t>
            </a:r>
          </a:p>
          <a:p>
            <a:pPr algn="l">
              <a:spcBef>
                <a:spcPts val="0"/>
              </a:spcBef>
              <a:spcAft>
                <a:spcPts val="0"/>
              </a:spcAft>
            </a:pPr>
            <a:r>
              <a:rPr sz="1500" b="0" i="0">
                <a:solidFill>
                  <a:srgbClr val="14202E"/>
                </a:solidFill>
                <a:latin typeface="Calibri"/>
              </a:rPr>
              <a:t>③ build </a:t>
            </a:r>
            <a:r>
              <a:rPr sz="1500" b="0" i="1">
                <a:solidFill>
                  <a:srgbClr val="14202E"/>
                </a:solidFill>
                <a:latin typeface="Cambria"/>
              </a:rPr>
              <a:t>R</a:t>
            </a:r>
            <a:r>
              <a:rPr sz="1500" b="0" i="0">
                <a:solidFill>
                  <a:srgbClr val="14202E"/>
                </a:solidFill>
                <a:latin typeface="Cambria"/>
              </a:rPr>
              <a:t>′</a:t>
            </a:r>
            <a:r>
              <a:rPr sz="1500" b="0" i="1" baseline="-25000">
                <a:solidFill>
                  <a:srgbClr val="14202E"/>
                </a:solidFill>
                <a:latin typeface="Cambria"/>
              </a:rPr>
              <a:t>i</a:t>
            </a:r>
            <a:r>
              <a:rPr sz="1500" b="0" i="0">
                <a:solidFill>
                  <a:srgbClr val="14202E"/>
                </a:solidFill>
                <a:latin typeface="Calibri"/>
              </a:rPr>
              <a:t> and </a:t>
            </a:r>
            <a:r>
              <a:rPr sz="1500" b="0" i="1">
                <a:solidFill>
                  <a:srgbClr val="14202E"/>
                </a:solidFill>
                <a:latin typeface="Cambria"/>
              </a:rPr>
              <a:t>z</a:t>
            </a:r>
            <a:r>
              <a:rPr sz="1500" b="0" i="0">
                <a:solidFill>
                  <a:srgbClr val="14202E"/>
                </a:solidFill>
                <a:latin typeface="Cambria"/>
              </a:rPr>
              <a:t>′</a:t>
            </a:r>
            <a:r>
              <a:rPr sz="1500" b="0" i="1" baseline="-25000">
                <a:solidFill>
                  <a:srgbClr val="14202E"/>
                </a:solidFill>
                <a:latin typeface="Cambria"/>
              </a:rPr>
              <a:t>i</a:t>
            </a:r>
          </a:p>
        </p:txBody>
      </p:sp>
      <p:sp>
        <p:nvSpPr>
          <p:cNvPr id="28" name="Rounded Rectangle 27"/>
          <p:cNvSpPr/>
          <p:nvPr/>
        </p:nvSpPr>
        <p:spPr>
          <a:xfrm>
            <a:off x="731520" y="5193792"/>
            <a:ext cx="2377440" cy="329184"/>
          </a:xfrm>
          <a:prstGeom prst="roundRect">
            <a:avLst>
              <a:gd name="adj" fmla="val 33333"/>
            </a:avLst>
          </a:prstGeom>
          <a:solidFill>
            <a:srgbClr val="FCE9E7"/>
          </a:solidFill>
          <a:ln w="15240">
            <a:solidFill>
              <a:srgbClr val="B3261E"/>
            </a:solidFill>
          </a:ln>
          <a:effectLst/>
        </p:spPr>
        <p:txBody>
          <a:bodyPr rtlCol="0" anchor="ctr" wrap="square" lIns="73152" rIns="73152" tIns="36576" bIns="36576"/>
          <a:lstStyle/>
          <a:p>
            <a:pPr algn="ctr">
              <a:spcBef>
                <a:spcPts val="0"/>
              </a:spcBef>
              <a:spcAft>
                <a:spcPts val="0"/>
              </a:spcAft>
            </a:pPr>
            <a:r>
              <a:rPr sz="1400" b="1" i="0">
                <a:solidFill>
                  <a:srgbClr val="14202E"/>
                </a:solidFill>
                <a:latin typeface="Calibri"/>
              </a:rPr>
              <a:t>forgery verifies</a:t>
            </a:r>
          </a:p>
        </p:txBody>
      </p:sp>
      <p:sp>
        <p:nvSpPr>
          <p:cNvPr id="29" name="Rounded Rectangle 28"/>
          <p:cNvSpPr/>
          <p:nvPr/>
        </p:nvSpPr>
        <p:spPr>
          <a:xfrm>
            <a:off x="6382512" y="2468880"/>
            <a:ext cx="914400" cy="457200"/>
          </a:xfrm>
          <a:prstGeom prst="roundRect">
            <a:avLst>
              <a:gd name="adj" fmla="val 24000"/>
            </a:avLst>
          </a:prstGeom>
          <a:solidFill>
            <a:srgbClr val="E4EEF9"/>
          </a:solidFill>
          <a:ln w="15240">
            <a:solidFill>
              <a:srgbClr val="1D5EA8"/>
            </a:solidFill>
            <a:prstDash val="dash"/>
          </a:ln>
          <a:effectLst/>
        </p:spPr>
        <p:txBody>
          <a:bodyPr rtlCol="0" anchor="ctr" wrap="square" lIns="365760" rIns="365760" tIns="36576" bIns="36576"/>
          <a:lstStyle/>
          <a:p>
            <a:pPr algn="l">
              <a:spcBef>
                <a:spcPts val="0"/>
              </a:spcBef>
              <a:spcAft>
                <a:spcPts val="0"/>
              </a:spcAft>
            </a:pPr>
            <a:r>
              <a:rPr sz="1600" b="0" i="1">
                <a:solidFill>
                  <a:srgbClr val="14202E"/>
                </a:solidFill>
                <a:latin typeface="Cambria"/>
              </a:rPr>
              <a:t>t</a:t>
            </a:r>
            <a:r>
              <a:rPr sz="1600" b="0" i="1" baseline="-25000">
                <a:solidFill>
                  <a:srgbClr val="14202E"/>
                </a:solidFill>
                <a:latin typeface="Cambria"/>
              </a:rPr>
              <a:t>i</a:t>
            </a:r>
          </a:p>
        </p:txBody>
      </p:sp>
      <p:sp>
        <p:nvSpPr>
          <p:cNvPr id="30" name="Rounded Rectangle 29"/>
          <p:cNvSpPr/>
          <p:nvPr/>
        </p:nvSpPr>
        <p:spPr>
          <a:xfrm>
            <a:off x="6464533" y="2655600"/>
            <a:ext cx="192572" cy="128381"/>
          </a:xfrm>
          <a:prstGeom prst="roundRect">
            <a:avLst>
              <a:gd name="adj" fmla="val 21367"/>
            </a:avLst>
          </a:prstGeom>
          <a:solidFill>
            <a:srgbClr val="1D5EA8"/>
          </a:solidFill>
          <a:ln>
            <a:noFill/>
          </a:ln>
          <a:effectLst/>
        </p:spPr>
        <p:txBody>
          <a:bodyPr rtlCol="0" anchor="ctr" wrap="square" lIns="73152" rIns="73152" tIns="36576" bIns="36576"/>
          <a:lstStyle/>
          <a:p>
            <a:pPr algn="ctr"/>
          </a:p>
        </p:txBody>
      </p:sp>
      <p:sp>
        <p:nvSpPr>
          <p:cNvPr id="31" name="Freeform 30"/>
          <p:cNvSpPr/>
          <p:nvPr/>
        </p:nvSpPr>
        <p:spPr>
          <a:xfrm>
            <a:off x="6503048" y="2556845"/>
            <a:ext cx="115543" cy="98755"/>
          </a:xfrm>
          <a:custGeom>
            <a:avLst/>
            <a:gdLst/>
            <a:ahLst/>
            <a:cxnLst/>
            <a:rect l="l" t="t" r="r" b="b"/>
            <a:pathLst>
              <a:path w="115543" h="98755">
                <a:moveTo>
                  <a:pt x="0" y="98755"/>
                </a:moveTo>
                <a:lnTo>
                  <a:pt x="0" y="39502"/>
                </a:lnTo>
                <a:lnTo>
                  <a:pt x="26960" y="0"/>
                </a:lnTo>
                <a:lnTo>
                  <a:pt x="88583" y="0"/>
                </a:lnTo>
                <a:lnTo>
                  <a:pt x="115543" y="39502"/>
                </a:lnTo>
                <a:lnTo>
                  <a:pt x="115543" y="98755"/>
                </a:lnTo>
              </a:path>
            </a:pathLst>
          </a:custGeom>
          <a:noFill/>
          <a:ln w="18859">
            <a:solidFill>
              <a:srgbClr val="1D5EA8"/>
            </a:solidFill>
          </a:ln>
          <a:effectLst/>
        </p:spPr>
        <p:txBody>
          <a:bodyPr rtlCol="0" anchor="ctr"/>
          <a:lstStyle/>
          <a:p>
            <a:pPr algn="ctr"/>
          </a:p>
        </p:txBody>
      </p:sp>
      <p:cxnSp>
        <p:nvCxnSpPr>
          <p:cNvPr id="32" name="Connector 31"/>
          <p:cNvCxnSpPr/>
          <p:nvPr/>
        </p:nvCxnSpPr>
        <p:spPr>
          <a:xfrm>
            <a:off x="7296912" y="2697480"/>
            <a:ext cx="201167" cy="0"/>
          </a:xfrm>
          <a:prstGeom prst="line">
            <a:avLst/>
          </a:prstGeom>
          <a:ln w="22225">
            <a:solidFill>
              <a:srgbClr val="1D5EA8"/>
            </a:solidFill>
            <a:tailEnd type="triangle" w="med" len="med"/>
          </a:ln>
        </p:spPr>
      </p:cxnSp>
      <p:sp>
        <p:nvSpPr>
          <p:cNvPr id="33" name="Rounded Rectangle 32"/>
          <p:cNvSpPr/>
          <p:nvPr/>
        </p:nvSpPr>
        <p:spPr>
          <a:xfrm>
            <a:off x="7498079" y="2468880"/>
            <a:ext cx="1188720" cy="457200"/>
          </a:xfrm>
          <a:prstGeom prst="roundRect">
            <a:avLst>
              <a:gd name="adj" fmla="val 24000"/>
            </a:avLst>
          </a:prstGeom>
          <a:solidFill>
            <a:srgbClr val="E4EEF9"/>
          </a:solidFill>
          <a:ln w="15240">
            <a:solidFill>
              <a:srgbClr val="1D5EA8"/>
            </a:solidFill>
          </a:ln>
          <a:effectLst/>
        </p:spPr>
        <p:txBody>
          <a:bodyPr rtlCol="0" anchor="ctr" wrap="square" lIns="73152" rIns="73152" tIns="36576" bIns="36576"/>
          <a:lstStyle/>
          <a:p>
            <a:pPr algn="ctr">
              <a:spcBef>
                <a:spcPts val="0"/>
              </a:spcBef>
              <a:spcAft>
                <a:spcPts val="0"/>
              </a:spcAft>
            </a:pPr>
            <a:r>
              <a:rPr sz="1500" b="0" i="1">
                <a:solidFill>
                  <a:srgbClr val="1E7B4F"/>
                </a:solidFill>
                <a:latin typeface="Cambria"/>
              </a:rPr>
              <a:t>T</a:t>
            </a:r>
            <a:r>
              <a:rPr sz="1500" b="0" i="1" baseline="-25000">
                <a:solidFill>
                  <a:srgbClr val="1E7B4F"/>
                </a:solidFill>
                <a:latin typeface="Cambria"/>
              </a:rPr>
              <a:t>i</a:t>
            </a:r>
            <a:r>
              <a:rPr sz="1500" b="0" i="0">
                <a:solidFill>
                  <a:srgbClr val="14202E"/>
                </a:solidFill>
                <a:latin typeface="Cambria"/>
              </a:rPr>
              <a:t> = </a:t>
            </a:r>
            <a:r>
              <a:rPr sz="1500" b="0" i="1">
                <a:solidFill>
                  <a:srgbClr val="14202E"/>
                </a:solidFill>
                <a:latin typeface="Cambria"/>
              </a:rPr>
              <a:t>t</a:t>
            </a:r>
            <a:r>
              <a:rPr sz="1500" b="0" i="1" baseline="-25000">
                <a:solidFill>
                  <a:srgbClr val="14202E"/>
                </a:solidFill>
                <a:latin typeface="Cambria"/>
              </a:rPr>
              <a:t>i</a:t>
            </a:r>
            <a:r>
              <a:rPr sz="1500" b="0" i="1">
                <a:solidFill>
                  <a:srgbClr val="14202E"/>
                </a:solidFill>
                <a:latin typeface="Cambria"/>
              </a:rPr>
              <a:t>P</a:t>
            </a:r>
          </a:p>
        </p:txBody>
      </p:sp>
      <p:cxnSp>
        <p:nvCxnSpPr>
          <p:cNvPr id="34" name="Connector 33"/>
          <p:cNvCxnSpPr/>
          <p:nvPr/>
        </p:nvCxnSpPr>
        <p:spPr>
          <a:xfrm>
            <a:off x="8686800" y="2697480"/>
            <a:ext cx="411480" cy="0"/>
          </a:xfrm>
          <a:prstGeom prst="line">
            <a:avLst/>
          </a:prstGeom>
          <a:ln w="44450">
            <a:solidFill>
              <a:srgbClr val="1E7B4F"/>
            </a:solidFill>
            <a:tailEnd type="triangle" w="med" len="med"/>
          </a:ln>
        </p:spPr>
      </p:cxnSp>
      <p:sp>
        <p:nvSpPr>
          <p:cNvPr id="35" name="Rounded Rectangle 34"/>
          <p:cNvSpPr/>
          <p:nvPr/>
        </p:nvSpPr>
        <p:spPr>
          <a:xfrm>
            <a:off x="9098280" y="2468880"/>
            <a:ext cx="1051560" cy="457200"/>
          </a:xfrm>
          <a:prstGeom prst="roundRect">
            <a:avLst>
              <a:gd name="adj" fmla="val 12000"/>
            </a:avLst>
          </a:prstGeom>
          <a:solidFill>
            <a:srgbClr val="F2F5F8"/>
          </a:solidFill>
          <a:ln w="19050">
            <a:solidFill>
              <a:srgbClr val="14202E"/>
            </a:solidFill>
          </a:ln>
          <a:effectLst/>
        </p:spPr>
        <p:txBody>
          <a:bodyPr rtlCol="0" anchor="ctr" wrap="square" lIns="73152" rIns="73152" tIns="36576" bIns="36576"/>
          <a:lstStyle/>
          <a:p>
            <a:pPr algn="ctr">
              <a:spcBef>
                <a:spcPts val="0"/>
              </a:spcBef>
              <a:spcAft>
                <a:spcPts val="0"/>
              </a:spcAft>
            </a:pPr>
            <a:r>
              <a:rPr sz="1600" b="1" i="1">
                <a:solidFill>
                  <a:srgbClr val="14202E"/>
                </a:solidFill>
                <a:latin typeface="Cambria"/>
              </a:rPr>
              <a:t>H</a:t>
            </a:r>
            <a:r>
              <a:rPr sz="1600" b="1" i="0" baseline="-25000">
                <a:solidFill>
                  <a:srgbClr val="14202E"/>
                </a:solidFill>
                <a:latin typeface="Cambria"/>
              </a:rPr>
              <a:t>1</a:t>
            </a:r>
            <a:r>
              <a:rPr sz="1600" b="1" i="0">
                <a:solidFill>
                  <a:srgbClr val="14202E"/>
                </a:solidFill>
                <a:latin typeface="Cambria"/>
              </a:rPr>
              <a:t>, </a:t>
            </a:r>
            <a:r>
              <a:rPr sz="1600" b="1" i="1">
                <a:solidFill>
                  <a:srgbClr val="14202E"/>
                </a:solidFill>
                <a:latin typeface="Cambria"/>
              </a:rPr>
              <a:t>H</a:t>
            </a:r>
            <a:r>
              <a:rPr sz="1600" b="1" i="0" baseline="-25000">
                <a:solidFill>
                  <a:srgbClr val="14202E"/>
                </a:solidFill>
                <a:latin typeface="Cambria"/>
              </a:rPr>
              <a:t>2</a:t>
            </a:r>
          </a:p>
        </p:txBody>
      </p:sp>
      <p:cxnSp>
        <p:nvCxnSpPr>
          <p:cNvPr id="36" name="Connector 35"/>
          <p:cNvCxnSpPr/>
          <p:nvPr/>
        </p:nvCxnSpPr>
        <p:spPr>
          <a:xfrm>
            <a:off x="10149840" y="2697480"/>
            <a:ext cx="228600" cy="0"/>
          </a:xfrm>
          <a:prstGeom prst="line">
            <a:avLst/>
          </a:prstGeom>
          <a:ln w="22225">
            <a:solidFill>
              <a:srgbClr val="14202E"/>
            </a:solidFill>
            <a:tailEnd type="triangle" w="med" len="med"/>
          </a:ln>
        </p:spPr>
      </p:cxnSp>
      <p:sp>
        <p:nvSpPr>
          <p:cNvPr id="37" name="Rounded Rectangle 36"/>
          <p:cNvSpPr/>
          <p:nvPr/>
        </p:nvSpPr>
        <p:spPr>
          <a:xfrm>
            <a:off x="10378440" y="2468880"/>
            <a:ext cx="1143000" cy="457200"/>
          </a:xfrm>
          <a:prstGeom prst="roundRect">
            <a:avLst>
              <a:gd name="adj" fmla="val 24000"/>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500" b="0" i="1">
                <a:solidFill>
                  <a:srgbClr val="14202E"/>
                </a:solidFill>
                <a:latin typeface="Cambria"/>
              </a:rPr>
              <a:t>v</a:t>
            </a:r>
            <a:r>
              <a:rPr sz="1500" b="0" i="1" baseline="-25000">
                <a:solidFill>
                  <a:srgbClr val="14202E"/>
                </a:solidFill>
                <a:latin typeface="Cambria"/>
              </a:rPr>
              <a:t>i</a:t>
            </a:r>
            <a:r>
              <a:rPr sz="1500" b="0" i="0">
                <a:solidFill>
                  <a:srgbClr val="14202E"/>
                </a:solidFill>
                <a:latin typeface="Cambria"/>
              </a:rPr>
              <a:t>, </a:t>
            </a:r>
            <a:r>
              <a:rPr sz="1500" b="0" i="1">
                <a:solidFill>
                  <a:srgbClr val="14202E"/>
                </a:solidFill>
                <a:latin typeface="Cambria"/>
              </a:rPr>
              <a:t>u</a:t>
            </a:r>
            <a:r>
              <a:rPr sz="1500" b="0" i="1" baseline="-25000">
                <a:solidFill>
                  <a:srgbClr val="14202E"/>
                </a:solidFill>
                <a:latin typeface="Cambria"/>
              </a:rPr>
              <a:t>i</a:t>
            </a:r>
          </a:p>
        </p:txBody>
      </p:sp>
      <p:sp>
        <p:nvSpPr>
          <p:cNvPr id="38" name="Rounded Rectangle 37"/>
          <p:cNvSpPr/>
          <p:nvPr/>
        </p:nvSpPr>
        <p:spPr>
          <a:xfrm>
            <a:off x="8046720" y="3200400"/>
            <a:ext cx="3017520" cy="384048"/>
          </a:xfrm>
          <a:prstGeom prst="roundRect">
            <a:avLst>
              <a:gd name="adj" fmla="val 28571"/>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400" b="0" i="1">
                <a:solidFill>
                  <a:srgbClr val="14202E"/>
                </a:solidFill>
                <a:latin typeface="Cambria"/>
              </a:rPr>
              <a:t>m</a:t>
            </a:r>
            <a:r>
              <a:rPr sz="1400" b="0" i="1" baseline="-25000">
                <a:solidFill>
                  <a:srgbClr val="14202E"/>
                </a:solidFill>
                <a:latin typeface="Cambria"/>
              </a:rPr>
              <a:t>i</a:t>
            </a:r>
            <a:r>
              <a:rPr sz="1400" b="0" i="0">
                <a:solidFill>
                  <a:srgbClr val="14202E"/>
                </a:solidFill>
                <a:latin typeface="Cambria"/>
              </a:rPr>
              <a:t>, </a:t>
            </a:r>
            <a:r>
              <a:rPr sz="1400" b="0" i="1">
                <a:solidFill>
                  <a:srgbClr val="14202E"/>
                </a:solidFill>
                <a:latin typeface="Cambria"/>
              </a:rPr>
              <a:t>pk</a:t>
            </a:r>
            <a:r>
              <a:rPr sz="1400" b="0" i="1" baseline="-25000">
                <a:solidFill>
                  <a:srgbClr val="14202E"/>
                </a:solidFill>
                <a:latin typeface="Cambria"/>
              </a:rPr>
              <a:t>i</a:t>
            </a:r>
            <a:r>
              <a:rPr sz="1400" b="0" i="0">
                <a:solidFill>
                  <a:srgbClr val="14202E"/>
                </a:solidFill>
                <a:latin typeface="Cambria"/>
              </a:rPr>
              <a:t>, </a:t>
            </a:r>
            <a:r>
              <a:rPr sz="1400" b="0" i="1">
                <a:solidFill>
                  <a:srgbClr val="14202E"/>
                </a:solidFill>
                <a:latin typeface="Cambria"/>
              </a:rPr>
              <a:t>R</a:t>
            </a:r>
            <a:r>
              <a:rPr sz="1400" b="0" i="1" baseline="-25000">
                <a:solidFill>
                  <a:srgbClr val="14202E"/>
                </a:solidFill>
                <a:latin typeface="Cambria"/>
              </a:rPr>
              <a:t>i</a:t>
            </a:r>
            <a:r>
              <a:rPr sz="1400" b="0" i="0">
                <a:solidFill>
                  <a:srgbClr val="14202E"/>
                </a:solidFill>
                <a:latin typeface="Cambria"/>
              </a:rPr>
              <a:t>, </a:t>
            </a:r>
            <a:r>
              <a:rPr sz="1400" b="0" i="1">
                <a:solidFill>
                  <a:srgbClr val="14202E"/>
                </a:solidFill>
                <a:latin typeface="Cambria"/>
              </a:rPr>
              <a:t>id</a:t>
            </a:r>
            <a:r>
              <a:rPr sz="1400" b="0" i="1" baseline="-25000">
                <a:solidFill>
                  <a:srgbClr val="14202E"/>
                </a:solidFill>
                <a:latin typeface="Cambria"/>
              </a:rPr>
              <a:t>i</a:t>
            </a:r>
            <a:r>
              <a:rPr sz="1400" b="0" i="0">
                <a:solidFill>
                  <a:srgbClr val="14202E"/>
                </a:solidFill>
                <a:latin typeface="Cambria"/>
              </a:rPr>
              <a:t>, Δ</a:t>
            </a:r>
          </a:p>
        </p:txBody>
      </p:sp>
      <p:cxnSp>
        <p:nvCxnSpPr>
          <p:cNvPr id="39" name="Connector 38"/>
          <p:cNvCxnSpPr/>
          <p:nvPr/>
        </p:nvCxnSpPr>
        <p:spPr>
          <a:xfrm flipV="1">
            <a:off x="9619488" y="2944368"/>
            <a:ext cx="0" cy="256032"/>
          </a:xfrm>
          <a:prstGeom prst="line">
            <a:avLst/>
          </a:prstGeom>
          <a:ln w="22225">
            <a:solidFill>
              <a:srgbClr val="14202E"/>
            </a:solidFill>
            <a:tailEnd type="triangle" w="med" len="med"/>
          </a:ln>
        </p:spPr>
      </p:cxnSp>
      <p:sp>
        <p:nvSpPr>
          <p:cNvPr id="40" name="TextBox 39"/>
          <p:cNvSpPr txBox="1"/>
          <p:nvPr/>
        </p:nvSpPr>
        <p:spPr>
          <a:xfrm>
            <a:off x="6382512" y="3703320"/>
            <a:ext cx="512064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THE RESCALING ATTACK NOW NEEDS BOTH AT ONCE</a:t>
            </a:r>
          </a:p>
        </p:txBody>
      </p:sp>
      <p:sp>
        <p:nvSpPr>
          <p:cNvPr id="41" name="Rounded Rectangle 40"/>
          <p:cNvSpPr/>
          <p:nvPr/>
        </p:nvSpPr>
        <p:spPr>
          <a:xfrm>
            <a:off x="6382512" y="4041648"/>
            <a:ext cx="2240280" cy="457200"/>
          </a:xfrm>
          <a:prstGeom prst="roundRect">
            <a:avLst>
              <a:gd name="adj" fmla="val 24000"/>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400" b="0" i="1">
                <a:solidFill>
                  <a:srgbClr val="14202E"/>
                </a:solidFill>
                <a:latin typeface="Cambria"/>
              </a:rPr>
              <a:t>T</a:t>
            </a:r>
            <a:r>
              <a:rPr sz="1400" b="0" i="0">
                <a:solidFill>
                  <a:srgbClr val="14202E"/>
                </a:solidFill>
                <a:latin typeface="Cambria"/>
              </a:rPr>
              <a:t>′</a:t>
            </a:r>
            <a:r>
              <a:rPr sz="1400" b="0" i="1" baseline="-25000">
                <a:solidFill>
                  <a:srgbClr val="14202E"/>
                </a:solidFill>
                <a:latin typeface="Cambria"/>
              </a:rPr>
              <a:t>i</a:t>
            </a:r>
            <a:r>
              <a:rPr sz="1400" b="0" i="0">
                <a:solidFill>
                  <a:srgbClr val="14202E"/>
                </a:solidFill>
                <a:latin typeface="Cambria"/>
              </a:rPr>
              <a:t> = (</a:t>
            </a:r>
            <a:r>
              <a:rPr sz="1400" b="0" i="1">
                <a:solidFill>
                  <a:srgbClr val="14202E"/>
                </a:solidFill>
                <a:latin typeface="Cambria"/>
              </a:rPr>
              <a:t>v</a:t>
            </a:r>
            <a:r>
              <a:rPr sz="1400" b="0" i="0">
                <a:solidFill>
                  <a:srgbClr val="14202E"/>
                </a:solidFill>
                <a:latin typeface="Cambria"/>
              </a:rPr>
              <a:t>′</a:t>
            </a:r>
            <a:r>
              <a:rPr sz="1400" b="0" i="1" baseline="-25000">
                <a:solidFill>
                  <a:srgbClr val="14202E"/>
                </a:solidFill>
                <a:latin typeface="Cambria"/>
              </a:rPr>
              <a:t>i</a:t>
            </a:r>
            <a:r>
              <a:rPr sz="1400" b="0" i="0">
                <a:solidFill>
                  <a:srgbClr val="14202E"/>
                </a:solidFill>
                <a:latin typeface="Cambria"/>
              </a:rPr>
              <a:t>/</a:t>
            </a:r>
            <a:r>
              <a:rPr sz="1400" b="0" i="1">
                <a:solidFill>
                  <a:srgbClr val="14202E"/>
                </a:solidFill>
                <a:latin typeface="Cambria"/>
              </a:rPr>
              <a:t>v</a:t>
            </a:r>
            <a:r>
              <a:rPr sz="1400" b="0" i="1" baseline="-25000">
                <a:solidFill>
                  <a:srgbClr val="14202E"/>
                </a:solidFill>
                <a:latin typeface="Cambria"/>
              </a:rPr>
              <a:t>i</a:t>
            </a:r>
            <a:r>
              <a:rPr sz="1400" b="0" i="0">
                <a:solidFill>
                  <a:srgbClr val="14202E"/>
                </a:solidFill>
                <a:latin typeface="Cambria"/>
              </a:rPr>
              <a:t>)·</a:t>
            </a:r>
            <a:r>
              <a:rPr sz="1400" b="0" i="1">
                <a:solidFill>
                  <a:srgbClr val="14202E"/>
                </a:solidFill>
                <a:latin typeface="Cambria"/>
              </a:rPr>
              <a:t>T</a:t>
            </a:r>
            <a:r>
              <a:rPr sz="1400" b="0" i="1" baseline="-25000">
                <a:solidFill>
                  <a:srgbClr val="14202E"/>
                </a:solidFill>
                <a:latin typeface="Cambria"/>
              </a:rPr>
              <a:t>i</a:t>
            </a:r>
          </a:p>
        </p:txBody>
      </p:sp>
      <p:sp>
        <p:nvSpPr>
          <p:cNvPr id="42" name="Rounded Rectangle 41"/>
          <p:cNvSpPr/>
          <p:nvPr/>
        </p:nvSpPr>
        <p:spPr>
          <a:xfrm>
            <a:off x="9235440" y="4041648"/>
            <a:ext cx="2286000" cy="457200"/>
          </a:xfrm>
          <a:prstGeom prst="roundRect">
            <a:avLst>
              <a:gd name="adj" fmla="val 24000"/>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300" b="0" i="1">
                <a:solidFill>
                  <a:srgbClr val="14202E"/>
                </a:solidFill>
                <a:latin typeface="Cambria"/>
              </a:rPr>
              <a:t>v</a:t>
            </a:r>
            <a:r>
              <a:rPr sz="1300" b="0" i="0">
                <a:solidFill>
                  <a:srgbClr val="14202E"/>
                </a:solidFill>
                <a:latin typeface="Cambria"/>
              </a:rPr>
              <a:t>′</a:t>
            </a:r>
            <a:r>
              <a:rPr sz="1300" b="0" i="1" baseline="-25000">
                <a:solidFill>
                  <a:srgbClr val="14202E"/>
                </a:solidFill>
                <a:latin typeface="Cambria"/>
              </a:rPr>
              <a:t>i</a:t>
            </a:r>
            <a:r>
              <a:rPr sz="1300" b="0" i="0">
                <a:solidFill>
                  <a:srgbClr val="14202E"/>
                </a:solidFill>
                <a:latin typeface="Cambria"/>
              </a:rPr>
              <a:t> = </a:t>
            </a:r>
            <a:r>
              <a:rPr sz="1300" b="0" i="1">
                <a:solidFill>
                  <a:srgbClr val="14202E"/>
                </a:solidFill>
                <a:latin typeface="Cambria"/>
              </a:rPr>
              <a:t>H</a:t>
            </a:r>
            <a:r>
              <a:rPr sz="1300" b="0" i="0" baseline="-25000">
                <a:solidFill>
                  <a:srgbClr val="14202E"/>
                </a:solidFill>
                <a:latin typeface="Cambria"/>
              </a:rPr>
              <a:t>1</a:t>
            </a:r>
            <a:r>
              <a:rPr sz="1300" b="0" i="0">
                <a:solidFill>
                  <a:srgbClr val="14202E"/>
                </a:solidFill>
                <a:latin typeface="Cambria"/>
              </a:rPr>
              <a:t>(</a:t>
            </a:r>
            <a:r>
              <a:rPr sz="1300" b="0" i="1">
                <a:solidFill>
                  <a:srgbClr val="14202E"/>
                </a:solidFill>
                <a:latin typeface="Cambria"/>
              </a:rPr>
              <a:t>m</a:t>
            </a:r>
            <a:r>
              <a:rPr sz="1300" b="0" i="0">
                <a:solidFill>
                  <a:srgbClr val="14202E"/>
                </a:solidFill>
                <a:latin typeface="Cambria"/>
              </a:rPr>
              <a:t>′</a:t>
            </a:r>
            <a:r>
              <a:rPr sz="1300" b="0" i="1" baseline="-25000">
                <a:solidFill>
                  <a:srgbClr val="14202E"/>
                </a:solidFill>
                <a:latin typeface="Cambria"/>
              </a:rPr>
              <a:t>i</a:t>
            </a:r>
            <a:r>
              <a:rPr sz="1300" b="0" i="0">
                <a:solidFill>
                  <a:srgbClr val="14202E"/>
                </a:solidFill>
                <a:latin typeface="Cambria"/>
              </a:rPr>
              <a:t>‖…‖</a:t>
            </a:r>
            <a:r>
              <a:rPr sz="1300" b="0" i="1">
                <a:solidFill>
                  <a:srgbClr val="14202E"/>
                </a:solidFill>
                <a:latin typeface="Cambria"/>
              </a:rPr>
              <a:t>T</a:t>
            </a:r>
            <a:r>
              <a:rPr sz="1300" b="0" i="0">
                <a:solidFill>
                  <a:srgbClr val="14202E"/>
                </a:solidFill>
                <a:latin typeface="Cambria"/>
              </a:rPr>
              <a:t>′</a:t>
            </a:r>
            <a:r>
              <a:rPr sz="1300" b="0" i="1" baseline="-25000">
                <a:solidFill>
                  <a:srgbClr val="14202E"/>
                </a:solidFill>
                <a:latin typeface="Cambria"/>
              </a:rPr>
              <a:t>i</a:t>
            </a:r>
            <a:r>
              <a:rPr sz="1300" b="0" i="0">
                <a:solidFill>
                  <a:srgbClr val="14202E"/>
                </a:solidFill>
                <a:latin typeface="Cambria"/>
              </a:rPr>
              <a:t>‖Δ)</a:t>
            </a:r>
          </a:p>
        </p:txBody>
      </p:sp>
      <p:cxnSp>
        <p:nvCxnSpPr>
          <p:cNvPr id="43" name="Connector 42"/>
          <p:cNvCxnSpPr/>
          <p:nvPr/>
        </p:nvCxnSpPr>
        <p:spPr>
          <a:xfrm>
            <a:off x="8622792" y="4270248"/>
            <a:ext cx="612648" cy="0"/>
          </a:xfrm>
          <a:prstGeom prst="line">
            <a:avLst/>
          </a:prstGeom>
          <a:ln w="28575">
            <a:solidFill>
              <a:srgbClr val="B3261E"/>
            </a:solidFill>
            <a:headEnd type="triangle" w="med" len="med"/>
            <a:tailEnd type="triangle" w="med" len="med"/>
          </a:ln>
        </p:spPr>
      </p:cxnSp>
      <p:sp>
        <p:nvSpPr>
          <p:cNvPr id="44" name="TextBox 43"/>
          <p:cNvSpPr txBox="1"/>
          <p:nvPr/>
        </p:nvSpPr>
        <p:spPr>
          <a:xfrm>
            <a:off x="8412480" y="4553712"/>
            <a:ext cx="1097280" cy="274320"/>
          </a:xfrm>
          <a:prstGeom prst="rect">
            <a:avLst/>
          </a:prstGeom>
          <a:noFill/>
        </p:spPr>
        <p:txBody>
          <a:bodyPr wrap="square" lIns="0" rIns="0" tIns="0" bIns="0" anchor="t">
            <a:spAutoFit/>
          </a:bodyPr>
          <a:lstStyle/>
          <a:p>
            <a:pPr algn="ctr">
              <a:spcBef>
                <a:spcPts val="0"/>
              </a:spcBef>
              <a:spcAft>
                <a:spcPts val="0"/>
              </a:spcAft>
            </a:pPr>
            <a:r>
              <a:rPr sz="1300" b="1" i="0">
                <a:solidFill>
                  <a:srgbClr val="B3261E"/>
                </a:solidFill>
                <a:latin typeface="Calibri"/>
              </a:rPr>
              <a:t>circular</a:t>
            </a:r>
          </a:p>
        </p:txBody>
      </p:sp>
      <p:sp>
        <p:nvSpPr>
          <p:cNvPr id="45" name="TextBox 44"/>
          <p:cNvSpPr txBox="1"/>
          <p:nvPr/>
        </p:nvSpPr>
        <p:spPr>
          <a:xfrm>
            <a:off x="6382512" y="4773168"/>
            <a:ext cx="5166360" cy="365760"/>
          </a:xfrm>
          <a:prstGeom prst="rect">
            <a:avLst/>
          </a:prstGeom>
          <a:noFill/>
        </p:spPr>
        <p:txBody>
          <a:bodyPr wrap="square" lIns="0" rIns="0" tIns="0" bIns="0" anchor="t">
            <a:spAutoFit/>
          </a:bodyPr>
          <a:lstStyle/>
          <a:p>
            <a:pPr algn="l">
              <a:spcBef>
                <a:spcPts val="0"/>
              </a:spcBef>
              <a:spcAft>
                <a:spcPts val="0"/>
              </a:spcAft>
            </a:pPr>
            <a:r>
              <a:rPr sz="1700" b="0" i="1">
                <a:solidFill>
                  <a:srgbClr val="14202E"/>
                </a:solidFill>
                <a:latin typeface="Cambria"/>
              </a:rPr>
              <a:t>T</a:t>
            </a:r>
            <a:r>
              <a:rPr sz="1700" b="0" i="0">
                <a:solidFill>
                  <a:srgbClr val="14202E"/>
                </a:solidFill>
                <a:latin typeface="Cambria"/>
              </a:rPr>
              <a:t>′</a:t>
            </a:r>
            <a:r>
              <a:rPr sz="1700" b="0" i="1" baseline="-25000">
                <a:solidFill>
                  <a:srgbClr val="14202E"/>
                </a:solidFill>
                <a:latin typeface="Cambria"/>
              </a:rPr>
              <a:t>i</a:t>
            </a:r>
            <a:r>
              <a:rPr sz="1700" b="0" i="0">
                <a:solidFill>
                  <a:srgbClr val="14202E"/>
                </a:solidFill>
                <a:latin typeface="Calibri"/>
              </a:rPr>
              <a:t> affects </a:t>
            </a:r>
            <a:r>
              <a:rPr sz="1700" b="0" i="1">
                <a:solidFill>
                  <a:srgbClr val="14202E"/>
                </a:solidFill>
                <a:latin typeface="Cambria"/>
              </a:rPr>
              <a:t>v</a:t>
            </a:r>
            <a:r>
              <a:rPr sz="1700" b="0" i="0">
                <a:solidFill>
                  <a:srgbClr val="14202E"/>
                </a:solidFill>
                <a:latin typeface="Cambria"/>
              </a:rPr>
              <a:t>′</a:t>
            </a:r>
            <a:r>
              <a:rPr sz="1700" b="0" i="1" baseline="-25000">
                <a:solidFill>
                  <a:srgbClr val="14202E"/>
                </a:solidFill>
                <a:latin typeface="Cambria"/>
              </a:rPr>
              <a:t>i</a:t>
            </a:r>
            <a:r>
              <a:rPr sz="1700" b="0" i="0">
                <a:solidFill>
                  <a:srgbClr val="14202E"/>
                </a:solidFill>
                <a:latin typeface="Calibri"/>
              </a:rPr>
              <a:t>, and </a:t>
            </a:r>
            <a:r>
              <a:rPr sz="1700" b="0" i="1">
                <a:solidFill>
                  <a:srgbClr val="14202E"/>
                </a:solidFill>
                <a:latin typeface="Cambria"/>
              </a:rPr>
              <a:t>v</a:t>
            </a:r>
            <a:r>
              <a:rPr sz="1700" b="0" i="0">
                <a:solidFill>
                  <a:srgbClr val="14202E"/>
                </a:solidFill>
                <a:latin typeface="Cambria"/>
              </a:rPr>
              <a:t>′</a:t>
            </a:r>
            <a:r>
              <a:rPr sz="1700" b="0" i="1" baseline="-25000">
                <a:solidFill>
                  <a:srgbClr val="14202E"/>
                </a:solidFill>
                <a:latin typeface="Cambria"/>
              </a:rPr>
              <a:t>i</a:t>
            </a:r>
            <a:r>
              <a:rPr sz="1700" b="0" i="0">
                <a:solidFill>
                  <a:srgbClr val="14202E"/>
                </a:solidFill>
                <a:latin typeface="Calibri"/>
              </a:rPr>
              <a:t> affects </a:t>
            </a:r>
            <a:r>
              <a:rPr sz="1700" b="0" i="1">
                <a:solidFill>
                  <a:srgbClr val="14202E"/>
                </a:solidFill>
                <a:latin typeface="Cambria"/>
              </a:rPr>
              <a:t>T</a:t>
            </a:r>
            <a:r>
              <a:rPr sz="1700" b="0" i="0">
                <a:solidFill>
                  <a:srgbClr val="14202E"/>
                </a:solidFill>
                <a:latin typeface="Cambria"/>
              </a:rPr>
              <a:t>′</a:t>
            </a:r>
            <a:r>
              <a:rPr sz="1700" b="0" i="1" baseline="-25000">
                <a:solidFill>
                  <a:srgbClr val="14202E"/>
                </a:solidFill>
                <a:latin typeface="Cambria"/>
              </a:rPr>
              <a:t>i</a:t>
            </a:r>
          </a:p>
        </p:txBody>
      </p:sp>
      <p:sp>
        <p:nvSpPr>
          <p:cNvPr id="46" name="Rounded Rectangle 45"/>
          <p:cNvSpPr/>
          <p:nvPr/>
        </p:nvSpPr>
        <p:spPr>
          <a:xfrm>
            <a:off x="6382512" y="5212080"/>
            <a:ext cx="3840480" cy="347472"/>
          </a:xfrm>
          <a:prstGeom prst="roundRect">
            <a:avLst>
              <a:gd name="adj" fmla="val 31578"/>
            </a:avLst>
          </a:prstGeom>
          <a:solidFill>
            <a:srgbClr val="E2F3EA"/>
          </a:solidFill>
          <a:ln w="15240">
            <a:solidFill>
              <a:srgbClr val="1E7B4F"/>
            </a:solidFill>
          </a:ln>
          <a:effectLst/>
        </p:spPr>
        <p:txBody>
          <a:bodyPr rtlCol="0" anchor="ctr" wrap="square" lIns="73152" rIns="73152" tIns="36576" bIns="36576"/>
          <a:lstStyle/>
          <a:p>
            <a:pPr algn="ctr">
              <a:spcBef>
                <a:spcPts val="0"/>
              </a:spcBef>
              <a:spcAft>
                <a:spcPts val="0"/>
              </a:spcAft>
            </a:pPr>
            <a:r>
              <a:rPr sz="1400" b="1" i="0">
                <a:solidFill>
                  <a:srgbClr val="14202E"/>
                </a:solidFill>
                <a:latin typeface="Calibri"/>
              </a:rPr>
              <a:t>the old direct rescaling route is broken</a:t>
            </a:r>
          </a:p>
        </p:txBody>
      </p:sp>
      <p:sp>
        <p:nvSpPr>
          <p:cNvPr id="47" name="Rectangle 46"/>
          <p:cNvSpPr/>
          <p:nvPr/>
        </p:nvSpPr>
        <p:spPr>
          <a:xfrm>
            <a:off x="548640" y="5760720"/>
            <a:ext cx="82296" cy="566928"/>
          </a:xfrm>
          <a:prstGeom prst="rect">
            <a:avLst/>
          </a:prstGeom>
          <a:solidFill>
            <a:srgbClr val="1E7B4F"/>
          </a:solidFill>
          <a:ln>
            <a:noFill/>
          </a:ln>
          <a:effectLst/>
        </p:spPr>
        <p:txBody>
          <a:bodyPr rtlCol="0" anchor="ctr" wrap="square" lIns="73152" rIns="73152" tIns="36576" bIns="36576"/>
          <a:lstStyle/>
          <a:p>
            <a:pPr algn="ctr"/>
          </a:p>
        </p:txBody>
      </p:sp>
      <p:sp>
        <p:nvSpPr>
          <p:cNvPr id="48" name="TextBox 47"/>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800" b="1" i="0">
                <a:solidFill>
                  <a:srgbClr val="14202E"/>
                </a:solidFill>
                <a:latin typeface="Calibri"/>
              </a:rPr>
              <a:t>This explains why the reproduced rescaling route no longer applies. Formal security is the paper's EUF-CMA proof.</a:t>
            </a:r>
          </a:p>
        </p:txBody>
      </p:sp>
      <p:sp>
        <p:nvSpPr>
          <p:cNvPr id="49" name="PresenterCue"/>
          <p:cNvSpPr/>
          <p:nvPr/>
        </p:nvSpPr>
        <p:spPr>
          <a:xfrm>
            <a:off x="8503920" y="1033271"/>
            <a:ext cx="3136392" cy="457200"/>
          </a:xfrm>
          <a:prstGeom prst="roundRect">
            <a:avLst>
              <a:gd name="adj" fmla="val 10000"/>
            </a:avLst>
          </a:prstGeom>
          <a:solidFill>
            <a:srgbClr val="FFF3B0"/>
          </a:solidFill>
          <a:ln w="12700">
            <a:solidFill>
              <a:srgbClr val="D9B93A"/>
            </a:solidFill>
          </a:ln>
          <a:effectLst/>
        </p:spPr>
        <p:txBody>
          <a:bodyPr rtlCol="0" anchor="ctr" wrap="square" tIns="36576" bIns="36576"/>
          <a:lstStyle/>
          <a:p>
            <a:pPr algn="l">
              <a:lnSpc>
                <a:spcPct val="92000"/>
              </a:lnSpc>
              <a:spcBef>
                <a:spcPts val="0"/>
              </a:spcBef>
              <a:spcAft>
                <a:spcPts val="0"/>
              </a:spcAft>
            </a:pPr>
            <a:r>
              <a:rPr sz="850" b="1" i="0">
                <a:solidFill>
                  <a:srgbClr val="8A6D00"/>
                </a:solidFill>
                <a:latin typeface="Calibri"/>
              </a:rPr>
              <a:t>PRESENTER CUE</a:t>
            </a:r>
          </a:p>
          <a:p>
            <a:pPr algn="l">
              <a:lnSpc>
                <a:spcPct val="92000"/>
              </a:lnSpc>
              <a:spcBef>
                <a:spcPts val="0"/>
              </a:spcBef>
              <a:spcAft>
                <a:spcPts val="0"/>
              </a:spcAft>
            </a:pPr>
            <a:r>
              <a:rPr sz="1250" b="0" i="0">
                <a:solidFill>
                  <a:srgbClr val="4A3B00"/>
                </a:solidFill>
                <a:latin typeface="Calibri"/>
              </a:rPr>
              <a:t>Key idea: </a:t>
            </a:r>
            <a:r>
              <a:rPr sz="1250" b="0" i="1">
                <a:solidFill>
                  <a:srgbClr val="4A3B00"/>
                </a:solidFill>
                <a:latin typeface="Cambria"/>
              </a:rPr>
              <a:t>T</a:t>
            </a:r>
            <a:r>
              <a:rPr sz="1250" b="0" i="1" baseline="-25000">
                <a:solidFill>
                  <a:srgbClr val="4A3B00"/>
                </a:solidFill>
                <a:latin typeface="Cambria"/>
              </a:rPr>
              <a:t>i</a:t>
            </a:r>
            <a:r>
              <a:rPr sz="1250" b="0" i="0">
                <a:solidFill>
                  <a:srgbClr val="4A3B00"/>
                </a:solidFill>
                <a:latin typeface="Calibri"/>
              </a:rPr>
              <a:t> enters the hash.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IV · TESTING THE REPAIR · DEMO 2</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Demo 2: the same strategy against the repaired scheme</a:t>
            </a:r>
          </a:p>
        </p:txBody>
      </p:sp>
      <p:sp>
        <p:nvSpPr>
          <p:cNvPr id="4" name="Rounded Rectangle 3"/>
          <p:cNvSpPr/>
          <p:nvPr/>
        </p:nvSpPr>
        <p:spPr>
          <a:xfrm>
            <a:off x="10652760" y="274320"/>
            <a:ext cx="987551" cy="246888"/>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EXPERIMENT</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20 / 32</a:t>
            </a:r>
          </a:p>
        </p:txBody>
      </p:sp>
      <p:sp>
        <p:nvSpPr>
          <p:cNvPr id="8" name="Rounded Rectangle 7"/>
          <p:cNvSpPr/>
          <p:nvPr/>
        </p:nvSpPr>
        <p:spPr>
          <a:xfrm>
            <a:off x="548640" y="1645920"/>
            <a:ext cx="4754880" cy="640080"/>
          </a:xfrm>
          <a:prstGeom prst="roundRect">
            <a:avLst>
              <a:gd name="adj" fmla="val 11428"/>
            </a:avLst>
          </a:prstGeom>
          <a:solidFill>
            <a:srgbClr val="101923"/>
          </a:solidFill>
          <a:ln>
            <a:noFill/>
          </a:ln>
          <a:effectLst/>
        </p:spPr>
        <p:txBody>
          <a:bodyPr rtlCol="0" anchor="ctr" wrap="square" lIns="73152" rIns="73152" tIns="36576" bIns="36576"/>
          <a:lstStyle/>
          <a:p>
            <a:pPr algn="ctr"/>
          </a:p>
        </p:txBody>
      </p:sp>
      <p:sp>
        <p:nvSpPr>
          <p:cNvPr id="9" name="TextBox 8"/>
          <p:cNvSpPr txBox="1"/>
          <p:nvPr/>
        </p:nvSpPr>
        <p:spPr>
          <a:xfrm>
            <a:off x="777240" y="1645920"/>
            <a:ext cx="4389120" cy="640080"/>
          </a:xfrm>
          <a:prstGeom prst="rect">
            <a:avLst/>
          </a:prstGeom>
          <a:noFill/>
        </p:spPr>
        <p:txBody>
          <a:bodyPr wrap="square" lIns="0" rIns="0" tIns="0" bIns="0" anchor="ctr">
            <a:spAutoFit/>
          </a:bodyPr>
          <a:lstStyle/>
          <a:p>
            <a:pPr algn="l">
              <a:spcBef>
                <a:spcPts val="0"/>
              </a:spcBef>
              <a:spcAft>
                <a:spcPts val="0"/>
              </a:spcAft>
            </a:pPr>
            <a:r>
              <a:rPr sz="2200" b="0" i="0">
                <a:solidFill>
                  <a:srgbClr val="8FA1B3"/>
                </a:solidFill>
                <a:latin typeface="Courier New"/>
              </a:rPr>
              <a:t>$</a:t>
            </a:r>
            <a:r>
              <a:rPr sz="2200" b="0" i="0">
                <a:solidFill>
                  <a:srgbClr val="DDE5EE"/>
                </a:solidFill>
                <a:latin typeface="Courier New"/>
              </a:rPr>
              <a:t> </a:t>
            </a:r>
            <a:r>
              <a:rPr sz="2200" b="0" i="0">
                <a:solidFill>
                  <a:srgbClr val="DDE5EE"/>
                </a:solidFill>
                <a:latin typeface="Courier New"/>
              </a:rPr>
              <a:t>make attack</a:t>
            </a:r>
          </a:p>
        </p:txBody>
      </p:sp>
      <p:sp>
        <p:nvSpPr>
          <p:cNvPr id="10" name="TextBox 9"/>
          <p:cNvSpPr txBox="1"/>
          <p:nvPr/>
        </p:nvSpPr>
        <p:spPr>
          <a:xfrm>
            <a:off x="548640" y="2395728"/>
            <a:ext cx="475488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WHAT TO POINT AT</a:t>
            </a:r>
          </a:p>
        </p:txBody>
      </p:sp>
      <p:sp>
        <p:nvSpPr>
          <p:cNvPr id="11" name="Rounded Rectangle 10"/>
          <p:cNvSpPr/>
          <p:nvPr/>
        </p:nvSpPr>
        <p:spPr>
          <a:xfrm>
            <a:off x="548640" y="2734056"/>
            <a:ext cx="384048" cy="384048"/>
          </a:xfrm>
          <a:prstGeom prst="roundRect">
            <a:avLst>
              <a:gd name="adj" fmla="val 50000"/>
            </a:avLst>
          </a:prstGeom>
          <a:solidFill>
            <a:srgbClr val="14202E"/>
          </a:solidFill>
          <a:ln>
            <a:noFill/>
          </a:ln>
          <a:effectLst/>
        </p:spPr>
        <p:txBody>
          <a:bodyPr rtlCol="0" anchor="ctr" wrap="square" lIns="36576" rIns="36576" tIns="36576" bIns="36576"/>
          <a:lstStyle/>
          <a:p>
            <a:pPr algn="ctr">
              <a:spcBef>
                <a:spcPts val="0"/>
              </a:spcBef>
              <a:spcAft>
                <a:spcPts val="0"/>
              </a:spcAft>
            </a:pPr>
            <a:r>
              <a:rPr sz="1500" b="1" i="0">
                <a:solidFill>
                  <a:srgbClr val="FFFFFF"/>
                </a:solidFill>
                <a:latin typeface="Calibri"/>
              </a:rPr>
              <a:t>1</a:t>
            </a:r>
          </a:p>
        </p:txBody>
      </p:sp>
      <p:sp>
        <p:nvSpPr>
          <p:cNvPr id="12" name="TextBox 11"/>
          <p:cNvSpPr txBox="1"/>
          <p:nvPr/>
        </p:nvSpPr>
        <p:spPr>
          <a:xfrm>
            <a:off x="1097280" y="2651760"/>
            <a:ext cx="4206240" cy="548640"/>
          </a:xfrm>
          <a:prstGeom prst="rect">
            <a:avLst/>
          </a:prstGeom>
          <a:noFill/>
        </p:spPr>
        <p:txBody>
          <a:bodyPr wrap="square" lIns="0" rIns="0" tIns="0" bIns="0" anchor="ctr">
            <a:spAutoFit/>
          </a:bodyPr>
          <a:lstStyle/>
          <a:p>
            <a:pPr algn="l">
              <a:lnSpc>
                <a:spcPct val="95000"/>
              </a:lnSpc>
              <a:spcBef>
                <a:spcPts val="0"/>
              </a:spcBef>
              <a:spcAft>
                <a:spcPts val="0"/>
              </a:spcAft>
            </a:pPr>
            <a:r>
              <a:rPr sz="1700" b="0" i="0">
                <a:solidFill>
                  <a:srgbClr val="14202E"/>
                </a:solidFill>
                <a:latin typeface="Calibri"/>
              </a:rPr>
              <a:t>The honest signature still verifies.</a:t>
            </a:r>
          </a:p>
        </p:txBody>
      </p:sp>
      <p:sp>
        <p:nvSpPr>
          <p:cNvPr id="13" name="Rounded Rectangle 12"/>
          <p:cNvSpPr/>
          <p:nvPr/>
        </p:nvSpPr>
        <p:spPr>
          <a:xfrm>
            <a:off x="548640" y="3374135"/>
            <a:ext cx="384048" cy="384048"/>
          </a:xfrm>
          <a:prstGeom prst="roundRect">
            <a:avLst>
              <a:gd name="adj" fmla="val 50000"/>
            </a:avLst>
          </a:prstGeom>
          <a:solidFill>
            <a:srgbClr val="14202E"/>
          </a:solidFill>
          <a:ln>
            <a:noFill/>
          </a:ln>
          <a:effectLst/>
        </p:spPr>
        <p:txBody>
          <a:bodyPr rtlCol="0" anchor="ctr" wrap="square" lIns="36576" rIns="36576" tIns="36576" bIns="36576"/>
          <a:lstStyle/>
          <a:p>
            <a:pPr algn="ctr">
              <a:spcBef>
                <a:spcPts val="0"/>
              </a:spcBef>
              <a:spcAft>
                <a:spcPts val="0"/>
              </a:spcAft>
            </a:pPr>
            <a:r>
              <a:rPr sz="1500" b="1" i="0">
                <a:solidFill>
                  <a:srgbClr val="FFFFFF"/>
                </a:solidFill>
                <a:latin typeface="Calibri"/>
              </a:rPr>
              <a:t>2</a:t>
            </a:r>
          </a:p>
        </p:txBody>
      </p:sp>
      <p:sp>
        <p:nvSpPr>
          <p:cNvPr id="14" name="TextBox 13"/>
          <p:cNvSpPr txBox="1"/>
          <p:nvPr/>
        </p:nvSpPr>
        <p:spPr>
          <a:xfrm>
            <a:off x="1097280" y="3291839"/>
            <a:ext cx="4206240" cy="548640"/>
          </a:xfrm>
          <a:prstGeom prst="rect">
            <a:avLst/>
          </a:prstGeom>
          <a:noFill/>
        </p:spPr>
        <p:txBody>
          <a:bodyPr wrap="square" lIns="0" rIns="0" tIns="0" bIns="0" anchor="ctr">
            <a:spAutoFit/>
          </a:bodyPr>
          <a:lstStyle/>
          <a:p>
            <a:pPr algn="l">
              <a:lnSpc>
                <a:spcPct val="95000"/>
              </a:lnSpc>
              <a:spcBef>
                <a:spcPts val="0"/>
              </a:spcBef>
              <a:spcAft>
                <a:spcPts val="0"/>
              </a:spcAft>
            </a:pPr>
            <a:r>
              <a:rPr sz="1700" b="0" i="0">
                <a:solidFill>
                  <a:srgbClr val="14202E"/>
                </a:solidFill>
                <a:latin typeface="Calibri"/>
              </a:rPr>
              <a:t>Same strategy, adapted: strip </a:t>
            </a:r>
            <a:r>
              <a:rPr sz="1700" b="0" i="1">
                <a:solidFill>
                  <a:srgbClr val="14202E"/>
                </a:solidFill>
                <a:latin typeface="Cambria"/>
              </a:rPr>
              <a:t>c</a:t>
            </a:r>
            <a:r>
              <a:rPr sz="1700" b="0" i="1" baseline="-25000">
                <a:solidFill>
                  <a:srgbClr val="14202E"/>
                </a:solidFill>
                <a:latin typeface="Cambria"/>
              </a:rPr>
              <a:t>i</a:t>
            </a:r>
            <a:r>
              <a:rPr sz="1700" b="0" i="1">
                <a:solidFill>
                  <a:srgbClr val="14202E"/>
                </a:solidFill>
                <a:latin typeface="Cambria"/>
              </a:rPr>
              <a:t>u</a:t>
            </a:r>
            <a:r>
              <a:rPr sz="1700" b="0" i="1" baseline="-25000">
                <a:solidFill>
                  <a:srgbClr val="14202E"/>
                </a:solidFill>
                <a:latin typeface="Cambria"/>
              </a:rPr>
              <a:t>i</a:t>
            </a:r>
            <a:r>
              <a:rPr sz="1700" b="0" i="0">
                <a:solidFill>
                  <a:srgbClr val="14202E"/>
                </a:solidFill>
                <a:latin typeface="Calibri"/>
              </a:rPr>
              <a:t>, not </a:t>
            </a:r>
            <a:r>
              <a:rPr sz="1700" b="0" i="1">
                <a:solidFill>
                  <a:srgbClr val="14202E"/>
                </a:solidFill>
                <a:latin typeface="Cambria"/>
              </a:rPr>
              <a:t>c</a:t>
            </a:r>
            <a:r>
              <a:rPr sz="1700" b="0" i="1" baseline="-25000">
                <a:solidFill>
                  <a:srgbClr val="14202E"/>
                </a:solidFill>
                <a:latin typeface="Cambria"/>
              </a:rPr>
              <a:t>i</a:t>
            </a:r>
            <a:r>
              <a:rPr sz="1700" b="0" i="0">
                <a:solidFill>
                  <a:srgbClr val="14202E"/>
                </a:solidFill>
                <a:latin typeface="Calibri"/>
              </a:rPr>
              <a:t>.</a:t>
            </a:r>
          </a:p>
        </p:txBody>
      </p:sp>
      <p:sp>
        <p:nvSpPr>
          <p:cNvPr id="15" name="Rounded Rectangle 14"/>
          <p:cNvSpPr/>
          <p:nvPr/>
        </p:nvSpPr>
        <p:spPr>
          <a:xfrm>
            <a:off x="548640" y="4014215"/>
            <a:ext cx="384048" cy="384048"/>
          </a:xfrm>
          <a:prstGeom prst="roundRect">
            <a:avLst>
              <a:gd name="adj" fmla="val 50000"/>
            </a:avLst>
          </a:prstGeom>
          <a:solidFill>
            <a:srgbClr val="14202E"/>
          </a:solidFill>
          <a:ln>
            <a:noFill/>
          </a:ln>
          <a:effectLst/>
        </p:spPr>
        <p:txBody>
          <a:bodyPr rtlCol="0" anchor="ctr" wrap="square" lIns="36576" rIns="36576" tIns="36576" bIns="36576"/>
          <a:lstStyle/>
          <a:p>
            <a:pPr algn="ctr">
              <a:spcBef>
                <a:spcPts val="0"/>
              </a:spcBef>
              <a:spcAft>
                <a:spcPts val="0"/>
              </a:spcAft>
            </a:pPr>
            <a:r>
              <a:rPr sz="1500" b="1" i="0">
                <a:solidFill>
                  <a:srgbClr val="FFFFFF"/>
                </a:solidFill>
                <a:latin typeface="Calibri"/>
              </a:rPr>
              <a:t>3</a:t>
            </a:r>
          </a:p>
        </p:txBody>
      </p:sp>
      <p:sp>
        <p:nvSpPr>
          <p:cNvPr id="16" name="TextBox 15"/>
          <p:cNvSpPr txBox="1"/>
          <p:nvPr/>
        </p:nvSpPr>
        <p:spPr>
          <a:xfrm>
            <a:off x="1097280" y="3931920"/>
            <a:ext cx="4206240" cy="548640"/>
          </a:xfrm>
          <a:prstGeom prst="rect">
            <a:avLst/>
          </a:prstGeom>
          <a:noFill/>
        </p:spPr>
        <p:txBody>
          <a:bodyPr wrap="square" lIns="0" rIns="0" tIns="0" bIns="0" anchor="ctr">
            <a:spAutoFit/>
          </a:bodyPr>
          <a:lstStyle/>
          <a:p>
            <a:pPr algn="l">
              <a:lnSpc>
                <a:spcPct val="95000"/>
              </a:lnSpc>
              <a:spcBef>
                <a:spcPts val="0"/>
              </a:spcBef>
              <a:spcAft>
                <a:spcPts val="0"/>
              </a:spcAft>
            </a:pPr>
            <a:r>
              <a:rPr sz="1700" b="0" i="0">
                <a:solidFill>
                  <a:srgbClr val="14202E"/>
                </a:solidFill>
                <a:latin typeface="Calibri"/>
              </a:rPr>
              <a:t>16 candidates </a:t>
            </a:r>
            <a:r>
              <a:rPr sz="1700" b="0" i="1">
                <a:solidFill>
                  <a:srgbClr val="14202E"/>
                </a:solidFill>
                <a:latin typeface="Cambria"/>
              </a:rPr>
              <a:t>T</a:t>
            </a:r>
            <a:r>
              <a:rPr sz="1700" b="0" i="0">
                <a:solidFill>
                  <a:srgbClr val="14202E"/>
                </a:solidFill>
                <a:latin typeface="Cambria"/>
              </a:rPr>
              <a:t>′</a:t>
            </a:r>
            <a:r>
              <a:rPr sz="1700" b="0" i="1" baseline="-25000">
                <a:solidFill>
                  <a:srgbClr val="14202E"/>
                </a:solidFill>
                <a:latin typeface="Cambria"/>
              </a:rPr>
              <a:t>i</a:t>
            </a:r>
            <a:r>
              <a:rPr sz="1700" b="0" i="0">
                <a:solidFill>
                  <a:srgbClr val="14202E"/>
                </a:solidFill>
                <a:latin typeface="Calibri"/>
              </a:rPr>
              <a:t>, all different, none verifies.</a:t>
            </a:r>
          </a:p>
        </p:txBody>
      </p:sp>
      <p:sp>
        <p:nvSpPr>
          <p:cNvPr id="17" name="Rounded Rectangle 16"/>
          <p:cNvSpPr/>
          <p:nvPr/>
        </p:nvSpPr>
        <p:spPr>
          <a:xfrm>
            <a:off x="5532120" y="1645920"/>
            <a:ext cx="6108192" cy="2743200"/>
          </a:xfrm>
          <a:prstGeom prst="roundRect">
            <a:avLst>
              <a:gd name="adj" fmla="val 3333"/>
            </a:avLst>
          </a:prstGeom>
          <a:solidFill>
            <a:srgbClr val="101923"/>
          </a:solidFill>
          <a:ln w="12700">
            <a:solidFill>
              <a:srgbClr val="2B3A4A"/>
            </a:solidFill>
          </a:ln>
          <a:effectLst/>
        </p:spPr>
        <p:txBody>
          <a:bodyPr rtlCol="0" anchor="ctr" wrap="square" lIns="73152" rIns="73152" tIns="36576" bIns="36576"/>
          <a:lstStyle/>
          <a:p>
            <a:pPr algn="ctr"/>
          </a:p>
        </p:txBody>
      </p:sp>
      <p:sp>
        <p:nvSpPr>
          <p:cNvPr id="18" name="TextBox 17"/>
          <p:cNvSpPr txBox="1"/>
          <p:nvPr/>
        </p:nvSpPr>
        <p:spPr>
          <a:xfrm>
            <a:off x="5715000" y="1773936"/>
            <a:ext cx="5742431" cy="274320"/>
          </a:xfrm>
          <a:prstGeom prst="rect">
            <a:avLst/>
          </a:prstGeom>
          <a:noFill/>
        </p:spPr>
        <p:txBody>
          <a:bodyPr wrap="square" lIns="0" rIns="0" tIns="0" bIns="0" anchor="t">
            <a:spAutoFit/>
          </a:bodyPr>
          <a:lstStyle/>
          <a:p>
            <a:pPr algn="l">
              <a:spcBef>
                <a:spcPts val="0"/>
              </a:spcBef>
              <a:spcAft>
                <a:spcPts val="0"/>
              </a:spcAft>
            </a:pPr>
            <a:r>
              <a:rPr sz="1200" b="0" i="0">
                <a:solidFill>
                  <a:srgbClr val="8FA1B3"/>
                </a:solidFill>
                <a:latin typeface="Courier New"/>
              </a:rPr>
              <a:t>(scroll to Target 2)</a:t>
            </a:r>
          </a:p>
        </p:txBody>
      </p:sp>
      <p:sp>
        <p:nvSpPr>
          <p:cNvPr id="19" name="TextBox 18"/>
          <p:cNvSpPr txBox="1"/>
          <p:nvPr/>
        </p:nvSpPr>
        <p:spPr>
          <a:xfrm>
            <a:off x="5715000" y="2084831"/>
            <a:ext cx="5742431" cy="2212848"/>
          </a:xfrm>
          <a:prstGeom prst="rect">
            <a:avLst/>
          </a:prstGeom>
          <a:noFill/>
        </p:spPr>
        <p:txBody>
          <a:bodyPr wrap="square" lIns="0" rIns="0" tIns="0" bIns="0" anchor="t">
            <a:spAutoFit/>
          </a:bodyPr>
          <a:lstStyle/>
          <a:p>
            <a:pPr algn="l">
              <a:spcBef>
                <a:spcPts val="0"/>
              </a:spcBef>
              <a:spcAft>
                <a:spcPts val="200"/>
              </a:spcAft>
            </a:pPr>
            <a:r>
              <a:rPr sz="1300" b="0" i="0">
                <a:solidFill>
                  <a:srgbClr val="8FA1B3"/>
                </a:solidFill>
                <a:latin typeface="Courier New"/>
              </a:rPr>
              <a:t>TARGET 2  Qiao et al., repaired CBAS (IEEE Syst. J. 2023)</a:t>
            </a:r>
          </a:p>
          <a:p>
            <a:pPr algn="l">
              <a:spcBef>
                <a:spcPts val="0"/>
              </a:spcBef>
              <a:spcAft>
                <a:spcPts val="200"/>
              </a:spcAft>
            </a:pPr>
            <a:r>
              <a:rPr sz="1300" b="0" i="0">
                <a:solidFill>
                  <a:srgbClr val="DDE5EE"/>
                </a:solidFill>
                <a:latin typeface="Courier New"/>
              </a:rPr>
              <a:t>  honest sig verifies : </a:t>
            </a:r>
            <a:r>
              <a:rPr sz="1300" b="0" i="0">
                <a:solidFill>
                  <a:srgbClr val="7BD88F"/>
                </a:solidFill>
                <a:latin typeface="Courier New"/>
              </a:rPr>
              <a:t>True</a:t>
            </a:r>
          </a:p>
          <a:p>
            <a:pPr algn="l">
              <a:spcBef>
                <a:spcPts val="0"/>
              </a:spcBef>
              <a:spcAft>
                <a:spcPts val="200"/>
              </a:spcAft>
            </a:pPr>
            <a:r>
              <a:rPr sz="1300" b="0" i="0">
                <a:solidFill>
                  <a:srgbClr val="DDE5EE"/>
                </a:solidFill>
                <a:latin typeface="Courier New"/>
              </a:rPr>
              <a:t>  forgery succeeded   : </a:t>
            </a:r>
            <a:r>
              <a:rPr sz="1300" b="0" i="0">
                <a:solidFill>
                  <a:srgbClr val="7BD88F"/>
                </a:solidFill>
                <a:latin typeface="Courier New"/>
              </a:rPr>
              <a:t>False</a:t>
            </a:r>
          </a:p>
          <a:p>
            <a:pPr algn="l">
              <a:spcBef>
                <a:spcPts val="0"/>
              </a:spcBef>
              <a:spcAft>
                <a:spcPts val="200"/>
              </a:spcAft>
            </a:pPr>
            <a:r>
              <a:rPr sz="1300" b="0" i="0">
                <a:solidFill>
                  <a:srgbClr val="DDE5EE"/>
                </a:solidFill>
                <a:latin typeface="Courier New"/>
              </a:rPr>
              <a:t>  iterations tried    : 16</a:t>
            </a:r>
          </a:p>
          <a:p>
            <a:pPr algn="l">
              <a:spcBef>
                <a:spcPts val="0"/>
              </a:spcBef>
              <a:spcAft>
                <a:spcPts val="200"/>
              </a:spcAft>
            </a:pPr>
            <a:r>
              <a:rPr sz="1300" b="0" i="0">
                <a:solidFill>
                  <a:srgbClr val="DDE5EE"/>
                </a:solidFill>
                <a:latin typeface="Courier New"/>
              </a:rPr>
              <a:t>  </a:t>
            </a:r>
            <a:r>
              <a:rPr sz="1300" b="0" i="0">
                <a:solidFill>
                  <a:srgbClr val="8FA1B3"/>
                </a:solidFill>
                <a:latin typeface="Courier New"/>
              </a:rPr>
              <a:t>candidate T' per iteration (first 8 bytes):</a:t>
            </a:r>
          </a:p>
          <a:p>
            <a:pPr algn="l">
              <a:spcBef>
                <a:spcPts val="0"/>
              </a:spcBef>
              <a:spcAft>
                <a:spcPts val="200"/>
              </a:spcAft>
            </a:pPr>
            <a:r>
              <a:rPr sz="1300" b="0" i="0">
                <a:solidFill>
                  <a:srgbClr val="DDE5EE"/>
                </a:solidFill>
                <a:latin typeface="Courier New"/>
              </a:rPr>
              <a:t>     1. 7a30fa1d6d0e2eb4...   </a:t>
            </a:r>
            <a:r>
              <a:rPr sz="1300" b="0" i="0">
                <a:solidFill>
                  <a:srgbClr val="8FA1B3"/>
                </a:solidFill>
                <a:latin typeface="Courier New"/>
              </a:rPr>
              <a:t>(values differ per run)</a:t>
            </a:r>
          </a:p>
          <a:p>
            <a:pPr algn="l">
              <a:spcBef>
                <a:spcPts val="0"/>
              </a:spcBef>
              <a:spcAft>
                <a:spcPts val="200"/>
              </a:spcAft>
            </a:pPr>
            <a:r>
              <a:rPr sz="1300" b="0" i="0">
                <a:solidFill>
                  <a:srgbClr val="DDE5EE"/>
                </a:solidFill>
                <a:latin typeface="Courier New"/>
              </a:rPr>
              <a:t>     2. 26a9b48630a0b741...</a:t>
            </a:r>
          </a:p>
          <a:p>
            <a:pPr algn="l">
              <a:spcBef>
                <a:spcPts val="0"/>
              </a:spcBef>
              <a:spcAft>
                <a:spcPts val="200"/>
              </a:spcAft>
            </a:pPr>
            <a:r>
              <a:rPr sz="1300" b="0" i="0">
                <a:solidFill>
                  <a:srgbClr val="DDE5EE"/>
                </a:solidFill>
                <a:latin typeface="Courier New"/>
              </a:rPr>
              <a:t>     ... 10 more, all distinct</a:t>
            </a:r>
          </a:p>
        </p:txBody>
      </p:sp>
      <p:sp>
        <p:nvSpPr>
          <p:cNvPr id="20" name="Rounded Rectangle 19"/>
          <p:cNvSpPr/>
          <p:nvPr/>
        </p:nvSpPr>
        <p:spPr>
          <a:xfrm>
            <a:off x="548640" y="4572000"/>
            <a:ext cx="3593592" cy="1024128"/>
          </a:xfrm>
          <a:prstGeom prst="roundRect">
            <a:avLst>
              <a:gd name="adj" fmla="val 7142"/>
            </a:avLst>
          </a:prstGeom>
          <a:solidFill>
            <a:srgbClr val="FFFFFF"/>
          </a:solidFill>
          <a:ln w="15875">
            <a:solidFill>
              <a:srgbClr val="D3D9E1"/>
            </a:solidFill>
          </a:ln>
          <a:effectLst/>
        </p:spPr>
        <p:txBody>
          <a:bodyPr rtlCol="0" anchor="ctr" wrap="square" lIns="73152" rIns="73152" tIns="36576" bIns="36576"/>
          <a:lstStyle/>
          <a:p>
            <a:pPr algn="ctr"/>
          </a:p>
        </p:txBody>
      </p:sp>
      <p:sp>
        <p:nvSpPr>
          <p:cNvPr id="21" name="Rounded Rectangle 20"/>
          <p:cNvSpPr/>
          <p:nvPr/>
        </p:nvSpPr>
        <p:spPr>
          <a:xfrm>
            <a:off x="685800" y="4663440"/>
            <a:ext cx="566928" cy="237744"/>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00" b="1" i="0">
                <a:solidFill>
                  <a:srgbClr val="FFFFFF"/>
                </a:solidFill>
                <a:latin typeface="Calibri"/>
              </a:rPr>
              <a:t>PAPER</a:t>
            </a:r>
          </a:p>
        </p:txBody>
      </p:sp>
      <p:sp>
        <p:nvSpPr>
          <p:cNvPr id="22" name="TextBox 21"/>
          <p:cNvSpPr txBox="1"/>
          <p:nvPr/>
        </p:nvSpPr>
        <p:spPr>
          <a:xfrm>
            <a:off x="685800" y="4937760"/>
            <a:ext cx="3337560" cy="640080"/>
          </a:xfrm>
          <a:prstGeom prst="rect">
            <a:avLst/>
          </a:prstGeom>
          <a:noFill/>
        </p:spPr>
        <p:txBody>
          <a:bodyPr wrap="square" lIns="0" rIns="0" tIns="0" bIns="0" anchor="t">
            <a:spAutoFit/>
          </a:bodyPr>
          <a:lstStyle/>
          <a:p>
            <a:pPr algn="l">
              <a:lnSpc>
                <a:spcPct val="95000"/>
              </a:lnSpc>
              <a:spcBef>
                <a:spcPts val="0"/>
              </a:spcBef>
              <a:spcAft>
                <a:spcPts val="0"/>
              </a:spcAft>
            </a:pPr>
            <a:r>
              <a:rPr sz="1450" b="1" i="0">
                <a:solidFill>
                  <a:srgbClr val="14202E"/>
                </a:solidFill>
                <a:latin typeface="Calibri"/>
              </a:rPr>
              <a:t>proves EUF-CMA security</a:t>
            </a:r>
          </a:p>
          <a:p>
            <a:pPr algn="l">
              <a:lnSpc>
                <a:spcPct val="95000"/>
              </a:lnSpc>
              <a:spcBef>
                <a:spcPts val="0"/>
              </a:spcBef>
              <a:spcAft>
                <a:spcPts val="0"/>
              </a:spcAft>
            </a:pPr>
            <a:r>
              <a:rPr sz="1300" b="0" i="0">
                <a:solidFill>
                  <a:srgbClr val="5B6675"/>
                </a:solidFill>
                <a:latin typeface="Calibri"/>
              </a:rPr>
              <a:t>under the discrete logarithm assumption, in the random-oracle model (Theorem 1)</a:t>
            </a:r>
          </a:p>
        </p:txBody>
      </p:sp>
      <p:sp>
        <p:nvSpPr>
          <p:cNvPr id="23" name="Rounded Rectangle 22"/>
          <p:cNvSpPr/>
          <p:nvPr/>
        </p:nvSpPr>
        <p:spPr>
          <a:xfrm>
            <a:off x="4297679" y="4572000"/>
            <a:ext cx="3593592" cy="1024128"/>
          </a:xfrm>
          <a:prstGeom prst="roundRect">
            <a:avLst>
              <a:gd name="adj" fmla="val 7142"/>
            </a:avLst>
          </a:prstGeom>
          <a:solidFill>
            <a:srgbClr val="FFFFFF"/>
          </a:solidFill>
          <a:ln w="15875">
            <a:solidFill>
              <a:srgbClr val="D3D9E1"/>
            </a:solidFill>
          </a:ln>
          <a:effectLst/>
        </p:spPr>
        <p:txBody>
          <a:bodyPr rtlCol="0" anchor="ctr" wrap="square" lIns="73152" rIns="73152" tIns="36576" bIns="36576"/>
          <a:lstStyle/>
          <a:p>
            <a:pPr algn="ctr"/>
          </a:p>
        </p:txBody>
      </p:sp>
      <p:sp>
        <p:nvSpPr>
          <p:cNvPr id="24" name="Rounded Rectangle 23"/>
          <p:cNvSpPr/>
          <p:nvPr/>
        </p:nvSpPr>
        <p:spPr>
          <a:xfrm>
            <a:off x="4434840" y="4663440"/>
            <a:ext cx="987551" cy="237744"/>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00" b="1" i="0">
                <a:solidFill>
                  <a:srgbClr val="FFFFFF"/>
                </a:solidFill>
                <a:latin typeface="Calibri"/>
              </a:rPr>
              <a:t>EXPERIMENT</a:t>
            </a:r>
          </a:p>
        </p:txBody>
      </p:sp>
      <p:sp>
        <p:nvSpPr>
          <p:cNvPr id="25" name="TextBox 24"/>
          <p:cNvSpPr txBox="1"/>
          <p:nvPr/>
        </p:nvSpPr>
        <p:spPr>
          <a:xfrm>
            <a:off x="4434840" y="4937760"/>
            <a:ext cx="3337560" cy="640080"/>
          </a:xfrm>
          <a:prstGeom prst="rect">
            <a:avLst/>
          </a:prstGeom>
          <a:noFill/>
        </p:spPr>
        <p:txBody>
          <a:bodyPr wrap="square" lIns="0" rIns="0" tIns="0" bIns="0" anchor="t">
            <a:spAutoFit/>
          </a:bodyPr>
          <a:lstStyle/>
          <a:p>
            <a:pPr algn="l">
              <a:lnSpc>
                <a:spcPct val="95000"/>
              </a:lnSpc>
              <a:spcBef>
                <a:spcPts val="0"/>
              </a:spcBef>
              <a:spcAft>
                <a:spcPts val="0"/>
              </a:spcAft>
            </a:pPr>
            <a:r>
              <a:rPr sz="1450" b="1" i="0">
                <a:solidFill>
                  <a:srgbClr val="14202E"/>
                </a:solidFill>
                <a:latin typeface="Calibri"/>
              </a:rPr>
              <a:t>this implementation</a:t>
            </a:r>
          </a:p>
          <a:p>
            <a:pPr algn="l">
              <a:lnSpc>
                <a:spcPct val="95000"/>
              </a:lnSpc>
              <a:spcBef>
                <a:spcPts val="0"/>
              </a:spcBef>
              <a:spcAft>
                <a:spcPts val="0"/>
              </a:spcAft>
            </a:pPr>
            <a:r>
              <a:rPr sz="1300" b="0" i="0">
                <a:solidFill>
                  <a:srgbClr val="5B6675"/>
                </a:solidFill>
                <a:latin typeface="Calibri"/>
              </a:rPr>
              <a:t>does not admit this same algebraic forgery route: 0 / 8 attempts succeed</a:t>
            </a:r>
          </a:p>
        </p:txBody>
      </p:sp>
      <p:sp>
        <p:nvSpPr>
          <p:cNvPr id="26" name="Rounded Rectangle 25"/>
          <p:cNvSpPr/>
          <p:nvPr/>
        </p:nvSpPr>
        <p:spPr>
          <a:xfrm>
            <a:off x="8046719" y="4572000"/>
            <a:ext cx="3593592" cy="1024128"/>
          </a:xfrm>
          <a:prstGeom prst="roundRect">
            <a:avLst>
              <a:gd name="adj" fmla="val 7142"/>
            </a:avLst>
          </a:prstGeom>
          <a:solidFill>
            <a:srgbClr val="FFFFFF"/>
          </a:solidFill>
          <a:ln w="15875">
            <a:solidFill>
              <a:srgbClr val="D3D9E1"/>
            </a:solidFill>
          </a:ln>
          <a:effectLst/>
        </p:spPr>
        <p:txBody>
          <a:bodyPr rtlCol="0" anchor="ctr" wrap="square" lIns="73152" rIns="73152" tIns="36576" bIns="36576"/>
          <a:lstStyle/>
          <a:p>
            <a:pPr algn="ctr"/>
          </a:p>
        </p:txBody>
      </p:sp>
      <p:sp>
        <p:nvSpPr>
          <p:cNvPr id="27" name="Rounded Rectangle 26"/>
          <p:cNvSpPr/>
          <p:nvPr/>
        </p:nvSpPr>
        <p:spPr>
          <a:xfrm>
            <a:off x="8183879" y="4663440"/>
            <a:ext cx="903427" cy="237744"/>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00" b="1" i="0">
                <a:solidFill>
                  <a:srgbClr val="FFFFFF"/>
                </a:solidFill>
                <a:latin typeface="Calibri"/>
              </a:rPr>
              <a:t>OUR AUDIT</a:t>
            </a:r>
          </a:p>
        </p:txBody>
      </p:sp>
      <p:sp>
        <p:nvSpPr>
          <p:cNvPr id="28" name="TextBox 27"/>
          <p:cNvSpPr txBox="1"/>
          <p:nvPr/>
        </p:nvSpPr>
        <p:spPr>
          <a:xfrm>
            <a:off x="8183879" y="4937760"/>
            <a:ext cx="3337560" cy="640080"/>
          </a:xfrm>
          <a:prstGeom prst="rect">
            <a:avLst/>
          </a:prstGeom>
          <a:noFill/>
        </p:spPr>
        <p:txBody>
          <a:bodyPr wrap="square" lIns="0" rIns="0" tIns="0" bIns="0" anchor="t">
            <a:spAutoFit/>
          </a:bodyPr>
          <a:lstStyle/>
          <a:p>
            <a:pPr algn="l">
              <a:lnSpc>
                <a:spcPct val="95000"/>
              </a:lnSpc>
              <a:spcBef>
                <a:spcPts val="0"/>
              </a:spcBef>
              <a:spcAft>
                <a:spcPts val="0"/>
              </a:spcAft>
            </a:pPr>
            <a:r>
              <a:rPr sz="1450" b="1" i="0">
                <a:solidFill>
                  <a:srgbClr val="14202E"/>
                </a:solidFill>
                <a:latin typeface="Calibri"/>
              </a:rPr>
              <a:t>not shown here</a:t>
            </a:r>
          </a:p>
          <a:p>
            <a:pPr algn="l">
              <a:lnSpc>
                <a:spcPct val="95000"/>
              </a:lnSpc>
              <a:spcBef>
                <a:spcPts val="0"/>
              </a:spcBef>
              <a:spcAft>
                <a:spcPts val="0"/>
              </a:spcAft>
            </a:pPr>
            <a:r>
              <a:rPr sz="1300" b="0" i="0">
                <a:solidFill>
                  <a:srgbClr val="5B6675"/>
                </a:solidFill>
                <a:latin typeface="Calibri"/>
              </a:rPr>
              <a:t>a proof of security: one failed attack is evidence about one attack</a:t>
            </a:r>
          </a:p>
        </p:txBody>
      </p:sp>
      <p:sp>
        <p:nvSpPr>
          <p:cNvPr id="29" name="Rectangle 28"/>
          <p:cNvSpPr/>
          <p:nvPr/>
        </p:nvSpPr>
        <p:spPr>
          <a:xfrm>
            <a:off x="548640" y="5760720"/>
            <a:ext cx="82296" cy="566928"/>
          </a:xfrm>
          <a:prstGeom prst="rect">
            <a:avLst/>
          </a:prstGeom>
          <a:solidFill>
            <a:srgbClr val="1E7B4F"/>
          </a:solidFill>
          <a:ln>
            <a:noFill/>
          </a:ln>
          <a:effectLst/>
        </p:spPr>
        <p:txBody>
          <a:bodyPr rtlCol="0" anchor="ctr" wrap="square" lIns="73152" rIns="73152" tIns="36576" bIns="36576"/>
          <a:lstStyle/>
          <a:p>
            <a:pPr algn="ctr"/>
          </a:p>
        </p:txBody>
      </p:sp>
      <p:sp>
        <p:nvSpPr>
          <p:cNvPr id="30" name="TextBox 29"/>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900" b="1" i="0">
                <a:solidFill>
                  <a:srgbClr val="14202E"/>
                </a:solidFill>
                <a:latin typeface="Calibri"/>
              </a:rPr>
              <a:t>The repaired implementation does not admit this forgery route. That is evidence, not a proof of security.</a:t>
            </a:r>
          </a:p>
        </p:txBody>
      </p:sp>
      <p:sp>
        <p:nvSpPr>
          <p:cNvPr id="31" name="PresenterCue_B11">
            <a:hlinkClick action="ppaction://hlinksldjump" r:id="rId3"/>
          </p:cNvPr>
          <p:cNvSpPr/>
          <p:nvPr/>
        </p:nvSpPr>
        <p:spPr>
          <a:xfrm>
            <a:off x="8503920" y="1078992"/>
            <a:ext cx="3136392" cy="457200"/>
          </a:xfrm>
          <a:prstGeom prst="roundRect">
            <a:avLst>
              <a:gd name="adj" fmla="val 10000"/>
            </a:avLst>
          </a:prstGeom>
          <a:solidFill>
            <a:srgbClr val="FFF3B0"/>
          </a:solidFill>
          <a:ln w="12700">
            <a:solidFill>
              <a:srgbClr val="D9B93A"/>
            </a:solidFill>
          </a:ln>
          <a:effectLst/>
        </p:spPr>
        <p:txBody>
          <a:bodyPr rtlCol="0" anchor="ctr" wrap="square" tIns="36576" bIns="36576"/>
          <a:lstStyle/>
          <a:p>
            <a:pPr algn="l">
              <a:lnSpc>
                <a:spcPct val="92000"/>
              </a:lnSpc>
              <a:spcBef>
                <a:spcPts val="0"/>
              </a:spcBef>
              <a:spcAft>
                <a:spcPts val="0"/>
              </a:spcAft>
            </a:pPr>
            <a:r>
              <a:rPr sz="850" b="1" i="0">
                <a:solidFill>
                  <a:srgbClr val="8A6D00"/>
                </a:solidFill>
                <a:latin typeface="Calibri"/>
              </a:rPr>
              <a:t>PRESENTER CUE</a:t>
            </a:r>
          </a:p>
          <a:p>
            <a:pPr algn="l">
              <a:lnSpc>
                <a:spcPct val="92000"/>
              </a:lnSpc>
              <a:spcBef>
                <a:spcPts val="0"/>
              </a:spcBef>
              <a:spcAft>
                <a:spcPts val="0"/>
              </a:spcAft>
            </a:pPr>
            <a:r>
              <a:rPr sz="1250" b="0" i="0">
                <a:solidFill>
                  <a:srgbClr val="4A3B00"/>
                </a:solidFill>
                <a:latin typeface="Calibri"/>
              </a:rPr>
              <a:t>Terminal fails? → Backup B11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IV · WHICH CHANGE MATTERS? · ABLATION (1/2)</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A controlled experiment: remove only the </a:t>
            </a:r>
            <a:r>
              <a:rPr sz="2800" b="1" i="1">
                <a:solidFill>
                  <a:srgbClr val="14202E"/>
                </a:solidFill>
                <a:latin typeface="Cambria"/>
              </a:rPr>
              <a:t>T</a:t>
            </a:r>
            <a:r>
              <a:rPr sz="2800" b="1" i="1" baseline="-25000">
                <a:solidFill>
                  <a:srgbClr val="14202E"/>
                </a:solidFill>
                <a:latin typeface="Cambria"/>
              </a:rPr>
              <a:t>i</a:t>
            </a:r>
            <a:r>
              <a:rPr sz="2800" b="1" i="0">
                <a:solidFill>
                  <a:srgbClr val="14202E"/>
                </a:solidFill>
                <a:latin typeface="Cambria"/>
              </a:rPr>
              <a:t> binding</a:t>
            </a:r>
          </a:p>
        </p:txBody>
      </p:sp>
      <p:sp>
        <p:nvSpPr>
          <p:cNvPr id="4" name="Rounded Rectangle 3"/>
          <p:cNvSpPr/>
          <p:nvPr/>
        </p:nvSpPr>
        <p:spPr>
          <a:xfrm>
            <a:off x="10652760" y="274320"/>
            <a:ext cx="987551" cy="246888"/>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EXPERIMENT</a:t>
            </a:r>
          </a:p>
        </p:txBody>
      </p:sp>
      <p:sp>
        <p:nvSpPr>
          <p:cNvPr id="5" name="Rounded Rectangle 4"/>
          <p:cNvSpPr/>
          <p:nvPr/>
        </p:nvSpPr>
        <p:spPr>
          <a:xfrm>
            <a:off x="9255556" y="274320"/>
            <a:ext cx="1324051" cy="246888"/>
          </a:xfrm>
          <a:prstGeom prst="roundRect">
            <a:avLst>
              <a:gd name="adj" fmla="val 50000"/>
            </a:avLst>
          </a:prstGeom>
          <a:solidFill>
            <a:srgbClr val="7A6F63"/>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IMPLEMENTATION</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21 / 32</a:t>
            </a:r>
          </a:p>
        </p:txBody>
      </p:sp>
      <p:sp>
        <p:nvSpPr>
          <p:cNvPr id="9" name="Rectangle 8"/>
          <p:cNvSpPr/>
          <p:nvPr/>
        </p:nvSpPr>
        <p:spPr>
          <a:xfrm>
            <a:off x="548640" y="1600200"/>
            <a:ext cx="11091672" cy="411480"/>
          </a:xfrm>
          <a:prstGeom prst="rect">
            <a:avLst/>
          </a:prstGeom>
          <a:solidFill>
            <a:srgbClr val="F2F5F8"/>
          </a:solidFill>
          <a:ln>
            <a:noFill/>
          </a:ln>
          <a:effectLst/>
        </p:spPr>
        <p:txBody>
          <a:bodyPr rtlCol="0" anchor="ctr" wrap="square" lIns="73152" rIns="73152" tIns="36576" bIns="36576"/>
          <a:lstStyle/>
          <a:p>
            <a:pPr algn="ctr"/>
          </a:p>
        </p:txBody>
      </p:sp>
      <p:sp>
        <p:nvSpPr>
          <p:cNvPr id="10" name="TextBox 9"/>
          <p:cNvSpPr txBox="1"/>
          <p:nvPr/>
        </p:nvSpPr>
        <p:spPr>
          <a:xfrm>
            <a:off x="640080" y="1600200"/>
            <a:ext cx="2926079" cy="411480"/>
          </a:xfrm>
          <a:prstGeom prst="rect">
            <a:avLst/>
          </a:prstGeom>
          <a:noFill/>
        </p:spPr>
        <p:txBody>
          <a:bodyPr wrap="square" lIns="0" rIns="0" tIns="0" bIns="0" anchor="ctr">
            <a:spAutoFit/>
          </a:bodyPr>
          <a:lstStyle/>
          <a:p>
            <a:pPr algn="l">
              <a:spcBef>
                <a:spcPts val="0"/>
              </a:spcBef>
              <a:spcAft>
                <a:spcPts val="0"/>
              </a:spcAft>
            </a:pPr>
            <a:r>
              <a:rPr sz="1200" b="1" i="0" spc="60">
                <a:solidFill>
                  <a:srgbClr val="5B6675"/>
                </a:solidFill>
                <a:latin typeface="Calibri"/>
              </a:rPr>
              <a:t>SCHEME</a:t>
            </a:r>
          </a:p>
        </p:txBody>
      </p:sp>
      <p:sp>
        <p:nvSpPr>
          <p:cNvPr id="11" name="TextBox 10"/>
          <p:cNvSpPr txBox="1"/>
          <p:nvPr/>
        </p:nvSpPr>
        <p:spPr>
          <a:xfrm>
            <a:off x="3749039" y="1600200"/>
            <a:ext cx="4297680" cy="411480"/>
          </a:xfrm>
          <a:prstGeom prst="rect">
            <a:avLst/>
          </a:prstGeom>
          <a:noFill/>
        </p:spPr>
        <p:txBody>
          <a:bodyPr wrap="square" lIns="0" rIns="0" tIns="0" bIns="0" anchor="ctr">
            <a:spAutoFit/>
          </a:bodyPr>
          <a:lstStyle/>
          <a:p>
            <a:pPr algn="l">
              <a:spcBef>
                <a:spcPts val="0"/>
              </a:spcBef>
              <a:spcAft>
                <a:spcPts val="0"/>
              </a:spcAft>
            </a:pPr>
            <a:r>
              <a:rPr sz="1200" b="1" i="0" spc="60">
                <a:solidFill>
                  <a:srgbClr val="5B6675"/>
                </a:solidFill>
                <a:latin typeface="Calibri"/>
              </a:rPr>
              <a:t>WHAT </a:t>
            </a:r>
            <a:r>
              <a:rPr sz="1200" b="1" i="1" spc="60">
                <a:solidFill>
                  <a:srgbClr val="5B6675"/>
                </a:solidFill>
                <a:latin typeface="Cambria"/>
              </a:rPr>
              <a:t>v</a:t>
            </a:r>
            <a:r>
              <a:rPr sz="1200" b="1" i="1" baseline="-25000" spc="60">
                <a:solidFill>
                  <a:srgbClr val="5B6675"/>
                </a:solidFill>
                <a:latin typeface="Cambria"/>
              </a:rPr>
              <a:t>i</a:t>
            </a:r>
            <a:r>
              <a:rPr sz="1200" b="1" i="0" spc="60">
                <a:solidFill>
                  <a:srgbClr val="5B6675"/>
                </a:solidFill>
                <a:latin typeface="Calibri"/>
              </a:rPr>
              <a:t> IS HASHED FROM</a:t>
            </a:r>
          </a:p>
        </p:txBody>
      </p:sp>
      <p:sp>
        <p:nvSpPr>
          <p:cNvPr id="12" name="TextBox 11"/>
          <p:cNvSpPr txBox="1"/>
          <p:nvPr/>
        </p:nvSpPr>
        <p:spPr>
          <a:xfrm>
            <a:off x="8229600" y="1600200"/>
            <a:ext cx="3319272" cy="411480"/>
          </a:xfrm>
          <a:prstGeom prst="rect">
            <a:avLst/>
          </a:prstGeom>
          <a:noFill/>
        </p:spPr>
        <p:txBody>
          <a:bodyPr wrap="square" lIns="0" rIns="0" tIns="0" bIns="0" anchor="ctr">
            <a:spAutoFit/>
          </a:bodyPr>
          <a:lstStyle/>
          <a:p>
            <a:pPr algn="l">
              <a:spcBef>
                <a:spcPts val="0"/>
              </a:spcBef>
              <a:spcAft>
                <a:spcPts val="0"/>
              </a:spcAft>
            </a:pPr>
            <a:r>
              <a:rPr sz="1200" b="1" i="0" spc="60">
                <a:solidFill>
                  <a:srgbClr val="5B6675"/>
                </a:solidFill>
                <a:latin typeface="Calibri"/>
              </a:rPr>
              <a:t>COMMITMENT IN THE HASH?</a:t>
            </a:r>
          </a:p>
        </p:txBody>
      </p:sp>
      <p:cxnSp>
        <p:nvCxnSpPr>
          <p:cNvPr id="13" name="Connector 12"/>
          <p:cNvCxnSpPr/>
          <p:nvPr/>
        </p:nvCxnSpPr>
        <p:spPr>
          <a:xfrm>
            <a:off x="548640" y="2011680"/>
            <a:ext cx="11091672" cy="0"/>
          </a:xfrm>
          <a:prstGeom prst="line">
            <a:avLst/>
          </a:prstGeom>
          <a:ln w="15875">
            <a:solidFill>
              <a:srgbClr val="5B6675"/>
            </a:solidFill>
          </a:ln>
        </p:spPr>
      </p:cxnSp>
      <p:sp>
        <p:nvSpPr>
          <p:cNvPr id="14" name="TextBox 13"/>
          <p:cNvSpPr txBox="1"/>
          <p:nvPr/>
        </p:nvSpPr>
        <p:spPr>
          <a:xfrm>
            <a:off x="640080" y="2011680"/>
            <a:ext cx="2926079" cy="777240"/>
          </a:xfrm>
          <a:prstGeom prst="rect">
            <a:avLst/>
          </a:prstGeom>
          <a:noFill/>
        </p:spPr>
        <p:txBody>
          <a:bodyPr wrap="square" lIns="0" rIns="0" tIns="0" bIns="0" anchor="ctr">
            <a:spAutoFit/>
          </a:bodyPr>
          <a:lstStyle/>
          <a:p>
            <a:pPr algn="l">
              <a:spcBef>
                <a:spcPts val="0"/>
              </a:spcBef>
              <a:spcAft>
                <a:spcPts val="0"/>
              </a:spcAft>
            </a:pPr>
            <a:r>
              <a:rPr sz="1700" b="1" i="0">
                <a:solidFill>
                  <a:srgbClr val="14202E"/>
                </a:solidFill>
                <a:latin typeface="Calibri"/>
              </a:rPr>
              <a:t>A · Verma et al.</a:t>
            </a:r>
          </a:p>
        </p:txBody>
      </p:sp>
      <p:sp>
        <p:nvSpPr>
          <p:cNvPr id="15" name="TextBox 14"/>
          <p:cNvSpPr txBox="1"/>
          <p:nvPr/>
        </p:nvSpPr>
        <p:spPr>
          <a:xfrm>
            <a:off x="3749039" y="2011680"/>
            <a:ext cx="4297680" cy="777240"/>
          </a:xfrm>
          <a:prstGeom prst="rect">
            <a:avLst/>
          </a:prstGeom>
          <a:noFill/>
        </p:spPr>
        <p:txBody>
          <a:bodyPr wrap="square" lIns="0" rIns="0" tIns="0" bIns="0" anchor="ctr">
            <a:spAutoFit/>
          </a:bodyPr>
          <a:lstStyle/>
          <a:p>
            <a:pPr algn="l">
              <a:spcBef>
                <a:spcPts val="0"/>
              </a:spcBef>
              <a:spcAft>
                <a:spcPts val="0"/>
              </a:spcAft>
            </a:pPr>
            <a:r>
              <a:rPr sz="1700" b="0" i="1">
                <a:solidFill>
                  <a:srgbClr val="14202E"/>
                </a:solidFill>
                <a:latin typeface="Cambria"/>
              </a:rPr>
              <a:t>m</a:t>
            </a:r>
            <a:r>
              <a:rPr sz="1700" b="0" i="1" baseline="-25000">
                <a:solidFill>
                  <a:srgbClr val="14202E"/>
                </a:solidFill>
                <a:latin typeface="Cambria"/>
              </a:rPr>
              <a:t>i</a:t>
            </a:r>
            <a:r>
              <a:rPr sz="1700" b="0" i="0">
                <a:solidFill>
                  <a:srgbClr val="14202E"/>
                </a:solidFill>
                <a:latin typeface="Cambria"/>
              </a:rPr>
              <a:t>, </a:t>
            </a:r>
            <a:r>
              <a:rPr sz="1700" b="0" i="1">
                <a:solidFill>
                  <a:srgbClr val="14202E"/>
                </a:solidFill>
                <a:latin typeface="Cambria"/>
              </a:rPr>
              <a:t>pk</a:t>
            </a:r>
            <a:r>
              <a:rPr sz="1700" b="0" i="1" baseline="-25000">
                <a:solidFill>
                  <a:srgbClr val="14202E"/>
                </a:solidFill>
                <a:latin typeface="Cambria"/>
              </a:rPr>
              <a:t>i</a:t>
            </a:r>
            <a:r>
              <a:rPr sz="1700" b="0" i="0">
                <a:solidFill>
                  <a:srgbClr val="14202E"/>
                </a:solidFill>
                <a:latin typeface="Cambria"/>
              </a:rPr>
              <a:t>, </a:t>
            </a:r>
            <a:r>
              <a:rPr sz="1700" b="0" i="1">
                <a:solidFill>
                  <a:srgbClr val="14202E"/>
                </a:solidFill>
                <a:latin typeface="Cambria"/>
              </a:rPr>
              <a:t>id</a:t>
            </a:r>
            <a:r>
              <a:rPr sz="1700" b="0" i="1" baseline="-25000">
                <a:solidFill>
                  <a:srgbClr val="14202E"/>
                </a:solidFill>
                <a:latin typeface="Cambria"/>
              </a:rPr>
              <a:t>i</a:t>
            </a:r>
            <a:r>
              <a:rPr sz="1700" b="0" i="0">
                <a:solidFill>
                  <a:srgbClr val="14202E"/>
                </a:solidFill>
                <a:latin typeface="Cambria"/>
              </a:rPr>
              <a:t>, Δ</a:t>
            </a:r>
          </a:p>
        </p:txBody>
      </p:sp>
      <p:sp>
        <p:nvSpPr>
          <p:cNvPr id="16" name="TextBox 15"/>
          <p:cNvSpPr txBox="1"/>
          <p:nvPr/>
        </p:nvSpPr>
        <p:spPr>
          <a:xfrm>
            <a:off x="8229600" y="2011680"/>
            <a:ext cx="3319272" cy="777240"/>
          </a:xfrm>
          <a:prstGeom prst="rect">
            <a:avLst/>
          </a:prstGeom>
          <a:noFill/>
        </p:spPr>
        <p:txBody>
          <a:bodyPr wrap="square" lIns="0" rIns="0" tIns="0" bIns="0" anchor="ctr">
            <a:spAutoFit/>
          </a:bodyPr>
          <a:lstStyle/>
          <a:p>
            <a:pPr algn="l">
              <a:spcBef>
                <a:spcPts val="0"/>
              </a:spcBef>
              <a:spcAft>
                <a:spcPts val="0"/>
              </a:spcAft>
            </a:pPr>
            <a:r>
              <a:rPr sz="1700" b="1" i="0">
                <a:solidFill>
                  <a:srgbClr val="B3261E"/>
                </a:solidFill>
                <a:latin typeface="Calibri"/>
              </a:rPr>
              <a:t>✗  no: </a:t>
            </a:r>
            <a:r>
              <a:rPr sz="1700" b="1" i="1">
                <a:solidFill>
                  <a:srgbClr val="B3261E"/>
                </a:solidFill>
                <a:latin typeface="Cambria"/>
              </a:rPr>
              <a:t>R</a:t>
            </a:r>
            <a:r>
              <a:rPr sz="1700" b="1" i="1" baseline="-25000">
                <a:solidFill>
                  <a:srgbClr val="B3261E"/>
                </a:solidFill>
                <a:latin typeface="Cambria"/>
              </a:rPr>
              <a:t>i</a:t>
            </a:r>
            <a:r>
              <a:rPr sz="1700" b="1" i="0">
                <a:solidFill>
                  <a:srgbClr val="B3261E"/>
                </a:solidFill>
                <a:latin typeface="Calibri"/>
              </a:rPr>
              <a:t> is not hashed</a:t>
            </a:r>
          </a:p>
        </p:txBody>
      </p:sp>
      <p:cxnSp>
        <p:nvCxnSpPr>
          <p:cNvPr id="17" name="Connector 16"/>
          <p:cNvCxnSpPr/>
          <p:nvPr/>
        </p:nvCxnSpPr>
        <p:spPr>
          <a:xfrm>
            <a:off x="548640" y="2788920"/>
            <a:ext cx="11091672" cy="0"/>
          </a:xfrm>
          <a:prstGeom prst="line">
            <a:avLst/>
          </a:prstGeom>
          <a:ln w="12700">
            <a:solidFill>
              <a:srgbClr val="D3D9E1"/>
            </a:solidFill>
          </a:ln>
        </p:spPr>
      </p:cxnSp>
      <p:sp>
        <p:nvSpPr>
          <p:cNvPr id="18" name="TextBox 17"/>
          <p:cNvSpPr txBox="1"/>
          <p:nvPr/>
        </p:nvSpPr>
        <p:spPr>
          <a:xfrm>
            <a:off x="640080" y="2788920"/>
            <a:ext cx="2926079" cy="777240"/>
          </a:xfrm>
          <a:prstGeom prst="rect">
            <a:avLst/>
          </a:prstGeom>
          <a:noFill/>
        </p:spPr>
        <p:txBody>
          <a:bodyPr wrap="square" lIns="0" rIns="0" tIns="0" bIns="0" anchor="ctr">
            <a:spAutoFit/>
          </a:bodyPr>
          <a:lstStyle/>
          <a:p>
            <a:pPr algn="l">
              <a:spcBef>
                <a:spcPts val="0"/>
              </a:spcBef>
              <a:spcAft>
                <a:spcPts val="0"/>
              </a:spcAft>
            </a:pPr>
            <a:r>
              <a:rPr sz="1700" b="1" i="0">
                <a:solidFill>
                  <a:srgbClr val="1E7B4F"/>
                </a:solidFill>
                <a:latin typeface="Calibri"/>
              </a:rPr>
              <a:t>B · Qiao et al.</a:t>
            </a:r>
          </a:p>
        </p:txBody>
      </p:sp>
      <p:sp>
        <p:nvSpPr>
          <p:cNvPr id="19" name="TextBox 18"/>
          <p:cNvSpPr txBox="1"/>
          <p:nvPr/>
        </p:nvSpPr>
        <p:spPr>
          <a:xfrm>
            <a:off x="3749039" y="2788920"/>
            <a:ext cx="4297680" cy="777240"/>
          </a:xfrm>
          <a:prstGeom prst="rect">
            <a:avLst/>
          </a:prstGeom>
          <a:noFill/>
        </p:spPr>
        <p:txBody>
          <a:bodyPr wrap="square" lIns="0" rIns="0" tIns="0" bIns="0" anchor="ctr">
            <a:spAutoFit/>
          </a:bodyPr>
          <a:lstStyle/>
          <a:p>
            <a:pPr algn="l">
              <a:spcBef>
                <a:spcPts val="0"/>
              </a:spcBef>
              <a:spcAft>
                <a:spcPts val="0"/>
              </a:spcAft>
            </a:pPr>
            <a:r>
              <a:rPr sz="1700" b="0" i="1">
                <a:solidFill>
                  <a:srgbClr val="14202E"/>
                </a:solidFill>
                <a:latin typeface="Cambria"/>
              </a:rPr>
              <a:t>m</a:t>
            </a:r>
            <a:r>
              <a:rPr sz="1700" b="0" i="1" baseline="-25000">
                <a:solidFill>
                  <a:srgbClr val="14202E"/>
                </a:solidFill>
                <a:latin typeface="Cambria"/>
              </a:rPr>
              <a:t>i</a:t>
            </a:r>
            <a:r>
              <a:rPr sz="1700" b="0" i="0">
                <a:solidFill>
                  <a:srgbClr val="14202E"/>
                </a:solidFill>
                <a:latin typeface="Cambria"/>
              </a:rPr>
              <a:t>, </a:t>
            </a:r>
            <a:r>
              <a:rPr sz="1700" b="0" i="1">
                <a:solidFill>
                  <a:srgbClr val="14202E"/>
                </a:solidFill>
                <a:latin typeface="Cambria"/>
              </a:rPr>
              <a:t>pk</a:t>
            </a:r>
            <a:r>
              <a:rPr sz="1700" b="0" i="1" baseline="-25000">
                <a:solidFill>
                  <a:srgbClr val="14202E"/>
                </a:solidFill>
                <a:latin typeface="Cambria"/>
              </a:rPr>
              <a:t>i</a:t>
            </a:r>
            <a:r>
              <a:rPr sz="1700" b="0" i="0">
                <a:solidFill>
                  <a:srgbClr val="14202E"/>
                </a:solidFill>
                <a:latin typeface="Cambria"/>
              </a:rPr>
              <a:t>, </a:t>
            </a:r>
            <a:r>
              <a:rPr sz="1700" b="0" i="1">
                <a:solidFill>
                  <a:srgbClr val="14202E"/>
                </a:solidFill>
                <a:latin typeface="Cambria"/>
              </a:rPr>
              <a:t>R</a:t>
            </a:r>
            <a:r>
              <a:rPr sz="1700" b="0" i="1" baseline="-25000">
                <a:solidFill>
                  <a:srgbClr val="14202E"/>
                </a:solidFill>
                <a:latin typeface="Cambria"/>
              </a:rPr>
              <a:t>i</a:t>
            </a:r>
            <a:r>
              <a:rPr sz="1700" b="0" i="0">
                <a:solidFill>
                  <a:srgbClr val="14202E"/>
                </a:solidFill>
                <a:latin typeface="Cambria"/>
              </a:rPr>
              <a:t>, </a:t>
            </a:r>
            <a:r>
              <a:rPr sz="1700" b="0" i="1">
                <a:solidFill>
                  <a:srgbClr val="14202E"/>
                </a:solidFill>
                <a:latin typeface="Cambria"/>
              </a:rPr>
              <a:t>id</a:t>
            </a:r>
            <a:r>
              <a:rPr sz="1700" b="0" i="1" baseline="-25000">
                <a:solidFill>
                  <a:srgbClr val="14202E"/>
                </a:solidFill>
                <a:latin typeface="Cambria"/>
              </a:rPr>
              <a:t>i</a:t>
            </a:r>
            <a:r>
              <a:rPr sz="1700" b="0" i="0">
                <a:solidFill>
                  <a:srgbClr val="14202E"/>
                </a:solidFill>
                <a:latin typeface="Cambria"/>
              </a:rPr>
              <a:t>, </a:t>
            </a:r>
            <a:r>
              <a:rPr sz="1700" b="0" i="1">
                <a:solidFill>
                  <a:srgbClr val="1E7B4F"/>
                </a:solidFill>
                <a:latin typeface="Cambria"/>
              </a:rPr>
              <a:t>T</a:t>
            </a:r>
            <a:r>
              <a:rPr sz="1700" b="0" i="1" baseline="-25000">
                <a:solidFill>
                  <a:srgbClr val="1E7B4F"/>
                </a:solidFill>
                <a:latin typeface="Cambria"/>
              </a:rPr>
              <a:t>i</a:t>
            </a:r>
            <a:r>
              <a:rPr sz="1700" b="0" i="0">
                <a:solidFill>
                  <a:srgbClr val="14202E"/>
                </a:solidFill>
                <a:latin typeface="Cambria"/>
              </a:rPr>
              <a:t>, Δ</a:t>
            </a:r>
          </a:p>
        </p:txBody>
      </p:sp>
      <p:sp>
        <p:nvSpPr>
          <p:cNvPr id="20" name="TextBox 19"/>
          <p:cNvSpPr txBox="1"/>
          <p:nvPr/>
        </p:nvSpPr>
        <p:spPr>
          <a:xfrm>
            <a:off x="8229600" y="2788920"/>
            <a:ext cx="3319272" cy="777240"/>
          </a:xfrm>
          <a:prstGeom prst="rect">
            <a:avLst/>
          </a:prstGeom>
          <a:noFill/>
        </p:spPr>
        <p:txBody>
          <a:bodyPr wrap="square" lIns="0" rIns="0" tIns="0" bIns="0" anchor="ctr">
            <a:spAutoFit/>
          </a:bodyPr>
          <a:lstStyle/>
          <a:p>
            <a:pPr algn="l">
              <a:spcBef>
                <a:spcPts val="0"/>
              </a:spcBef>
              <a:spcAft>
                <a:spcPts val="0"/>
              </a:spcAft>
            </a:pPr>
            <a:r>
              <a:rPr sz="1700" b="1" i="0">
                <a:solidFill>
                  <a:srgbClr val="1E7B4F"/>
                </a:solidFill>
                <a:latin typeface="Calibri"/>
              </a:rPr>
              <a:t>✓  yes: </a:t>
            </a:r>
            <a:r>
              <a:rPr sz="1700" b="1" i="1">
                <a:solidFill>
                  <a:srgbClr val="1E7B4F"/>
                </a:solidFill>
                <a:latin typeface="Cambria"/>
              </a:rPr>
              <a:t>T</a:t>
            </a:r>
            <a:r>
              <a:rPr sz="1700" b="1" i="1" baseline="-25000">
                <a:solidFill>
                  <a:srgbClr val="1E7B4F"/>
                </a:solidFill>
                <a:latin typeface="Cambria"/>
              </a:rPr>
              <a:t>i</a:t>
            </a:r>
            <a:r>
              <a:rPr sz="1700" b="1" i="0">
                <a:solidFill>
                  <a:srgbClr val="1E7B4F"/>
                </a:solidFill>
                <a:latin typeface="Calibri"/>
              </a:rPr>
              <a:t> is hashed</a:t>
            </a:r>
          </a:p>
        </p:txBody>
      </p:sp>
      <p:cxnSp>
        <p:nvCxnSpPr>
          <p:cNvPr id="21" name="Connector 20"/>
          <p:cNvCxnSpPr/>
          <p:nvPr/>
        </p:nvCxnSpPr>
        <p:spPr>
          <a:xfrm>
            <a:off x="548640" y="3566160"/>
            <a:ext cx="11091672" cy="0"/>
          </a:xfrm>
          <a:prstGeom prst="line">
            <a:avLst/>
          </a:prstGeom>
          <a:ln w="12700">
            <a:solidFill>
              <a:srgbClr val="D3D9E1"/>
            </a:solidFill>
          </a:ln>
        </p:spPr>
      </p:cxnSp>
      <p:sp>
        <p:nvSpPr>
          <p:cNvPr id="22" name="TextBox 21"/>
          <p:cNvSpPr txBox="1"/>
          <p:nvPr/>
        </p:nvSpPr>
        <p:spPr>
          <a:xfrm>
            <a:off x="640080" y="3566160"/>
            <a:ext cx="2926079" cy="777240"/>
          </a:xfrm>
          <a:prstGeom prst="rect">
            <a:avLst/>
          </a:prstGeom>
          <a:noFill/>
        </p:spPr>
        <p:txBody>
          <a:bodyPr wrap="square" lIns="0" rIns="0" tIns="0" bIns="0" anchor="ctr">
            <a:spAutoFit/>
          </a:bodyPr>
          <a:lstStyle/>
          <a:p>
            <a:pPr algn="l">
              <a:spcBef>
                <a:spcPts val="0"/>
              </a:spcBef>
              <a:spcAft>
                <a:spcPts val="0"/>
              </a:spcAft>
            </a:pPr>
            <a:r>
              <a:rPr sz="1700" b="1" i="0">
                <a:solidFill>
                  <a:srgbClr val="B3261E"/>
                </a:solidFill>
                <a:latin typeface="Calibri"/>
              </a:rPr>
              <a:t>C · Qiao, </a:t>
            </a:r>
            <a:r>
              <a:rPr sz="1700" b="1" i="1">
                <a:solidFill>
                  <a:srgbClr val="B3261E"/>
                </a:solidFill>
                <a:latin typeface="Cambria"/>
              </a:rPr>
              <a:t>T</a:t>
            </a:r>
            <a:r>
              <a:rPr sz="1700" b="1" i="1" baseline="-25000">
                <a:solidFill>
                  <a:srgbClr val="B3261E"/>
                </a:solidFill>
                <a:latin typeface="Cambria"/>
              </a:rPr>
              <a:t>i</a:t>
            </a:r>
            <a:r>
              <a:rPr sz="1700" b="1" i="0">
                <a:solidFill>
                  <a:srgbClr val="B3261E"/>
                </a:solidFill>
                <a:latin typeface="Calibri"/>
              </a:rPr>
              <a:t> removed</a:t>
            </a:r>
          </a:p>
        </p:txBody>
      </p:sp>
      <p:sp>
        <p:nvSpPr>
          <p:cNvPr id="23" name="TextBox 22"/>
          <p:cNvSpPr txBox="1"/>
          <p:nvPr/>
        </p:nvSpPr>
        <p:spPr>
          <a:xfrm>
            <a:off x="3749039" y="3566160"/>
            <a:ext cx="4297680" cy="777240"/>
          </a:xfrm>
          <a:prstGeom prst="rect">
            <a:avLst/>
          </a:prstGeom>
          <a:noFill/>
        </p:spPr>
        <p:txBody>
          <a:bodyPr wrap="square" lIns="0" rIns="0" tIns="0" bIns="0" anchor="ctr">
            <a:spAutoFit/>
          </a:bodyPr>
          <a:lstStyle/>
          <a:p>
            <a:pPr algn="l">
              <a:spcBef>
                <a:spcPts val="0"/>
              </a:spcBef>
              <a:spcAft>
                <a:spcPts val="0"/>
              </a:spcAft>
            </a:pPr>
            <a:r>
              <a:rPr sz="1700" b="0" i="1">
                <a:solidFill>
                  <a:srgbClr val="14202E"/>
                </a:solidFill>
                <a:latin typeface="Cambria"/>
              </a:rPr>
              <a:t>m</a:t>
            </a:r>
            <a:r>
              <a:rPr sz="1700" b="0" i="1" baseline="-25000">
                <a:solidFill>
                  <a:srgbClr val="14202E"/>
                </a:solidFill>
                <a:latin typeface="Cambria"/>
              </a:rPr>
              <a:t>i</a:t>
            </a:r>
            <a:r>
              <a:rPr sz="1700" b="0" i="0">
                <a:solidFill>
                  <a:srgbClr val="14202E"/>
                </a:solidFill>
                <a:latin typeface="Cambria"/>
              </a:rPr>
              <a:t>, </a:t>
            </a:r>
            <a:r>
              <a:rPr sz="1700" b="0" i="1">
                <a:solidFill>
                  <a:srgbClr val="14202E"/>
                </a:solidFill>
                <a:latin typeface="Cambria"/>
              </a:rPr>
              <a:t>pk</a:t>
            </a:r>
            <a:r>
              <a:rPr sz="1700" b="0" i="1" baseline="-25000">
                <a:solidFill>
                  <a:srgbClr val="14202E"/>
                </a:solidFill>
                <a:latin typeface="Cambria"/>
              </a:rPr>
              <a:t>i</a:t>
            </a:r>
            <a:r>
              <a:rPr sz="1700" b="0" i="0">
                <a:solidFill>
                  <a:srgbClr val="14202E"/>
                </a:solidFill>
                <a:latin typeface="Cambria"/>
              </a:rPr>
              <a:t>, </a:t>
            </a:r>
            <a:r>
              <a:rPr sz="1700" b="0" i="1">
                <a:solidFill>
                  <a:srgbClr val="14202E"/>
                </a:solidFill>
                <a:latin typeface="Cambria"/>
              </a:rPr>
              <a:t>R</a:t>
            </a:r>
            <a:r>
              <a:rPr sz="1700" b="0" i="1" baseline="-25000">
                <a:solidFill>
                  <a:srgbClr val="14202E"/>
                </a:solidFill>
                <a:latin typeface="Cambria"/>
              </a:rPr>
              <a:t>i</a:t>
            </a:r>
            <a:r>
              <a:rPr sz="1700" b="0" i="0">
                <a:solidFill>
                  <a:srgbClr val="14202E"/>
                </a:solidFill>
                <a:latin typeface="Cambria"/>
              </a:rPr>
              <a:t>, </a:t>
            </a:r>
            <a:r>
              <a:rPr sz="1700" b="0" i="1">
                <a:solidFill>
                  <a:srgbClr val="14202E"/>
                </a:solidFill>
                <a:latin typeface="Cambria"/>
              </a:rPr>
              <a:t>id</a:t>
            </a:r>
            <a:r>
              <a:rPr sz="1700" b="0" i="1" baseline="-25000">
                <a:solidFill>
                  <a:srgbClr val="14202E"/>
                </a:solidFill>
                <a:latin typeface="Cambria"/>
              </a:rPr>
              <a:t>i</a:t>
            </a:r>
            <a:r>
              <a:rPr sz="1700" b="0" i="0">
                <a:solidFill>
                  <a:srgbClr val="14202E"/>
                </a:solidFill>
                <a:latin typeface="Cambria"/>
              </a:rPr>
              <a:t>, Δ</a:t>
            </a:r>
          </a:p>
        </p:txBody>
      </p:sp>
      <p:sp>
        <p:nvSpPr>
          <p:cNvPr id="24" name="TextBox 23"/>
          <p:cNvSpPr txBox="1"/>
          <p:nvPr/>
        </p:nvSpPr>
        <p:spPr>
          <a:xfrm>
            <a:off x="8229600" y="3566160"/>
            <a:ext cx="3319272" cy="777240"/>
          </a:xfrm>
          <a:prstGeom prst="rect">
            <a:avLst/>
          </a:prstGeom>
          <a:noFill/>
        </p:spPr>
        <p:txBody>
          <a:bodyPr wrap="square" lIns="0" rIns="0" tIns="0" bIns="0" anchor="ctr">
            <a:spAutoFit/>
          </a:bodyPr>
          <a:lstStyle/>
          <a:p>
            <a:pPr algn="l">
              <a:spcBef>
                <a:spcPts val="0"/>
              </a:spcBef>
              <a:spcAft>
                <a:spcPts val="0"/>
              </a:spcAft>
            </a:pPr>
            <a:r>
              <a:rPr sz="1700" b="1" i="0">
                <a:solidFill>
                  <a:srgbClr val="B3261E"/>
                </a:solidFill>
                <a:latin typeface="Calibri"/>
              </a:rPr>
              <a:t>✗  no: </a:t>
            </a:r>
            <a:r>
              <a:rPr sz="1700" b="1" i="1">
                <a:solidFill>
                  <a:srgbClr val="B3261E"/>
                </a:solidFill>
                <a:latin typeface="Cambria"/>
              </a:rPr>
              <a:t>T</a:t>
            </a:r>
            <a:r>
              <a:rPr sz="1700" b="1" i="1" baseline="-25000">
                <a:solidFill>
                  <a:srgbClr val="B3261E"/>
                </a:solidFill>
                <a:latin typeface="Cambria"/>
              </a:rPr>
              <a:t>i</a:t>
            </a:r>
            <a:r>
              <a:rPr sz="1700" b="1" i="0">
                <a:solidFill>
                  <a:srgbClr val="B3261E"/>
                </a:solidFill>
                <a:latin typeface="Calibri"/>
              </a:rPr>
              <a:t> removed</a:t>
            </a:r>
          </a:p>
        </p:txBody>
      </p:sp>
      <p:cxnSp>
        <p:nvCxnSpPr>
          <p:cNvPr id="25" name="Connector 24"/>
          <p:cNvCxnSpPr/>
          <p:nvPr/>
        </p:nvCxnSpPr>
        <p:spPr>
          <a:xfrm>
            <a:off x="548640" y="4343400"/>
            <a:ext cx="11091672" cy="0"/>
          </a:xfrm>
          <a:prstGeom prst="line">
            <a:avLst/>
          </a:prstGeom>
          <a:ln w="12700">
            <a:solidFill>
              <a:srgbClr val="D3D9E1"/>
            </a:solidFill>
          </a:ln>
        </p:spPr>
      </p:cxnSp>
      <p:sp>
        <p:nvSpPr>
          <p:cNvPr id="26" name="Rounded Rectangle 25"/>
          <p:cNvSpPr/>
          <p:nvPr/>
        </p:nvSpPr>
        <p:spPr>
          <a:xfrm>
            <a:off x="548640" y="4526280"/>
            <a:ext cx="5440680" cy="1097280"/>
          </a:xfrm>
          <a:prstGeom prst="roundRect">
            <a:avLst>
              <a:gd name="adj" fmla="val 8333"/>
            </a:avLst>
          </a:prstGeom>
          <a:solidFill>
            <a:srgbClr val="F2F5F8"/>
          </a:solidFill>
          <a:ln>
            <a:noFill/>
          </a:ln>
          <a:effectLst/>
        </p:spPr>
        <p:txBody>
          <a:bodyPr rtlCol="0" anchor="ctr" wrap="square" lIns="73152" rIns="73152" tIns="36576" bIns="36576"/>
          <a:lstStyle/>
          <a:p>
            <a:pPr algn="ctr"/>
          </a:p>
        </p:txBody>
      </p:sp>
      <p:sp>
        <p:nvSpPr>
          <p:cNvPr id="27" name="TextBox 26"/>
          <p:cNvSpPr txBox="1"/>
          <p:nvPr/>
        </p:nvSpPr>
        <p:spPr>
          <a:xfrm>
            <a:off x="731520" y="4590288"/>
            <a:ext cx="512064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EVERYTHING ELSE IN C IS THE REPAIRED CODE</a:t>
            </a:r>
          </a:p>
        </p:txBody>
      </p:sp>
      <p:sp>
        <p:nvSpPr>
          <p:cNvPr id="28" name="TextBox 27"/>
          <p:cNvSpPr txBox="1"/>
          <p:nvPr/>
        </p:nvSpPr>
        <p:spPr>
          <a:xfrm>
            <a:off x="731520" y="4864608"/>
            <a:ext cx="5120640" cy="731520"/>
          </a:xfrm>
          <a:prstGeom prst="rect">
            <a:avLst/>
          </a:prstGeom>
          <a:noFill/>
        </p:spPr>
        <p:txBody>
          <a:bodyPr wrap="square" lIns="0" rIns="0" tIns="0" bIns="0" anchor="t">
            <a:spAutoFit/>
          </a:bodyPr>
          <a:lstStyle/>
          <a:p>
            <a:pPr algn="l" marL="256032" indent="-256032">
              <a:spcBef>
                <a:spcPts val="0"/>
              </a:spcBef>
              <a:spcAft>
                <a:spcPts val="300"/>
              </a:spcAft>
              <a:buFont typeface="Arial"/>
              <a:buChar char="•"/>
            </a:pPr>
            <a:r>
              <a:rPr sz="1450" b="0" i="0">
                <a:solidFill>
                  <a:srgbClr val="14202E"/>
                </a:solidFill>
                <a:latin typeface="Calibri"/>
              </a:rPr>
              <a:t>same setup, keys, certificate, aggregation, verification</a:t>
            </a:r>
          </a:p>
          <a:p>
            <a:pPr algn="l" marL="256032" indent="-256032">
              <a:spcBef>
                <a:spcPts val="0"/>
              </a:spcBef>
              <a:spcAft>
                <a:spcPts val="300"/>
              </a:spcAft>
              <a:buFont typeface="Arial"/>
              <a:buChar char="•"/>
            </a:pPr>
            <a:r>
              <a:rPr sz="1450" b="0" i="1">
                <a:solidFill>
                  <a:srgbClr val="14202E"/>
                </a:solidFill>
                <a:latin typeface="Cambria"/>
              </a:rPr>
              <a:t>R</a:t>
            </a:r>
            <a:r>
              <a:rPr sz="1450" b="0" i="1" baseline="-25000">
                <a:solidFill>
                  <a:srgbClr val="14202E"/>
                </a:solidFill>
                <a:latin typeface="Cambria"/>
              </a:rPr>
              <a:t>i</a:t>
            </a:r>
            <a:r>
              <a:rPr sz="1450" b="0" i="0">
                <a:solidFill>
                  <a:srgbClr val="14202E"/>
                </a:solidFill>
                <a:latin typeface="Calibri"/>
              </a:rPr>
              <a:t> still hashed; </a:t>
            </a:r>
            <a:r>
              <a:rPr sz="1450" b="0" i="1">
                <a:solidFill>
                  <a:srgbClr val="14202E"/>
                </a:solidFill>
                <a:latin typeface="Cambria"/>
              </a:rPr>
              <a:t>u</a:t>
            </a:r>
            <a:r>
              <a:rPr sz="1450" b="0" i="1" baseline="-25000">
                <a:solidFill>
                  <a:srgbClr val="14202E"/>
                </a:solidFill>
                <a:latin typeface="Cambria"/>
              </a:rPr>
              <a:t>i</a:t>
            </a:r>
            <a:r>
              <a:rPr sz="1450" b="0" i="0">
                <a:solidFill>
                  <a:srgbClr val="14202E"/>
                </a:solidFill>
                <a:latin typeface="Calibri"/>
              </a:rPr>
              <a:t> and </a:t>
            </a:r>
            <a:r>
              <a:rPr sz="1450" b="0" i="1">
                <a:solidFill>
                  <a:srgbClr val="14202E"/>
                </a:solidFill>
                <a:latin typeface="Cambria"/>
              </a:rPr>
              <a:t>v</a:t>
            </a:r>
            <a:r>
              <a:rPr sz="1450" b="0" i="1" baseline="-25000">
                <a:solidFill>
                  <a:srgbClr val="14202E"/>
                </a:solidFill>
                <a:latin typeface="Cambria"/>
              </a:rPr>
              <a:t>i</a:t>
            </a:r>
            <a:r>
              <a:rPr sz="1450" b="0" i="0">
                <a:solidFill>
                  <a:srgbClr val="14202E"/>
                </a:solidFill>
                <a:latin typeface="Calibri"/>
              </a:rPr>
              <a:t> still separate</a:t>
            </a:r>
          </a:p>
        </p:txBody>
      </p:sp>
      <p:sp>
        <p:nvSpPr>
          <p:cNvPr id="29" name="Rounded Rectangle 28"/>
          <p:cNvSpPr/>
          <p:nvPr/>
        </p:nvSpPr>
        <p:spPr>
          <a:xfrm>
            <a:off x="6199632" y="4526280"/>
            <a:ext cx="5440680" cy="1097280"/>
          </a:xfrm>
          <a:prstGeom prst="roundRect">
            <a:avLst>
              <a:gd name="adj" fmla="val 8333"/>
            </a:avLst>
          </a:prstGeom>
          <a:solidFill>
            <a:srgbClr val="F2F5F8"/>
          </a:solidFill>
          <a:ln>
            <a:noFill/>
          </a:ln>
          <a:effectLst/>
        </p:spPr>
        <p:txBody>
          <a:bodyPr rtlCol="0" anchor="ctr" wrap="square" lIns="73152" rIns="73152" tIns="36576" bIns="36576"/>
          <a:lstStyle/>
          <a:p>
            <a:pPr algn="ctr"/>
          </a:p>
        </p:txBody>
      </p:sp>
      <p:sp>
        <p:nvSpPr>
          <p:cNvPr id="30" name="TextBox 29"/>
          <p:cNvSpPr txBox="1"/>
          <p:nvPr/>
        </p:nvSpPr>
        <p:spPr>
          <a:xfrm>
            <a:off x="6382512" y="4590288"/>
            <a:ext cx="512064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CONTROLS: C IS A WORKING SCHEME</a:t>
            </a:r>
          </a:p>
        </p:txBody>
      </p:sp>
      <p:sp>
        <p:nvSpPr>
          <p:cNvPr id="31" name="TextBox 30"/>
          <p:cNvSpPr txBox="1"/>
          <p:nvPr/>
        </p:nvSpPr>
        <p:spPr>
          <a:xfrm>
            <a:off x="6382512" y="4864608"/>
            <a:ext cx="5120640" cy="731520"/>
          </a:xfrm>
          <a:prstGeom prst="rect">
            <a:avLst/>
          </a:prstGeom>
          <a:noFill/>
        </p:spPr>
        <p:txBody>
          <a:bodyPr wrap="square" lIns="0" rIns="0" tIns="0" bIns="0" anchor="t">
            <a:spAutoFit/>
          </a:bodyPr>
          <a:lstStyle/>
          <a:p>
            <a:pPr algn="l" marL="256032" indent="-256032">
              <a:spcBef>
                <a:spcPts val="0"/>
              </a:spcBef>
              <a:spcAft>
                <a:spcPts val="300"/>
              </a:spcAft>
              <a:buFont typeface="Arial"/>
              <a:buChar char="•"/>
            </a:pPr>
            <a:r>
              <a:rPr sz="1450" b="0" i="0">
                <a:solidFill>
                  <a:srgbClr val="14202E"/>
                </a:solidFill>
                <a:latin typeface="Calibri"/>
              </a:rPr>
              <a:t>honest signatures verify, in 8 / 8 trials</a:t>
            </a:r>
          </a:p>
          <a:p>
            <a:pPr algn="l" marL="256032" indent="-256032">
              <a:spcBef>
                <a:spcPts val="0"/>
              </a:spcBef>
              <a:spcAft>
                <a:spcPts val="300"/>
              </a:spcAft>
              <a:buFont typeface="Arial"/>
              <a:buChar char="•"/>
            </a:pPr>
            <a:r>
              <a:rPr sz="1450" b="0" i="0">
                <a:solidFill>
                  <a:srgbClr val="14202E"/>
                </a:solidFill>
                <a:latin typeface="Calibri"/>
              </a:rPr>
              <a:t>a different message is rejected, in 8 / 8 trials</a:t>
            </a:r>
          </a:p>
        </p:txBody>
      </p:sp>
      <p:sp>
        <p:nvSpPr>
          <p:cNvPr id="32" name="Rectangle 31"/>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33" name="TextBox 32"/>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2000" b="1" i="0">
                <a:solidFill>
                  <a:srgbClr val="14202E"/>
                </a:solidFill>
                <a:latin typeface="Calibri"/>
              </a:rPr>
              <a:t>Between B and C, only the </a:t>
            </a:r>
            <a:r>
              <a:rPr sz="2000" b="1" i="1">
                <a:solidFill>
                  <a:srgbClr val="14202E"/>
                </a:solidFill>
                <a:latin typeface="Cambria"/>
              </a:rPr>
              <a:t>T</a:t>
            </a:r>
            <a:r>
              <a:rPr sz="2000" b="1" i="1" baseline="-25000">
                <a:solidFill>
                  <a:srgbClr val="14202E"/>
                </a:solidFill>
                <a:latin typeface="Cambria"/>
              </a:rPr>
              <a:t>i</a:t>
            </a:r>
            <a:r>
              <a:rPr sz="2000" b="1" i="0">
                <a:solidFill>
                  <a:srgbClr val="14202E"/>
                </a:solidFill>
                <a:latin typeface="Calibri"/>
              </a:rPr>
              <a:t> binding differs.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IV · WHICH CHANGE MATTERS? · ABLATION (2/2) · DEMO 3</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Remove the </a:t>
            </a:r>
            <a:r>
              <a:rPr sz="2800" b="1" i="1">
                <a:solidFill>
                  <a:srgbClr val="14202E"/>
                </a:solidFill>
                <a:latin typeface="Cambria"/>
              </a:rPr>
              <a:t>T</a:t>
            </a:r>
            <a:r>
              <a:rPr sz="2800" b="1" i="1" baseline="-25000">
                <a:solidFill>
                  <a:srgbClr val="14202E"/>
                </a:solidFill>
                <a:latin typeface="Cambria"/>
              </a:rPr>
              <a:t>i</a:t>
            </a:r>
            <a:r>
              <a:rPr sz="2800" b="1" i="0">
                <a:solidFill>
                  <a:srgbClr val="14202E"/>
                </a:solidFill>
                <a:latin typeface="Cambria"/>
              </a:rPr>
              <a:t> binding, and the attack returns</a:t>
            </a:r>
          </a:p>
        </p:txBody>
      </p:sp>
      <p:sp>
        <p:nvSpPr>
          <p:cNvPr id="4" name="Rounded Rectangle 3"/>
          <p:cNvSpPr/>
          <p:nvPr/>
        </p:nvSpPr>
        <p:spPr>
          <a:xfrm>
            <a:off x="10736884" y="274320"/>
            <a:ext cx="903427" cy="246888"/>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OUR AUDIT</a:t>
            </a:r>
          </a:p>
        </p:txBody>
      </p:sp>
      <p:sp>
        <p:nvSpPr>
          <p:cNvPr id="5" name="Rounded Rectangle 4"/>
          <p:cNvSpPr/>
          <p:nvPr/>
        </p:nvSpPr>
        <p:spPr>
          <a:xfrm>
            <a:off x="9676180" y="274320"/>
            <a:ext cx="987551" cy="246888"/>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EXPERIMENT</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22 / 32</a:t>
            </a:r>
          </a:p>
        </p:txBody>
      </p:sp>
      <p:sp>
        <p:nvSpPr>
          <p:cNvPr id="9" name="Rounded Rectangle 8"/>
          <p:cNvSpPr/>
          <p:nvPr/>
        </p:nvSpPr>
        <p:spPr>
          <a:xfrm>
            <a:off x="548640" y="1600200"/>
            <a:ext cx="3593592" cy="2880360"/>
          </a:xfrm>
          <a:prstGeom prst="roundRect">
            <a:avLst>
              <a:gd name="adj" fmla="val 2539"/>
            </a:avLst>
          </a:prstGeom>
          <a:solidFill>
            <a:srgbClr val="FCE9E7"/>
          </a:solidFill>
          <a:ln w="25400">
            <a:solidFill>
              <a:srgbClr val="B3261E"/>
            </a:solidFill>
          </a:ln>
          <a:effectLst/>
        </p:spPr>
        <p:txBody>
          <a:bodyPr rtlCol="0" anchor="ctr" wrap="square" lIns="73152" rIns="73152" tIns="36576" bIns="36576"/>
          <a:lstStyle/>
          <a:p>
            <a:pPr algn="ctr"/>
          </a:p>
        </p:txBody>
      </p:sp>
      <p:sp>
        <p:nvSpPr>
          <p:cNvPr id="10" name="Rounded Rectangle 9"/>
          <p:cNvSpPr/>
          <p:nvPr/>
        </p:nvSpPr>
        <p:spPr>
          <a:xfrm>
            <a:off x="731520" y="1719072"/>
            <a:ext cx="457200" cy="457200"/>
          </a:xfrm>
          <a:prstGeom prst="roundRect">
            <a:avLst>
              <a:gd name="adj" fmla="val 50000"/>
            </a:avLst>
          </a:prstGeom>
          <a:solidFill>
            <a:srgbClr val="B3261E"/>
          </a:solidFill>
          <a:ln>
            <a:noFill/>
          </a:ln>
          <a:effectLst/>
        </p:spPr>
        <p:txBody>
          <a:bodyPr rtlCol="0" anchor="ctr" wrap="square" lIns="36576" rIns="36576" tIns="36576" bIns="36576"/>
          <a:lstStyle/>
          <a:p>
            <a:pPr algn="ctr">
              <a:spcBef>
                <a:spcPts val="0"/>
              </a:spcBef>
              <a:spcAft>
                <a:spcPts val="0"/>
              </a:spcAft>
            </a:pPr>
            <a:r>
              <a:rPr sz="1800" b="1" i="0">
                <a:solidFill>
                  <a:srgbClr val="FFFFFF"/>
                </a:solidFill>
                <a:latin typeface="Calibri"/>
              </a:rPr>
              <a:t>A</a:t>
            </a:r>
          </a:p>
        </p:txBody>
      </p:sp>
      <p:sp>
        <p:nvSpPr>
          <p:cNvPr id="11" name="TextBox 10"/>
          <p:cNvSpPr txBox="1"/>
          <p:nvPr/>
        </p:nvSpPr>
        <p:spPr>
          <a:xfrm>
            <a:off x="1325880" y="1691640"/>
            <a:ext cx="2697480" cy="548640"/>
          </a:xfrm>
          <a:prstGeom prst="rect">
            <a:avLst/>
          </a:prstGeom>
          <a:noFill/>
        </p:spPr>
        <p:txBody>
          <a:bodyPr wrap="square" lIns="0" rIns="0" tIns="0" bIns="0" anchor="ctr">
            <a:spAutoFit/>
          </a:bodyPr>
          <a:lstStyle/>
          <a:p>
            <a:pPr algn="l">
              <a:lnSpc>
                <a:spcPct val="95000"/>
              </a:lnSpc>
              <a:spcBef>
                <a:spcPts val="0"/>
              </a:spcBef>
              <a:spcAft>
                <a:spcPts val="0"/>
              </a:spcAft>
            </a:pPr>
            <a:r>
              <a:rPr sz="1650" b="1" i="0">
                <a:solidFill>
                  <a:srgbClr val="14202E"/>
                </a:solidFill>
                <a:latin typeface="Calibri"/>
              </a:rPr>
              <a:t>Original Verma construction</a:t>
            </a:r>
          </a:p>
        </p:txBody>
      </p:sp>
      <p:sp>
        <p:nvSpPr>
          <p:cNvPr id="12" name="TextBox 11"/>
          <p:cNvSpPr txBox="1"/>
          <p:nvPr/>
        </p:nvSpPr>
        <p:spPr>
          <a:xfrm>
            <a:off x="731520" y="2395728"/>
            <a:ext cx="3291840" cy="640080"/>
          </a:xfrm>
          <a:prstGeom prst="rect">
            <a:avLst/>
          </a:prstGeom>
          <a:noFill/>
        </p:spPr>
        <p:txBody>
          <a:bodyPr wrap="square" lIns="0" rIns="0" tIns="0" bIns="0" anchor="t">
            <a:spAutoFit/>
          </a:bodyPr>
          <a:lstStyle/>
          <a:p>
            <a:pPr algn="l">
              <a:lnSpc>
                <a:spcPct val="95000"/>
              </a:lnSpc>
              <a:spcBef>
                <a:spcPts val="0"/>
              </a:spcBef>
              <a:spcAft>
                <a:spcPts val="0"/>
              </a:spcAft>
            </a:pPr>
            <a:r>
              <a:rPr sz="1500" b="0" i="1">
                <a:solidFill>
                  <a:srgbClr val="14202E"/>
                </a:solidFill>
                <a:latin typeface="Cambria"/>
              </a:rPr>
              <a:t>v</a:t>
            </a:r>
            <a:r>
              <a:rPr sz="1500" b="0" i="1" baseline="-25000">
                <a:solidFill>
                  <a:srgbClr val="14202E"/>
                </a:solidFill>
                <a:latin typeface="Cambria"/>
              </a:rPr>
              <a:t>i</a:t>
            </a:r>
            <a:r>
              <a:rPr sz="1500" b="0" i="0">
                <a:solidFill>
                  <a:srgbClr val="14202E"/>
                </a:solidFill>
                <a:latin typeface="Cambria"/>
              </a:rPr>
              <a:t> = </a:t>
            </a:r>
            <a:r>
              <a:rPr sz="1500" b="0" i="1">
                <a:solidFill>
                  <a:srgbClr val="14202E"/>
                </a:solidFill>
                <a:latin typeface="Cambria"/>
              </a:rPr>
              <a:t>H</a:t>
            </a:r>
            <a:r>
              <a:rPr sz="1500" b="0" i="0" baseline="-25000">
                <a:solidFill>
                  <a:srgbClr val="14202E"/>
                </a:solidFill>
                <a:latin typeface="Cambria"/>
              </a:rPr>
              <a:t>1</a:t>
            </a:r>
            <a:r>
              <a:rPr sz="1500" b="0" i="0">
                <a:solidFill>
                  <a:srgbClr val="14202E"/>
                </a:solidFill>
                <a:latin typeface="Cambria"/>
              </a:rPr>
              <a:t>(</a:t>
            </a:r>
            <a:r>
              <a:rPr sz="1500" b="0" i="1">
                <a:solidFill>
                  <a:srgbClr val="14202E"/>
                </a:solidFill>
                <a:latin typeface="Cambria"/>
              </a:rPr>
              <a:t>m</a:t>
            </a:r>
            <a:r>
              <a:rPr sz="1500" b="0" i="1" baseline="-25000">
                <a:solidFill>
                  <a:srgbClr val="14202E"/>
                </a:solidFill>
                <a:latin typeface="Cambria"/>
              </a:rPr>
              <a:t>i</a:t>
            </a:r>
            <a:r>
              <a:rPr sz="1500" b="0" i="0">
                <a:solidFill>
                  <a:srgbClr val="14202E"/>
                </a:solidFill>
                <a:latin typeface="Cambria"/>
              </a:rPr>
              <a:t>‖</a:t>
            </a:r>
            <a:r>
              <a:rPr sz="1500" b="0" i="1">
                <a:solidFill>
                  <a:srgbClr val="14202E"/>
                </a:solidFill>
                <a:latin typeface="Cambria"/>
              </a:rPr>
              <a:t>pk</a:t>
            </a:r>
            <a:r>
              <a:rPr sz="1500" b="0" i="1" baseline="-25000">
                <a:solidFill>
                  <a:srgbClr val="14202E"/>
                </a:solidFill>
                <a:latin typeface="Cambria"/>
              </a:rPr>
              <a:t>i</a:t>
            </a:r>
            <a:r>
              <a:rPr sz="1500" b="0" i="0">
                <a:solidFill>
                  <a:srgbClr val="14202E"/>
                </a:solidFill>
                <a:latin typeface="Cambria"/>
              </a:rPr>
              <a:t>‖</a:t>
            </a:r>
            <a:r>
              <a:rPr sz="1500" b="0" i="1">
                <a:solidFill>
                  <a:srgbClr val="14202E"/>
                </a:solidFill>
                <a:latin typeface="Cambria"/>
              </a:rPr>
              <a:t>id</a:t>
            </a:r>
            <a:r>
              <a:rPr sz="1500" b="0" i="1" baseline="-25000">
                <a:solidFill>
                  <a:srgbClr val="14202E"/>
                </a:solidFill>
                <a:latin typeface="Cambria"/>
              </a:rPr>
              <a:t>i</a:t>
            </a:r>
            <a:r>
              <a:rPr sz="1500" b="0" i="0">
                <a:solidFill>
                  <a:srgbClr val="14202E"/>
                </a:solidFill>
                <a:latin typeface="Cambria"/>
              </a:rPr>
              <a:t>‖Δ)</a:t>
            </a:r>
          </a:p>
        </p:txBody>
      </p:sp>
      <p:sp>
        <p:nvSpPr>
          <p:cNvPr id="13" name="TextBox 12"/>
          <p:cNvSpPr txBox="1"/>
          <p:nvPr/>
        </p:nvSpPr>
        <p:spPr>
          <a:xfrm>
            <a:off x="731520" y="3017520"/>
            <a:ext cx="3246120" cy="548640"/>
          </a:xfrm>
          <a:prstGeom prst="rect">
            <a:avLst/>
          </a:prstGeom>
          <a:noFill/>
        </p:spPr>
        <p:txBody>
          <a:bodyPr wrap="square" lIns="0" rIns="0" tIns="0" bIns="0" anchor="ctr">
            <a:spAutoFit/>
          </a:bodyPr>
          <a:lstStyle/>
          <a:p>
            <a:pPr algn="l">
              <a:spcBef>
                <a:spcPts val="0"/>
              </a:spcBef>
              <a:spcAft>
                <a:spcPts val="0"/>
              </a:spcAft>
            </a:pPr>
            <a:r>
              <a:rPr sz="2400" b="1" i="0">
                <a:solidFill>
                  <a:srgbClr val="B3261E"/>
                </a:solidFill>
                <a:latin typeface="Calibri"/>
              </a:rPr>
              <a:t>ATTACK SUCCEEDS</a:t>
            </a:r>
          </a:p>
        </p:txBody>
      </p:sp>
      <p:sp>
        <p:nvSpPr>
          <p:cNvPr id="14" name="TextBox 13"/>
          <p:cNvSpPr txBox="1"/>
          <p:nvPr/>
        </p:nvSpPr>
        <p:spPr>
          <a:xfrm>
            <a:off x="731520" y="3611880"/>
            <a:ext cx="3246120" cy="731520"/>
          </a:xfrm>
          <a:prstGeom prst="rect">
            <a:avLst/>
          </a:prstGeom>
          <a:noFill/>
        </p:spPr>
        <p:txBody>
          <a:bodyPr wrap="square" lIns="0" rIns="0" tIns="0" bIns="0" anchor="t">
            <a:spAutoFit/>
          </a:bodyPr>
          <a:lstStyle/>
          <a:p>
            <a:pPr algn="l">
              <a:lnSpc>
                <a:spcPct val="95000"/>
              </a:lnSpc>
              <a:spcBef>
                <a:spcPts val="0"/>
              </a:spcBef>
              <a:spcAft>
                <a:spcPts val="0"/>
              </a:spcAft>
            </a:pPr>
            <a:r>
              <a:rPr sz="1500" b="0" i="0">
                <a:solidFill>
                  <a:srgbClr val="14202E"/>
                </a:solidFill>
                <a:latin typeface="Calibri"/>
              </a:rPr>
              <a:t>8 / 8 forgeries verify</a:t>
            </a:r>
          </a:p>
        </p:txBody>
      </p:sp>
      <p:sp>
        <p:nvSpPr>
          <p:cNvPr id="15" name="Rounded Rectangle 14"/>
          <p:cNvSpPr/>
          <p:nvPr/>
        </p:nvSpPr>
        <p:spPr>
          <a:xfrm>
            <a:off x="4297679" y="1600200"/>
            <a:ext cx="3593592" cy="2880360"/>
          </a:xfrm>
          <a:prstGeom prst="roundRect">
            <a:avLst>
              <a:gd name="adj" fmla="val 2539"/>
            </a:avLst>
          </a:prstGeom>
          <a:solidFill>
            <a:srgbClr val="E2F3EA"/>
          </a:solidFill>
          <a:ln w="25400">
            <a:solidFill>
              <a:srgbClr val="1E7B4F"/>
            </a:solidFill>
          </a:ln>
          <a:effectLst/>
        </p:spPr>
        <p:txBody>
          <a:bodyPr rtlCol="0" anchor="ctr" wrap="square" lIns="73152" rIns="73152" tIns="36576" bIns="36576"/>
          <a:lstStyle/>
          <a:p>
            <a:pPr algn="ctr"/>
          </a:p>
        </p:txBody>
      </p:sp>
      <p:sp>
        <p:nvSpPr>
          <p:cNvPr id="16" name="Rounded Rectangle 15"/>
          <p:cNvSpPr/>
          <p:nvPr/>
        </p:nvSpPr>
        <p:spPr>
          <a:xfrm>
            <a:off x="4480559" y="1719072"/>
            <a:ext cx="457200" cy="457200"/>
          </a:xfrm>
          <a:prstGeom prst="roundRect">
            <a:avLst>
              <a:gd name="adj" fmla="val 50000"/>
            </a:avLst>
          </a:prstGeom>
          <a:solidFill>
            <a:srgbClr val="1E7B4F"/>
          </a:solidFill>
          <a:ln>
            <a:noFill/>
          </a:ln>
          <a:effectLst/>
        </p:spPr>
        <p:txBody>
          <a:bodyPr rtlCol="0" anchor="ctr" wrap="square" lIns="36576" rIns="36576" tIns="36576" bIns="36576"/>
          <a:lstStyle/>
          <a:p>
            <a:pPr algn="ctr">
              <a:spcBef>
                <a:spcPts val="0"/>
              </a:spcBef>
              <a:spcAft>
                <a:spcPts val="0"/>
              </a:spcAft>
            </a:pPr>
            <a:r>
              <a:rPr sz="1800" b="1" i="0">
                <a:solidFill>
                  <a:srgbClr val="FFFFFF"/>
                </a:solidFill>
                <a:latin typeface="Calibri"/>
              </a:rPr>
              <a:t>B</a:t>
            </a:r>
          </a:p>
        </p:txBody>
      </p:sp>
      <p:sp>
        <p:nvSpPr>
          <p:cNvPr id="17" name="TextBox 16"/>
          <p:cNvSpPr txBox="1"/>
          <p:nvPr/>
        </p:nvSpPr>
        <p:spPr>
          <a:xfrm>
            <a:off x="5074919" y="1691640"/>
            <a:ext cx="2697480" cy="548640"/>
          </a:xfrm>
          <a:prstGeom prst="rect">
            <a:avLst/>
          </a:prstGeom>
          <a:noFill/>
        </p:spPr>
        <p:txBody>
          <a:bodyPr wrap="square" lIns="0" rIns="0" tIns="0" bIns="0" anchor="ctr">
            <a:spAutoFit/>
          </a:bodyPr>
          <a:lstStyle/>
          <a:p>
            <a:pPr algn="l">
              <a:lnSpc>
                <a:spcPct val="95000"/>
              </a:lnSpc>
              <a:spcBef>
                <a:spcPts val="0"/>
              </a:spcBef>
              <a:spcAft>
                <a:spcPts val="0"/>
              </a:spcAft>
            </a:pPr>
            <a:r>
              <a:rPr sz="1650" b="1" i="0">
                <a:solidFill>
                  <a:srgbClr val="14202E"/>
                </a:solidFill>
                <a:latin typeface="Calibri"/>
              </a:rPr>
              <a:t>Qiao repaired construction</a:t>
            </a:r>
          </a:p>
        </p:txBody>
      </p:sp>
      <p:sp>
        <p:nvSpPr>
          <p:cNvPr id="18" name="TextBox 17"/>
          <p:cNvSpPr txBox="1"/>
          <p:nvPr/>
        </p:nvSpPr>
        <p:spPr>
          <a:xfrm>
            <a:off x="4480559" y="2395728"/>
            <a:ext cx="3291840" cy="640080"/>
          </a:xfrm>
          <a:prstGeom prst="rect">
            <a:avLst/>
          </a:prstGeom>
          <a:noFill/>
        </p:spPr>
        <p:txBody>
          <a:bodyPr wrap="square" lIns="0" rIns="0" tIns="0" bIns="0" anchor="t">
            <a:spAutoFit/>
          </a:bodyPr>
          <a:lstStyle/>
          <a:p>
            <a:pPr algn="l">
              <a:lnSpc>
                <a:spcPct val="95000"/>
              </a:lnSpc>
              <a:spcBef>
                <a:spcPts val="0"/>
              </a:spcBef>
              <a:spcAft>
                <a:spcPts val="0"/>
              </a:spcAft>
            </a:pPr>
            <a:r>
              <a:rPr sz="1500" b="0" i="1">
                <a:solidFill>
                  <a:srgbClr val="14202E"/>
                </a:solidFill>
                <a:latin typeface="Cambria"/>
              </a:rPr>
              <a:t>v</a:t>
            </a:r>
            <a:r>
              <a:rPr sz="1500" b="0" i="1" baseline="-25000">
                <a:solidFill>
                  <a:srgbClr val="14202E"/>
                </a:solidFill>
                <a:latin typeface="Cambria"/>
              </a:rPr>
              <a:t>i</a:t>
            </a:r>
            <a:r>
              <a:rPr sz="1500" b="0" i="0">
                <a:solidFill>
                  <a:srgbClr val="14202E"/>
                </a:solidFill>
                <a:latin typeface="Cambria"/>
              </a:rPr>
              <a:t> = </a:t>
            </a:r>
            <a:r>
              <a:rPr sz="1500" b="0" i="1">
                <a:solidFill>
                  <a:srgbClr val="14202E"/>
                </a:solidFill>
                <a:latin typeface="Cambria"/>
              </a:rPr>
              <a:t>H</a:t>
            </a:r>
            <a:r>
              <a:rPr sz="1500" b="0" i="0" baseline="-25000">
                <a:solidFill>
                  <a:srgbClr val="14202E"/>
                </a:solidFill>
                <a:latin typeface="Cambria"/>
              </a:rPr>
              <a:t>1</a:t>
            </a:r>
            <a:r>
              <a:rPr sz="1500" b="0" i="0">
                <a:solidFill>
                  <a:srgbClr val="14202E"/>
                </a:solidFill>
                <a:latin typeface="Cambria"/>
              </a:rPr>
              <a:t>(…‖</a:t>
            </a:r>
            <a:r>
              <a:rPr sz="1500" b="0" i="1">
                <a:solidFill>
                  <a:srgbClr val="14202E"/>
                </a:solidFill>
                <a:latin typeface="Cambria"/>
              </a:rPr>
              <a:t>R</a:t>
            </a:r>
            <a:r>
              <a:rPr sz="1500" b="0" i="1" baseline="-25000">
                <a:solidFill>
                  <a:srgbClr val="14202E"/>
                </a:solidFill>
                <a:latin typeface="Cambria"/>
              </a:rPr>
              <a:t>i</a:t>
            </a:r>
            <a:r>
              <a:rPr sz="1500" b="0" i="0">
                <a:solidFill>
                  <a:srgbClr val="14202E"/>
                </a:solidFill>
                <a:latin typeface="Cambria"/>
              </a:rPr>
              <a:t>‖</a:t>
            </a:r>
            <a:r>
              <a:rPr sz="1500" b="0" i="1">
                <a:solidFill>
                  <a:srgbClr val="14202E"/>
                </a:solidFill>
                <a:latin typeface="Cambria"/>
              </a:rPr>
              <a:t>id</a:t>
            </a:r>
            <a:r>
              <a:rPr sz="1500" b="0" i="1" baseline="-25000">
                <a:solidFill>
                  <a:srgbClr val="14202E"/>
                </a:solidFill>
                <a:latin typeface="Cambria"/>
              </a:rPr>
              <a:t>i</a:t>
            </a:r>
            <a:r>
              <a:rPr sz="1500" b="0" i="0">
                <a:solidFill>
                  <a:srgbClr val="14202E"/>
                </a:solidFill>
                <a:latin typeface="Cambria"/>
              </a:rPr>
              <a:t>‖</a:t>
            </a:r>
            <a:r>
              <a:rPr sz="1500" b="0" i="1">
                <a:solidFill>
                  <a:srgbClr val="1E7B4F"/>
                </a:solidFill>
                <a:latin typeface="Cambria"/>
              </a:rPr>
              <a:t>T</a:t>
            </a:r>
            <a:r>
              <a:rPr sz="1500" b="0" i="1" baseline="-25000">
                <a:solidFill>
                  <a:srgbClr val="1E7B4F"/>
                </a:solidFill>
                <a:latin typeface="Cambria"/>
              </a:rPr>
              <a:t>i</a:t>
            </a:r>
            <a:r>
              <a:rPr sz="1500" b="0" i="0">
                <a:solidFill>
                  <a:srgbClr val="14202E"/>
                </a:solidFill>
                <a:latin typeface="Cambria"/>
              </a:rPr>
              <a:t>‖Δ)</a:t>
            </a:r>
          </a:p>
        </p:txBody>
      </p:sp>
      <p:sp>
        <p:nvSpPr>
          <p:cNvPr id="19" name="TextBox 18"/>
          <p:cNvSpPr txBox="1"/>
          <p:nvPr/>
        </p:nvSpPr>
        <p:spPr>
          <a:xfrm>
            <a:off x="4480559" y="3017520"/>
            <a:ext cx="3246120" cy="548640"/>
          </a:xfrm>
          <a:prstGeom prst="rect">
            <a:avLst/>
          </a:prstGeom>
          <a:noFill/>
        </p:spPr>
        <p:txBody>
          <a:bodyPr wrap="square" lIns="0" rIns="0" tIns="0" bIns="0" anchor="ctr">
            <a:spAutoFit/>
          </a:bodyPr>
          <a:lstStyle/>
          <a:p>
            <a:pPr algn="l">
              <a:spcBef>
                <a:spcPts val="0"/>
              </a:spcBef>
              <a:spcAft>
                <a:spcPts val="0"/>
              </a:spcAft>
            </a:pPr>
            <a:r>
              <a:rPr sz="2400" b="1" i="0">
                <a:solidFill>
                  <a:srgbClr val="1E7B4F"/>
                </a:solidFill>
                <a:latin typeface="Calibri"/>
              </a:rPr>
              <a:t>ATTACK FAILS</a:t>
            </a:r>
          </a:p>
        </p:txBody>
      </p:sp>
      <p:sp>
        <p:nvSpPr>
          <p:cNvPr id="20" name="TextBox 19"/>
          <p:cNvSpPr txBox="1"/>
          <p:nvPr/>
        </p:nvSpPr>
        <p:spPr>
          <a:xfrm>
            <a:off x="4480559" y="3611880"/>
            <a:ext cx="3246120" cy="731520"/>
          </a:xfrm>
          <a:prstGeom prst="rect">
            <a:avLst/>
          </a:prstGeom>
          <a:noFill/>
        </p:spPr>
        <p:txBody>
          <a:bodyPr wrap="square" lIns="0" rIns="0" tIns="0" bIns="0" anchor="t">
            <a:spAutoFit/>
          </a:bodyPr>
          <a:lstStyle/>
          <a:p>
            <a:pPr algn="l">
              <a:lnSpc>
                <a:spcPct val="95000"/>
              </a:lnSpc>
              <a:spcBef>
                <a:spcPts val="0"/>
              </a:spcBef>
              <a:spcAft>
                <a:spcPts val="0"/>
              </a:spcAft>
            </a:pPr>
            <a:r>
              <a:rPr sz="1500" b="0" i="0">
                <a:solidFill>
                  <a:srgbClr val="14202E"/>
                </a:solidFill>
                <a:latin typeface="Calibri"/>
              </a:rPr>
              <a:t>0 / 8 verify; 16 distinct candidates each</a:t>
            </a:r>
          </a:p>
        </p:txBody>
      </p:sp>
      <p:sp>
        <p:nvSpPr>
          <p:cNvPr id="21" name="Rounded Rectangle 20"/>
          <p:cNvSpPr/>
          <p:nvPr/>
        </p:nvSpPr>
        <p:spPr>
          <a:xfrm>
            <a:off x="8046719" y="1600200"/>
            <a:ext cx="3593592" cy="2880360"/>
          </a:xfrm>
          <a:prstGeom prst="roundRect">
            <a:avLst>
              <a:gd name="adj" fmla="val 2539"/>
            </a:avLst>
          </a:prstGeom>
          <a:solidFill>
            <a:srgbClr val="FCE9E7"/>
          </a:solidFill>
          <a:ln w="25400">
            <a:solidFill>
              <a:srgbClr val="B3261E"/>
            </a:solidFill>
          </a:ln>
          <a:effectLst/>
        </p:spPr>
        <p:txBody>
          <a:bodyPr rtlCol="0" anchor="ctr" wrap="square" lIns="73152" rIns="73152" tIns="36576" bIns="36576"/>
          <a:lstStyle/>
          <a:p>
            <a:pPr algn="ctr"/>
          </a:p>
        </p:txBody>
      </p:sp>
      <p:sp>
        <p:nvSpPr>
          <p:cNvPr id="22" name="Rounded Rectangle 21"/>
          <p:cNvSpPr/>
          <p:nvPr/>
        </p:nvSpPr>
        <p:spPr>
          <a:xfrm>
            <a:off x="8229599" y="1719072"/>
            <a:ext cx="457200" cy="457200"/>
          </a:xfrm>
          <a:prstGeom prst="roundRect">
            <a:avLst>
              <a:gd name="adj" fmla="val 50000"/>
            </a:avLst>
          </a:prstGeom>
          <a:solidFill>
            <a:srgbClr val="B3261E"/>
          </a:solidFill>
          <a:ln>
            <a:noFill/>
          </a:ln>
          <a:effectLst/>
        </p:spPr>
        <p:txBody>
          <a:bodyPr rtlCol="0" anchor="ctr" wrap="square" lIns="36576" rIns="36576" tIns="36576" bIns="36576"/>
          <a:lstStyle/>
          <a:p>
            <a:pPr algn="ctr">
              <a:spcBef>
                <a:spcPts val="0"/>
              </a:spcBef>
              <a:spcAft>
                <a:spcPts val="0"/>
              </a:spcAft>
            </a:pPr>
            <a:r>
              <a:rPr sz="1800" b="1" i="0">
                <a:solidFill>
                  <a:srgbClr val="FFFFFF"/>
                </a:solidFill>
                <a:latin typeface="Calibri"/>
              </a:rPr>
              <a:t>C</a:t>
            </a:r>
          </a:p>
        </p:txBody>
      </p:sp>
      <p:sp>
        <p:nvSpPr>
          <p:cNvPr id="23" name="TextBox 22"/>
          <p:cNvSpPr txBox="1"/>
          <p:nvPr/>
        </p:nvSpPr>
        <p:spPr>
          <a:xfrm>
            <a:off x="8823959" y="1691640"/>
            <a:ext cx="2697480" cy="548640"/>
          </a:xfrm>
          <a:prstGeom prst="rect">
            <a:avLst/>
          </a:prstGeom>
          <a:noFill/>
        </p:spPr>
        <p:txBody>
          <a:bodyPr wrap="square" lIns="0" rIns="0" tIns="0" bIns="0" anchor="ctr">
            <a:spAutoFit/>
          </a:bodyPr>
          <a:lstStyle/>
          <a:p>
            <a:pPr algn="l">
              <a:lnSpc>
                <a:spcPct val="95000"/>
              </a:lnSpc>
              <a:spcBef>
                <a:spcPts val="0"/>
              </a:spcBef>
              <a:spcAft>
                <a:spcPts val="0"/>
              </a:spcAft>
            </a:pPr>
            <a:r>
              <a:rPr sz="1650" b="1" i="0">
                <a:solidFill>
                  <a:srgbClr val="14202E"/>
                </a:solidFill>
                <a:latin typeface="Calibri"/>
              </a:rPr>
              <a:t>Qiao with the </a:t>
            </a:r>
            <a:r>
              <a:rPr sz="1650" b="1" i="1">
                <a:solidFill>
                  <a:srgbClr val="14202E"/>
                </a:solidFill>
                <a:latin typeface="Cambria"/>
              </a:rPr>
              <a:t>T</a:t>
            </a:r>
            <a:r>
              <a:rPr sz="1650" b="1" i="1" baseline="-25000">
                <a:solidFill>
                  <a:srgbClr val="14202E"/>
                </a:solidFill>
                <a:latin typeface="Cambria"/>
              </a:rPr>
              <a:t>i</a:t>
            </a:r>
            <a:r>
              <a:rPr sz="1650" b="1" i="0">
                <a:solidFill>
                  <a:srgbClr val="14202E"/>
                </a:solidFill>
                <a:latin typeface="Calibri"/>
              </a:rPr>
              <a:t> binding removed</a:t>
            </a:r>
          </a:p>
        </p:txBody>
      </p:sp>
      <p:sp>
        <p:nvSpPr>
          <p:cNvPr id="24" name="TextBox 23"/>
          <p:cNvSpPr txBox="1"/>
          <p:nvPr/>
        </p:nvSpPr>
        <p:spPr>
          <a:xfrm>
            <a:off x="8229599" y="2395728"/>
            <a:ext cx="3291840" cy="640080"/>
          </a:xfrm>
          <a:prstGeom prst="rect">
            <a:avLst/>
          </a:prstGeom>
          <a:noFill/>
        </p:spPr>
        <p:txBody>
          <a:bodyPr wrap="square" lIns="0" rIns="0" tIns="0" bIns="0" anchor="t">
            <a:spAutoFit/>
          </a:bodyPr>
          <a:lstStyle/>
          <a:p>
            <a:pPr algn="l">
              <a:lnSpc>
                <a:spcPct val="95000"/>
              </a:lnSpc>
              <a:spcBef>
                <a:spcPts val="0"/>
              </a:spcBef>
              <a:spcAft>
                <a:spcPts val="0"/>
              </a:spcAft>
            </a:pPr>
            <a:r>
              <a:rPr sz="1500" b="0" i="1">
                <a:solidFill>
                  <a:srgbClr val="14202E"/>
                </a:solidFill>
                <a:latin typeface="Cambria"/>
              </a:rPr>
              <a:t>v</a:t>
            </a:r>
            <a:r>
              <a:rPr sz="1500" b="0" i="1" baseline="-25000">
                <a:solidFill>
                  <a:srgbClr val="14202E"/>
                </a:solidFill>
                <a:latin typeface="Cambria"/>
              </a:rPr>
              <a:t>i</a:t>
            </a:r>
            <a:r>
              <a:rPr sz="1500" b="0" i="0">
                <a:solidFill>
                  <a:srgbClr val="14202E"/>
                </a:solidFill>
                <a:latin typeface="Cambria"/>
              </a:rPr>
              <a:t> = </a:t>
            </a:r>
            <a:r>
              <a:rPr sz="1500" b="0" i="1">
                <a:solidFill>
                  <a:srgbClr val="14202E"/>
                </a:solidFill>
                <a:latin typeface="Cambria"/>
              </a:rPr>
              <a:t>H</a:t>
            </a:r>
            <a:r>
              <a:rPr sz="1500" b="0" i="0" baseline="-25000">
                <a:solidFill>
                  <a:srgbClr val="14202E"/>
                </a:solidFill>
                <a:latin typeface="Cambria"/>
              </a:rPr>
              <a:t>1</a:t>
            </a:r>
            <a:r>
              <a:rPr sz="1500" b="0" i="0">
                <a:solidFill>
                  <a:srgbClr val="14202E"/>
                </a:solidFill>
                <a:latin typeface="Cambria"/>
              </a:rPr>
              <a:t>(…‖</a:t>
            </a:r>
            <a:r>
              <a:rPr sz="1500" b="0" i="1">
                <a:solidFill>
                  <a:srgbClr val="14202E"/>
                </a:solidFill>
                <a:latin typeface="Cambria"/>
              </a:rPr>
              <a:t>R</a:t>
            </a:r>
            <a:r>
              <a:rPr sz="1500" b="0" i="1" baseline="-25000">
                <a:solidFill>
                  <a:srgbClr val="14202E"/>
                </a:solidFill>
                <a:latin typeface="Cambria"/>
              </a:rPr>
              <a:t>i</a:t>
            </a:r>
            <a:r>
              <a:rPr sz="1500" b="0" i="0">
                <a:solidFill>
                  <a:srgbClr val="14202E"/>
                </a:solidFill>
                <a:latin typeface="Cambria"/>
              </a:rPr>
              <a:t>‖</a:t>
            </a:r>
            <a:r>
              <a:rPr sz="1500" b="0" i="1">
                <a:solidFill>
                  <a:srgbClr val="14202E"/>
                </a:solidFill>
                <a:latin typeface="Cambria"/>
              </a:rPr>
              <a:t>id</a:t>
            </a:r>
            <a:r>
              <a:rPr sz="1500" b="0" i="1" baseline="-25000">
                <a:solidFill>
                  <a:srgbClr val="14202E"/>
                </a:solidFill>
                <a:latin typeface="Cambria"/>
              </a:rPr>
              <a:t>i</a:t>
            </a:r>
            <a:r>
              <a:rPr sz="1500" b="0" i="0">
                <a:solidFill>
                  <a:srgbClr val="14202E"/>
                </a:solidFill>
                <a:latin typeface="Cambria"/>
              </a:rPr>
              <a:t>‖Δ)</a:t>
            </a:r>
          </a:p>
        </p:txBody>
      </p:sp>
      <p:sp>
        <p:nvSpPr>
          <p:cNvPr id="25" name="TextBox 24"/>
          <p:cNvSpPr txBox="1"/>
          <p:nvPr/>
        </p:nvSpPr>
        <p:spPr>
          <a:xfrm>
            <a:off x="8229599" y="3017520"/>
            <a:ext cx="3246120" cy="548640"/>
          </a:xfrm>
          <a:prstGeom prst="rect">
            <a:avLst/>
          </a:prstGeom>
          <a:noFill/>
        </p:spPr>
        <p:txBody>
          <a:bodyPr wrap="square" lIns="0" rIns="0" tIns="0" bIns="0" anchor="ctr">
            <a:spAutoFit/>
          </a:bodyPr>
          <a:lstStyle/>
          <a:p>
            <a:pPr algn="l">
              <a:spcBef>
                <a:spcPts val="0"/>
              </a:spcBef>
              <a:spcAft>
                <a:spcPts val="0"/>
              </a:spcAft>
            </a:pPr>
            <a:r>
              <a:rPr sz="2400" b="1" i="0">
                <a:solidFill>
                  <a:srgbClr val="B3261E"/>
                </a:solidFill>
                <a:latin typeface="Calibri"/>
              </a:rPr>
              <a:t>ATTACK SUCCEEDS</a:t>
            </a:r>
          </a:p>
        </p:txBody>
      </p:sp>
      <p:sp>
        <p:nvSpPr>
          <p:cNvPr id="26" name="TextBox 25"/>
          <p:cNvSpPr txBox="1"/>
          <p:nvPr/>
        </p:nvSpPr>
        <p:spPr>
          <a:xfrm>
            <a:off x="8229599" y="3611880"/>
            <a:ext cx="3246120" cy="731520"/>
          </a:xfrm>
          <a:prstGeom prst="rect">
            <a:avLst/>
          </a:prstGeom>
          <a:noFill/>
        </p:spPr>
        <p:txBody>
          <a:bodyPr wrap="square" lIns="0" rIns="0" tIns="0" bIns="0" anchor="t">
            <a:spAutoFit/>
          </a:bodyPr>
          <a:lstStyle/>
          <a:p>
            <a:pPr algn="l">
              <a:lnSpc>
                <a:spcPct val="95000"/>
              </a:lnSpc>
              <a:spcBef>
                <a:spcPts val="0"/>
              </a:spcBef>
              <a:spcAft>
                <a:spcPts val="0"/>
              </a:spcAft>
            </a:pPr>
            <a:r>
              <a:rPr sz="1500" b="0" i="0">
                <a:solidFill>
                  <a:srgbClr val="14202E"/>
                </a:solidFill>
                <a:latin typeface="Calibri"/>
              </a:rPr>
              <a:t>8 / 8 forgeries verify</a:t>
            </a:r>
          </a:p>
        </p:txBody>
      </p:sp>
      <p:sp>
        <p:nvSpPr>
          <p:cNvPr id="27" name="Rounded Rectangle 26"/>
          <p:cNvSpPr/>
          <p:nvPr/>
        </p:nvSpPr>
        <p:spPr>
          <a:xfrm>
            <a:off x="548640" y="4617720"/>
            <a:ext cx="11091672" cy="457200"/>
          </a:xfrm>
          <a:prstGeom prst="roundRect">
            <a:avLst>
              <a:gd name="adj" fmla="val 20000"/>
            </a:avLst>
          </a:prstGeom>
          <a:solidFill>
            <a:srgbClr val="101923"/>
          </a:solidFill>
          <a:ln w="12700">
            <a:solidFill>
              <a:srgbClr val="2B3A4A"/>
            </a:solidFill>
          </a:ln>
          <a:effectLst/>
        </p:spPr>
        <p:txBody>
          <a:bodyPr rtlCol="0" anchor="ctr" wrap="square" lIns="73152" rIns="73152" tIns="36576" bIns="36576"/>
          <a:lstStyle/>
          <a:p>
            <a:pPr algn="ctr"/>
          </a:p>
        </p:txBody>
      </p:sp>
      <p:sp>
        <p:nvSpPr>
          <p:cNvPr id="28" name="TextBox 27"/>
          <p:cNvSpPr txBox="1"/>
          <p:nvPr/>
        </p:nvSpPr>
        <p:spPr>
          <a:xfrm>
            <a:off x="731520" y="4745736"/>
            <a:ext cx="10725912" cy="237744"/>
          </a:xfrm>
          <a:prstGeom prst="rect">
            <a:avLst/>
          </a:prstGeom>
          <a:noFill/>
        </p:spPr>
        <p:txBody>
          <a:bodyPr wrap="square" lIns="0" rIns="0" tIns="0" bIns="0" anchor="t">
            <a:spAutoFit/>
          </a:bodyPr>
          <a:lstStyle/>
          <a:p>
            <a:pPr algn="l">
              <a:spcBef>
                <a:spcPts val="0"/>
              </a:spcBef>
              <a:spcAft>
                <a:spcPts val="200"/>
              </a:spcAft>
            </a:pPr>
            <a:r>
              <a:rPr sz="1350" b="0" i="0">
                <a:solidFill>
                  <a:srgbClr val="8FA1B3"/>
                </a:solidFill>
                <a:latin typeface="Courier New"/>
              </a:rPr>
              <a:t>$</a:t>
            </a:r>
            <a:r>
              <a:rPr sz="1350" b="0" i="0">
                <a:solidFill>
                  <a:srgbClr val="DDE5EE"/>
                </a:solidFill>
                <a:latin typeface="Courier New"/>
              </a:rPr>
              <a:t> .venv/bin/python -m pytest tests/test_forgery.py -k ablat -vv     </a:t>
            </a:r>
            <a:r>
              <a:rPr sz="1350" b="0" i="0">
                <a:solidFill>
                  <a:srgbClr val="7BD88F"/>
                </a:solidFill>
                <a:latin typeface="Courier New"/>
              </a:rPr>
              <a:t>10 passed</a:t>
            </a:r>
            <a:r>
              <a:rPr sz="1350" b="0" i="0">
                <a:solidFill>
                  <a:srgbClr val="DDE5EE"/>
                </a:solidFill>
                <a:latin typeface="Courier New"/>
              </a:rPr>
              <a:t>     </a:t>
            </a:r>
            <a:r>
              <a:rPr sz="1350" b="0" i="0">
                <a:solidFill>
                  <a:srgbClr val="8FA1B3"/>
                </a:solidFill>
                <a:latin typeface="Courier New"/>
              </a:rPr>
              <a:t>fallback: B12</a:t>
            </a:r>
          </a:p>
        </p:txBody>
      </p:sp>
      <p:sp>
        <p:nvSpPr>
          <p:cNvPr id="29" name="TextBox 28"/>
          <p:cNvSpPr txBox="1"/>
          <p:nvPr/>
        </p:nvSpPr>
        <p:spPr>
          <a:xfrm>
            <a:off x="548640" y="5138928"/>
            <a:ext cx="11064240" cy="502920"/>
          </a:xfrm>
          <a:prstGeom prst="rect">
            <a:avLst/>
          </a:prstGeom>
          <a:noFill/>
        </p:spPr>
        <p:txBody>
          <a:bodyPr wrap="square" lIns="0" rIns="0" tIns="0" bIns="0" anchor="t">
            <a:spAutoFit/>
          </a:bodyPr>
          <a:lstStyle/>
          <a:p>
            <a:pPr algn="l">
              <a:lnSpc>
                <a:spcPct val="95000"/>
              </a:lnSpc>
              <a:spcBef>
                <a:spcPts val="0"/>
              </a:spcBef>
              <a:spcAft>
                <a:spcPts val="0"/>
              </a:spcAft>
            </a:pPr>
            <a:r>
              <a:rPr sz="1350" b="0" i="0">
                <a:solidFill>
                  <a:srgbClr val="5B6675"/>
                </a:solidFill>
                <a:latin typeface="Calibri"/>
              </a:rPr>
              <a:t>Shown: the </a:t>
            </a:r>
            <a:r>
              <a:rPr sz="1350" b="0" i="1">
                <a:solidFill>
                  <a:srgbClr val="5B6675"/>
                </a:solidFill>
                <a:latin typeface="Cambria"/>
              </a:rPr>
              <a:t>T</a:t>
            </a:r>
            <a:r>
              <a:rPr sz="1350" b="0" i="1" baseline="-25000">
                <a:solidFill>
                  <a:srgbClr val="5B6675"/>
                </a:solidFill>
                <a:latin typeface="Cambria"/>
              </a:rPr>
              <a:t>i</a:t>
            </a:r>
            <a:r>
              <a:rPr sz="1350" b="0" i="0">
                <a:solidFill>
                  <a:srgbClr val="5B6675"/>
                </a:solidFill>
                <a:latin typeface="Calibri"/>
              </a:rPr>
              <a:t> binding is necessary against this attack. Not shown: that the other changes are unnecessary (</a:t>
            </a:r>
            <a:r>
              <a:rPr sz="1350" b="0" i="1">
                <a:solidFill>
                  <a:srgbClr val="5B6675"/>
                </a:solidFill>
                <a:latin typeface="Cambria"/>
              </a:rPr>
              <a:t>R</a:t>
            </a:r>
            <a:r>
              <a:rPr sz="1350" b="0" i="1" baseline="-25000">
                <a:solidFill>
                  <a:srgbClr val="5B6675"/>
                </a:solidFill>
                <a:latin typeface="Cambria"/>
              </a:rPr>
              <a:t>i</a:t>
            </a:r>
            <a:r>
              <a:rPr sz="1350" b="0" i="0">
                <a:solidFill>
                  <a:srgbClr val="5B6675"/>
                </a:solidFill>
                <a:latin typeface="Calibri"/>
              </a:rPr>
              <a:t> in </a:t>
            </a:r>
            <a:r>
              <a:rPr sz="1350" b="0" i="1">
                <a:solidFill>
                  <a:srgbClr val="5B6675"/>
                </a:solidFill>
                <a:latin typeface="Cambria"/>
              </a:rPr>
              <a:t>H</a:t>
            </a:r>
            <a:r>
              <a:rPr sz="1350" b="0" i="0" baseline="-25000">
                <a:solidFill>
                  <a:srgbClr val="5B6675"/>
                </a:solidFill>
                <a:latin typeface="Cambria"/>
              </a:rPr>
              <a:t>0</a:t>
            </a:r>
            <a:r>
              <a:rPr sz="1350" b="0" i="0">
                <a:solidFill>
                  <a:srgbClr val="5B6675"/>
                </a:solidFill>
                <a:latin typeface="Calibri"/>
              </a:rPr>
              <a:t> targets a different attack), or that the full scheme is secure.</a:t>
            </a:r>
          </a:p>
        </p:txBody>
      </p:sp>
      <p:sp>
        <p:nvSpPr>
          <p:cNvPr id="30" name="Rectangle 29"/>
          <p:cNvSpPr/>
          <p:nvPr/>
        </p:nvSpPr>
        <p:spPr>
          <a:xfrm>
            <a:off x="548640" y="5760720"/>
            <a:ext cx="82296" cy="566928"/>
          </a:xfrm>
          <a:prstGeom prst="rect">
            <a:avLst/>
          </a:prstGeom>
          <a:solidFill>
            <a:srgbClr val="1E7B4F"/>
          </a:solidFill>
          <a:ln>
            <a:noFill/>
          </a:ln>
          <a:effectLst/>
        </p:spPr>
        <p:txBody>
          <a:bodyPr rtlCol="0" anchor="ctr" wrap="square" lIns="73152" rIns="73152" tIns="36576" bIns="36576"/>
          <a:lstStyle/>
          <a:p>
            <a:pPr algn="ctr"/>
          </a:p>
        </p:txBody>
      </p:sp>
      <p:sp>
        <p:nvSpPr>
          <p:cNvPr id="31" name="TextBox 30"/>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800" b="1" i="0">
                <a:solidFill>
                  <a:srgbClr val="14202E"/>
                </a:solidFill>
                <a:latin typeface="Calibri"/>
              </a:rPr>
              <a:t>The ablation isolates the </a:t>
            </a:r>
            <a:r>
              <a:rPr sz="1800" b="1" i="1">
                <a:solidFill>
                  <a:srgbClr val="14202E"/>
                </a:solidFill>
                <a:latin typeface="Cambria"/>
              </a:rPr>
              <a:t>T</a:t>
            </a:r>
            <a:r>
              <a:rPr sz="1800" b="1" i="1" baseline="-25000">
                <a:solidFill>
                  <a:srgbClr val="14202E"/>
                </a:solidFill>
                <a:latin typeface="Cambria"/>
              </a:rPr>
              <a:t>i</a:t>
            </a:r>
            <a:r>
              <a:rPr sz="1800" b="1" i="0">
                <a:solidFill>
                  <a:srgbClr val="14202E"/>
                </a:solidFill>
                <a:latin typeface="Calibri"/>
              </a:rPr>
              <a:t> binding as the critical difference for blocking the reproduced rescaling attack.</a:t>
            </a:r>
          </a:p>
        </p:txBody>
      </p:sp>
      <p:sp>
        <p:nvSpPr>
          <p:cNvPr id="32" name="PresenterCue"/>
          <p:cNvSpPr/>
          <p:nvPr/>
        </p:nvSpPr>
        <p:spPr>
          <a:xfrm>
            <a:off x="8503920" y="1033271"/>
            <a:ext cx="3136392" cy="457200"/>
          </a:xfrm>
          <a:prstGeom prst="roundRect">
            <a:avLst>
              <a:gd name="adj" fmla="val 10000"/>
            </a:avLst>
          </a:prstGeom>
          <a:solidFill>
            <a:srgbClr val="FFF3B0"/>
          </a:solidFill>
          <a:ln w="12700">
            <a:solidFill>
              <a:srgbClr val="D9B93A"/>
            </a:solidFill>
          </a:ln>
          <a:effectLst/>
        </p:spPr>
        <p:txBody>
          <a:bodyPr rtlCol="0" anchor="ctr" wrap="square" tIns="36576" bIns="36576"/>
          <a:lstStyle/>
          <a:p>
            <a:pPr algn="l">
              <a:lnSpc>
                <a:spcPct val="92000"/>
              </a:lnSpc>
              <a:spcBef>
                <a:spcPts val="0"/>
              </a:spcBef>
              <a:spcAft>
                <a:spcPts val="0"/>
              </a:spcAft>
            </a:pPr>
            <a:r>
              <a:rPr sz="850" b="1" i="0">
                <a:solidFill>
                  <a:srgbClr val="8A6D00"/>
                </a:solidFill>
                <a:latin typeface="Calibri"/>
              </a:rPr>
              <a:t>PRESENTER CUE</a:t>
            </a:r>
          </a:p>
          <a:p>
            <a:pPr algn="l">
              <a:lnSpc>
                <a:spcPct val="92000"/>
              </a:lnSpc>
              <a:spcBef>
                <a:spcPts val="0"/>
              </a:spcBef>
              <a:spcAft>
                <a:spcPts val="0"/>
              </a:spcAft>
            </a:pPr>
            <a:r>
              <a:rPr sz="1250" b="0" i="0">
                <a:solidFill>
                  <a:srgbClr val="4A3B00"/>
                </a:solidFill>
                <a:latin typeface="Calibri"/>
              </a:rPr>
              <a:t>Only the </a:t>
            </a:r>
            <a:r>
              <a:rPr sz="1250" b="0" i="1">
                <a:solidFill>
                  <a:srgbClr val="4A3B00"/>
                </a:solidFill>
                <a:latin typeface="Cambria"/>
              </a:rPr>
              <a:t>T</a:t>
            </a:r>
            <a:r>
              <a:rPr sz="1250" b="0" i="1" baseline="-25000">
                <a:solidFill>
                  <a:srgbClr val="4A3B00"/>
                </a:solidFill>
                <a:latin typeface="Cambria"/>
              </a:rPr>
              <a:t>i</a:t>
            </a:r>
            <a:r>
              <a:rPr sz="1250" b="0" i="0">
                <a:solidFill>
                  <a:srgbClr val="4A3B00"/>
                </a:solidFill>
                <a:latin typeface="Calibri"/>
              </a:rPr>
              <a:t> binding is removed.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V · IMPLEMENTATION AND VALIDATION</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How we built it, and how we checked it</a:t>
            </a:r>
          </a:p>
        </p:txBody>
      </p:sp>
      <p:sp>
        <p:nvSpPr>
          <p:cNvPr id="4" name="Rounded Rectangle 3"/>
          <p:cNvSpPr/>
          <p:nvPr/>
        </p:nvSpPr>
        <p:spPr>
          <a:xfrm>
            <a:off x="10652760" y="274320"/>
            <a:ext cx="987551" cy="246888"/>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EXPERIMENT</a:t>
            </a:r>
          </a:p>
        </p:txBody>
      </p:sp>
      <p:sp>
        <p:nvSpPr>
          <p:cNvPr id="5" name="Rounded Rectangle 4"/>
          <p:cNvSpPr/>
          <p:nvPr/>
        </p:nvSpPr>
        <p:spPr>
          <a:xfrm>
            <a:off x="9255556" y="274320"/>
            <a:ext cx="1324051" cy="246888"/>
          </a:xfrm>
          <a:prstGeom prst="roundRect">
            <a:avLst>
              <a:gd name="adj" fmla="val 50000"/>
            </a:avLst>
          </a:prstGeom>
          <a:solidFill>
            <a:srgbClr val="7A6F63"/>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IMPLEMENTATION</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23 / 32</a:t>
            </a:r>
          </a:p>
        </p:txBody>
      </p:sp>
      <p:sp>
        <p:nvSpPr>
          <p:cNvPr id="9" name="TextBox 8"/>
          <p:cNvSpPr txBox="1"/>
          <p:nvPr/>
        </p:nvSpPr>
        <p:spPr>
          <a:xfrm>
            <a:off x="548640" y="1572768"/>
            <a:ext cx="676656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THE CODE, LAYER BY LAYER</a:t>
            </a:r>
          </a:p>
        </p:txBody>
      </p:sp>
      <p:sp>
        <p:nvSpPr>
          <p:cNvPr id="10" name="Rounded Rectangle 9"/>
          <p:cNvSpPr/>
          <p:nvPr/>
        </p:nvSpPr>
        <p:spPr>
          <a:xfrm>
            <a:off x="548640" y="1874519"/>
            <a:ext cx="1609344" cy="868680"/>
          </a:xfrm>
          <a:prstGeom prst="roundRect">
            <a:avLst>
              <a:gd name="adj" fmla="val 8421"/>
            </a:avLst>
          </a:prstGeom>
          <a:solidFill>
            <a:srgbClr val="E2F3EA"/>
          </a:solidFill>
          <a:ln w="19050">
            <a:solidFill>
              <a:srgbClr val="1E7B4F"/>
            </a:solidFill>
          </a:ln>
          <a:effectLst/>
        </p:spPr>
        <p:txBody>
          <a:bodyPr rtlCol="0" anchor="ctr" wrap="square" lIns="73152" rIns="73152" tIns="36576" bIns="36576"/>
          <a:lstStyle/>
          <a:p>
            <a:pPr algn="ctr">
              <a:spcBef>
                <a:spcPts val="0"/>
              </a:spcBef>
              <a:spcAft>
                <a:spcPts val="0"/>
              </a:spcAft>
            </a:pPr>
            <a:r>
              <a:rPr sz="1550" b="1" i="0">
                <a:solidFill>
                  <a:srgbClr val="14202E"/>
                </a:solidFill>
                <a:latin typeface="Calibri"/>
              </a:rPr>
              <a:t>scheme.py</a:t>
            </a:r>
          </a:p>
          <a:p>
            <a:pPr algn="ctr">
              <a:spcBef>
                <a:spcPts val="0"/>
              </a:spcBef>
              <a:spcAft>
                <a:spcPts val="0"/>
              </a:spcAft>
            </a:pPr>
            <a:r>
              <a:rPr sz="1200" b="0" i="0">
                <a:solidFill>
                  <a:srgbClr val="5B6675"/>
                </a:solidFill>
                <a:latin typeface="Calibri"/>
              </a:rPr>
              <a:t>six algorithms</a:t>
            </a:r>
          </a:p>
        </p:txBody>
      </p:sp>
      <p:sp>
        <p:nvSpPr>
          <p:cNvPr id="11" name="Rounded Rectangle 10"/>
          <p:cNvSpPr/>
          <p:nvPr/>
        </p:nvSpPr>
        <p:spPr>
          <a:xfrm>
            <a:off x="2267712" y="1874519"/>
            <a:ext cx="1609344" cy="868680"/>
          </a:xfrm>
          <a:prstGeom prst="roundRect">
            <a:avLst>
              <a:gd name="adj" fmla="val 8421"/>
            </a:avLst>
          </a:prstGeom>
          <a:solidFill>
            <a:srgbClr val="FFFFFF"/>
          </a:solidFill>
          <a:ln w="19050">
            <a:solidFill>
              <a:srgbClr val="D3D9E1"/>
            </a:solidFill>
          </a:ln>
          <a:effectLst/>
        </p:spPr>
        <p:txBody>
          <a:bodyPr rtlCol="0" anchor="ctr" wrap="square" lIns="73152" rIns="73152" tIns="36576" bIns="36576"/>
          <a:lstStyle/>
          <a:p>
            <a:pPr algn="ctr">
              <a:spcBef>
                <a:spcPts val="0"/>
              </a:spcBef>
              <a:spcAft>
                <a:spcPts val="0"/>
              </a:spcAft>
            </a:pPr>
            <a:r>
              <a:rPr sz="1550" b="1" i="0">
                <a:solidFill>
                  <a:srgbClr val="14202E"/>
                </a:solidFill>
                <a:latin typeface="Calibri"/>
              </a:rPr>
              <a:t>verma.py</a:t>
            </a:r>
          </a:p>
          <a:p>
            <a:pPr algn="ctr">
              <a:spcBef>
                <a:spcPts val="0"/>
              </a:spcBef>
              <a:spcAft>
                <a:spcPts val="0"/>
              </a:spcAft>
            </a:pPr>
            <a:r>
              <a:rPr sz="1200" b="0" i="0">
                <a:solidFill>
                  <a:srgbClr val="5B6675"/>
                </a:solidFill>
                <a:latin typeface="Calibri"/>
              </a:rPr>
              <a:t>CB-CAS, as reviewed</a:t>
            </a:r>
          </a:p>
        </p:txBody>
      </p:sp>
      <p:sp>
        <p:nvSpPr>
          <p:cNvPr id="12" name="Rounded Rectangle 11"/>
          <p:cNvSpPr/>
          <p:nvPr/>
        </p:nvSpPr>
        <p:spPr>
          <a:xfrm>
            <a:off x="3986783" y="1874519"/>
            <a:ext cx="1609344" cy="868680"/>
          </a:xfrm>
          <a:prstGeom prst="roundRect">
            <a:avLst>
              <a:gd name="adj" fmla="val 8421"/>
            </a:avLst>
          </a:prstGeom>
          <a:solidFill>
            <a:srgbClr val="FCE9E7"/>
          </a:solidFill>
          <a:ln w="19050">
            <a:solidFill>
              <a:srgbClr val="B3261E"/>
            </a:solidFill>
          </a:ln>
          <a:effectLst/>
        </p:spPr>
        <p:txBody>
          <a:bodyPr rtlCol="0" anchor="ctr" wrap="square" lIns="73152" rIns="73152" tIns="36576" bIns="36576"/>
          <a:lstStyle/>
          <a:p>
            <a:pPr algn="ctr">
              <a:spcBef>
                <a:spcPts val="0"/>
              </a:spcBef>
              <a:spcAft>
                <a:spcPts val="0"/>
              </a:spcAft>
            </a:pPr>
            <a:r>
              <a:rPr sz="1550" b="1" i="0">
                <a:solidFill>
                  <a:srgbClr val="14202E"/>
                </a:solidFill>
                <a:latin typeface="Calibri"/>
              </a:rPr>
              <a:t>attack.py</a:t>
            </a:r>
          </a:p>
          <a:p>
            <a:pPr algn="ctr">
              <a:spcBef>
                <a:spcPts val="0"/>
              </a:spcBef>
              <a:spcAft>
                <a:spcPts val="0"/>
              </a:spcAft>
            </a:pPr>
            <a:r>
              <a:rPr sz="1200" b="0" i="0">
                <a:solidFill>
                  <a:srgbClr val="5B6675"/>
                </a:solidFill>
                <a:latin typeface="Calibri"/>
              </a:rPr>
              <a:t>forgery and failed attempt</a:t>
            </a:r>
          </a:p>
        </p:txBody>
      </p:sp>
      <p:sp>
        <p:nvSpPr>
          <p:cNvPr id="13" name="Rounded Rectangle 12"/>
          <p:cNvSpPr/>
          <p:nvPr/>
        </p:nvSpPr>
        <p:spPr>
          <a:xfrm>
            <a:off x="5705855" y="1874519"/>
            <a:ext cx="1609344" cy="868680"/>
          </a:xfrm>
          <a:prstGeom prst="roundRect">
            <a:avLst>
              <a:gd name="adj" fmla="val 8421"/>
            </a:avLst>
          </a:prstGeom>
          <a:solidFill>
            <a:srgbClr val="FCE9E7"/>
          </a:solidFill>
          <a:ln w="19050">
            <a:solidFill>
              <a:srgbClr val="B3261E"/>
            </a:solidFill>
            <a:prstDash val="dash"/>
          </a:ln>
          <a:effectLst/>
        </p:spPr>
        <p:txBody>
          <a:bodyPr rtlCol="0" anchor="ctr" wrap="square" lIns="73152" rIns="73152" tIns="36576" bIns="36576"/>
          <a:lstStyle/>
          <a:p>
            <a:pPr algn="ctr">
              <a:spcBef>
                <a:spcPts val="0"/>
              </a:spcBef>
              <a:spcAft>
                <a:spcPts val="0"/>
              </a:spcAft>
            </a:pPr>
            <a:r>
              <a:rPr sz="1550" b="1" i="0">
                <a:solidFill>
                  <a:srgbClr val="14202E"/>
                </a:solidFill>
                <a:latin typeface="Calibri"/>
              </a:rPr>
              <a:t>ablation.py</a:t>
            </a:r>
          </a:p>
          <a:p>
            <a:pPr algn="ctr">
              <a:spcBef>
                <a:spcPts val="0"/>
              </a:spcBef>
              <a:spcAft>
                <a:spcPts val="0"/>
              </a:spcAft>
            </a:pPr>
            <a:r>
              <a:rPr sz="1200" b="0" i="1">
                <a:solidFill>
                  <a:srgbClr val="5B6675"/>
                </a:solidFill>
                <a:latin typeface="Cambria"/>
              </a:rPr>
              <a:t>T</a:t>
            </a:r>
            <a:r>
              <a:rPr sz="1200" b="0" i="1" baseline="-25000">
                <a:solidFill>
                  <a:srgbClr val="5B6675"/>
                </a:solidFill>
                <a:latin typeface="Cambria"/>
              </a:rPr>
              <a:t>i</a:t>
            </a:r>
            <a:r>
              <a:rPr sz="1200" b="0" i="0">
                <a:solidFill>
                  <a:srgbClr val="5B6675"/>
                </a:solidFill>
                <a:latin typeface="Calibri"/>
              </a:rPr>
              <a:t> unbound</a:t>
            </a:r>
          </a:p>
        </p:txBody>
      </p:sp>
      <p:cxnSp>
        <p:nvCxnSpPr>
          <p:cNvPr id="14" name="Connector 13"/>
          <p:cNvCxnSpPr/>
          <p:nvPr/>
        </p:nvCxnSpPr>
        <p:spPr>
          <a:xfrm>
            <a:off x="3931920" y="2743200"/>
            <a:ext cx="0" cy="182880"/>
          </a:xfrm>
          <a:prstGeom prst="line">
            <a:avLst/>
          </a:prstGeom>
          <a:ln w="22225">
            <a:solidFill>
              <a:srgbClr val="5B6675"/>
            </a:solidFill>
            <a:tailEnd type="triangle" w="med" len="med"/>
          </a:ln>
        </p:spPr>
      </p:cxnSp>
      <p:sp>
        <p:nvSpPr>
          <p:cNvPr id="15" name="Rounded Rectangle 14"/>
          <p:cNvSpPr/>
          <p:nvPr/>
        </p:nvSpPr>
        <p:spPr>
          <a:xfrm>
            <a:off x="548640" y="2926080"/>
            <a:ext cx="6766560" cy="731520"/>
          </a:xfrm>
          <a:prstGeom prst="roundRect">
            <a:avLst>
              <a:gd name="adj" fmla="val 10000"/>
            </a:avLst>
          </a:prstGeom>
          <a:solidFill>
            <a:srgbClr val="F2F5F8"/>
          </a:solidFill>
          <a:ln w="15875">
            <a:solidFill>
              <a:srgbClr val="D3D9E1"/>
            </a:solidFill>
          </a:ln>
          <a:effectLst/>
        </p:spPr>
        <p:txBody>
          <a:bodyPr rtlCol="0" anchor="ctr" wrap="square" lIns="73152" rIns="73152" tIns="36576" bIns="36576"/>
          <a:lstStyle/>
          <a:p>
            <a:pPr algn="ctr">
              <a:spcBef>
                <a:spcPts val="0"/>
              </a:spcBef>
              <a:spcAft>
                <a:spcPts val="0"/>
              </a:spcAft>
            </a:pPr>
            <a:r>
              <a:rPr sz="1500" b="1" i="0">
                <a:solidFill>
                  <a:srgbClr val="14202E"/>
                </a:solidFill>
                <a:latin typeface="Calibri"/>
              </a:rPr>
              <a:t>hashing.py and encoding.py</a:t>
            </a:r>
          </a:p>
          <a:p>
            <a:pPr algn="ctr">
              <a:spcBef>
                <a:spcPts val="0"/>
              </a:spcBef>
              <a:spcAft>
                <a:spcPts val="0"/>
              </a:spcAft>
            </a:pPr>
            <a:r>
              <a:rPr sz="1250" b="0" i="0">
                <a:solidFill>
                  <a:srgbClr val="5B6675"/>
                </a:solidFill>
                <a:latin typeface="Calibri"/>
              </a:rPr>
              <a:t>SHA-512 reduced mod </a:t>
            </a:r>
            <a:r>
              <a:rPr sz="1250" b="0" i="1">
                <a:solidFill>
                  <a:srgbClr val="5B6675"/>
                </a:solidFill>
                <a:latin typeface="Cambria"/>
              </a:rPr>
              <a:t>p</a:t>
            </a:r>
            <a:r>
              <a:rPr sz="1250" b="0" i="0">
                <a:solidFill>
                  <a:srgbClr val="5B6675"/>
                </a:solidFill>
                <a:latin typeface="Calibri"/>
              </a:rPr>
              <a:t> · separate labels for </a:t>
            </a:r>
            <a:r>
              <a:rPr sz="1250" b="0" i="1">
                <a:solidFill>
                  <a:srgbClr val="5B6675"/>
                </a:solidFill>
                <a:latin typeface="Cambria"/>
              </a:rPr>
              <a:t>H</a:t>
            </a:r>
            <a:r>
              <a:rPr sz="1250" b="0" i="0" baseline="-25000">
                <a:solidFill>
                  <a:srgbClr val="5B6675"/>
                </a:solidFill>
                <a:latin typeface="Cambria"/>
              </a:rPr>
              <a:t>0</a:t>
            </a:r>
            <a:r>
              <a:rPr sz="1250" b="0" i="0">
                <a:solidFill>
                  <a:srgbClr val="5B6675"/>
                </a:solidFill>
                <a:latin typeface="Cambria"/>
              </a:rPr>
              <a:t>, </a:t>
            </a:r>
            <a:r>
              <a:rPr sz="1250" b="0" i="1">
                <a:solidFill>
                  <a:srgbClr val="5B6675"/>
                </a:solidFill>
                <a:latin typeface="Cambria"/>
              </a:rPr>
              <a:t>H</a:t>
            </a:r>
            <a:r>
              <a:rPr sz="1250" b="0" i="0" baseline="-25000">
                <a:solidFill>
                  <a:srgbClr val="5B6675"/>
                </a:solidFill>
                <a:latin typeface="Cambria"/>
              </a:rPr>
              <a:t>1</a:t>
            </a:r>
            <a:r>
              <a:rPr sz="1250" b="0" i="0">
                <a:solidFill>
                  <a:srgbClr val="5B6675"/>
                </a:solidFill>
                <a:latin typeface="Cambria"/>
              </a:rPr>
              <a:t>, </a:t>
            </a:r>
            <a:r>
              <a:rPr sz="1250" b="0" i="1">
                <a:solidFill>
                  <a:srgbClr val="5B6675"/>
                </a:solidFill>
                <a:latin typeface="Cambria"/>
              </a:rPr>
              <a:t>H</a:t>
            </a:r>
            <a:r>
              <a:rPr sz="1250" b="0" i="0" baseline="-25000">
                <a:solidFill>
                  <a:srgbClr val="5B6675"/>
                </a:solidFill>
                <a:latin typeface="Cambria"/>
              </a:rPr>
              <a:t>2</a:t>
            </a:r>
            <a:r>
              <a:rPr sz="1250" b="0" i="0">
                <a:solidFill>
                  <a:srgbClr val="5B6675"/>
                </a:solidFill>
                <a:latin typeface="Calibri"/>
              </a:rPr>
              <a:t> · length-prefixed fields</a:t>
            </a:r>
          </a:p>
        </p:txBody>
      </p:sp>
      <p:cxnSp>
        <p:nvCxnSpPr>
          <p:cNvPr id="16" name="Connector 15"/>
          <p:cNvCxnSpPr/>
          <p:nvPr/>
        </p:nvCxnSpPr>
        <p:spPr>
          <a:xfrm>
            <a:off x="3931920" y="3657600"/>
            <a:ext cx="0" cy="182880"/>
          </a:xfrm>
          <a:prstGeom prst="line">
            <a:avLst/>
          </a:prstGeom>
          <a:ln w="22225">
            <a:solidFill>
              <a:srgbClr val="5B6675"/>
            </a:solidFill>
            <a:tailEnd type="triangle" w="med" len="med"/>
          </a:ln>
        </p:spPr>
      </p:cxnSp>
      <p:sp>
        <p:nvSpPr>
          <p:cNvPr id="17" name="Rounded Rectangle 16"/>
          <p:cNvSpPr/>
          <p:nvPr/>
        </p:nvSpPr>
        <p:spPr>
          <a:xfrm>
            <a:off x="548640" y="3840480"/>
            <a:ext cx="6766560" cy="731520"/>
          </a:xfrm>
          <a:prstGeom prst="roundRect">
            <a:avLst>
              <a:gd name="adj" fmla="val 10000"/>
            </a:avLst>
          </a:prstGeom>
          <a:solidFill>
            <a:srgbClr val="F2F5F8"/>
          </a:solidFill>
          <a:ln w="15875">
            <a:solidFill>
              <a:srgbClr val="D3D9E1"/>
            </a:solidFill>
          </a:ln>
          <a:effectLst/>
        </p:spPr>
        <p:txBody>
          <a:bodyPr rtlCol="0" anchor="ctr" wrap="square" lIns="73152" rIns="73152" tIns="36576" bIns="36576"/>
          <a:lstStyle/>
          <a:p>
            <a:pPr algn="ctr">
              <a:spcBef>
                <a:spcPts val="0"/>
              </a:spcBef>
              <a:spcAft>
                <a:spcPts val="0"/>
              </a:spcAft>
            </a:pPr>
            <a:r>
              <a:rPr sz="1500" b="1" i="0">
                <a:solidFill>
                  <a:srgbClr val="14202E"/>
                </a:solidFill>
                <a:latin typeface="Calibri"/>
              </a:rPr>
              <a:t>one backend interface</a:t>
            </a:r>
          </a:p>
          <a:p>
            <a:pPr algn="ctr">
              <a:spcBef>
                <a:spcPts val="0"/>
              </a:spcBef>
              <a:spcAft>
                <a:spcPts val="0"/>
              </a:spcAft>
            </a:pPr>
            <a:r>
              <a:rPr sz="1250" b="0" i="0">
                <a:solidFill>
                  <a:srgbClr val="5B6675"/>
                </a:solidFill>
                <a:latin typeface="Calibri"/>
              </a:rPr>
              <a:t>every group operation and hash passes through it, so </a:t>
            </a:r>
            <a:r>
              <a:rPr sz="1250" b="0" i="1">
                <a:solidFill>
                  <a:srgbClr val="5B6675"/>
                </a:solidFill>
                <a:latin typeface="Cambria"/>
              </a:rPr>
              <a:t>T</a:t>
            </a:r>
            <a:r>
              <a:rPr sz="1250" b="0" i="1" baseline="-25000">
                <a:solidFill>
                  <a:srgbClr val="5B6675"/>
                </a:solidFill>
                <a:latin typeface="Cambria"/>
              </a:rPr>
              <a:t>e</a:t>
            </a:r>
            <a:r>
              <a:rPr sz="1250" b="0" i="0">
                <a:solidFill>
                  <a:srgbClr val="5B6675"/>
                </a:solidFill>
                <a:latin typeface="Cambria"/>
              </a:rPr>
              <a:t>, </a:t>
            </a:r>
            <a:r>
              <a:rPr sz="1250" b="0" i="1">
                <a:solidFill>
                  <a:srgbClr val="5B6675"/>
                </a:solidFill>
                <a:latin typeface="Cambria"/>
              </a:rPr>
              <a:t>T</a:t>
            </a:r>
            <a:r>
              <a:rPr sz="1250" b="0" i="1" baseline="-25000">
                <a:solidFill>
                  <a:srgbClr val="5B6675"/>
                </a:solidFill>
                <a:latin typeface="Cambria"/>
              </a:rPr>
              <a:t>a</a:t>
            </a:r>
            <a:r>
              <a:rPr sz="1250" b="0" i="0">
                <a:solidFill>
                  <a:srgbClr val="5B6675"/>
                </a:solidFill>
                <a:latin typeface="Cambria"/>
              </a:rPr>
              <a:t>, </a:t>
            </a:r>
            <a:r>
              <a:rPr sz="1250" b="0" i="1">
                <a:solidFill>
                  <a:srgbClr val="5B6675"/>
                </a:solidFill>
                <a:latin typeface="Cambria"/>
              </a:rPr>
              <a:t>T</a:t>
            </a:r>
            <a:r>
              <a:rPr sz="1250" b="0" i="1" baseline="-25000">
                <a:solidFill>
                  <a:srgbClr val="5B6675"/>
                </a:solidFill>
                <a:latin typeface="Cambria"/>
              </a:rPr>
              <a:t>h</a:t>
            </a:r>
            <a:r>
              <a:rPr sz="1250" b="0" i="0">
                <a:solidFill>
                  <a:srgbClr val="5B6675"/>
                </a:solidFill>
                <a:latin typeface="Calibri"/>
              </a:rPr>
              <a:t> can be counted</a:t>
            </a:r>
          </a:p>
        </p:txBody>
      </p:sp>
      <p:cxnSp>
        <p:nvCxnSpPr>
          <p:cNvPr id="18" name="Connector 17"/>
          <p:cNvCxnSpPr/>
          <p:nvPr/>
        </p:nvCxnSpPr>
        <p:spPr>
          <a:xfrm>
            <a:off x="2103120" y="4572000"/>
            <a:ext cx="0" cy="182880"/>
          </a:xfrm>
          <a:prstGeom prst="line">
            <a:avLst/>
          </a:prstGeom>
          <a:ln w="22225">
            <a:solidFill>
              <a:srgbClr val="5B6675"/>
            </a:solidFill>
            <a:tailEnd type="triangle" w="med" len="med"/>
          </a:ln>
        </p:spPr>
      </p:cxnSp>
      <p:cxnSp>
        <p:nvCxnSpPr>
          <p:cNvPr id="19" name="Connector 18"/>
          <p:cNvCxnSpPr/>
          <p:nvPr/>
        </p:nvCxnSpPr>
        <p:spPr>
          <a:xfrm>
            <a:off x="5760720" y="4572000"/>
            <a:ext cx="0" cy="182880"/>
          </a:xfrm>
          <a:prstGeom prst="line">
            <a:avLst/>
          </a:prstGeom>
          <a:ln w="22225">
            <a:solidFill>
              <a:srgbClr val="5B6675"/>
            </a:solidFill>
            <a:tailEnd type="triangle" w="med" len="med"/>
          </a:ln>
        </p:spPr>
      </p:cxnSp>
      <p:sp>
        <p:nvSpPr>
          <p:cNvPr id="20" name="Rounded Rectangle 19"/>
          <p:cNvSpPr/>
          <p:nvPr/>
        </p:nvSpPr>
        <p:spPr>
          <a:xfrm>
            <a:off x="548640" y="4754880"/>
            <a:ext cx="3291840" cy="777240"/>
          </a:xfrm>
          <a:prstGeom prst="roundRect">
            <a:avLst>
              <a:gd name="adj" fmla="val 9411"/>
            </a:avLst>
          </a:prstGeom>
          <a:solidFill>
            <a:srgbClr val="FFFFFF"/>
          </a:solidFill>
          <a:ln w="19050">
            <a:solidFill>
              <a:srgbClr val="14202E"/>
            </a:solidFill>
          </a:ln>
          <a:effectLst/>
        </p:spPr>
        <p:txBody>
          <a:bodyPr rtlCol="0" anchor="ctr" wrap="square" lIns="73152" rIns="73152" tIns="36576" bIns="36576"/>
          <a:lstStyle/>
          <a:p>
            <a:pPr algn="ctr">
              <a:spcBef>
                <a:spcPts val="0"/>
              </a:spcBef>
              <a:spcAft>
                <a:spcPts val="0"/>
              </a:spcAft>
            </a:pPr>
            <a:r>
              <a:rPr sz="1550" b="1" i="0">
                <a:solidFill>
                  <a:srgbClr val="14202E"/>
                </a:solidFill>
                <a:latin typeface="Calibri"/>
              </a:rPr>
              <a:t>Ristretto255</a:t>
            </a:r>
          </a:p>
          <a:p>
            <a:pPr algn="ctr">
              <a:spcBef>
                <a:spcPts val="0"/>
              </a:spcBef>
              <a:spcAft>
                <a:spcPts val="0"/>
              </a:spcAft>
            </a:pPr>
            <a:r>
              <a:rPr sz="1250" b="0" i="0">
                <a:solidFill>
                  <a:srgbClr val="5B6675"/>
                </a:solidFill>
                <a:latin typeface="Calibri"/>
              </a:rPr>
              <a:t>via libsodium</a:t>
            </a:r>
          </a:p>
        </p:txBody>
      </p:sp>
      <p:sp>
        <p:nvSpPr>
          <p:cNvPr id="21" name="Rounded Rectangle 20"/>
          <p:cNvSpPr/>
          <p:nvPr/>
        </p:nvSpPr>
        <p:spPr>
          <a:xfrm>
            <a:off x="4023360" y="4754880"/>
            <a:ext cx="3291840" cy="777240"/>
          </a:xfrm>
          <a:prstGeom prst="roundRect">
            <a:avLst>
              <a:gd name="adj" fmla="val 9411"/>
            </a:avLst>
          </a:prstGeom>
          <a:solidFill>
            <a:srgbClr val="FFFFFF"/>
          </a:solidFill>
          <a:ln w="19050">
            <a:solidFill>
              <a:srgbClr val="14202E"/>
            </a:solidFill>
          </a:ln>
          <a:effectLst/>
        </p:spPr>
        <p:txBody>
          <a:bodyPr rtlCol="0" anchor="ctr" wrap="square" lIns="73152" rIns="73152" tIns="36576" bIns="36576"/>
          <a:lstStyle/>
          <a:p>
            <a:pPr algn="ctr">
              <a:spcBef>
                <a:spcPts val="0"/>
              </a:spcBef>
              <a:spcAft>
                <a:spcPts val="0"/>
              </a:spcAft>
            </a:pPr>
            <a:r>
              <a:rPr sz="1550" b="1" i="0">
                <a:solidFill>
                  <a:srgbClr val="14202E"/>
                </a:solidFill>
                <a:latin typeface="Calibri"/>
              </a:rPr>
              <a:t>NIST P-256</a:t>
            </a:r>
          </a:p>
          <a:p>
            <a:pPr algn="ctr">
              <a:spcBef>
                <a:spcPts val="0"/>
              </a:spcBef>
              <a:spcAft>
                <a:spcPts val="0"/>
              </a:spcAft>
            </a:pPr>
            <a:r>
              <a:rPr sz="1250" b="0" i="0">
                <a:solidFill>
                  <a:srgbClr val="5B6675"/>
                </a:solidFill>
                <a:latin typeface="Calibri"/>
              </a:rPr>
              <a:t>via OpenSSL</a:t>
            </a:r>
          </a:p>
        </p:txBody>
      </p:sp>
      <p:sp>
        <p:nvSpPr>
          <p:cNvPr id="22" name="Rounded Rectangle 21"/>
          <p:cNvSpPr/>
          <p:nvPr/>
        </p:nvSpPr>
        <p:spPr>
          <a:xfrm>
            <a:off x="7680960" y="1645920"/>
            <a:ext cx="3959352" cy="1188720"/>
          </a:xfrm>
          <a:prstGeom prst="roundRect">
            <a:avLst>
              <a:gd name="adj" fmla="val 7692"/>
            </a:avLst>
          </a:prstGeom>
          <a:solidFill>
            <a:srgbClr val="FFFFFF"/>
          </a:solidFill>
          <a:ln w="15875">
            <a:solidFill>
              <a:srgbClr val="D3D9E1"/>
            </a:solidFill>
          </a:ln>
          <a:effectLst/>
        </p:spPr>
        <p:txBody>
          <a:bodyPr rtlCol="0" anchor="ctr" wrap="square" lIns="73152" rIns="73152" tIns="36576" bIns="36576"/>
          <a:lstStyle/>
          <a:p>
            <a:pPr algn="ctr"/>
          </a:p>
        </p:txBody>
      </p:sp>
      <p:sp>
        <p:nvSpPr>
          <p:cNvPr id="23" name="TextBox 22"/>
          <p:cNvSpPr txBox="1"/>
          <p:nvPr/>
        </p:nvSpPr>
        <p:spPr>
          <a:xfrm>
            <a:off x="7863840" y="1645920"/>
            <a:ext cx="1280160" cy="1188720"/>
          </a:xfrm>
          <a:prstGeom prst="rect">
            <a:avLst/>
          </a:prstGeom>
          <a:noFill/>
        </p:spPr>
        <p:txBody>
          <a:bodyPr wrap="square" lIns="0" rIns="0" tIns="0" bIns="0" anchor="ctr">
            <a:spAutoFit/>
          </a:bodyPr>
          <a:lstStyle/>
          <a:p>
            <a:pPr algn="ctr">
              <a:spcBef>
                <a:spcPts val="0"/>
              </a:spcBef>
              <a:spcAft>
                <a:spcPts val="0"/>
              </a:spcAft>
            </a:pPr>
            <a:r>
              <a:rPr sz="3600" b="1" i="0">
                <a:solidFill>
                  <a:srgbClr val="14202E"/>
                </a:solidFill>
                <a:latin typeface="Cambria"/>
              </a:rPr>
              <a:t>62</a:t>
            </a:r>
          </a:p>
        </p:txBody>
      </p:sp>
      <p:sp>
        <p:nvSpPr>
          <p:cNvPr id="24" name="TextBox 23"/>
          <p:cNvSpPr txBox="1"/>
          <p:nvPr/>
        </p:nvSpPr>
        <p:spPr>
          <a:xfrm>
            <a:off x="9189720" y="1645920"/>
            <a:ext cx="2331720" cy="1188720"/>
          </a:xfrm>
          <a:prstGeom prst="rect">
            <a:avLst/>
          </a:prstGeom>
          <a:noFill/>
        </p:spPr>
        <p:txBody>
          <a:bodyPr wrap="square" lIns="0" rIns="0" tIns="0" bIns="0" anchor="ctr">
            <a:spAutoFit/>
          </a:bodyPr>
          <a:lstStyle/>
          <a:p>
            <a:pPr algn="l">
              <a:lnSpc>
                <a:spcPct val="95000"/>
              </a:lnSpc>
              <a:spcBef>
                <a:spcPts val="0"/>
              </a:spcBef>
              <a:spcAft>
                <a:spcPts val="0"/>
              </a:spcAft>
            </a:pPr>
            <a:r>
              <a:rPr sz="1450" b="0" i="0">
                <a:solidFill>
                  <a:srgbClr val="14202E"/>
                </a:solidFill>
                <a:latin typeface="Calibri"/>
              </a:rPr>
              <a:t>self-test checks, 31 per backend</a:t>
            </a:r>
          </a:p>
        </p:txBody>
      </p:sp>
      <p:sp>
        <p:nvSpPr>
          <p:cNvPr id="25" name="Rounded Rectangle 24"/>
          <p:cNvSpPr/>
          <p:nvPr/>
        </p:nvSpPr>
        <p:spPr>
          <a:xfrm>
            <a:off x="7680960" y="3017520"/>
            <a:ext cx="3959352" cy="1188720"/>
          </a:xfrm>
          <a:prstGeom prst="roundRect">
            <a:avLst>
              <a:gd name="adj" fmla="val 7692"/>
            </a:avLst>
          </a:prstGeom>
          <a:solidFill>
            <a:srgbClr val="FFFFFF"/>
          </a:solidFill>
          <a:ln w="15875">
            <a:solidFill>
              <a:srgbClr val="D3D9E1"/>
            </a:solidFill>
          </a:ln>
          <a:effectLst/>
        </p:spPr>
        <p:txBody>
          <a:bodyPr rtlCol="0" anchor="ctr" wrap="square" lIns="73152" rIns="73152" tIns="36576" bIns="36576"/>
          <a:lstStyle/>
          <a:p>
            <a:pPr algn="ctr"/>
          </a:p>
        </p:txBody>
      </p:sp>
      <p:sp>
        <p:nvSpPr>
          <p:cNvPr id="26" name="TextBox 25"/>
          <p:cNvSpPr txBox="1"/>
          <p:nvPr/>
        </p:nvSpPr>
        <p:spPr>
          <a:xfrm>
            <a:off x="7863840" y="3017520"/>
            <a:ext cx="1280160" cy="1188720"/>
          </a:xfrm>
          <a:prstGeom prst="rect">
            <a:avLst/>
          </a:prstGeom>
          <a:noFill/>
        </p:spPr>
        <p:txBody>
          <a:bodyPr wrap="square" lIns="0" rIns="0" tIns="0" bIns="0" anchor="ctr">
            <a:spAutoFit/>
          </a:bodyPr>
          <a:lstStyle/>
          <a:p>
            <a:pPr algn="ctr">
              <a:spcBef>
                <a:spcPts val="0"/>
              </a:spcBef>
              <a:spcAft>
                <a:spcPts val="0"/>
              </a:spcAft>
            </a:pPr>
            <a:r>
              <a:rPr sz="3600" b="1" i="0">
                <a:solidFill>
                  <a:srgbClr val="14202E"/>
                </a:solidFill>
                <a:latin typeface="Cambria"/>
              </a:rPr>
              <a:t>221</a:t>
            </a:r>
          </a:p>
        </p:txBody>
      </p:sp>
      <p:sp>
        <p:nvSpPr>
          <p:cNvPr id="27" name="TextBox 26"/>
          <p:cNvSpPr txBox="1"/>
          <p:nvPr/>
        </p:nvSpPr>
        <p:spPr>
          <a:xfrm>
            <a:off x="9189720" y="3017520"/>
            <a:ext cx="2331720" cy="1188720"/>
          </a:xfrm>
          <a:prstGeom prst="rect">
            <a:avLst/>
          </a:prstGeom>
          <a:noFill/>
        </p:spPr>
        <p:txBody>
          <a:bodyPr wrap="square" lIns="0" rIns="0" tIns="0" bIns="0" anchor="ctr">
            <a:spAutoFit/>
          </a:bodyPr>
          <a:lstStyle/>
          <a:p>
            <a:pPr algn="l">
              <a:lnSpc>
                <a:spcPct val="95000"/>
              </a:lnSpc>
              <a:spcBef>
                <a:spcPts val="0"/>
              </a:spcBef>
              <a:spcAft>
                <a:spcPts val="0"/>
              </a:spcAft>
            </a:pPr>
            <a:r>
              <a:rPr sz="1450" b="0" i="0">
                <a:solidFill>
                  <a:srgbClr val="14202E"/>
                </a:solidFill>
                <a:latin typeface="Calibri"/>
              </a:rPr>
              <a:t>tests: 101 × 2 backends + 19</a:t>
            </a:r>
          </a:p>
        </p:txBody>
      </p:sp>
      <p:sp>
        <p:nvSpPr>
          <p:cNvPr id="28" name="Rounded Rectangle 27"/>
          <p:cNvSpPr/>
          <p:nvPr/>
        </p:nvSpPr>
        <p:spPr>
          <a:xfrm>
            <a:off x="7680960" y="4389120"/>
            <a:ext cx="3959352" cy="1188720"/>
          </a:xfrm>
          <a:prstGeom prst="roundRect">
            <a:avLst>
              <a:gd name="adj" fmla="val 7692"/>
            </a:avLst>
          </a:prstGeom>
          <a:solidFill>
            <a:srgbClr val="FFFFFF"/>
          </a:solidFill>
          <a:ln w="15875">
            <a:solidFill>
              <a:srgbClr val="D3D9E1"/>
            </a:solidFill>
          </a:ln>
          <a:effectLst/>
        </p:spPr>
        <p:txBody>
          <a:bodyPr rtlCol="0" anchor="ctr" wrap="square" lIns="73152" rIns="73152" tIns="36576" bIns="36576"/>
          <a:lstStyle/>
          <a:p>
            <a:pPr algn="ctr"/>
          </a:p>
        </p:txBody>
      </p:sp>
      <p:sp>
        <p:nvSpPr>
          <p:cNvPr id="29" name="TextBox 28"/>
          <p:cNvSpPr txBox="1"/>
          <p:nvPr/>
        </p:nvSpPr>
        <p:spPr>
          <a:xfrm>
            <a:off x="7863840" y="4389120"/>
            <a:ext cx="1280160" cy="1188720"/>
          </a:xfrm>
          <a:prstGeom prst="rect">
            <a:avLst/>
          </a:prstGeom>
          <a:noFill/>
        </p:spPr>
        <p:txBody>
          <a:bodyPr wrap="square" lIns="0" rIns="0" tIns="0" bIns="0" anchor="ctr">
            <a:spAutoFit/>
          </a:bodyPr>
          <a:lstStyle/>
          <a:p>
            <a:pPr algn="ctr">
              <a:spcBef>
                <a:spcPts val="0"/>
              </a:spcBef>
              <a:spcAft>
                <a:spcPts val="0"/>
              </a:spcAft>
            </a:pPr>
            <a:r>
              <a:rPr sz="3600" b="1" i="0">
                <a:solidFill>
                  <a:srgbClr val="14202E"/>
                </a:solidFill>
                <a:latin typeface="Cambria"/>
              </a:rPr>
              <a:t>=</a:t>
            </a:r>
          </a:p>
        </p:txBody>
      </p:sp>
      <p:sp>
        <p:nvSpPr>
          <p:cNvPr id="30" name="TextBox 29"/>
          <p:cNvSpPr txBox="1"/>
          <p:nvPr/>
        </p:nvSpPr>
        <p:spPr>
          <a:xfrm>
            <a:off x="9189720" y="4389120"/>
            <a:ext cx="2331720" cy="1188720"/>
          </a:xfrm>
          <a:prstGeom prst="rect">
            <a:avLst/>
          </a:prstGeom>
          <a:noFill/>
        </p:spPr>
        <p:txBody>
          <a:bodyPr wrap="square" lIns="0" rIns="0" tIns="0" bIns="0" anchor="ctr">
            <a:spAutoFit/>
          </a:bodyPr>
          <a:lstStyle/>
          <a:p>
            <a:pPr algn="l">
              <a:lnSpc>
                <a:spcPct val="95000"/>
              </a:lnSpc>
              <a:spcBef>
                <a:spcPts val="0"/>
              </a:spcBef>
              <a:spcAft>
                <a:spcPts val="0"/>
              </a:spcAft>
            </a:pPr>
            <a:r>
              <a:rPr sz="1450" b="0" i="0">
                <a:solidFill>
                  <a:srgbClr val="14202E"/>
                </a:solidFill>
                <a:latin typeface="Calibri"/>
              </a:rPr>
              <a:t>identical operation counts and accept/reject outcomes on both backends</a:t>
            </a:r>
          </a:p>
        </p:txBody>
      </p:sp>
      <p:sp>
        <p:nvSpPr>
          <p:cNvPr id="31" name="Rectangle 30"/>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32" name="TextBox 31"/>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800" b="1" i="0">
                <a:solidFill>
                  <a:srgbClr val="14202E"/>
                </a:solidFill>
                <a:latin typeface="Calibri"/>
              </a:rPr>
              <a:t>Every result in this talk comes from code that passes the same checks on two independent group implementations.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VI · THE PERFORMANCE CLAIM</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The paper's claim: security at no extra cost</a:t>
            </a:r>
          </a:p>
        </p:txBody>
      </p:sp>
      <p:sp>
        <p:nvSpPr>
          <p:cNvPr id="4" name="Rounded Rectangle 3"/>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24 / 32</a:t>
            </a:r>
          </a:p>
        </p:txBody>
      </p:sp>
      <p:sp>
        <p:nvSpPr>
          <p:cNvPr id="8" name="Rectangle 7"/>
          <p:cNvSpPr/>
          <p:nvPr/>
        </p:nvSpPr>
        <p:spPr>
          <a:xfrm>
            <a:off x="548640" y="1554480"/>
            <a:ext cx="10332720" cy="457200"/>
          </a:xfrm>
          <a:prstGeom prst="rect">
            <a:avLst/>
          </a:prstGeom>
          <a:solidFill>
            <a:srgbClr val="F2F5F8"/>
          </a:solidFill>
          <a:ln>
            <a:noFill/>
          </a:ln>
          <a:effectLst/>
        </p:spPr>
        <p:txBody>
          <a:bodyPr rtlCol="0" anchor="ctr" wrap="square" lIns="73152" rIns="73152" tIns="36576" bIns="36576"/>
          <a:lstStyle/>
          <a:p>
            <a:pPr algn="ctr"/>
          </a:p>
        </p:txBody>
      </p:sp>
      <p:sp>
        <p:nvSpPr>
          <p:cNvPr id="9" name="TextBox 8"/>
          <p:cNvSpPr txBox="1"/>
          <p:nvPr/>
        </p:nvSpPr>
        <p:spPr>
          <a:xfrm>
            <a:off x="640080" y="1554480"/>
            <a:ext cx="2286000" cy="457200"/>
          </a:xfrm>
          <a:prstGeom prst="rect">
            <a:avLst/>
          </a:prstGeom>
          <a:noFill/>
        </p:spPr>
        <p:txBody>
          <a:bodyPr wrap="square" lIns="0" rIns="0" tIns="0" bIns="0" anchor="ctr">
            <a:spAutoFit/>
          </a:bodyPr>
          <a:lstStyle/>
          <a:p>
            <a:pPr algn="l">
              <a:spcBef>
                <a:spcPts val="0"/>
              </a:spcBef>
              <a:spcAft>
                <a:spcPts val="0"/>
              </a:spcAft>
            </a:pPr>
            <a:r>
              <a:rPr sz="1100" b="1" i="0" spc="10">
                <a:solidFill>
                  <a:srgbClr val="5B6675"/>
                </a:solidFill>
                <a:latin typeface="Calibri"/>
              </a:rPr>
              <a:t>SCHEME</a:t>
            </a:r>
          </a:p>
        </p:txBody>
      </p:sp>
      <p:sp>
        <p:nvSpPr>
          <p:cNvPr id="10" name="TextBox 9"/>
          <p:cNvSpPr txBox="1"/>
          <p:nvPr/>
        </p:nvSpPr>
        <p:spPr>
          <a:xfrm>
            <a:off x="3108960" y="1554480"/>
            <a:ext cx="1188720" cy="457200"/>
          </a:xfrm>
          <a:prstGeom prst="rect">
            <a:avLst/>
          </a:prstGeom>
          <a:noFill/>
        </p:spPr>
        <p:txBody>
          <a:bodyPr wrap="square" lIns="0" rIns="0" tIns="0" bIns="0" anchor="ctr">
            <a:spAutoFit/>
          </a:bodyPr>
          <a:lstStyle/>
          <a:p>
            <a:pPr algn="l">
              <a:spcBef>
                <a:spcPts val="0"/>
              </a:spcBef>
              <a:spcAft>
                <a:spcPts val="0"/>
              </a:spcAft>
            </a:pPr>
            <a:r>
              <a:rPr sz="1100" b="1" i="0" spc="10">
                <a:solidFill>
                  <a:srgbClr val="5B6675"/>
                </a:solidFill>
                <a:latin typeface="Calibri"/>
              </a:rPr>
              <a:t>SIGN · TABLE II</a:t>
            </a:r>
          </a:p>
        </p:txBody>
      </p:sp>
      <p:sp>
        <p:nvSpPr>
          <p:cNvPr id="11" name="TextBox 10"/>
          <p:cNvSpPr txBox="1"/>
          <p:nvPr/>
        </p:nvSpPr>
        <p:spPr>
          <a:xfrm>
            <a:off x="4480560" y="1554480"/>
            <a:ext cx="1920239" cy="457200"/>
          </a:xfrm>
          <a:prstGeom prst="rect">
            <a:avLst/>
          </a:prstGeom>
          <a:noFill/>
        </p:spPr>
        <p:txBody>
          <a:bodyPr wrap="square" lIns="0" rIns="0" tIns="0" bIns="0" anchor="ctr">
            <a:spAutoFit/>
          </a:bodyPr>
          <a:lstStyle/>
          <a:p>
            <a:pPr algn="l">
              <a:spcBef>
                <a:spcPts val="0"/>
              </a:spcBef>
              <a:spcAft>
                <a:spcPts val="0"/>
              </a:spcAft>
            </a:pPr>
            <a:r>
              <a:rPr sz="1100" b="1" i="0" spc="10">
                <a:solidFill>
                  <a:srgbClr val="5B6675"/>
                </a:solidFill>
                <a:latin typeface="Calibri"/>
              </a:rPr>
              <a:t>VERIFY · TABLE II</a:t>
            </a:r>
          </a:p>
        </p:txBody>
      </p:sp>
      <p:sp>
        <p:nvSpPr>
          <p:cNvPr id="12" name="TextBox 11"/>
          <p:cNvSpPr txBox="1"/>
          <p:nvPr/>
        </p:nvSpPr>
        <p:spPr>
          <a:xfrm>
            <a:off x="6583680" y="1554480"/>
            <a:ext cx="1600200" cy="457200"/>
          </a:xfrm>
          <a:prstGeom prst="rect">
            <a:avLst/>
          </a:prstGeom>
          <a:noFill/>
        </p:spPr>
        <p:txBody>
          <a:bodyPr wrap="square" lIns="0" rIns="0" tIns="0" bIns="0" anchor="ctr">
            <a:spAutoFit/>
          </a:bodyPr>
          <a:lstStyle/>
          <a:p>
            <a:pPr algn="l">
              <a:spcBef>
                <a:spcPts val="0"/>
              </a:spcBef>
              <a:spcAft>
                <a:spcPts val="0"/>
              </a:spcAft>
            </a:pPr>
            <a:r>
              <a:rPr sz="1100" b="1" i="0" spc="10">
                <a:solidFill>
                  <a:srgbClr val="5B6675"/>
                </a:solidFill>
                <a:latin typeface="Calibri"/>
              </a:rPr>
              <a:t>AGGSIGN · TABLE III</a:t>
            </a:r>
          </a:p>
        </p:txBody>
      </p:sp>
      <p:sp>
        <p:nvSpPr>
          <p:cNvPr id="13" name="TextBox 12"/>
          <p:cNvSpPr txBox="1"/>
          <p:nvPr/>
        </p:nvSpPr>
        <p:spPr>
          <a:xfrm>
            <a:off x="8366760" y="1554480"/>
            <a:ext cx="2423160" cy="457200"/>
          </a:xfrm>
          <a:prstGeom prst="rect">
            <a:avLst/>
          </a:prstGeom>
          <a:noFill/>
        </p:spPr>
        <p:txBody>
          <a:bodyPr wrap="square" lIns="0" rIns="0" tIns="0" bIns="0" anchor="ctr">
            <a:spAutoFit/>
          </a:bodyPr>
          <a:lstStyle/>
          <a:p>
            <a:pPr algn="l">
              <a:spcBef>
                <a:spcPts val="0"/>
              </a:spcBef>
              <a:spcAft>
                <a:spcPts val="0"/>
              </a:spcAft>
            </a:pPr>
            <a:r>
              <a:rPr sz="1100" b="1" i="0" spc="10">
                <a:solidFill>
                  <a:srgbClr val="5B6675"/>
                </a:solidFill>
                <a:latin typeface="Calibri"/>
              </a:rPr>
              <a:t>AGGVERIFY · TABLE III</a:t>
            </a:r>
          </a:p>
        </p:txBody>
      </p:sp>
      <p:cxnSp>
        <p:nvCxnSpPr>
          <p:cNvPr id="14" name="Connector 13"/>
          <p:cNvCxnSpPr/>
          <p:nvPr/>
        </p:nvCxnSpPr>
        <p:spPr>
          <a:xfrm>
            <a:off x="548640" y="2011680"/>
            <a:ext cx="10332720" cy="0"/>
          </a:xfrm>
          <a:prstGeom prst="line">
            <a:avLst/>
          </a:prstGeom>
          <a:ln w="15875">
            <a:solidFill>
              <a:srgbClr val="5B6675"/>
            </a:solidFill>
          </a:ln>
        </p:spPr>
      </p:cxnSp>
      <p:sp>
        <p:nvSpPr>
          <p:cNvPr id="15" name="TextBox 14"/>
          <p:cNvSpPr txBox="1"/>
          <p:nvPr/>
        </p:nvSpPr>
        <p:spPr>
          <a:xfrm>
            <a:off x="640080" y="2011680"/>
            <a:ext cx="2286000" cy="731520"/>
          </a:xfrm>
          <a:prstGeom prst="rect">
            <a:avLst/>
          </a:prstGeom>
          <a:noFill/>
        </p:spPr>
        <p:txBody>
          <a:bodyPr wrap="square" lIns="0" rIns="0" tIns="0" bIns="0" anchor="ctr">
            <a:spAutoFit/>
          </a:bodyPr>
          <a:lstStyle/>
          <a:p>
            <a:pPr algn="l">
              <a:spcBef>
                <a:spcPts val="0"/>
              </a:spcBef>
              <a:spcAft>
                <a:spcPts val="0"/>
              </a:spcAft>
            </a:pPr>
            <a:r>
              <a:rPr sz="1650" b="1" i="0">
                <a:solidFill>
                  <a:srgbClr val="14202E"/>
                </a:solidFill>
                <a:latin typeface="Calibri"/>
              </a:rPr>
              <a:t>Verma et al.  [11]</a:t>
            </a:r>
          </a:p>
        </p:txBody>
      </p:sp>
      <p:sp>
        <p:nvSpPr>
          <p:cNvPr id="16" name="TextBox 15"/>
          <p:cNvSpPr txBox="1"/>
          <p:nvPr/>
        </p:nvSpPr>
        <p:spPr>
          <a:xfrm>
            <a:off x="3108960" y="2011680"/>
            <a:ext cx="1188720" cy="731520"/>
          </a:xfrm>
          <a:prstGeom prst="rect">
            <a:avLst/>
          </a:prstGeom>
          <a:noFill/>
        </p:spPr>
        <p:txBody>
          <a:bodyPr wrap="square" lIns="0" rIns="0" tIns="0" bIns="0" anchor="ctr">
            <a:spAutoFit/>
          </a:bodyPr>
          <a:lstStyle/>
          <a:p>
            <a:pPr algn="l">
              <a:spcBef>
                <a:spcPts val="0"/>
              </a:spcBef>
              <a:spcAft>
                <a:spcPts val="0"/>
              </a:spcAft>
            </a:pPr>
            <a:r>
              <a:rPr sz="1650" b="0" i="0">
                <a:solidFill>
                  <a:srgbClr val="14202E"/>
                </a:solidFill>
                <a:latin typeface="Cambria"/>
              </a:rPr>
              <a:t>1</a:t>
            </a:r>
            <a:r>
              <a:rPr sz="1650" b="0" i="1">
                <a:solidFill>
                  <a:srgbClr val="14202E"/>
                </a:solidFill>
                <a:latin typeface="Cambria"/>
              </a:rPr>
              <a:t>T</a:t>
            </a:r>
            <a:r>
              <a:rPr sz="1650" b="0" i="1" baseline="-25000">
                <a:solidFill>
                  <a:srgbClr val="14202E"/>
                </a:solidFill>
                <a:latin typeface="Cambria"/>
              </a:rPr>
              <a:t>e</a:t>
            </a:r>
            <a:r>
              <a:rPr sz="1650" b="0" i="0">
                <a:solidFill>
                  <a:srgbClr val="14202E"/>
                </a:solidFill>
                <a:latin typeface="Cambria"/>
              </a:rPr>
              <a:t> + 1</a:t>
            </a:r>
            <a:r>
              <a:rPr sz="1650" b="0" i="1">
                <a:solidFill>
                  <a:srgbClr val="14202E"/>
                </a:solidFill>
                <a:latin typeface="Cambria"/>
              </a:rPr>
              <a:t>T</a:t>
            </a:r>
            <a:r>
              <a:rPr sz="1650" b="0" i="1" baseline="-25000">
                <a:solidFill>
                  <a:srgbClr val="14202E"/>
                </a:solidFill>
                <a:latin typeface="Cambria"/>
              </a:rPr>
              <a:t>h</a:t>
            </a:r>
          </a:p>
        </p:txBody>
      </p:sp>
      <p:sp>
        <p:nvSpPr>
          <p:cNvPr id="17" name="TextBox 16"/>
          <p:cNvSpPr txBox="1"/>
          <p:nvPr/>
        </p:nvSpPr>
        <p:spPr>
          <a:xfrm>
            <a:off x="4480560" y="2011680"/>
            <a:ext cx="1920239" cy="731520"/>
          </a:xfrm>
          <a:prstGeom prst="rect">
            <a:avLst/>
          </a:prstGeom>
          <a:noFill/>
        </p:spPr>
        <p:txBody>
          <a:bodyPr wrap="square" lIns="0" rIns="0" tIns="0" bIns="0" anchor="ctr">
            <a:spAutoFit/>
          </a:bodyPr>
          <a:lstStyle/>
          <a:p>
            <a:pPr algn="l">
              <a:spcBef>
                <a:spcPts val="0"/>
              </a:spcBef>
              <a:spcAft>
                <a:spcPts val="0"/>
              </a:spcAft>
            </a:pPr>
            <a:r>
              <a:rPr sz="1650" b="0" i="0">
                <a:solidFill>
                  <a:srgbClr val="14202E"/>
                </a:solidFill>
                <a:latin typeface="Cambria"/>
              </a:rPr>
              <a:t>3</a:t>
            </a:r>
            <a:r>
              <a:rPr sz="1650" b="0" i="1">
                <a:solidFill>
                  <a:srgbClr val="14202E"/>
                </a:solidFill>
                <a:latin typeface="Cambria"/>
              </a:rPr>
              <a:t>T</a:t>
            </a:r>
            <a:r>
              <a:rPr sz="1650" b="0" i="1" baseline="-25000">
                <a:solidFill>
                  <a:srgbClr val="14202E"/>
                </a:solidFill>
                <a:latin typeface="Cambria"/>
              </a:rPr>
              <a:t>e</a:t>
            </a:r>
            <a:r>
              <a:rPr sz="1650" b="0" i="0">
                <a:solidFill>
                  <a:srgbClr val="14202E"/>
                </a:solidFill>
                <a:latin typeface="Cambria"/>
              </a:rPr>
              <a:t> + 2</a:t>
            </a:r>
            <a:r>
              <a:rPr sz="1650" b="0" i="1">
                <a:solidFill>
                  <a:srgbClr val="14202E"/>
                </a:solidFill>
                <a:latin typeface="Cambria"/>
              </a:rPr>
              <a:t>T</a:t>
            </a:r>
            <a:r>
              <a:rPr sz="1650" b="0" i="1" baseline="-25000">
                <a:solidFill>
                  <a:srgbClr val="14202E"/>
                </a:solidFill>
                <a:latin typeface="Cambria"/>
              </a:rPr>
              <a:t>a</a:t>
            </a:r>
            <a:r>
              <a:rPr sz="1650" b="0" i="0">
                <a:solidFill>
                  <a:srgbClr val="14202E"/>
                </a:solidFill>
                <a:latin typeface="Cambria"/>
              </a:rPr>
              <a:t> + 2</a:t>
            </a:r>
            <a:r>
              <a:rPr sz="1650" b="0" i="1">
                <a:solidFill>
                  <a:srgbClr val="14202E"/>
                </a:solidFill>
                <a:latin typeface="Cambria"/>
              </a:rPr>
              <a:t>T</a:t>
            </a:r>
            <a:r>
              <a:rPr sz="1650" b="0" i="1" baseline="-25000">
                <a:solidFill>
                  <a:srgbClr val="14202E"/>
                </a:solidFill>
                <a:latin typeface="Cambria"/>
              </a:rPr>
              <a:t>h</a:t>
            </a:r>
          </a:p>
        </p:txBody>
      </p:sp>
      <p:sp>
        <p:nvSpPr>
          <p:cNvPr id="18" name="TextBox 17"/>
          <p:cNvSpPr txBox="1"/>
          <p:nvPr/>
        </p:nvSpPr>
        <p:spPr>
          <a:xfrm>
            <a:off x="6583680" y="2011680"/>
            <a:ext cx="1600200" cy="731520"/>
          </a:xfrm>
          <a:prstGeom prst="rect">
            <a:avLst/>
          </a:prstGeom>
          <a:noFill/>
        </p:spPr>
        <p:txBody>
          <a:bodyPr wrap="square" lIns="0" rIns="0" tIns="0" bIns="0" anchor="ctr">
            <a:spAutoFit/>
          </a:bodyPr>
          <a:lstStyle/>
          <a:p>
            <a:pPr algn="l">
              <a:spcBef>
                <a:spcPts val="0"/>
              </a:spcBef>
              <a:spcAft>
                <a:spcPts val="0"/>
              </a:spcAft>
            </a:pPr>
            <a:r>
              <a:rPr sz="1650" b="0" i="0">
                <a:solidFill>
                  <a:srgbClr val="14202E"/>
                </a:solidFill>
                <a:latin typeface="Cambria"/>
              </a:rPr>
              <a:t>(</a:t>
            </a:r>
            <a:r>
              <a:rPr sz="1650" b="0" i="1">
                <a:solidFill>
                  <a:srgbClr val="14202E"/>
                </a:solidFill>
                <a:latin typeface="Cambria"/>
              </a:rPr>
              <a:t>n</a:t>
            </a:r>
            <a:r>
              <a:rPr sz="1650" b="0" i="0">
                <a:solidFill>
                  <a:srgbClr val="14202E"/>
                </a:solidFill>
                <a:latin typeface="Cambria"/>
              </a:rPr>
              <a:t>−1)</a:t>
            </a:r>
            <a:r>
              <a:rPr sz="1650" b="0" i="1">
                <a:solidFill>
                  <a:srgbClr val="14202E"/>
                </a:solidFill>
                <a:latin typeface="Cambria"/>
              </a:rPr>
              <a:t>T</a:t>
            </a:r>
            <a:r>
              <a:rPr sz="1650" b="0" i="1" baseline="-25000">
                <a:solidFill>
                  <a:srgbClr val="14202E"/>
                </a:solidFill>
                <a:latin typeface="Cambria"/>
              </a:rPr>
              <a:t>a</a:t>
            </a:r>
          </a:p>
        </p:txBody>
      </p:sp>
      <p:sp>
        <p:nvSpPr>
          <p:cNvPr id="19" name="TextBox 18"/>
          <p:cNvSpPr txBox="1"/>
          <p:nvPr/>
        </p:nvSpPr>
        <p:spPr>
          <a:xfrm>
            <a:off x="8366760" y="2011680"/>
            <a:ext cx="2423160" cy="731520"/>
          </a:xfrm>
          <a:prstGeom prst="rect">
            <a:avLst/>
          </a:prstGeom>
          <a:noFill/>
        </p:spPr>
        <p:txBody>
          <a:bodyPr wrap="square" lIns="0" rIns="0" tIns="0" bIns="0" anchor="ctr">
            <a:spAutoFit/>
          </a:bodyPr>
          <a:lstStyle/>
          <a:p>
            <a:pPr algn="l">
              <a:spcBef>
                <a:spcPts val="0"/>
              </a:spcBef>
              <a:spcAft>
                <a:spcPts val="0"/>
              </a:spcAft>
            </a:pPr>
            <a:r>
              <a:rPr sz="1650" b="0" i="0">
                <a:solidFill>
                  <a:srgbClr val="14202E"/>
                </a:solidFill>
                <a:latin typeface="Cambria"/>
              </a:rPr>
              <a:t>(</a:t>
            </a:r>
            <a:r>
              <a:rPr sz="1650" b="0" i="1">
                <a:solidFill>
                  <a:srgbClr val="14202E"/>
                </a:solidFill>
                <a:latin typeface="Cambria"/>
              </a:rPr>
              <a:t>n</a:t>
            </a:r>
            <a:r>
              <a:rPr sz="1650" b="0" i="0">
                <a:solidFill>
                  <a:srgbClr val="14202E"/>
                </a:solidFill>
                <a:latin typeface="Cambria"/>
              </a:rPr>
              <a:t>+2)</a:t>
            </a:r>
            <a:r>
              <a:rPr sz="1650" b="0" i="1">
                <a:solidFill>
                  <a:srgbClr val="14202E"/>
                </a:solidFill>
                <a:latin typeface="Cambria"/>
              </a:rPr>
              <a:t>T</a:t>
            </a:r>
            <a:r>
              <a:rPr sz="1650" b="0" i="1" baseline="-25000">
                <a:solidFill>
                  <a:srgbClr val="14202E"/>
                </a:solidFill>
                <a:latin typeface="Cambria"/>
              </a:rPr>
              <a:t>e</a:t>
            </a:r>
            <a:r>
              <a:rPr sz="1650" b="0" i="0">
                <a:solidFill>
                  <a:srgbClr val="14202E"/>
                </a:solidFill>
                <a:latin typeface="Cambria"/>
              </a:rPr>
              <a:t> + (</a:t>
            </a:r>
            <a:r>
              <a:rPr sz="1650" b="0" i="1">
                <a:solidFill>
                  <a:srgbClr val="14202E"/>
                </a:solidFill>
                <a:latin typeface="Cambria"/>
              </a:rPr>
              <a:t>n</a:t>
            </a:r>
            <a:r>
              <a:rPr sz="1650" b="0" i="0">
                <a:solidFill>
                  <a:srgbClr val="14202E"/>
                </a:solidFill>
                <a:latin typeface="Cambria"/>
              </a:rPr>
              <a:t>+1)</a:t>
            </a:r>
            <a:r>
              <a:rPr sz="1650" b="0" i="1">
                <a:solidFill>
                  <a:srgbClr val="14202E"/>
                </a:solidFill>
                <a:latin typeface="Cambria"/>
              </a:rPr>
              <a:t>T</a:t>
            </a:r>
            <a:r>
              <a:rPr sz="1650" b="0" i="1" baseline="-25000">
                <a:solidFill>
                  <a:srgbClr val="14202E"/>
                </a:solidFill>
                <a:latin typeface="Cambria"/>
              </a:rPr>
              <a:t>a</a:t>
            </a:r>
            <a:r>
              <a:rPr sz="1650" b="0" i="0">
                <a:solidFill>
                  <a:srgbClr val="14202E"/>
                </a:solidFill>
                <a:latin typeface="Cambria"/>
              </a:rPr>
              <a:t> + 2</a:t>
            </a:r>
            <a:r>
              <a:rPr sz="1650" b="0" i="1">
                <a:solidFill>
                  <a:srgbClr val="14202E"/>
                </a:solidFill>
                <a:latin typeface="Cambria"/>
              </a:rPr>
              <a:t>nT</a:t>
            </a:r>
            <a:r>
              <a:rPr sz="1650" b="0" i="1" baseline="-25000">
                <a:solidFill>
                  <a:srgbClr val="14202E"/>
                </a:solidFill>
                <a:latin typeface="Cambria"/>
              </a:rPr>
              <a:t>h</a:t>
            </a:r>
          </a:p>
        </p:txBody>
      </p:sp>
      <p:cxnSp>
        <p:nvCxnSpPr>
          <p:cNvPr id="20" name="Connector 19"/>
          <p:cNvCxnSpPr/>
          <p:nvPr/>
        </p:nvCxnSpPr>
        <p:spPr>
          <a:xfrm>
            <a:off x="548640" y="2743200"/>
            <a:ext cx="10332720" cy="0"/>
          </a:xfrm>
          <a:prstGeom prst="line">
            <a:avLst/>
          </a:prstGeom>
          <a:ln w="12700">
            <a:solidFill>
              <a:srgbClr val="D3D9E1"/>
            </a:solidFill>
          </a:ln>
        </p:spPr>
      </p:cxnSp>
      <p:sp>
        <p:nvSpPr>
          <p:cNvPr id="21" name="TextBox 20"/>
          <p:cNvSpPr txBox="1"/>
          <p:nvPr/>
        </p:nvSpPr>
        <p:spPr>
          <a:xfrm>
            <a:off x="640080" y="2743200"/>
            <a:ext cx="2286000" cy="868680"/>
          </a:xfrm>
          <a:prstGeom prst="rect">
            <a:avLst/>
          </a:prstGeom>
          <a:noFill/>
        </p:spPr>
        <p:txBody>
          <a:bodyPr wrap="square" lIns="0" rIns="0" tIns="0" bIns="0" anchor="ctr">
            <a:spAutoFit/>
          </a:bodyPr>
          <a:lstStyle/>
          <a:p>
            <a:pPr algn="l">
              <a:spcBef>
                <a:spcPts val="0"/>
              </a:spcBef>
              <a:spcAft>
                <a:spcPts val="0"/>
              </a:spcAft>
            </a:pPr>
            <a:r>
              <a:rPr sz="1650" b="1" i="0">
                <a:solidFill>
                  <a:srgbClr val="1E7B4F"/>
                </a:solidFill>
                <a:latin typeface="Calibri"/>
              </a:rPr>
              <a:t>Qiao et al.  “Our CBS / CBAS scheme”</a:t>
            </a:r>
          </a:p>
        </p:txBody>
      </p:sp>
      <p:sp>
        <p:nvSpPr>
          <p:cNvPr id="22" name="TextBox 21"/>
          <p:cNvSpPr txBox="1"/>
          <p:nvPr/>
        </p:nvSpPr>
        <p:spPr>
          <a:xfrm>
            <a:off x="3108960" y="2743200"/>
            <a:ext cx="1188720" cy="868680"/>
          </a:xfrm>
          <a:prstGeom prst="rect">
            <a:avLst/>
          </a:prstGeom>
          <a:noFill/>
        </p:spPr>
        <p:txBody>
          <a:bodyPr wrap="square" lIns="0" rIns="0" tIns="0" bIns="0" anchor="ctr">
            <a:spAutoFit/>
          </a:bodyPr>
          <a:lstStyle/>
          <a:p>
            <a:pPr algn="l">
              <a:spcBef>
                <a:spcPts val="0"/>
              </a:spcBef>
              <a:spcAft>
                <a:spcPts val="0"/>
              </a:spcAft>
            </a:pPr>
            <a:r>
              <a:rPr sz="1650" b="0" i="0">
                <a:solidFill>
                  <a:srgbClr val="14202E"/>
                </a:solidFill>
                <a:latin typeface="Cambria"/>
              </a:rPr>
              <a:t>1</a:t>
            </a:r>
            <a:r>
              <a:rPr sz="1650" b="0" i="1">
                <a:solidFill>
                  <a:srgbClr val="14202E"/>
                </a:solidFill>
                <a:latin typeface="Cambria"/>
              </a:rPr>
              <a:t>T</a:t>
            </a:r>
            <a:r>
              <a:rPr sz="1650" b="0" i="1" baseline="-25000">
                <a:solidFill>
                  <a:srgbClr val="14202E"/>
                </a:solidFill>
                <a:latin typeface="Cambria"/>
              </a:rPr>
              <a:t>e</a:t>
            </a:r>
            <a:r>
              <a:rPr sz="1650" b="0" i="0">
                <a:solidFill>
                  <a:srgbClr val="14202E"/>
                </a:solidFill>
                <a:latin typeface="Cambria"/>
              </a:rPr>
              <a:t> + 1</a:t>
            </a:r>
            <a:r>
              <a:rPr sz="1650" b="0" i="1">
                <a:solidFill>
                  <a:srgbClr val="14202E"/>
                </a:solidFill>
                <a:latin typeface="Cambria"/>
              </a:rPr>
              <a:t>T</a:t>
            </a:r>
            <a:r>
              <a:rPr sz="1650" b="0" i="1" baseline="-25000">
                <a:solidFill>
                  <a:srgbClr val="14202E"/>
                </a:solidFill>
                <a:latin typeface="Cambria"/>
              </a:rPr>
              <a:t>h</a:t>
            </a:r>
          </a:p>
        </p:txBody>
      </p:sp>
      <p:sp>
        <p:nvSpPr>
          <p:cNvPr id="23" name="TextBox 22"/>
          <p:cNvSpPr txBox="1"/>
          <p:nvPr/>
        </p:nvSpPr>
        <p:spPr>
          <a:xfrm>
            <a:off x="4480560" y="2743200"/>
            <a:ext cx="1920239" cy="868680"/>
          </a:xfrm>
          <a:prstGeom prst="rect">
            <a:avLst/>
          </a:prstGeom>
          <a:noFill/>
        </p:spPr>
        <p:txBody>
          <a:bodyPr wrap="square" lIns="0" rIns="0" tIns="0" bIns="0" anchor="ctr">
            <a:spAutoFit/>
          </a:bodyPr>
          <a:lstStyle/>
          <a:p>
            <a:pPr algn="l">
              <a:spcBef>
                <a:spcPts val="0"/>
              </a:spcBef>
              <a:spcAft>
                <a:spcPts val="0"/>
              </a:spcAft>
            </a:pPr>
            <a:r>
              <a:rPr sz="1650" b="0" i="0">
                <a:solidFill>
                  <a:srgbClr val="14202E"/>
                </a:solidFill>
                <a:latin typeface="Cambria"/>
              </a:rPr>
              <a:t>3</a:t>
            </a:r>
            <a:r>
              <a:rPr sz="1650" b="0" i="1">
                <a:solidFill>
                  <a:srgbClr val="14202E"/>
                </a:solidFill>
                <a:latin typeface="Cambria"/>
              </a:rPr>
              <a:t>T</a:t>
            </a:r>
            <a:r>
              <a:rPr sz="1650" b="0" i="1" baseline="-25000">
                <a:solidFill>
                  <a:srgbClr val="14202E"/>
                </a:solidFill>
                <a:latin typeface="Cambria"/>
              </a:rPr>
              <a:t>e</a:t>
            </a:r>
            <a:r>
              <a:rPr sz="1650" b="0" i="0">
                <a:solidFill>
                  <a:srgbClr val="14202E"/>
                </a:solidFill>
                <a:latin typeface="Cambria"/>
              </a:rPr>
              <a:t> + 2</a:t>
            </a:r>
            <a:r>
              <a:rPr sz="1650" b="0" i="1">
                <a:solidFill>
                  <a:srgbClr val="14202E"/>
                </a:solidFill>
                <a:latin typeface="Cambria"/>
              </a:rPr>
              <a:t>T</a:t>
            </a:r>
            <a:r>
              <a:rPr sz="1650" b="0" i="1" baseline="-25000">
                <a:solidFill>
                  <a:srgbClr val="14202E"/>
                </a:solidFill>
                <a:latin typeface="Cambria"/>
              </a:rPr>
              <a:t>a</a:t>
            </a:r>
            <a:r>
              <a:rPr sz="1650" b="0" i="0">
                <a:solidFill>
                  <a:srgbClr val="14202E"/>
                </a:solidFill>
                <a:latin typeface="Cambria"/>
              </a:rPr>
              <a:t> + 2</a:t>
            </a:r>
            <a:r>
              <a:rPr sz="1650" b="0" i="1">
                <a:solidFill>
                  <a:srgbClr val="14202E"/>
                </a:solidFill>
                <a:latin typeface="Cambria"/>
              </a:rPr>
              <a:t>T</a:t>
            </a:r>
            <a:r>
              <a:rPr sz="1650" b="0" i="1" baseline="-25000">
                <a:solidFill>
                  <a:srgbClr val="14202E"/>
                </a:solidFill>
                <a:latin typeface="Cambria"/>
              </a:rPr>
              <a:t>h</a:t>
            </a:r>
          </a:p>
        </p:txBody>
      </p:sp>
      <p:sp>
        <p:nvSpPr>
          <p:cNvPr id="24" name="TextBox 23"/>
          <p:cNvSpPr txBox="1"/>
          <p:nvPr/>
        </p:nvSpPr>
        <p:spPr>
          <a:xfrm>
            <a:off x="6583680" y="2743200"/>
            <a:ext cx="1600200" cy="868680"/>
          </a:xfrm>
          <a:prstGeom prst="rect">
            <a:avLst/>
          </a:prstGeom>
          <a:noFill/>
        </p:spPr>
        <p:txBody>
          <a:bodyPr wrap="square" lIns="0" rIns="0" tIns="0" bIns="0" anchor="ctr">
            <a:spAutoFit/>
          </a:bodyPr>
          <a:lstStyle/>
          <a:p>
            <a:pPr algn="l">
              <a:spcBef>
                <a:spcPts val="0"/>
              </a:spcBef>
              <a:spcAft>
                <a:spcPts val="0"/>
              </a:spcAft>
            </a:pPr>
            <a:r>
              <a:rPr sz="1650" b="0" i="0">
                <a:solidFill>
                  <a:srgbClr val="14202E"/>
                </a:solidFill>
                <a:latin typeface="Cambria"/>
              </a:rPr>
              <a:t>(</a:t>
            </a:r>
            <a:r>
              <a:rPr sz="1650" b="0" i="1">
                <a:solidFill>
                  <a:srgbClr val="14202E"/>
                </a:solidFill>
                <a:latin typeface="Cambria"/>
              </a:rPr>
              <a:t>n</a:t>
            </a:r>
            <a:r>
              <a:rPr sz="1650" b="0" i="0">
                <a:solidFill>
                  <a:srgbClr val="14202E"/>
                </a:solidFill>
                <a:latin typeface="Cambria"/>
              </a:rPr>
              <a:t>−1)</a:t>
            </a:r>
            <a:r>
              <a:rPr sz="1650" b="0" i="1">
                <a:solidFill>
                  <a:srgbClr val="14202E"/>
                </a:solidFill>
                <a:latin typeface="Cambria"/>
              </a:rPr>
              <a:t>T</a:t>
            </a:r>
            <a:r>
              <a:rPr sz="1650" b="0" i="1" baseline="-25000">
                <a:solidFill>
                  <a:srgbClr val="14202E"/>
                </a:solidFill>
                <a:latin typeface="Cambria"/>
              </a:rPr>
              <a:t>a</a:t>
            </a:r>
          </a:p>
        </p:txBody>
      </p:sp>
      <p:sp>
        <p:nvSpPr>
          <p:cNvPr id="25" name="TextBox 24"/>
          <p:cNvSpPr txBox="1"/>
          <p:nvPr/>
        </p:nvSpPr>
        <p:spPr>
          <a:xfrm>
            <a:off x="8366760" y="2743200"/>
            <a:ext cx="2423160" cy="868680"/>
          </a:xfrm>
          <a:prstGeom prst="rect">
            <a:avLst/>
          </a:prstGeom>
          <a:noFill/>
        </p:spPr>
        <p:txBody>
          <a:bodyPr wrap="square" lIns="0" rIns="0" tIns="0" bIns="0" anchor="ctr">
            <a:spAutoFit/>
          </a:bodyPr>
          <a:lstStyle/>
          <a:p>
            <a:pPr algn="l">
              <a:spcBef>
                <a:spcPts val="0"/>
              </a:spcBef>
              <a:spcAft>
                <a:spcPts val="0"/>
              </a:spcAft>
            </a:pPr>
            <a:r>
              <a:rPr sz="1650" b="0" i="0">
                <a:solidFill>
                  <a:srgbClr val="14202E"/>
                </a:solidFill>
                <a:latin typeface="Cambria"/>
              </a:rPr>
              <a:t>(</a:t>
            </a:r>
            <a:r>
              <a:rPr sz="1650" b="0" i="1">
                <a:solidFill>
                  <a:srgbClr val="14202E"/>
                </a:solidFill>
                <a:latin typeface="Cambria"/>
              </a:rPr>
              <a:t>n</a:t>
            </a:r>
            <a:r>
              <a:rPr sz="1650" b="0" i="0">
                <a:solidFill>
                  <a:srgbClr val="14202E"/>
                </a:solidFill>
                <a:latin typeface="Cambria"/>
              </a:rPr>
              <a:t>+2)</a:t>
            </a:r>
            <a:r>
              <a:rPr sz="1650" b="0" i="1">
                <a:solidFill>
                  <a:srgbClr val="14202E"/>
                </a:solidFill>
                <a:latin typeface="Cambria"/>
              </a:rPr>
              <a:t>T</a:t>
            </a:r>
            <a:r>
              <a:rPr sz="1650" b="0" i="1" baseline="-25000">
                <a:solidFill>
                  <a:srgbClr val="14202E"/>
                </a:solidFill>
                <a:latin typeface="Cambria"/>
              </a:rPr>
              <a:t>e</a:t>
            </a:r>
            <a:r>
              <a:rPr sz="1650" b="0" i="0">
                <a:solidFill>
                  <a:srgbClr val="14202E"/>
                </a:solidFill>
                <a:latin typeface="Cambria"/>
              </a:rPr>
              <a:t> + (</a:t>
            </a:r>
            <a:r>
              <a:rPr sz="1650" b="0" i="1">
                <a:solidFill>
                  <a:srgbClr val="14202E"/>
                </a:solidFill>
                <a:latin typeface="Cambria"/>
              </a:rPr>
              <a:t>n</a:t>
            </a:r>
            <a:r>
              <a:rPr sz="1650" b="0" i="0">
                <a:solidFill>
                  <a:srgbClr val="14202E"/>
                </a:solidFill>
                <a:latin typeface="Cambria"/>
              </a:rPr>
              <a:t>+1)</a:t>
            </a:r>
            <a:r>
              <a:rPr sz="1650" b="0" i="1">
                <a:solidFill>
                  <a:srgbClr val="14202E"/>
                </a:solidFill>
                <a:latin typeface="Cambria"/>
              </a:rPr>
              <a:t>T</a:t>
            </a:r>
            <a:r>
              <a:rPr sz="1650" b="0" i="1" baseline="-25000">
                <a:solidFill>
                  <a:srgbClr val="14202E"/>
                </a:solidFill>
                <a:latin typeface="Cambria"/>
              </a:rPr>
              <a:t>a</a:t>
            </a:r>
            <a:r>
              <a:rPr sz="1650" b="0" i="0">
                <a:solidFill>
                  <a:srgbClr val="14202E"/>
                </a:solidFill>
                <a:latin typeface="Cambria"/>
              </a:rPr>
              <a:t> + 2</a:t>
            </a:r>
            <a:r>
              <a:rPr sz="1650" b="0" i="1">
                <a:solidFill>
                  <a:srgbClr val="14202E"/>
                </a:solidFill>
                <a:latin typeface="Cambria"/>
              </a:rPr>
              <a:t>nT</a:t>
            </a:r>
            <a:r>
              <a:rPr sz="1650" b="0" i="1" baseline="-25000">
                <a:solidFill>
                  <a:srgbClr val="14202E"/>
                </a:solidFill>
                <a:latin typeface="Cambria"/>
              </a:rPr>
              <a:t>h</a:t>
            </a:r>
          </a:p>
        </p:txBody>
      </p:sp>
      <p:cxnSp>
        <p:nvCxnSpPr>
          <p:cNvPr id="26" name="Connector 25"/>
          <p:cNvCxnSpPr/>
          <p:nvPr/>
        </p:nvCxnSpPr>
        <p:spPr>
          <a:xfrm>
            <a:off x="548640" y="3611880"/>
            <a:ext cx="10332720" cy="0"/>
          </a:xfrm>
          <a:prstGeom prst="line">
            <a:avLst/>
          </a:prstGeom>
          <a:ln w="12700">
            <a:solidFill>
              <a:srgbClr val="D3D9E1"/>
            </a:solidFill>
          </a:ln>
        </p:spPr>
      </p:cxnSp>
      <p:cxnSp>
        <p:nvCxnSpPr>
          <p:cNvPr id="27" name="Connector 26"/>
          <p:cNvCxnSpPr/>
          <p:nvPr/>
        </p:nvCxnSpPr>
        <p:spPr>
          <a:xfrm>
            <a:off x="10808208" y="2148840"/>
            <a:ext cx="0" cy="1417320"/>
          </a:xfrm>
          <a:prstGeom prst="line">
            <a:avLst/>
          </a:prstGeom>
          <a:ln w="25400">
            <a:solidFill>
              <a:srgbClr val="14202E"/>
            </a:solidFill>
          </a:ln>
        </p:spPr>
      </p:cxnSp>
      <p:sp>
        <p:nvSpPr>
          <p:cNvPr id="28" name="TextBox 27"/>
          <p:cNvSpPr txBox="1"/>
          <p:nvPr/>
        </p:nvSpPr>
        <p:spPr>
          <a:xfrm>
            <a:off x="10899648" y="2651760"/>
            <a:ext cx="777240" cy="502920"/>
          </a:xfrm>
          <a:prstGeom prst="rect">
            <a:avLst/>
          </a:prstGeom>
          <a:noFill/>
        </p:spPr>
        <p:txBody>
          <a:bodyPr wrap="square" lIns="0" rIns="0" tIns="0" bIns="0" anchor="t">
            <a:spAutoFit/>
          </a:bodyPr>
          <a:lstStyle/>
          <a:p>
            <a:pPr algn="l">
              <a:lnSpc>
                <a:spcPct val="95000"/>
              </a:lnSpc>
              <a:spcBef>
                <a:spcPts val="0"/>
              </a:spcBef>
              <a:spcAft>
                <a:spcPts val="0"/>
              </a:spcAft>
            </a:pPr>
            <a:r>
              <a:rPr sz="1400" b="1" i="0">
                <a:solidFill>
                  <a:srgbClr val="14202E"/>
                </a:solidFill>
                <a:latin typeface="Calibri"/>
              </a:rPr>
              <a:t>identical</a:t>
            </a:r>
          </a:p>
        </p:txBody>
      </p:sp>
      <p:sp>
        <p:nvSpPr>
          <p:cNvPr id="29" name="Rounded Rectangle 28"/>
          <p:cNvSpPr/>
          <p:nvPr/>
        </p:nvSpPr>
        <p:spPr>
          <a:xfrm>
            <a:off x="548640" y="3840480"/>
            <a:ext cx="11091672" cy="1188720"/>
          </a:xfrm>
          <a:prstGeom prst="roundRect">
            <a:avLst>
              <a:gd name="adj" fmla="val 7692"/>
            </a:avLst>
          </a:prstGeom>
          <a:solidFill>
            <a:srgbClr val="F2F5F8"/>
          </a:solidFill>
          <a:ln>
            <a:noFill/>
          </a:ln>
          <a:effectLst/>
        </p:spPr>
        <p:txBody>
          <a:bodyPr rtlCol="0" anchor="ctr" wrap="square" lIns="73152" rIns="73152" tIns="36576" bIns="36576"/>
          <a:lstStyle/>
          <a:p>
            <a:pPr algn="ctr"/>
          </a:p>
        </p:txBody>
      </p:sp>
      <p:sp>
        <p:nvSpPr>
          <p:cNvPr id="30" name="Rounded Rectangle 29"/>
          <p:cNvSpPr/>
          <p:nvPr/>
        </p:nvSpPr>
        <p:spPr>
          <a:xfrm>
            <a:off x="731520" y="3950208"/>
            <a:ext cx="1737360" cy="237744"/>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00" b="1" i="0">
                <a:solidFill>
                  <a:srgbClr val="FFFFFF"/>
                </a:solidFill>
                <a:latin typeface="Calibri"/>
              </a:rPr>
              <a:t>PAPER · SECTION I-D</a:t>
            </a:r>
          </a:p>
        </p:txBody>
      </p:sp>
      <p:sp>
        <p:nvSpPr>
          <p:cNvPr id="31" name="TextBox 30"/>
          <p:cNvSpPr txBox="1"/>
          <p:nvPr/>
        </p:nvSpPr>
        <p:spPr>
          <a:xfrm>
            <a:off x="731520" y="4261104"/>
            <a:ext cx="10698480" cy="731520"/>
          </a:xfrm>
          <a:prstGeom prst="rect">
            <a:avLst/>
          </a:prstGeom>
          <a:noFill/>
        </p:spPr>
        <p:txBody>
          <a:bodyPr wrap="square" lIns="0" rIns="0" tIns="0" bIns="0" anchor="t">
            <a:spAutoFit/>
          </a:bodyPr>
          <a:lstStyle/>
          <a:p>
            <a:pPr algn="l">
              <a:lnSpc>
                <a:spcPct val="95000"/>
              </a:lnSpc>
              <a:spcBef>
                <a:spcPts val="0"/>
              </a:spcBef>
              <a:spcAft>
                <a:spcPts val="0"/>
              </a:spcAft>
            </a:pPr>
            <a:r>
              <a:rPr sz="1900" b="0" i="0">
                <a:solidFill>
                  <a:srgbClr val="14202E"/>
                </a:solidFill>
                <a:latin typeface="Cambria"/>
              </a:rPr>
              <a:t>“… our proposal has the same high computational efficiency as Verma et al.'s CBAS scheme, but our scheme is more secure.”</a:t>
            </a:r>
          </a:p>
        </p:txBody>
      </p:sp>
      <p:sp>
        <p:nvSpPr>
          <p:cNvPr id="32" name="TextBox 31"/>
          <p:cNvSpPr txBox="1"/>
          <p:nvPr/>
        </p:nvSpPr>
        <p:spPr>
          <a:xfrm>
            <a:off x="548640" y="5166360"/>
            <a:ext cx="11064240" cy="457200"/>
          </a:xfrm>
          <a:prstGeom prst="rect">
            <a:avLst/>
          </a:prstGeom>
          <a:noFill/>
        </p:spPr>
        <p:txBody>
          <a:bodyPr wrap="square" lIns="0" rIns="0" tIns="0" bIns="0" anchor="t">
            <a:spAutoFit/>
          </a:bodyPr>
          <a:lstStyle/>
          <a:p>
            <a:pPr algn="l">
              <a:spcBef>
                <a:spcPts val="0"/>
              </a:spcBef>
              <a:spcAft>
                <a:spcPts val="0"/>
              </a:spcAft>
            </a:pPr>
            <a:r>
              <a:rPr sz="1450" b="0" i="1">
                <a:solidFill>
                  <a:srgbClr val="5B6675"/>
                </a:solidFill>
                <a:latin typeface="Cambria"/>
              </a:rPr>
              <a:t>T</a:t>
            </a:r>
            <a:r>
              <a:rPr sz="1450" b="0" i="1" baseline="-25000">
                <a:solidFill>
                  <a:srgbClr val="5B6675"/>
                </a:solidFill>
                <a:latin typeface="Cambria"/>
              </a:rPr>
              <a:t>e</a:t>
            </a:r>
            <a:r>
              <a:rPr sz="1450" b="0" i="0">
                <a:solidFill>
                  <a:srgbClr val="5B6675"/>
                </a:solidFill>
                <a:latin typeface="Calibri"/>
              </a:rPr>
              <a:t>: scalar multiplication in </a:t>
            </a:r>
            <a:r>
              <a:rPr sz="1450" b="0" i="1">
                <a:solidFill>
                  <a:srgbClr val="5B6675"/>
                </a:solidFill>
                <a:latin typeface="Cambria"/>
              </a:rPr>
              <a:t>G</a:t>
            </a:r>
            <a:r>
              <a:rPr sz="1450" b="0" i="0">
                <a:solidFill>
                  <a:srgbClr val="5B6675"/>
                </a:solidFill>
                <a:latin typeface="Calibri"/>
              </a:rPr>
              <a:t>   ·   </a:t>
            </a:r>
            <a:r>
              <a:rPr sz="1450" b="0" i="1">
                <a:solidFill>
                  <a:srgbClr val="5B6675"/>
                </a:solidFill>
                <a:latin typeface="Cambria"/>
              </a:rPr>
              <a:t>T</a:t>
            </a:r>
            <a:r>
              <a:rPr sz="1450" b="0" i="1" baseline="-25000">
                <a:solidFill>
                  <a:srgbClr val="5B6675"/>
                </a:solidFill>
                <a:latin typeface="Cambria"/>
              </a:rPr>
              <a:t>a</a:t>
            </a:r>
            <a:r>
              <a:rPr sz="1450" b="0" i="0">
                <a:solidFill>
                  <a:srgbClr val="5B6675"/>
                </a:solidFill>
                <a:latin typeface="Calibri"/>
              </a:rPr>
              <a:t>: point addition in </a:t>
            </a:r>
            <a:r>
              <a:rPr sz="1450" b="0" i="1">
                <a:solidFill>
                  <a:srgbClr val="5B6675"/>
                </a:solidFill>
                <a:latin typeface="Cambria"/>
              </a:rPr>
              <a:t>G</a:t>
            </a:r>
            <a:r>
              <a:rPr sz="1450" b="0" i="0">
                <a:solidFill>
                  <a:srgbClr val="5B6675"/>
                </a:solidFill>
                <a:latin typeface="Calibri"/>
              </a:rPr>
              <a:t>   ·   </a:t>
            </a:r>
            <a:r>
              <a:rPr sz="1450" b="0" i="1">
                <a:solidFill>
                  <a:srgbClr val="5B6675"/>
                </a:solidFill>
                <a:latin typeface="Cambria"/>
              </a:rPr>
              <a:t>T</a:t>
            </a:r>
            <a:r>
              <a:rPr sz="1450" b="0" i="1" baseline="-25000">
                <a:solidFill>
                  <a:srgbClr val="5B6675"/>
                </a:solidFill>
                <a:latin typeface="Cambria"/>
              </a:rPr>
              <a:t>h</a:t>
            </a:r>
            <a:r>
              <a:rPr sz="1450" b="0" i="0">
                <a:solidFill>
                  <a:srgbClr val="5B6675"/>
                </a:solidFill>
                <a:latin typeface="Calibri"/>
              </a:rPr>
              <a:t>: one hash   ·   paper's Table IV: 0.112, 0.005, 0.004 ms</a:t>
            </a:r>
          </a:p>
        </p:txBody>
      </p:sp>
      <p:sp>
        <p:nvSpPr>
          <p:cNvPr id="33" name="Rectangle 32"/>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34" name="TextBox 33"/>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750" b="1" i="0">
                <a:solidFill>
                  <a:srgbClr val="14202E"/>
                </a:solidFill>
                <a:latin typeface="Calibri"/>
              </a:rPr>
              <a:t>The repaired Sign computes two hashes, and verification gains a term per signer. Can the cost still be identical?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VI · THE EVIDENCE CHAIN</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From the paper's formula to a measurement</a:t>
            </a:r>
          </a:p>
        </p:txBody>
      </p:sp>
      <p:sp>
        <p:nvSpPr>
          <p:cNvPr id="4" name="Rounded Rectangle 3"/>
          <p:cNvSpPr/>
          <p:nvPr/>
        </p:nvSpPr>
        <p:spPr>
          <a:xfrm>
            <a:off x="10652760" y="274320"/>
            <a:ext cx="987551" cy="246888"/>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EXPERIMENT</a:t>
            </a:r>
          </a:p>
        </p:txBody>
      </p:sp>
      <p:sp>
        <p:nvSpPr>
          <p:cNvPr id="5" name="Rounded Rectangle 4"/>
          <p:cNvSpPr/>
          <p:nvPr/>
        </p:nvSpPr>
        <p:spPr>
          <a:xfrm>
            <a:off x="9676180" y="274320"/>
            <a:ext cx="903427" cy="246888"/>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OUR AUDIT</a:t>
            </a:r>
          </a:p>
        </p:txBody>
      </p:sp>
      <p:sp>
        <p:nvSpPr>
          <p:cNvPr id="6" name="Rounded Rectangle 5"/>
          <p:cNvSpPr/>
          <p:nvPr/>
        </p:nvSpPr>
        <p:spPr>
          <a:xfrm>
            <a:off x="9036100"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7" name="Connector 6"/>
          <p:cNvCxnSpPr/>
          <p:nvPr/>
        </p:nvCxnSpPr>
        <p:spPr>
          <a:xfrm>
            <a:off x="548640" y="6419088"/>
            <a:ext cx="11091672" cy="0"/>
          </a:xfrm>
          <a:prstGeom prst="line">
            <a:avLst/>
          </a:prstGeom>
          <a:ln w="12700">
            <a:solidFill>
              <a:srgbClr val="D3D9E1"/>
            </a:solidFill>
          </a:ln>
        </p:spPr>
      </p:cxnSp>
      <p:sp>
        <p:nvSpPr>
          <p:cNvPr id="8" name="TextBox 7"/>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9" name="TextBox 8"/>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25 / 32</a:t>
            </a:r>
          </a:p>
        </p:txBody>
      </p:sp>
      <p:sp>
        <p:nvSpPr>
          <p:cNvPr id="10" name="Rounded Rectangle 9"/>
          <p:cNvSpPr/>
          <p:nvPr/>
        </p:nvSpPr>
        <p:spPr>
          <a:xfrm>
            <a:off x="548640" y="1645920"/>
            <a:ext cx="1627632" cy="3611880"/>
          </a:xfrm>
          <a:prstGeom prst="roundRect">
            <a:avLst>
              <a:gd name="adj" fmla="val 4494"/>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1" name="Rounded Rectangle 10"/>
          <p:cNvSpPr/>
          <p:nvPr/>
        </p:nvSpPr>
        <p:spPr>
          <a:xfrm>
            <a:off x="548640" y="1645920"/>
            <a:ext cx="1627632" cy="118872"/>
          </a:xfrm>
          <a:prstGeom prst="roundRect">
            <a:avLst>
              <a:gd name="adj" fmla="val 46153"/>
            </a:avLst>
          </a:prstGeom>
          <a:solidFill>
            <a:srgbClr val="52606F"/>
          </a:solidFill>
          <a:ln>
            <a:noFill/>
          </a:ln>
          <a:effectLst/>
        </p:spPr>
        <p:txBody>
          <a:bodyPr rtlCol="0" anchor="ctr" wrap="square" lIns="73152" rIns="73152" tIns="36576" bIns="36576"/>
          <a:lstStyle/>
          <a:p>
            <a:pPr algn="ctr"/>
          </a:p>
        </p:txBody>
      </p:sp>
      <p:sp>
        <p:nvSpPr>
          <p:cNvPr id="12" name="TextBox 11"/>
          <p:cNvSpPr txBox="1"/>
          <p:nvPr/>
        </p:nvSpPr>
        <p:spPr>
          <a:xfrm>
            <a:off x="658368" y="1874519"/>
            <a:ext cx="1444752" cy="457200"/>
          </a:xfrm>
          <a:prstGeom prst="rect">
            <a:avLst/>
          </a:prstGeom>
          <a:noFill/>
        </p:spPr>
        <p:txBody>
          <a:bodyPr wrap="square" lIns="0" rIns="0" tIns="0" bIns="0" anchor="t">
            <a:spAutoFit/>
          </a:bodyPr>
          <a:lstStyle/>
          <a:p>
            <a:pPr algn="l">
              <a:lnSpc>
                <a:spcPct val="95000"/>
              </a:lnSpc>
              <a:spcBef>
                <a:spcPts val="0"/>
              </a:spcBef>
              <a:spcAft>
                <a:spcPts val="0"/>
              </a:spcAft>
            </a:pPr>
            <a:r>
              <a:rPr sz="1150" b="1" i="0" spc="40">
                <a:solidFill>
                  <a:srgbClr val="52606F"/>
                </a:solidFill>
                <a:latin typeface="Calibri"/>
              </a:rPr>
              <a:t>1 · PAPER FORMULA</a:t>
            </a:r>
          </a:p>
        </p:txBody>
      </p:sp>
      <p:sp>
        <p:nvSpPr>
          <p:cNvPr id="13" name="TextBox 12"/>
          <p:cNvSpPr txBox="1"/>
          <p:nvPr/>
        </p:nvSpPr>
        <p:spPr>
          <a:xfrm>
            <a:off x="658368" y="2395728"/>
            <a:ext cx="1426464" cy="1737360"/>
          </a:xfrm>
          <a:prstGeom prst="rect">
            <a:avLst/>
          </a:prstGeom>
          <a:noFill/>
        </p:spPr>
        <p:txBody>
          <a:bodyPr wrap="square" lIns="0" rIns="0" tIns="0" bIns="0" anchor="t">
            <a:spAutoFit/>
          </a:bodyPr>
          <a:lstStyle/>
          <a:p>
            <a:pPr algn="l">
              <a:lnSpc>
                <a:spcPct val="98000"/>
              </a:lnSpc>
              <a:spcBef>
                <a:spcPts val="0"/>
              </a:spcBef>
              <a:spcAft>
                <a:spcPts val="0"/>
              </a:spcAft>
            </a:pPr>
            <a:r>
              <a:rPr sz="1500" b="1" i="0">
                <a:solidFill>
                  <a:srgbClr val="14202E"/>
                </a:solidFill>
                <a:latin typeface="Cambria"/>
              </a:rPr>
              <a:t>(</a:t>
            </a:r>
            <a:r>
              <a:rPr sz="1500" b="1" i="1">
                <a:solidFill>
                  <a:srgbClr val="14202E"/>
                </a:solidFill>
                <a:latin typeface="Cambria"/>
              </a:rPr>
              <a:t>n</a:t>
            </a:r>
            <a:r>
              <a:rPr sz="1500" b="1" i="0">
                <a:solidFill>
                  <a:srgbClr val="14202E"/>
                </a:solidFill>
                <a:latin typeface="Cambria"/>
              </a:rPr>
              <a:t>+2)</a:t>
            </a:r>
            <a:r>
              <a:rPr sz="1500" b="1" i="1">
                <a:solidFill>
                  <a:srgbClr val="14202E"/>
                </a:solidFill>
                <a:latin typeface="Cambria"/>
              </a:rPr>
              <a:t>T</a:t>
            </a:r>
            <a:r>
              <a:rPr sz="1500" b="1" i="1" baseline="-25000">
                <a:solidFill>
                  <a:srgbClr val="14202E"/>
                </a:solidFill>
                <a:latin typeface="Cambria"/>
              </a:rPr>
              <a:t>e</a:t>
            </a:r>
            <a:r>
              <a:rPr sz="1500" b="1" i="0">
                <a:solidFill>
                  <a:srgbClr val="14202E"/>
                </a:solidFill>
                <a:latin typeface="Cambria"/>
              </a:rPr>
              <a:t> + (</a:t>
            </a:r>
            <a:r>
              <a:rPr sz="1500" b="1" i="1">
                <a:solidFill>
                  <a:srgbClr val="14202E"/>
                </a:solidFill>
                <a:latin typeface="Cambria"/>
              </a:rPr>
              <a:t>n</a:t>
            </a:r>
            <a:r>
              <a:rPr sz="1500" b="1" i="0">
                <a:solidFill>
                  <a:srgbClr val="14202E"/>
                </a:solidFill>
                <a:latin typeface="Cambria"/>
              </a:rPr>
              <a:t>+1)</a:t>
            </a:r>
            <a:r>
              <a:rPr sz="1500" b="1" i="1">
                <a:solidFill>
                  <a:srgbClr val="14202E"/>
                </a:solidFill>
                <a:latin typeface="Cambria"/>
              </a:rPr>
              <a:t>T</a:t>
            </a:r>
            <a:r>
              <a:rPr sz="1500" b="1" i="1" baseline="-25000">
                <a:solidFill>
                  <a:srgbClr val="14202E"/>
                </a:solidFill>
                <a:latin typeface="Cambria"/>
              </a:rPr>
              <a:t>a</a:t>
            </a:r>
            <a:r>
              <a:rPr sz="1500" b="1" i="0">
                <a:solidFill>
                  <a:srgbClr val="14202E"/>
                </a:solidFill>
                <a:latin typeface="Cambria"/>
              </a:rPr>
              <a:t> + 2</a:t>
            </a:r>
            <a:r>
              <a:rPr sz="1500" b="1" i="1">
                <a:solidFill>
                  <a:srgbClr val="14202E"/>
                </a:solidFill>
                <a:latin typeface="Cambria"/>
              </a:rPr>
              <a:t>nT</a:t>
            </a:r>
            <a:r>
              <a:rPr sz="1500" b="1" i="1" baseline="-25000">
                <a:solidFill>
                  <a:srgbClr val="14202E"/>
                </a:solidFill>
                <a:latin typeface="Cambria"/>
              </a:rPr>
              <a:t>h</a:t>
            </a:r>
          </a:p>
        </p:txBody>
      </p:sp>
      <p:sp>
        <p:nvSpPr>
          <p:cNvPr id="14" name="TextBox 13"/>
          <p:cNvSpPr txBox="1"/>
          <p:nvPr/>
        </p:nvSpPr>
        <p:spPr>
          <a:xfrm>
            <a:off x="658368" y="4114800"/>
            <a:ext cx="1426464" cy="1097280"/>
          </a:xfrm>
          <a:prstGeom prst="rect">
            <a:avLst/>
          </a:prstGeom>
          <a:noFill/>
        </p:spPr>
        <p:txBody>
          <a:bodyPr wrap="square" lIns="0" rIns="0" tIns="0" bIns="0" anchor="t">
            <a:spAutoFit/>
          </a:bodyPr>
          <a:lstStyle/>
          <a:p>
            <a:pPr algn="l">
              <a:lnSpc>
                <a:spcPct val="95000"/>
              </a:lnSpc>
              <a:spcBef>
                <a:spcPts val="0"/>
              </a:spcBef>
              <a:spcAft>
                <a:spcPts val="0"/>
              </a:spcAft>
            </a:pPr>
            <a:r>
              <a:rPr sz="1250" b="0" i="0">
                <a:solidFill>
                  <a:srgbClr val="5B6675"/>
                </a:solidFill>
                <a:latin typeface="Calibri"/>
              </a:rPr>
              <a:t>Table III</a:t>
            </a:r>
          </a:p>
        </p:txBody>
      </p:sp>
      <p:cxnSp>
        <p:nvCxnSpPr>
          <p:cNvPr id="15" name="Connector 14"/>
          <p:cNvCxnSpPr/>
          <p:nvPr/>
        </p:nvCxnSpPr>
        <p:spPr>
          <a:xfrm>
            <a:off x="2194560" y="3108960"/>
            <a:ext cx="228600" cy="0"/>
          </a:xfrm>
          <a:prstGeom prst="line">
            <a:avLst/>
          </a:prstGeom>
          <a:ln w="28575">
            <a:solidFill>
              <a:srgbClr val="14202E"/>
            </a:solidFill>
            <a:tailEnd type="triangle" w="med" len="med"/>
          </a:ln>
        </p:spPr>
      </p:cxnSp>
      <p:sp>
        <p:nvSpPr>
          <p:cNvPr id="16" name="Rounded Rectangle 15"/>
          <p:cNvSpPr/>
          <p:nvPr/>
        </p:nvSpPr>
        <p:spPr>
          <a:xfrm>
            <a:off x="2441448" y="1645920"/>
            <a:ext cx="1627632" cy="3611880"/>
          </a:xfrm>
          <a:prstGeom prst="roundRect">
            <a:avLst>
              <a:gd name="adj" fmla="val 4494"/>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7" name="Rounded Rectangle 16"/>
          <p:cNvSpPr/>
          <p:nvPr/>
        </p:nvSpPr>
        <p:spPr>
          <a:xfrm>
            <a:off x="2441448" y="1645920"/>
            <a:ext cx="1627632" cy="118872"/>
          </a:xfrm>
          <a:prstGeom prst="roundRect">
            <a:avLst>
              <a:gd name="adj" fmla="val 46153"/>
            </a:avLst>
          </a:prstGeom>
          <a:solidFill>
            <a:srgbClr val="A21F6B"/>
          </a:solidFill>
          <a:ln>
            <a:noFill/>
          </a:ln>
          <a:effectLst/>
        </p:spPr>
        <p:txBody>
          <a:bodyPr rtlCol="0" anchor="ctr" wrap="square" lIns="73152" rIns="73152" tIns="36576" bIns="36576"/>
          <a:lstStyle/>
          <a:p>
            <a:pPr algn="ctr"/>
          </a:p>
        </p:txBody>
      </p:sp>
      <p:sp>
        <p:nvSpPr>
          <p:cNvPr id="18" name="TextBox 17"/>
          <p:cNvSpPr txBox="1"/>
          <p:nvPr/>
        </p:nvSpPr>
        <p:spPr>
          <a:xfrm>
            <a:off x="2551176" y="1874519"/>
            <a:ext cx="1444752" cy="457200"/>
          </a:xfrm>
          <a:prstGeom prst="rect">
            <a:avLst/>
          </a:prstGeom>
          <a:noFill/>
        </p:spPr>
        <p:txBody>
          <a:bodyPr wrap="square" lIns="0" rIns="0" tIns="0" bIns="0" anchor="t">
            <a:spAutoFit/>
          </a:bodyPr>
          <a:lstStyle/>
          <a:p>
            <a:pPr algn="l">
              <a:lnSpc>
                <a:spcPct val="95000"/>
              </a:lnSpc>
              <a:spcBef>
                <a:spcPts val="0"/>
              </a:spcBef>
              <a:spcAft>
                <a:spcPts val="0"/>
              </a:spcAft>
            </a:pPr>
            <a:r>
              <a:rPr sz="1150" b="1" i="0" spc="40">
                <a:solidFill>
                  <a:srgbClr val="A21F6B"/>
                </a:solidFill>
                <a:latin typeface="Calibri"/>
              </a:rPr>
              <a:t>2 · OPERATION COUNT</a:t>
            </a:r>
          </a:p>
        </p:txBody>
      </p:sp>
      <p:sp>
        <p:nvSpPr>
          <p:cNvPr id="19" name="TextBox 18"/>
          <p:cNvSpPr txBox="1"/>
          <p:nvPr/>
        </p:nvSpPr>
        <p:spPr>
          <a:xfrm>
            <a:off x="2551176" y="2395728"/>
            <a:ext cx="1426464" cy="1737360"/>
          </a:xfrm>
          <a:prstGeom prst="rect">
            <a:avLst/>
          </a:prstGeom>
          <a:noFill/>
        </p:spPr>
        <p:txBody>
          <a:bodyPr wrap="square" lIns="0" rIns="0" tIns="0" bIns="0" anchor="t">
            <a:spAutoFit/>
          </a:bodyPr>
          <a:lstStyle/>
          <a:p>
            <a:pPr algn="l">
              <a:lnSpc>
                <a:spcPct val="98000"/>
              </a:lnSpc>
              <a:spcBef>
                <a:spcPts val="0"/>
              </a:spcBef>
              <a:spcAft>
                <a:spcPts val="0"/>
              </a:spcAft>
            </a:pPr>
            <a:r>
              <a:rPr sz="1500" b="1" i="0">
                <a:solidFill>
                  <a:srgbClr val="14202E"/>
                </a:solidFill>
                <a:latin typeface="Cambria"/>
              </a:rPr>
              <a:t>(2</a:t>
            </a:r>
            <a:r>
              <a:rPr sz="1500" b="1" i="1">
                <a:solidFill>
                  <a:srgbClr val="14202E"/>
                </a:solidFill>
                <a:latin typeface="Cambria"/>
              </a:rPr>
              <a:t>n</a:t>
            </a:r>
            <a:r>
              <a:rPr sz="1500" b="1" i="0">
                <a:solidFill>
                  <a:srgbClr val="14202E"/>
                </a:solidFill>
                <a:latin typeface="Cambria"/>
              </a:rPr>
              <a:t>+2)</a:t>
            </a:r>
            <a:r>
              <a:rPr sz="1500" b="1" i="1">
                <a:solidFill>
                  <a:srgbClr val="14202E"/>
                </a:solidFill>
                <a:latin typeface="Cambria"/>
              </a:rPr>
              <a:t>T</a:t>
            </a:r>
            <a:r>
              <a:rPr sz="1500" b="1" i="1" baseline="-25000">
                <a:solidFill>
                  <a:srgbClr val="14202E"/>
                </a:solidFill>
                <a:latin typeface="Cambria"/>
              </a:rPr>
              <a:t>e</a:t>
            </a:r>
            <a:r>
              <a:rPr sz="1500" b="1" i="0">
                <a:solidFill>
                  <a:srgbClr val="14202E"/>
                </a:solidFill>
                <a:latin typeface="Cambria"/>
              </a:rPr>
              <a:t> + 3</a:t>
            </a:r>
            <a:r>
              <a:rPr sz="1500" b="1" i="1">
                <a:solidFill>
                  <a:srgbClr val="14202E"/>
                </a:solidFill>
                <a:latin typeface="Cambria"/>
              </a:rPr>
              <a:t>nT</a:t>
            </a:r>
            <a:r>
              <a:rPr sz="1500" b="1" i="1" baseline="-25000">
                <a:solidFill>
                  <a:srgbClr val="14202E"/>
                </a:solidFill>
                <a:latin typeface="Cambria"/>
              </a:rPr>
              <a:t>a</a:t>
            </a:r>
            <a:r>
              <a:rPr sz="1500" b="1" i="0">
                <a:solidFill>
                  <a:srgbClr val="14202E"/>
                </a:solidFill>
                <a:latin typeface="Cambria"/>
              </a:rPr>
              <a:t> + 3</a:t>
            </a:r>
            <a:r>
              <a:rPr sz="1500" b="1" i="1">
                <a:solidFill>
                  <a:srgbClr val="14202E"/>
                </a:solidFill>
                <a:latin typeface="Cambria"/>
              </a:rPr>
              <a:t>nT</a:t>
            </a:r>
            <a:r>
              <a:rPr sz="1500" b="1" i="1" baseline="-25000">
                <a:solidFill>
                  <a:srgbClr val="14202E"/>
                </a:solidFill>
                <a:latin typeface="Cambria"/>
              </a:rPr>
              <a:t>h</a:t>
            </a:r>
          </a:p>
        </p:txBody>
      </p:sp>
      <p:sp>
        <p:nvSpPr>
          <p:cNvPr id="20" name="TextBox 19"/>
          <p:cNvSpPr txBox="1"/>
          <p:nvPr/>
        </p:nvSpPr>
        <p:spPr>
          <a:xfrm>
            <a:off x="2551176" y="4114800"/>
            <a:ext cx="1426464" cy="1097280"/>
          </a:xfrm>
          <a:prstGeom prst="rect">
            <a:avLst/>
          </a:prstGeom>
          <a:noFill/>
        </p:spPr>
        <p:txBody>
          <a:bodyPr wrap="square" lIns="0" rIns="0" tIns="0" bIns="0" anchor="t">
            <a:spAutoFit/>
          </a:bodyPr>
          <a:lstStyle/>
          <a:p>
            <a:pPr algn="l">
              <a:lnSpc>
                <a:spcPct val="95000"/>
              </a:lnSpc>
              <a:spcBef>
                <a:spcPts val="0"/>
              </a:spcBef>
              <a:spcAft>
                <a:spcPts val="0"/>
              </a:spcAft>
            </a:pPr>
            <a:r>
              <a:rPr sz="1250" b="0" i="0">
                <a:solidFill>
                  <a:srgbClr val="5B6675"/>
                </a:solidFill>
                <a:latin typeface="Calibri"/>
              </a:rPr>
              <a:t>from the paper's own equation</a:t>
            </a:r>
          </a:p>
        </p:txBody>
      </p:sp>
      <p:cxnSp>
        <p:nvCxnSpPr>
          <p:cNvPr id="21" name="Connector 20"/>
          <p:cNvCxnSpPr/>
          <p:nvPr/>
        </p:nvCxnSpPr>
        <p:spPr>
          <a:xfrm>
            <a:off x="4087368" y="3108960"/>
            <a:ext cx="228600" cy="0"/>
          </a:xfrm>
          <a:prstGeom prst="line">
            <a:avLst/>
          </a:prstGeom>
          <a:ln w="28575">
            <a:solidFill>
              <a:srgbClr val="14202E"/>
            </a:solidFill>
            <a:tailEnd type="triangle" w="med" len="med"/>
          </a:ln>
        </p:spPr>
      </p:cxnSp>
      <p:sp>
        <p:nvSpPr>
          <p:cNvPr id="22" name="Rounded Rectangle 21"/>
          <p:cNvSpPr/>
          <p:nvPr/>
        </p:nvSpPr>
        <p:spPr>
          <a:xfrm>
            <a:off x="4334255" y="1645920"/>
            <a:ext cx="1627632" cy="3611880"/>
          </a:xfrm>
          <a:prstGeom prst="roundRect">
            <a:avLst>
              <a:gd name="adj" fmla="val 4494"/>
            </a:avLst>
          </a:prstGeom>
          <a:solidFill>
            <a:srgbClr val="FFFFFF"/>
          </a:solidFill>
          <a:ln w="15875">
            <a:solidFill>
              <a:srgbClr val="D3D9E1"/>
            </a:solidFill>
          </a:ln>
          <a:effectLst/>
        </p:spPr>
        <p:txBody>
          <a:bodyPr rtlCol="0" anchor="ctr" wrap="square" lIns="73152" rIns="73152" tIns="36576" bIns="36576"/>
          <a:lstStyle/>
          <a:p>
            <a:pPr algn="ctr"/>
          </a:p>
        </p:txBody>
      </p:sp>
      <p:sp>
        <p:nvSpPr>
          <p:cNvPr id="23" name="Rounded Rectangle 22"/>
          <p:cNvSpPr/>
          <p:nvPr/>
        </p:nvSpPr>
        <p:spPr>
          <a:xfrm>
            <a:off x="4334255" y="1645920"/>
            <a:ext cx="1627632" cy="118872"/>
          </a:xfrm>
          <a:prstGeom prst="roundRect">
            <a:avLst>
              <a:gd name="adj" fmla="val 46153"/>
            </a:avLst>
          </a:prstGeom>
          <a:solidFill>
            <a:srgbClr val="52606F"/>
          </a:solidFill>
          <a:ln>
            <a:noFill/>
          </a:ln>
          <a:effectLst/>
        </p:spPr>
        <p:txBody>
          <a:bodyPr rtlCol="0" anchor="ctr" wrap="square" lIns="73152" rIns="73152" tIns="36576" bIns="36576"/>
          <a:lstStyle/>
          <a:p>
            <a:pPr algn="ctr"/>
          </a:p>
        </p:txBody>
      </p:sp>
      <p:sp>
        <p:nvSpPr>
          <p:cNvPr id="24" name="TextBox 23"/>
          <p:cNvSpPr txBox="1"/>
          <p:nvPr/>
        </p:nvSpPr>
        <p:spPr>
          <a:xfrm>
            <a:off x="4443983" y="1874519"/>
            <a:ext cx="1444752" cy="457200"/>
          </a:xfrm>
          <a:prstGeom prst="rect">
            <a:avLst/>
          </a:prstGeom>
          <a:noFill/>
        </p:spPr>
        <p:txBody>
          <a:bodyPr wrap="square" lIns="0" rIns="0" tIns="0" bIns="0" anchor="t">
            <a:spAutoFit/>
          </a:bodyPr>
          <a:lstStyle/>
          <a:p>
            <a:pPr algn="l">
              <a:lnSpc>
                <a:spcPct val="95000"/>
              </a:lnSpc>
              <a:spcBef>
                <a:spcPts val="0"/>
              </a:spcBef>
              <a:spcAft>
                <a:spcPts val="0"/>
              </a:spcAft>
            </a:pPr>
            <a:r>
              <a:rPr sz="1150" b="1" i="0" spc="40">
                <a:solidFill>
                  <a:srgbClr val="52606F"/>
                </a:solidFill>
                <a:latin typeface="Calibri"/>
              </a:rPr>
              <a:t>3 · COST MODEL</a:t>
            </a:r>
          </a:p>
        </p:txBody>
      </p:sp>
      <p:sp>
        <p:nvSpPr>
          <p:cNvPr id="25" name="TextBox 24"/>
          <p:cNvSpPr txBox="1"/>
          <p:nvPr/>
        </p:nvSpPr>
        <p:spPr>
          <a:xfrm>
            <a:off x="4443983" y="2395728"/>
            <a:ext cx="1426464" cy="1737360"/>
          </a:xfrm>
          <a:prstGeom prst="rect">
            <a:avLst/>
          </a:prstGeom>
          <a:noFill/>
        </p:spPr>
        <p:txBody>
          <a:bodyPr wrap="square" lIns="0" rIns="0" tIns="0" bIns="0" anchor="t">
            <a:spAutoFit/>
          </a:bodyPr>
          <a:lstStyle/>
          <a:p>
            <a:pPr algn="l">
              <a:lnSpc>
                <a:spcPct val="98000"/>
              </a:lnSpc>
              <a:spcBef>
                <a:spcPts val="0"/>
              </a:spcBef>
              <a:spcAft>
                <a:spcPts val="0"/>
              </a:spcAft>
            </a:pPr>
            <a:r>
              <a:rPr sz="1500" b="1" i="1">
                <a:solidFill>
                  <a:srgbClr val="14202E"/>
                </a:solidFill>
                <a:latin typeface="Cambria"/>
              </a:rPr>
              <a:t>T</a:t>
            </a:r>
            <a:r>
              <a:rPr sz="1500" b="1" i="1" baseline="-25000">
                <a:solidFill>
                  <a:srgbClr val="14202E"/>
                </a:solidFill>
                <a:latin typeface="Cambria"/>
              </a:rPr>
              <a:t>e</a:t>
            </a:r>
            <a:r>
              <a:rPr sz="1500" b="1" i="0">
                <a:solidFill>
                  <a:srgbClr val="14202E"/>
                </a:solidFill>
                <a:latin typeface="Cambria"/>
              </a:rPr>
              <a:t> = 0.112</a:t>
            </a:r>
          </a:p>
          <a:p>
            <a:pPr algn="l">
              <a:lnSpc>
                <a:spcPct val="98000"/>
              </a:lnSpc>
              <a:spcBef>
                <a:spcPts val="0"/>
              </a:spcBef>
              <a:spcAft>
                <a:spcPts val="0"/>
              </a:spcAft>
            </a:pPr>
            <a:r>
              <a:rPr sz="1500" b="1" i="1">
                <a:solidFill>
                  <a:srgbClr val="14202E"/>
                </a:solidFill>
                <a:latin typeface="Cambria"/>
              </a:rPr>
              <a:t>T</a:t>
            </a:r>
            <a:r>
              <a:rPr sz="1500" b="1" i="1" baseline="-25000">
                <a:solidFill>
                  <a:srgbClr val="14202E"/>
                </a:solidFill>
                <a:latin typeface="Cambria"/>
              </a:rPr>
              <a:t>a</a:t>
            </a:r>
            <a:r>
              <a:rPr sz="1500" b="1" i="0">
                <a:solidFill>
                  <a:srgbClr val="14202E"/>
                </a:solidFill>
                <a:latin typeface="Cambria"/>
              </a:rPr>
              <a:t> = 0.005</a:t>
            </a:r>
          </a:p>
          <a:p>
            <a:pPr algn="l">
              <a:lnSpc>
                <a:spcPct val="98000"/>
              </a:lnSpc>
              <a:spcBef>
                <a:spcPts val="0"/>
              </a:spcBef>
              <a:spcAft>
                <a:spcPts val="0"/>
              </a:spcAft>
            </a:pPr>
            <a:r>
              <a:rPr sz="1500" b="1" i="1">
                <a:solidFill>
                  <a:srgbClr val="14202E"/>
                </a:solidFill>
                <a:latin typeface="Cambria"/>
              </a:rPr>
              <a:t>T</a:t>
            </a:r>
            <a:r>
              <a:rPr sz="1500" b="1" i="1" baseline="-25000">
                <a:solidFill>
                  <a:srgbClr val="14202E"/>
                </a:solidFill>
                <a:latin typeface="Cambria"/>
              </a:rPr>
              <a:t>h</a:t>
            </a:r>
            <a:r>
              <a:rPr sz="1500" b="1" i="0">
                <a:solidFill>
                  <a:srgbClr val="14202E"/>
                </a:solidFill>
                <a:latin typeface="Cambria"/>
              </a:rPr>
              <a:t> = 0.004</a:t>
            </a:r>
            <a:r>
              <a:rPr sz="1500" b="1" i="0">
                <a:solidFill>
                  <a:srgbClr val="14202E"/>
                </a:solidFill>
                <a:latin typeface="Calibri"/>
              </a:rPr>
              <a:t> ms</a:t>
            </a:r>
          </a:p>
        </p:txBody>
      </p:sp>
      <p:sp>
        <p:nvSpPr>
          <p:cNvPr id="26" name="TextBox 25"/>
          <p:cNvSpPr txBox="1"/>
          <p:nvPr/>
        </p:nvSpPr>
        <p:spPr>
          <a:xfrm>
            <a:off x="4443983" y="4114800"/>
            <a:ext cx="1426464" cy="1097280"/>
          </a:xfrm>
          <a:prstGeom prst="rect">
            <a:avLst/>
          </a:prstGeom>
          <a:noFill/>
        </p:spPr>
        <p:txBody>
          <a:bodyPr wrap="square" lIns="0" rIns="0" tIns="0" bIns="0" anchor="t">
            <a:spAutoFit/>
          </a:bodyPr>
          <a:lstStyle/>
          <a:p>
            <a:pPr algn="l">
              <a:lnSpc>
                <a:spcPct val="95000"/>
              </a:lnSpc>
              <a:spcBef>
                <a:spcPts val="0"/>
              </a:spcBef>
              <a:spcAft>
                <a:spcPts val="0"/>
              </a:spcAft>
            </a:pPr>
            <a:r>
              <a:rPr sz="1250" b="0" i="0">
                <a:solidFill>
                  <a:srgbClr val="5B6675"/>
                </a:solidFill>
                <a:latin typeface="Calibri"/>
              </a:rPr>
              <a:t>Table IV</a:t>
            </a:r>
          </a:p>
        </p:txBody>
      </p:sp>
      <p:cxnSp>
        <p:nvCxnSpPr>
          <p:cNvPr id="27" name="Connector 26"/>
          <p:cNvCxnSpPr/>
          <p:nvPr/>
        </p:nvCxnSpPr>
        <p:spPr>
          <a:xfrm>
            <a:off x="5980175" y="3108960"/>
            <a:ext cx="228601" cy="0"/>
          </a:xfrm>
          <a:prstGeom prst="line">
            <a:avLst/>
          </a:prstGeom>
          <a:ln w="28575">
            <a:solidFill>
              <a:srgbClr val="14202E"/>
            </a:solidFill>
            <a:tailEnd type="triangle" w="med" len="med"/>
          </a:ln>
        </p:spPr>
      </p:cxnSp>
      <p:sp>
        <p:nvSpPr>
          <p:cNvPr id="28" name="Rounded Rectangle 27"/>
          <p:cNvSpPr/>
          <p:nvPr/>
        </p:nvSpPr>
        <p:spPr>
          <a:xfrm>
            <a:off x="6227063" y="1645920"/>
            <a:ext cx="1627632" cy="3611880"/>
          </a:xfrm>
          <a:prstGeom prst="roundRect">
            <a:avLst>
              <a:gd name="adj" fmla="val 4494"/>
            </a:avLst>
          </a:prstGeom>
          <a:solidFill>
            <a:srgbClr val="FFFFFF"/>
          </a:solidFill>
          <a:ln w="15875">
            <a:solidFill>
              <a:srgbClr val="D3D9E1"/>
            </a:solidFill>
          </a:ln>
          <a:effectLst/>
        </p:spPr>
        <p:txBody>
          <a:bodyPr rtlCol="0" anchor="ctr" wrap="square" lIns="73152" rIns="73152" tIns="36576" bIns="36576"/>
          <a:lstStyle/>
          <a:p>
            <a:pPr algn="ctr"/>
          </a:p>
        </p:txBody>
      </p:sp>
      <p:sp>
        <p:nvSpPr>
          <p:cNvPr id="29" name="Rounded Rectangle 28"/>
          <p:cNvSpPr/>
          <p:nvPr/>
        </p:nvSpPr>
        <p:spPr>
          <a:xfrm>
            <a:off x="6227063" y="1645920"/>
            <a:ext cx="1627632" cy="118872"/>
          </a:xfrm>
          <a:prstGeom prst="roundRect">
            <a:avLst>
              <a:gd name="adj" fmla="val 46153"/>
            </a:avLst>
          </a:prstGeom>
          <a:solidFill>
            <a:srgbClr val="A21F6B"/>
          </a:solidFill>
          <a:ln>
            <a:noFill/>
          </a:ln>
          <a:effectLst/>
        </p:spPr>
        <p:txBody>
          <a:bodyPr rtlCol="0" anchor="ctr" wrap="square" lIns="73152" rIns="73152" tIns="36576" bIns="36576"/>
          <a:lstStyle/>
          <a:p>
            <a:pPr algn="ctr"/>
          </a:p>
        </p:txBody>
      </p:sp>
      <p:sp>
        <p:nvSpPr>
          <p:cNvPr id="30" name="TextBox 29"/>
          <p:cNvSpPr txBox="1"/>
          <p:nvPr/>
        </p:nvSpPr>
        <p:spPr>
          <a:xfrm>
            <a:off x="6336791" y="1874519"/>
            <a:ext cx="1444752" cy="457200"/>
          </a:xfrm>
          <a:prstGeom prst="rect">
            <a:avLst/>
          </a:prstGeom>
          <a:noFill/>
        </p:spPr>
        <p:txBody>
          <a:bodyPr wrap="square" lIns="0" rIns="0" tIns="0" bIns="0" anchor="t">
            <a:spAutoFit/>
          </a:bodyPr>
          <a:lstStyle/>
          <a:p>
            <a:pPr algn="l">
              <a:lnSpc>
                <a:spcPct val="95000"/>
              </a:lnSpc>
              <a:spcBef>
                <a:spcPts val="0"/>
              </a:spcBef>
              <a:spcAft>
                <a:spcPts val="0"/>
              </a:spcAft>
            </a:pPr>
            <a:r>
              <a:rPr sz="1150" b="1" i="0" spc="40">
                <a:solidFill>
                  <a:srgbClr val="A21F6B"/>
                </a:solidFill>
                <a:latin typeface="Calibri"/>
              </a:rPr>
              <a:t>4 · EXPECTED TIME</a:t>
            </a:r>
          </a:p>
        </p:txBody>
      </p:sp>
      <p:sp>
        <p:nvSpPr>
          <p:cNvPr id="31" name="TextBox 30"/>
          <p:cNvSpPr txBox="1"/>
          <p:nvPr/>
        </p:nvSpPr>
        <p:spPr>
          <a:xfrm>
            <a:off x="6336791" y="2395728"/>
            <a:ext cx="1426464" cy="1737360"/>
          </a:xfrm>
          <a:prstGeom prst="rect">
            <a:avLst/>
          </a:prstGeom>
          <a:noFill/>
        </p:spPr>
        <p:txBody>
          <a:bodyPr wrap="square" lIns="0" rIns="0" tIns="0" bIns="0" anchor="t">
            <a:spAutoFit/>
          </a:bodyPr>
          <a:lstStyle/>
          <a:p>
            <a:pPr algn="l">
              <a:lnSpc>
                <a:spcPct val="98000"/>
              </a:lnSpc>
              <a:spcBef>
                <a:spcPts val="0"/>
              </a:spcBef>
              <a:spcAft>
                <a:spcPts val="0"/>
              </a:spcAft>
            </a:pPr>
            <a:r>
              <a:rPr sz="1500" b="1" i="0">
                <a:solidFill>
                  <a:srgbClr val="14202E"/>
                </a:solidFill>
                <a:latin typeface="Calibri"/>
              </a:rPr>
              <a:t>n = 100:</a:t>
            </a:r>
          </a:p>
          <a:p>
            <a:pPr algn="l">
              <a:lnSpc>
                <a:spcPct val="98000"/>
              </a:lnSpc>
              <a:spcBef>
                <a:spcPts val="0"/>
              </a:spcBef>
              <a:spcAft>
                <a:spcPts val="0"/>
              </a:spcAft>
            </a:pPr>
            <a:r>
              <a:rPr sz="1500" b="1" i="0">
                <a:solidFill>
                  <a:srgbClr val="14202E"/>
                </a:solidFill>
                <a:latin typeface="Calibri"/>
              </a:rPr>
              <a:t>12.729 ms printed</a:t>
            </a:r>
          </a:p>
          <a:p>
            <a:pPr algn="l">
              <a:lnSpc>
                <a:spcPct val="98000"/>
              </a:lnSpc>
              <a:spcBef>
                <a:spcPts val="0"/>
              </a:spcBef>
              <a:spcAft>
                <a:spcPts val="0"/>
              </a:spcAft>
            </a:pPr>
            <a:r>
              <a:rPr sz="1500" b="1" i="0">
                <a:solidFill>
                  <a:srgbClr val="14202E"/>
                </a:solidFill>
                <a:latin typeface="Calibri"/>
              </a:rPr>
              <a:t>25.324 ms recount</a:t>
            </a:r>
          </a:p>
        </p:txBody>
      </p:sp>
      <p:sp>
        <p:nvSpPr>
          <p:cNvPr id="32" name="TextBox 31"/>
          <p:cNvSpPr txBox="1"/>
          <p:nvPr/>
        </p:nvSpPr>
        <p:spPr>
          <a:xfrm>
            <a:off x="6336791" y="4114800"/>
            <a:ext cx="1426464" cy="1097280"/>
          </a:xfrm>
          <a:prstGeom prst="rect">
            <a:avLst/>
          </a:prstGeom>
          <a:noFill/>
        </p:spPr>
        <p:txBody>
          <a:bodyPr wrap="square" lIns="0" rIns="0" tIns="0" bIns="0" anchor="t">
            <a:spAutoFit/>
          </a:bodyPr>
          <a:lstStyle/>
          <a:p>
            <a:pPr algn="l">
              <a:lnSpc>
                <a:spcPct val="95000"/>
              </a:lnSpc>
              <a:spcBef>
                <a:spcPts val="0"/>
              </a:spcBef>
              <a:spcAft>
                <a:spcPts val="0"/>
              </a:spcAft>
            </a:pPr>
            <a:r>
              <a:rPr sz="1250" b="0" i="0">
                <a:solidFill>
                  <a:srgbClr val="5B6675"/>
                </a:solidFill>
                <a:latin typeface="Calibri"/>
              </a:rPr>
              <a:t>model arithmetic</a:t>
            </a:r>
          </a:p>
        </p:txBody>
      </p:sp>
      <p:cxnSp>
        <p:nvCxnSpPr>
          <p:cNvPr id="33" name="Connector 32"/>
          <p:cNvCxnSpPr/>
          <p:nvPr/>
        </p:nvCxnSpPr>
        <p:spPr>
          <a:xfrm>
            <a:off x="7872983" y="3108960"/>
            <a:ext cx="228600" cy="0"/>
          </a:xfrm>
          <a:prstGeom prst="line">
            <a:avLst/>
          </a:prstGeom>
          <a:ln w="28575">
            <a:solidFill>
              <a:srgbClr val="14202E"/>
            </a:solidFill>
            <a:tailEnd type="triangle" w="med" len="med"/>
          </a:ln>
        </p:spPr>
      </p:cxnSp>
      <p:sp>
        <p:nvSpPr>
          <p:cNvPr id="34" name="Rounded Rectangle 33"/>
          <p:cNvSpPr/>
          <p:nvPr/>
        </p:nvSpPr>
        <p:spPr>
          <a:xfrm>
            <a:off x="8119871" y="1645920"/>
            <a:ext cx="1627632" cy="3611880"/>
          </a:xfrm>
          <a:prstGeom prst="roundRect">
            <a:avLst>
              <a:gd name="adj" fmla="val 4494"/>
            </a:avLst>
          </a:prstGeom>
          <a:solidFill>
            <a:srgbClr val="FFFFFF"/>
          </a:solidFill>
          <a:ln w="15875">
            <a:solidFill>
              <a:srgbClr val="D3D9E1"/>
            </a:solidFill>
          </a:ln>
          <a:effectLst/>
        </p:spPr>
        <p:txBody>
          <a:bodyPr rtlCol="0" anchor="ctr" wrap="square" lIns="73152" rIns="73152" tIns="36576" bIns="36576"/>
          <a:lstStyle/>
          <a:p>
            <a:pPr algn="ctr"/>
          </a:p>
        </p:txBody>
      </p:sp>
      <p:sp>
        <p:nvSpPr>
          <p:cNvPr id="35" name="Rounded Rectangle 34"/>
          <p:cNvSpPr/>
          <p:nvPr/>
        </p:nvSpPr>
        <p:spPr>
          <a:xfrm>
            <a:off x="8119871" y="1645920"/>
            <a:ext cx="1627632" cy="118872"/>
          </a:xfrm>
          <a:prstGeom prst="roundRect">
            <a:avLst>
              <a:gd name="adj" fmla="val 46153"/>
            </a:avLst>
          </a:prstGeom>
          <a:solidFill>
            <a:srgbClr val="4B4BB8"/>
          </a:solidFill>
          <a:ln>
            <a:noFill/>
          </a:ln>
          <a:effectLst/>
        </p:spPr>
        <p:txBody>
          <a:bodyPr rtlCol="0" anchor="ctr" wrap="square" lIns="73152" rIns="73152" tIns="36576" bIns="36576"/>
          <a:lstStyle/>
          <a:p>
            <a:pPr algn="ctr"/>
          </a:p>
        </p:txBody>
      </p:sp>
      <p:sp>
        <p:nvSpPr>
          <p:cNvPr id="36" name="TextBox 35"/>
          <p:cNvSpPr txBox="1"/>
          <p:nvPr/>
        </p:nvSpPr>
        <p:spPr>
          <a:xfrm>
            <a:off x="8229599" y="1874519"/>
            <a:ext cx="1444752" cy="457200"/>
          </a:xfrm>
          <a:prstGeom prst="rect">
            <a:avLst/>
          </a:prstGeom>
          <a:noFill/>
        </p:spPr>
        <p:txBody>
          <a:bodyPr wrap="square" lIns="0" rIns="0" tIns="0" bIns="0" anchor="t">
            <a:spAutoFit/>
          </a:bodyPr>
          <a:lstStyle/>
          <a:p>
            <a:pPr algn="l">
              <a:lnSpc>
                <a:spcPct val="95000"/>
              </a:lnSpc>
              <a:spcBef>
                <a:spcPts val="0"/>
              </a:spcBef>
              <a:spcAft>
                <a:spcPts val="0"/>
              </a:spcAft>
            </a:pPr>
            <a:r>
              <a:rPr sz="1150" b="1" i="0" spc="40">
                <a:solidFill>
                  <a:srgbClr val="4B4BB8"/>
                </a:solidFill>
                <a:latin typeface="Calibri"/>
              </a:rPr>
              <a:t>5 · MEASURED TIME</a:t>
            </a:r>
          </a:p>
        </p:txBody>
      </p:sp>
      <p:sp>
        <p:nvSpPr>
          <p:cNvPr id="37" name="TextBox 36"/>
          <p:cNvSpPr txBox="1"/>
          <p:nvPr/>
        </p:nvSpPr>
        <p:spPr>
          <a:xfrm>
            <a:off x="8229599" y="2395728"/>
            <a:ext cx="1426464" cy="1737360"/>
          </a:xfrm>
          <a:prstGeom prst="rect">
            <a:avLst/>
          </a:prstGeom>
          <a:noFill/>
        </p:spPr>
        <p:txBody>
          <a:bodyPr wrap="square" lIns="0" rIns="0" tIns="0" bIns="0" anchor="t">
            <a:spAutoFit/>
          </a:bodyPr>
          <a:lstStyle/>
          <a:p>
            <a:pPr algn="l">
              <a:lnSpc>
                <a:spcPct val="98000"/>
              </a:lnSpc>
              <a:spcBef>
                <a:spcPts val="0"/>
              </a:spcBef>
              <a:spcAft>
                <a:spcPts val="0"/>
              </a:spcAft>
            </a:pPr>
            <a:r>
              <a:rPr sz="1500" b="1" i="0">
                <a:solidFill>
                  <a:srgbClr val="14202E"/>
                </a:solidFill>
                <a:latin typeface="Calibri"/>
              </a:rPr>
              <a:t>per-signer ratio, Qiao ÷ Verma:</a:t>
            </a:r>
          </a:p>
          <a:p>
            <a:pPr algn="l">
              <a:lnSpc>
                <a:spcPct val="98000"/>
              </a:lnSpc>
              <a:spcBef>
                <a:spcPts val="0"/>
              </a:spcBef>
              <a:spcAft>
                <a:spcPts val="0"/>
              </a:spcAft>
            </a:pPr>
            <a:r>
              <a:rPr sz="1500" b="1" i="0">
                <a:solidFill>
                  <a:srgbClr val="14202E"/>
                </a:solidFill>
                <a:latin typeface="Calibri"/>
              </a:rPr>
              <a:t>2.12 – 2.37</a:t>
            </a:r>
          </a:p>
        </p:txBody>
      </p:sp>
      <p:sp>
        <p:nvSpPr>
          <p:cNvPr id="38" name="TextBox 37"/>
          <p:cNvSpPr txBox="1"/>
          <p:nvPr/>
        </p:nvSpPr>
        <p:spPr>
          <a:xfrm>
            <a:off x="8229599" y="4114800"/>
            <a:ext cx="1426464" cy="1097280"/>
          </a:xfrm>
          <a:prstGeom prst="rect">
            <a:avLst/>
          </a:prstGeom>
          <a:noFill/>
        </p:spPr>
        <p:txBody>
          <a:bodyPr wrap="square" lIns="0" rIns="0" tIns="0" bIns="0" anchor="t">
            <a:spAutoFit/>
          </a:bodyPr>
          <a:lstStyle/>
          <a:p>
            <a:pPr algn="l">
              <a:lnSpc>
                <a:spcPct val="95000"/>
              </a:lnSpc>
              <a:spcBef>
                <a:spcPts val="0"/>
              </a:spcBef>
              <a:spcAft>
                <a:spcPts val="0"/>
              </a:spcAft>
            </a:pPr>
            <a:r>
              <a:rPr sz="1250" b="0" i="0">
                <a:solidFill>
                  <a:srgbClr val="5B6675"/>
                </a:solidFill>
                <a:latin typeface="Calibri"/>
              </a:rPr>
              <a:t>slopes, 3 configurations</a:t>
            </a:r>
          </a:p>
        </p:txBody>
      </p:sp>
      <p:cxnSp>
        <p:nvCxnSpPr>
          <p:cNvPr id="39" name="Connector 38"/>
          <p:cNvCxnSpPr/>
          <p:nvPr/>
        </p:nvCxnSpPr>
        <p:spPr>
          <a:xfrm>
            <a:off x="9765791" y="3108960"/>
            <a:ext cx="228600" cy="0"/>
          </a:xfrm>
          <a:prstGeom prst="line">
            <a:avLst/>
          </a:prstGeom>
          <a:ln w="28575">
            <a:solidFill>
              <a:srgbClr val="14202E"/>
            </a:solidFill>
            <a:tailEnd type="triangle" w="med" len="med"/>
          </a:ln>
        </p:spPr>
      </p:cxnSp>
      <p:sp>
        <p:nvSpPr>
          <p:cNvPr id="40" name="Rounded Rectangle 39"/>
          <p:cNvSpPr/>
          <p:nvPr/>
        </p:nvSpPr>
        <p:spPr>
          <a:xfrm>
            <a:off x="10012680" y="1645920"/>
            <a:ext cx="1627632" cy="3611880"/>
          </a:xfrm>
          <a:prstGeom prst="roundRect">
            <a:avLst>
              <a:gd name="adj" fmla="val 4494"/>
            </a:avLst>
          </a:prstGeom>
          <a:solidFill>
            <a:srgbClr val="FFFFFF"/>
          </a:solidFill>
          <a:ln w="15875">
            <a:solidFill>
              <a:srgbClr val="D3D9E1"/>
            </a:solidFill>
          </a:ln>
          <a:effectLst/>
        </p:spPr>
        <p:txBody>
          <a:bodyPr rtlCol="0" anchor="ctr" wrap="square" lIns="73152" rIns="73152" tIns="36576" bIns="36576"/>
          <a:lstStyle/>
          <a:p>
            <a:pPr algn="ctr"/>
          </a:p>
        </p:txBody>
      </p:sp>
      <p:sp>
        <p:nvSpPr>
          <p:cNvPr id="41" name="Rounded Rectangle 40"/>
          <p:cNvSpPr/>
          <p:nvPr/>
        </p:nvSpPr>
        <p:spPr>
          <a:xfrm>
            <a:off x="10012680" y="1645920"/>
            <a:ext cx="1627632" cy="118872"/>
          </a:xfrm>
          <a:prstGeom prst="roundRect">
            <a:avLst>
              <a:gd name="adj" fmla="val 46153"/>
            </a:avLst>
          </a:prstGeom>
          <a:solidFill>
            <a:srgbClr val="14202E"/>
          </a:solidFill>
          <a:ln>
            <a:noFill/>
          </a:ln>
          <a:effectLst/>
        </p:spPr>
        <p:txBody>
          <a:bodyPr rtlCol="0" anchor="ctr" wrap="square" lIns="73152" rIns="73152" tIns="36576" bIns="36576"/>
          <a:lstStyle/>
          <a:p>
            <a:pPr algn="ctr"/>
          </a:p>
        </p:txBody>
      </p:sp>
      <p:sp>
        <p:nvSpPr>
          <p:cNvPr id="42" name="TextBox 41"/>
          <p:cNvSpPr txBox="1"/>
          <p:nvPr/>
        </p:nvSpPr>
        <p:spPr>
          <a:xfrm>
            <a:off x="10122407" y="1874519"/>
            <a:ext cx="1444752" cy="457200"/>
          </a:xfrm>
          <a:prstGeom prst="rect">
            <a:avLst/>
          </a:prstGeom>
          <a:noFill/>
        </p:spPr>
        <p:txBody>
          <a:bodyPr wrap="square" lIns="0" rIns="0" tIns="0" bIns="0" anchor="t">
            <a:spAutoFit/>
          </a:bodyPr>
          <a:lstStyle/>
          <a:p>
            <a:pPr algn="l">
              <a:lnSpc>
                <a:spcPct val="95000"/>
              </a:lnSpc>
              <a:spcBef>
                <a:spcPts val="0"/>
              </a:spcBef>
              <a:spcAft>
                <a:spcPts val="0"/>
              </a:spcAft>
            </a:pPr>
            <a:r>
              <a:rPr sz="1150" b="1" i="0" spc="40">
                <a:solidFill>
                  <a:srgbClr val="14202E"/>
                </a:solidFill>
                <a:latin typeface="Calibri"/>
              </a:rPr>
              <a:t>6 · COMPARISON</a:t>
            </a:r>
          </a:p>
        </p:txBody>
      </p:sp>
      <p:sp>
        <p:nvSpPr>
          <p:cNvPr id="43" name="TextBox 42"/>
          <p:cNvSpPr txBox="1"/>
          <p:nvPr/>
        </p:nvSpPr>
        <p:spPr>
          <a:xfrm>
            <a:off x="10122407" y="2395728"/>
            <a:ext cx="1426464" cy="1737360"/>
          </a:xfrm>
          <a:prstGeom prst="rect">
            <a:avLst/>
          </a:prstGeom>
          <a:noFill/>
        </p:spPr>
        <p:txBody>
          <a:bodyPr wrap="square" lIns="0" rIns="0" tIns="0" bIns="0" anchor="t">
            <a:spAutoFit/>
          </a:bodyPr>
          <a:lstStyle/>
          <a:p>
            <a:pPr algn="l">
              <a:lnSpc>
                <a:spcPct val="98000"/>
              </a:lnSpc>
              <a:spcBef>
                <a:spcPts val="0"/>
              </a:spcBef>
              <a:spcAft>
                <a:spcPts val="0"/>
              </a:spcAft>
            </a:pPr>
            <a:r>
              <a:rPr sz="1500" b="1" i="0">
                <a:solidFill>
                  <a:srgbClr val="14202E"/>
                </a:solidFill>
                <a:latin typeface="Calibri"/>
              </a:rPr>
              <a:t>printed rows imply 1.00</a:t>
            </a:r>
          </a:p>
          <a:p>
            <a:pPr algn="l">
              <a:lnSpc>
                <a:spcPct val="98000"/>
              </a:lnSpc>
              <a:spcBef>
                <a:spcPts val="0"/>
              </a:spcBef>
              <a:spcAft>
                <a:spcPts val="0"/>
              </a:spcAft>
            </a:pPr>
            <a:r>
              <a:rPr sz="1500" b="1" i="0">
                <a:solidFill>
                  <a:srgbClr val="14202E"/>
                </a:solidFill>
                <a:latin typeface="Calibri"/>
              </a:rPr>
              <a:t>counts predict 1.99 – 2.14</a:t>
            </a:r>
          </a:p>
          <a:p>
            <a:pPr algn="l">
              <a:lnSpc>
                <a:spcPct val="98000"/>
              </a:lnSpc>
              <a:spcBef>
                <a:spcPts val="0"/>
              </a:spcBef>
              <a:spcAft>
                <a:spcPts val="0"/>
              </a:spcAft>
            </a:pPr>
            <a:r>
              <a:rPr sz="1500" b="1" i="0">
                <a:solidFill>
                  <a:srgbClr val="14202E"/>
                </a:solidFill>
                <a:latin typeface="Calibri"/>
              </a:rPr>
              <a:t>measured 2.12 – 2.37</a:t>
            </a:r>
          </a:p>
        </p:txBody>
      </p:sp>
      <p:sp>
        <p:nvSpPr>
          <p:cNvPr id="44" name="TextBox 43"/>
          <p:cNvSpPr txBox="1"/>
          <p:nvPr/>
        </p:nvSpPr>
        <p:spPr>
          <a:xfrm>
            <a:off x="10122407" y="4114800"/>
            <a:ext cx="1426464" cy="1097280"/>
          </a:xfrm>
          <a:prstGeom prst="rect">
            <a:avLst/>
          </a:prstGeom>
          <a:noFill/>
        </p:spPr>
        <p:txBody>
          <a:bodyPr wrap="square" lIns="0" rIns="0" tIns="0" bIns="0" anchor="t">
            <a:spAutoFit/>
          </a:bodyPr>
          <a:lstStyle/>
          <a:p>
            <a:pPr algn="l">
              <a:lnSpc>
                <a:spcPct val="95000"/>
              </a:lnSpc>
              <a:spcBef>
                <a:spcPts val="0"/>
              </a:spcBef>
              <a:spcAft>
                <a:spcPts val="0"/>
              </a:spcAft>
            </a:pPr>
            <a:r>
              <a:rPr sz="1250" b="0" i="0">
                <a:solidFill>
                  <a:srgbClr val="5B6675"/>
                </a:solidFill>
                <a:latin typeface="Calibri"/>
              </a:rPr>
              <a:t>the printed rows do not survive</a:t>
            </a:r>
          </a:p>
        </p:txBody>
      </p:sp>
      <p:sp>
        <p:nvSpPr>
          <p:cNvPr id="45" name="Rectangle 44"/>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46" name="TextBox 45"/>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800" b="1" i="0">
                <a:solidFill>
                  <a:srgbClr val="14202E"/>
                </a:solidFill>
                <a:latin typeface="Calibri"/>
              </a:rPr>
              <a:t>We do not jump from “12.729 ms” to “the paper is wrong”. Every step can be checked on its own.</a:t>
            </a:r>
          </a:p>
        </p:txBody>
      </p:sp>
      <p:sp>
        <p:nvSpPr>
          <p:cNvPr id="47" name="PresenterCue"/>
          <p:cNvSpPr/>
          <p:nvPr/>
        </p:nvSpPr>
        <p:spPr>
          <a:xfrm>
            <a:off x="8503920" y="1033271"/>
            <a:ext cx="3136392" cy="457200"/>
          </a:xfrm>
          <a:prstGeom prst="roundRect">
            <a:avLst>
              <a:gd name="adj" fmla="val 10000"/>
            </a:avLst>
          </a:prstGeom>
          <a:solidFill>
            <a:srgbClr val="FFF3B0"/>
          </a:solidFill>
          <a:ln w="12700">
            <a:solidFill>
              <a:srgbClr val="D9B93A"/>
            </a:solidFill>
          </a:ln>
          <a:effectLst/>
        </p:spPr>
        <p:txBody>
          <a:bodyPr rtlCol="0" anchor="ctr" wrap="square" tIns="36576" bIns="36576"/>
          <a:lstStyle/>
          <a:p>
            <a:pPr algn="l">
              <a:lnSpc>
                <a:spcPct val="92000"/>
              </a:lnSpc>
              <a:spcBef>
                <a:spcPts val="0"/>
              </a:spcBef>
              <a:spcAft>
                <a:spcPts val="0"/>
              </a:spcAft>
            </a:pPr>
            <a:r>
              <a:rPr sz="850" b="1" i="0">
                <a:solidFill>
                  <a:srgbClr val="8A6D00"/>
                </a:solidFill>
                <a:latin typeface="Calibri"/>
              </a:rPr>
              <a:t>PRESENTER CUE</a:t>
            </a:r>
          </a:p>
          <a:p>
            <a:pPr algn="l">
              <a:lnSpc>
                <a:spcPct val="92000"/>
              </a:lnSpc>
              <a:spcBef>
                <a:spcPts val="0"/>
              </a:spcBef>
              <a:spcAft>
                <a:spcPts val="0"/>
              </a:spcAft>
            </a:pPr>
            <a:r>
              <a:rPr sz="1250" b="0" i="0">
                <a:solidFill>
                  <a:srgbClr val="4A3B00"/>
                </a:solidFill>
                <a:latin typeface="Calibri"/>
              </a:rPr>
              <a:t>Equation → count → cost → measure.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VI · EVIDENCE CHAIN 2 / 6 · OPERATION COUNT</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Counting the operations in the paper's own equation</a:t>
            </a:r>
          </a:p>
        </p:txBody>
      </p:sp>
      <p:sp>
        <p:nvSpPr>
          <p:cNvPr id="4" name="Rounded Rectangle 3"/>
          <p:cNvSpPr/>
          <p:nvPr/>
        </p:nvSpPr>
        <p:spPr>
          <a:xfrm>
            <a:off x="10736884" y="274320"/>
            <a:ext cx="903427" cy="246888"/>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OUR AUDIT</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26 / 32</a:t>
            </a:r>
          </a:p>
        </p:txBody>
      </p:sp>
      <p:sp>
        <p:nvSpPr>
          <p:cNvPr id="8" name="Rectangle 7"/>
          <p:cNvSpPr/>
          <p:nvPr/>
        </p:nvSpPr>
        <p:spPr>
          <a:xfrm>
            <a:off x="548640" y="1600200"/>
            <a:ext cx="5669280" cy="365760"/>
          </a:xfrm>
          <a:prstGeom prst="rect">
            <a:avLst/>
          </a:prstGeom>
          <a:solidFill>
            <a:srgbClr val="F2F5F8"/>
          </a:solidFill>
          <a:ln>
            <a:noFill/>
          </a:ln>
          <a:effectLst/>
        </p:spPr>
        <p:txBody>
          <a:bodyPr rtlCol="0" anchor="ctr" wrap="square" lIns="73152" rIns="73152" tIns="36576" bIns="36576"/>
          <a:lstStyle/>
          <a:p>
            <a:pPr algn="ctr"/>
          </a:p>
        </p:txBody>
      </p:sp>
      <p:sp>
        <p:nvSpPr>
          <p:cNvPr id="9" name="TextBox 8"/>
          <p:cNvSpPr txBox="1"/>
          <p:nvPr/>
        </p:nvSpPr>
        <p:spPr>
          <a:xfrm>
            <a:off x="640080" y="1600200"/>
            <a:ext cx="2971800" cy="36576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TERM OF THE EQUATION</a:t>
            </a:r>
          </a:p>
        </p:txBody>
      </p:sp>
      <p:sp>
        <p:nvSpPr>
          <p:cNvPr id="10" name="TextBox 9"/>
          <p:cNvSpPr txBox="1"/>
          <p:nvPr/>
        </p:nvSpPr>
        <p:spPr>
          <a:xfrm>
            <a:off x="3794759" y="1600200"/>
            <a:ext cx="914400" cy="365760"/>
          </a:xfrm>
          <a:prstGeom prst="rect">
            <a:avLst/>
          </a:prstGeom>
          <a:noFill/>
        </p:spPr>
        <p:txBody>
          <a:bodyPr wrap="square" lIns="0" rIns="0" tIns="0" bIns="0" anchor="ctr">
            <a:spAutoFit/>
          </a:bodyPr>
          <a:lstStyle/>
          <a:p>
            <a:pPr algn="ctr">
              <a:spcBef>
                <a:spcPts val="0"/>
              </a:spcBef>
              <a:spcAft>
                <a:spcPts val="0"/>
              </a:spcAft>
            </a:pPr>
            <a:r>
              <a:rPr sz="1150" b="1" i="1" spc="60">
                <a:solidFill>
                  <a:srgbClr val="5B6675"/>
                </a:solidFill>
                <a:latin typeface="Cambria"/>
              </a:rPr>
              <a:t>T</a:t>
            </a:r>
            <a:r>
              <a:rPr sz="1150" b="1" i="1" baseline="-25000" spc="60">
                <a:solidFill>
                  <a:srgbClr val="5B6675"/>
                </a:solidFill>
                <a:latin typeface="Cambria"/>
              </a:rPr>
              <a:t>e</a:t>
            </a:r>
          </a:p>
        </p:txBody>
      </p:sp>
      <p:sp>
        <p:nvSpPr>
          <p:cNvPr id="11" name="TextBox 10"/>
          <p:cNvSpPr txBox="1"/>
          <p:nvPr/>
        </p:nvSpPr>
        <p:spPr>
          <a:xfrm>
            <a:off x="4892040" y="1600200"/>
            <a:ext cx="1234440" cy="365760"/>
          </a:xfrm>
          <a:prstGeom prst="rect">
            <a:avLst/>
          </a:prstGeom>
          <a:noFill/>
        </p:spPr>
        <p:txBody>
          <a:bodyPr wrap="square" lIns="0" rIns="0" tIns="0" bIns="0" anchor="ctr">
            <a:spAutoFit/>
          </a:bodyPr>
          <a:lstStyle/>
          <a:p>
            <a:pPr algn="ctr">
              <a:spcBef>
                <a:spcPts val="0"/>
              </a:spcBef>
              <a:spcAft>
                <a:spcPts val="0"/>
              </a:spcAft>
            </a:pPr>
            <a:r>
              <a:rPr sz="1150" b="1" i="1" spc="60">
                <a:solidFill>
                  <a:srgbClr val="5B6675"/>
                </a:solidFill>
                <a:latin typeface="Cambria"/>
              </a:rPr>
              <a:t>T</a:t>
            </a:r>
            <a:r>
              <a:rPr sz="1150" b="1" i="1" baseline="-25000" spc="60">
                <a:solidFill>
                  <a:srgbClr val="5B6675"/>
                </a:solidFill>
                <a:latin typeface="Cambria"/>
              </a:rPr>
              <a:t>a</a:t>
            </a:r>
          </a:p>
        </p:txBody>
      </p:sp>
      <p:cxnSp>
        <p:nvCxnSpPr>
          <p:cNvPr id="12" name="Connector 11"/>
          <p:cNvCxnSpPr/>
          <p:nvPr/>
        </p:nvCxnSpPr>
        <p:spPr>
          <a:xfrm>
            <a:off x="548640" y="1965960"/>
            <a:ext cx="5669280" cy="0"/>
          </a:xfrm>
          <a:prstGeom prst="line">
            <a:avLst/>
          </a:prstGeom>
          <a:ln w="15875">
            <a:solidFill>
              <a:srgbClr val="5B6675"/>
            </a:solidFill>
          </a:ln>
        </p:spPr>
      </p:cxnSp>
      <p:sp>
        <p:nvSpPr>
          <p:cNvPr id="13" name="TextBox 12"/>
          <p:cNvSpPr txBox="1"/>
          <p:nvPr/>
        </p:nvSpPr>
        <p:spPr>
          <a:xfrm>
            <a:off x="640080" y="1965960"/>
            <a:ext cx="2971800" cy="384048"/>
          </a:xfrm>
          <a:prstGeom prst="rect">
            <a:avLst/>
          </a:prstGeom>
          <a:noFill/>
        </p:spPr>
        <p:txBody>
          <a:bodyPr wrap="square" lIns="0" rIns="0" tIns="0" bIns="0" anchor="ctr">
            <a:spAutoFit/>
          </a:bodyPr>
          <a:lstStyle/>
          <a:p>
            <a:pPr algn="l">
              <a:spcBef>
                <a:spcPts val="0"/>
              </a:spcBef>
              <a:spcAft>
                <a:spcPts val="0"/>
              </a:spcAft>
            </a:pPr>
            <a:r>
              <a:rPr sz="1600" b="0" i="1">
                <a:solidFill>
                  <a:srgbClr val="14202E"/>
                </a:solidFill>
                <a:latin typeface="Cambria"/>
              </a:rPr>
              <a:t>zP</a:t>
            </a:r>
          </a:p>
        </p:txBody>
      </p:sp>
      <p:sp>
        <p:nvSpPr>
          <p:cNvPr id="14" name="TextBox 13"/>
          <p:cNvSpPr txBox="1"/>
          <p:nvPr/>
        </p:nvSpPr>
        <p:spPr>
          <a:xfrm>
            <a:off x="3794759" y="1965960"/>
            <a:ext cx="914400" cy="384048"/>
          </a:xfrm>
          <a:prstGeom prst="rect">
            <a:avLst/>
          </a:prstGeom>
          <a:noFill/>
        </p:spPr>
        <p:txBody>
          <a:bodyPr wrap="square" lIns="0" rIns="0" tIns="0" bIns="0" anchor="ctr">
            <a:spAutoFit/>
          </a:bodyPr>
          <a:lstStyle/>
          <a:p>
            <a:pPr algn="ctr">
              <a:spcBef>
                <a:spcPts val="0"/>
              </a:spcBef>
              <a:spcAft>
                <a:spcPts val="0"/>
              </a:spcAft>
            </a:pPr>
            <a:r>
              <a:rPr sz="1600" b="0" i="0">
                <a:solidFill>
                  <a:srgbClr val="14202E"/>
                </a:solidFill>
                <a:latin typeface="Calibri"/>
              </a:rPr>
              <a:t>1</a:t>
            </a:r>
          </a:p>
        </p:txBody>
      </p:sp>
      <p:sp>
        <p:nvSpPr>
          <p:cNvPr id="15" name="TextBox 14"/>
          <p:cNvSpPr txBox="1"/>
          <p:nvPr/>
        </p:nvSpPr>
        <p:spPr>
          <a:xfrm>
            <a:off x="4892040" y="1965960"/>
            <a:ext cx="1234440" cy="384048"/>
          </a:xfrm>
          <a:prstGeom prst="rect">
            <a:avLst/>
          </a:prstGeom>
          <a:noFill/>
        </p:spPr>
        <p:txBody>
          <a:bodyPr wrap="square" lIns="0" rIns="0" tIns="0" bIns="0" anchor="ctr">
            <a:spAutoFit/>
          </a:bodyPr>
          <a:lstStyle/>
          <a:p>
            <a:pPr algn="ctr">
              <a:spcBef>
                <a:spcPts val="0"/>
              </a:spcBef>
              <a:spcAft>
                <a:spcPts val="0"/>
              </a:spcAft>
            </a:pPr>
            <a:r>
              <a:rPr sz="1600" b="0" i="0">
                <a:solidFill>
                  <a:srgbClr val="14202E"/>
                </a:solidFill>
                <a:latin typeface="Calibri"/>
              </a:rPr>
              <a:t>–</a:t>
            </a:r>
          </a:p>
        </p:txBody>
      </p:sp>
      <p:cxnSp>
        <p:nvCxnSpPr>
          <p:cNvPr id="16" name="Connector 15"/>
          <p:cNvCxnSpPr/>
          <p:nvPr/>
        </p:nvCxnSpPr>
        <p:spPr>
          <a:xfrm>
            <a:off x="548640" y="2350008"/>
            <a:ext cx="5669280" cy="0"/>
          </a:xfrm>
          <a:prstGeom prst="line">
            <a:avLst/>
          </a:prstGeom>
          <a:ln w="12700">
            <a:solidFill>
              <a:srgbClr val="D3D9E1"/>
            </a:solidFill>
          </a:ln>
        </p:spPr>
      </p:cxnSp>
      <p:sp>
        <p:nvSpPr>
          <p:cNvPr id="17" name="TextBox 16"/>
          <p:cNvSpPr txBox="1"/>
          <p:nvPr/>
        </p:nvSpPr>
        <p:spPr>
          <a:xfrm>
            <a:off x="640080" y="2350008"/>
            <a:ext cx="2971800" cy="384048"/>
          </a:xfrm>
          <a:prstGeom prst="rect">
            <a:avLst/>
          </a:prstGeom>
          <a:noFill/>
        </p:spPr>
        <p:txBody>
          <a:bodyPr wrap="square" lIns="0" rIns="0" tIns="0" bIns="0" anchor="ctr">
            <a:spAutoFit/>
          </a:bodyPr>
          <a:lstStyle/>
          <a:p>
            <a:pPr algn="l">
              <a:spcBef>
                <a:spcPts val="0"/>
              </a:spcBef>
              <a:spcAft>
                <a:spcPts val="0"/>
              </a:spcAft>
            </a:pPr>
            <a:r>
              <a:rPr sz="1600" b="0" i="0">
                <a:solidFill>
                  <a:srgbClr val="14202E"/>
                </a:solidFill>
                <a:latin typeface="Cambria"/>
              </a:rPr>
              <a:t>Σ</a:t>
            </a:r>
            <a:r>
              <a:rPr sz="1600" b="0" i="1">
                <a:solidFill>
                  <a:srgbClr val="14202E"/>
                </a:solidFill>
                <a:latin typeface="Cambria"/>
              </a:rPr>
              <a:t>T</a:t>
            </a:r>
            <a:r>
              <a:rPr sz="1600" b="0" i="1" baseline="-25000">
                <a:solidFill>
                  <a:srgbClr val="14202E"/>
                </a:solidFill>
                <a:latin typeface="Cambria"/>
              </a:rPr>
              <a:t>i</a:t>
            </a:r>
          </a:p>
        </p:txBody>
      </p:sp>
      <p:sp>
        <p:nvSpPr>
          <p:cNvPr id="18" name="TextBox 17"/>
          <p:cNvSpPr txBox="1"/>
          <p:nvPr/>
        </p:nvSpPr>
        <p:spPr>
          <a:xfrm>
            <a:off x="3794759" y="2350008"/>
            <a:ext cx="914400" cy="384048"/>
          </a:xfrm>
          <a:prstGeom prst="rect">
            <a:avLst/>
          </a:prstGeom>
          <a:noFill/>
        </p:spPr>
        <p:txBody>
          <a:bodyPr wrap="square" lIns="0" rIns="0" tIns="0" bIns="0" anchor="ctr">
            <a:spAutoFit/>
          </a:bodyPr>
          <a:lstStyle/>
          <a:p>
            <a:pPr algn="ctr">
              <a:spcBef>
                <a:spcPts val="0"/>
              </a:spcBef>
              <a:spcAft>
                <a:spcPts val="0"/>
              </a:spcAft>
            </a:pPr>
            <a:r>
              <a:rPr sz="1600" b="0" i="0">
                <a:solidFill>
                  <a:srgbClr val="14202E"/>
                </a:solidFill>
                <a:latin typeface="Calibri"/>
              </a:rPr>
              <a:t>0</a:t>
            </a:r>
          </a:p>
        </p:txBody>
      </p:sp>
      <p:sp>
        <p:nvSpPr>
          <p:cNvPr id="19" name="TextBox 18"/>
          <p:cNvSpPr txBox="1"/>
          <p:nvPr/>
        </p:nvSpPr>
        <p:spPr>
          <a:xfrm>
            <a:off x="4892040" y="2350008"/>
            <a:ext cx="1234440" cy="384048"/>
          </a:xfrm>
          <a:prstGeom prst="rect">
            <a:avLst/>
          </a:prstGeom>
          <a:noFill/>
        </p:spPr>
        <p:txBody>
          <a:bodyPr wrap="square" lIns="0" rIns="0" tIns="0" bIns="0" anchor="ctr">
            <a:spAutoFit/>
          </a:bodyPr>
          <a:lstStyle/>
          <a:p>
            <a:pPr algn="ctr">
              <a:spcBef>
                <a:spcPts val="0"/>
              </a:spcBef>
              <a:spcAft>
                <a:spcPts val="0"/>
              </a:spcAft>
            </a:pPr>
            <a:r>
              <a:rPr sz="1600" b="0" i="1">
                <a:solidFill>
                  <a:srgbClr val="14202E"/>
                </a:solidFill>
                <a:latin typeface="Cambria"/>
              </a:rPr>
              <a:t>n</a:t>
            </a:r>
            <a:r>
              <a:rPr sz="1600" b="0" i="0">
                <a:solidFill>
                  <a:srgbClr val="14202E"/>
                </a:solidFill>
                <a:latin typeface="Cambria"/>
              </a:rPr>
              <a:t>−1</a:t>
            </a:r>
          </a:p>
        </p:txBody>
      </p:sp>
      <p:cxnSp>
        <p:nvCxnSpPr>
          <p:cNvPr id="20" name="Connector 19"/>
          <p:cNvCxnSpPr/>
          <p:nvPr/>
        </p:nvCxnSpPr>
        <p:spPr>
          <a:xfrm>
            <a:off x="548640" y="2734056"/>
            <a:ext cx="5669280" cy="0"/>
          </a:xfrm>
          <a:prstGeom prst="line">
            <a:avLst/>
          </a:prstGeom>
          <a:ln w="12700">
            <a:solidFill>
              <a:srgbClr val="D3D9E1"/>
            </a:solidFill>
          </a:ln>
        </p:spPr>
      </p:cxnSp>
      <p:sp>
        <p:nvSpPr>
          <p:cNvPr id="21" name="TextBox 20"/>
          <p:cNvSpPr txBox="1"/>
          <p:nvPr/>
        </p:nvSpPr>
        <p:spPr>
          <a:xfrm>
            <a:off x="640080" y="2734056"/>
            <a:ext cx="2971800" cy="384048"/>
          </a:xfrm>
          <a:prstGeom prst="rect">
            <a:avLst/>
          </a:prstGeom>
          <a:noFill/>
        </p:spPr>
        <p:txBody>
          <a:bodyPr wrap="square" lIns="0" rIns="0" tIns="0" bIns="0" anchor="ctr">
            <a:spAutoFit/>
          </a:bodyPr>
          <a:lstStyle/>
          <a:p>
            <a:pPr algn="l">
              <a:spcBef>
                <a:spcPts val="0"/>
              </a:spcBef>
              <a:spcAft>
                <a:spcPts val="0"/>
              </a:spcAft>
            </a:pPr>
            <a:r>
              <a:rPr sz="1600" b="0" i="0">
                <a:solidFill>
                  <a:srgbClr val="14202E"/>
                </a:solidFill>
                <a:latin typeface="Cambria"/>
              </a:rPr>
              <a:t>Σ</a:t>
            </a:r>
            <a:r>
              <a:rPr sz="1600" b="0" i="1">
                <a:solidFill>
                  <a:srgbClr val="14202E"/>
                </a:solidFill>
                <a:latin typeface="Cambria"/>
              </a:rPr>
              <a:t>u</a:t>
            </a:r>
            <a:r>
              <a:rPr sz="1600" b="0" i="1" baseline="-25000">
                <a:solidFill>
                  <a:srgbClr val="14202E"/>
                </a:solidFill>
                <a:latin typeface="Cambria"/>
              </a:rPr>
              <a:t>i</a:t>
            </a:r>
            <a:r>
              <a:rPr sz="1600" b="0" i="1">
                <a:solidFill>
                  <a:srgbClr val="14202E"/>
                </a:solidFill>
                <a:latin typeface="Cambria"/>
              </a:rPr>
              <a:t>R</a:t>
            </a:r>
            <a:r>
              <a:rPr sz="1600" b="0" i="1" baseline="-25000">
                <a:solidFill>
                  <a:srgbClr val="14202E"/>
                </a:solidFill>
                <a:latin typeface="Cambria"/>
              </a:rPr>
              <a:t>i</a:t>
            </a:r>
          </a:p>
        </p:txBody>
      </p:sp>
      <p:sp>
        <p:nvSpPr>
          <p:cNvPr id="22" name="TextBox 21"/>
          <p:cNvSpPr txBox="1"/>
          <p:nvPr/>
        </p:nvSpPr>
        <p:spPr>
          <a:xfrm>
            <a:off x="3794759" y="2734056"/>
            <a:ext cx="914400" cy="384048"/>
          </a:xfrm>
          <a:prstGeom prst="rect">
            <a:avLst/>
          </a:prstGeom>
          <a:noFill/>
        </p:spPr>
        <p:txBody>
          <a:bodyPr wrap="square" lIns="0" rIns="0" tIns="0" bIns="0" anchor="ctr">
            <a:spAutoFit/>
          </a:bodyPr>
          <a:lstStyle/>
          <a:p>
            <a:pPr algn="ctr">
              <a:spcBef>
                <a:spcPts val="0"/>
              </a:spcBef>
              <a:spcAft>
                <a:spcPts val="0"/>
              </a:spcAft>
            </a:pPr>
            <a:r>
              <a:rPr sz="1600" b="1" i="1">
                <a:solidFill>
                  <a:srgbClr val="B3261E"/>
                </a:solidFill>
                <a:latin typeface="Cambria"/>
              </a:rPr>
              <a:t>n</a:t>
            </a:r>
          </a:p>
        </p:txBody>
      </p:sp>
      <p:sp>
        <p:nvSpPr>
          <p:cNvPr id="23" name="TextBox 22"/>
          <p:cNvSpPr txBox="1"/>
          <p:nvPr/>
        </p:nvSpPr>
        <p:spPr>
          <a:xfrm>
            <a:off x="4892040" y="2734056"/>
            <a:ext cx="1234440" cy="384048"/>
          </a:xfrm>
          <a:prstGeom prst="rect">
            <a:avLst/>
          </a:prstGeom>
          <a:noFill/>
        </p:spPr>
        <p:txBody>
          <a:bodyPr wrap="square" lIns="0" rIns="0" tIns="0" bIns="0" anchor="ctr">
            <a:spAutoFit/>
          </a:bodyPr>
          <a:lstStyle/>
          <a:p>
            <a:pPr algn="ctr">
              <a:spcBef>
                <a:spcPts val="0"/>
              </a:spcBef>
              <a:spcAft>
                <a:spcPts val="0"/>
              </a:spcAft>
            </a:pPr>
            <a:r>
              <a:rPr sz="1600" b="0" i="1">
                <a:solidFill>
                  <a:srgbClr val="14202E"/>
                </a:solidFill>
                <a:latin typeface="Cambria"/>
              </a:rPr>
              <a:t>n</a:t>
            </a:r>
            <a:r>
              <a:rPr sz="1600" b="0" i="0">
                <a:solidFill>
                  <a:srgbClr val="14202E"/>
                </a:solidFill>
                <a:latin typeface="Cambria"/>
              </a:rPr>
              <a:t>−1</a:t>
            </a:r>
          </a:p>
        </p:txBody>
      </p:sp>
      <p:cxnSp>
        <p:nvCxnSpPr>
          <p:cNvPr id="24" name="Connector 23"/>
          <p:cNvCxnSpPr/>
          <p:nvPr/>
        </p:nvCxnSpPr>
        <p:spPr>
          <a:xfrm>
            <a:off x="548640" y="3118103"/>
            <a:ext cx="5669280" cy="0"/>
          </a:xfrm>
          <a:prstGeom prst="line">
            <a:avLst/>
          </a:prstGeom>
          <a:ln w="12700">
            <a:solidFill>
              <a:srgbClr val="D3D9E1"/>
            </a:solidFill>
          </a:ln>
        </p:spPr>
      </p:cxnSp>
      <p:sp>
        <p:nvSpPr>
          <p:cNvPr id="25" name="TextBox 24"/>
          <p:cNvSpPr txBox="1"/>
          <p:nvPr/>
        </p:nvSpPr>
        <p:spPr>
          <a:xfrm>
            <a:off x="640080" y="3118103"/>
            <a:ext cx="2971800" cy="384048"/>
          </a:xfrm>
          <a:prstGeom prst="rect">
            <a:avLst/>
          </a:prstGeom>
          <a:noFill/>
        </p:spPr>
        <p:txBody>
          <a:bodyPr wrap="square" lIns="0" rIns="0" tIns="0" bIns="0" anchor="ctr">
            <a:spAutoFit/>
          </a:bodyPr>
          <a:lstStyle/>
          <a:p>
            <a:pPr algn="l">
              <a:spcBef>
                <a:spcPts val="0"/>
              </a:spcBef>
              <a:spcAft>
                <a:spcPts val="0"/>
              </a:spcAft>
            </a:pPr>
            <a:r>
              <a:rPr sz="1600" b="0" i="0">
                <a:solidFill>
                  <a:srgbClr val="14202E"/>
                </a:solidFill>
                <a:latin typeface="Cambria"/>
              </a:rPr>
              <a:t>(Σ</a:t>
            </a:r>
            <a:r>
              <a:rPr sz="1600" b="0" i="1">
                <a:solidFill>
                  <a:srgbClr val="14202E"/>
                </a:solidFill>
                <a:latin typeface="Cambria"/>
              </a:rPr>
              <a:t>u</a:t>
            </a:r>
            <a:r>
              <a:rPr sz="1600" b="0" i="1" baseline="-25000">
                <a:solidFill>
                  <a:srgbClr val="14202E"/>
                </a:solidFill>
                <a:latin typeface="Cambria"/>
              </a:rPr>
              <a:t>i</a:t>
            </a:r>
            <a:r>
              <a:rPr sz="1600" b="0" i="1">
                <a:solidFill>
                  <a:srgbClr val="14202E"/>
                </a:solidFill>
                <a:latin typeface="Cambria"/>
              </a:rPr>
              <a:t>h</a:t>
            </a:r>
            <a:r>
              <a:rPr sz="1600" b="0" i="1" baseline="30000">
                <a:solidFill>
                  <a:srgbClr val="14202E"/>
                </a:solidFill>
                <a:latin typeface="Cambria"/>
              </a:rPr>
              <a:t>i</a:t>
            </a:r>
            <a:r>
              <a:rPr sz="1600" b="0" i="0" baseline="-25000">
                <a:solidFill>
                  <a:srgbClr val="14202E"/>
                </a:solidFill>
                <a:latin typeface="Cambria"/>
              </a:rPr>
              <a:t>0</a:t>
            </a:r>
            <a:r>
              <a:rPr sz="1600" b="0" i="0">
                <a:solidFill>
                  <a:srgbClr val="14202E"/>
                </a:solidFill>
                <a:latin typeface="Cambria"/>
              </a:rPr>
              <a:t>)</a:t>
            </a:r>
            <a:r>
              <a:rPr sz="1600" b="0" i="1">
                <a:solidFill>
                  <a:srgbClr val="14202E"/>
                </a:solidFill>
                <a:latin typeface="Cambria"/>
              </a:rPr>
              <a:t>P</a:t>
            </a:r>
            <a:r>
              <a:rPr sz="1600" b="0" i="1" baseline="30000">
                <a:solidFill>
                  <a:srgbClr val="14202E"/>
                </a:solidFill>
                <a:latin typeface="Cambria"/>
              </a:rPr>
              <a:t>k</a:t>
            </a:r>
            <a:r>
              <a:rPr sz="1600" b="0" i="1" baseline="-25000">
                <a:solidFill>
                  <a:srgbClr val="14202E"/>
                </a:solidFill>
                <a:latin typeface="Cambria"/>
              </a:rPr>
              <a:t>TA</a:t>
            </a:r>
          </a:p>
        </p:txBody>
      </p:sp>
      <p:sp>
        <p:nvSpPr>
          <p:cNvPr id="26" name="TextBox 25"/>
          <p:cNvSpPr txBox="1"/>
          <p:nvPr/>
        </p:nvSpPr>
        <p:spPr>
          <a:xfrm>
            <a:off x="3794759" y="3118103"/>
            <a:ext cx="914400" cy="384048"/>
          </a:xfrm>
          <a:prstGeom prst="rect">
            <a:avLst/>
          </a:prstGeom>
          <a:noFill/>
        </p:spPr>
        <p:txBody>
          <a:bodyPr wrap="square" lIns="0" rIns="0" tIns="0" bIns="0" anchor="ctr">
            <a:spAutoFit/>
          </a:bodyPr>
          <a:lstStyle/>
          <a:p>
            <a:pPr algn="ctr">
              <a:spcBef>
                <a:spcPts val="0"/>
              </a:spcBef>
              <a:spcAft>
                <a:spcPts val="0"/>
              </a:spcAft>
            </a:pPr>
            <a:r>
              <a:rPr sz="1600" b="0" i="0">
                <a:solidFill>
                  <a:srgbClr val="14202E"/>
                </a:solidFill>
                <a:latin typeface="Calibri"/>
              </a:rPr>
              <a:t>1</a:t>
            </a:r>
          </a:p>
        </p:txBody>
      </p:sp>
      <p:sp>
        <p:nvSpPr>
          <p:cNvPr id="27" name="TextBox 26"/>
          <p:cNvSpPr txBox="1"/>
          <p:nvPr/>
        </p:nvSpPr>
        <p:spPr>
          <a:xfrm>
            <a:off x="4892040" y="3118103"/>
            <a:ext cx="1234440" cy="384048"/>
          </a:xfrm>
          <a:prstGeom prst="rect">
            <a:avLst/>
          </a:prstGeom>
          <a:noFill/>
        </p:spPr>
        <p:txBody>
          <a:bodyPr wrap="square" lIns="0" rIns="0" tIns="0" bIns="0" anchor="ctr">
            <a:spAutoFit/>
          </a:bodyPr>
          <a:lstStyle/>
          <a:p>
            <a:pPr algn="ctr">
              <a:spcBef>
                <a:spcPts val="0"/>
              </a:spcBef>
              <a:spcAft>
                <a:spcPts val="0"/>
              </a:spcAft>
            </a:pPr>
            <a:r>
              <a:rPr sz="1600" b="0" i="0">
                <a:solidFill>
                  <a:srgbClr val="14202E"/>
                </a:solidFill>
                <a:latin typeface="Calibri"/>
              </a:rPr>
              <a:t>–</a:t>
            </a:r>
          </a:p>
        </p:txBody>
      </p:sp>
      <p:cxnSp>
        <p:nvCxnSpPr>
          <p:cNvPr id="28" name="Connector 27"/>
          <p:cNvCxnSpPr/>
          <p:nvPr/>
        </p:nvCxnSpPr>
        <p:spPr>
          <a:xfrm>
            <a:off x="548640" y="3502151"/>
            <a:ext cx="5669280" cy="0"/>
          </a:xfrm>
          <a:prstGeom prst="line">
            <a:avLst/>
          </a:prstGeom>
          <a:ln w="12700">
            <a:solidFill>
              <a:srgbClr val="D3D9E1"/>
            </a:solidFill>
          </a:ln>
        </p:spPr>
      </p:cxnSp>
      <p:sp>
        <p:nvSpPr>
          <p:cNvPr id="29" name="TextBox 28"/>
          <p:cNvSpPr txBox="1"/>
          <p:nvPr/>
        </p:nvSpPr>
        <p:spPr>
          <a:xfrm>
            <a:off x="640080" y="3502151"/>
            <a:ext cx="2971800" cy="384048"/>
          </a:xfrm>
          <a:prstGeom prst="rect">
            <a:avLst/>
          </a:prstGeom>
          <a:noFill/>
        </p:spPr>
        <p:txBody>
          <a:bodyPr wrap="square" lIns="0" rIns="0" tIns="0" bIns="0" anchor="ctr">
            <a:spAutoFit/>
          </a:bodyPr>
          <a:lstStyle/>
          <a:p>
            <a:pPr algn="l">
              <a:spcBef>
                <a:spcPts val="0"/>
              </a:spcBef>
              <a:spcAft>
                <a:spcPts val="0"/>
              </a:spcAft>
            </a:pPr>
            <a:r>
              <a:rPr sz="1600" b="0" i="0">
                <a:solidFill>
                  <a:srgbClr val="14202E"/>
                </a:solidFill>
                <a:latin typeface="Cambria"/>
              </a:rPr>
              <a:t>Σ</a:t>
            </a:r>
            <a:r>
              <a:rPr sz="1600" b="0" i="1">
                <a:solidFill>
                  <a:srgbClr val="14202E"/>
                </a:solidFill>
                <a:latin typeface="Cambria"/>
              </a:rPr>
              <a:t>v</a:t>
            </a:r>
            <a:r>
              <a:rPr sz="1600" b="0" i="1" baseline="-25000">
                <a:solidFill>
                  <a:srgbClr val="14202E"/>
                </a:solidFill>
                <a:latin typeface="Cambria"/>
              </a:rPr>
              <a:t>i</a:t>
            </a:r>
            <a:r>
              <a:rPr sz="1600" b="0" i="1">
                <a:solidFill>
                  <a:srgbClr val="14202E"/>
                </a:solidFill>
                <a:latin typeface="Cambria"/>
              </a:rPr>
              <a:t>pk</a:t>
            </a:r>
            <a:r>
              <a:rPr sz="1600" b="0" i="1" baseline="-25000">
                <a:solidFill>
                  <a:srgbClr val="14202E"/>
                </a:solidFill>
                <a:latin typeface="Cambria"/>
              </a:rPr>
              <a:t>i</a:t>
            </a:r>
          </a:p>
        </p:txBody>
      </p:sp>
      <p:sp>
        <p:nvSpPr>
          <p:cNvPr id="30" name="TextBox 29"/>
          <p:cNvSpPr txBox="1"/>
          <p:nvPr/>
        </p:nvSpPr>
        <p:spPr>
          <a:xfrm>
            <a:off x="3794759" y="3502151"/>
            <a:ext cx="914400" cy="384048"/>
          </a:xfrm>
          <a:prstGeom prst="rect">
            <a:avLst/>
          </a:prstGeom>
          <a:noFill/>
        </p:spPr>
        <p:txBody>
          <a:bodyPr wrap="square" lIns="0" rIns="0" tIns="0" bIns="0" anchor="ctr">
            <a:spAutoFit/>
          </a:bodyPr>
          <a:lstStyle/>
          <a:p>
            <a:pPr algn="ctr">
              <a:spcBef>
                <a:spcPts val="0"/>
              </a:spcBef>
              <a:spcAft>
                <a:spcPts val="0"/>
              </a:spcAft>
            </a:pPr>
            <a:r>
              <a:rPr sz="1600" b="0" i="1">
                <a:solidFill>
                  <a:srgbClr val="14202E"/>
                </a:solidFill>
                <a:latin typeface="Cambria"/>
              </a:rPr>
              <a:t>n</a:t>
            </a:r>
          </a:p>
        </p:txBody>
      </p:sp>
      <p:sp>
        <p:nvSpPr>
          <p:cNvPr id="31" name="TextBox 30"/>
          <p:cNvSpPr txBox="1"/>
          <p:nvPr/>
        </p:nvSpPr>
        <p:spPr>
          <a:xfrm>
            <a:off x="4892040" y="3502151"/>
            <a:ext cx="1234440" cy="384048"/>
          </a:xfrm>
          <a:prstGeom prst="rect">
            <a:avLst/>
          </a:prstGeom>
          <a:noFill/>
        </p:spPr>
        <p:txBody>
          <a:bodyPr wrap="square" lIns="0" rIns="0" tIns="0" bIns="0" anchor="ctr">
            <a:spAutoFit/>
          </a:bodyPr>
          <a:lstStyle/>
          <a:p>
            <a:pPr algn="ctr">
              <a:spcBef>
                <a:spcPts val="0"/>
              </a:spcBef>
              <a:spcAft>
                <a:spcPts val="0"/>
              </a:spcAft>
            </a:pPr>
            <a:r>
              <a:rPr sz="1600" b="0" i="1">
                <a:solidFill>
                  <a:srgbClr val="14202E"/>
                </a:solidFill>
                <a:latin typeface="Cambria"/>
              </a:rPr>
              <a:t>n</a:t>
            </a:r>
            <a:r>
              <a:rPr sz="1600" b="0" i="0">
                <a:solidFill>
                  <a:srgbClr val="14202E"/>
                </a:solidFill>
                <a:latin typeface="Cambria"/>
              </a:rPr>
              <a:t>−1</a:t>
            </a:r>
          </a:p>
        </p:txBody>
      </p:sp>
      <p:cxnSp>
        <p:nvCxnSpPr>
          <p:cNvPr id="32" name="Connector 31"/>
          <p:cNvCxnSpPr/>
          <p:nvPr/>
        </p:nvCxnSpPr>
        <p:spPr>
          <a:xfrm>
            <a:off x="548640" y="3886200"/>
            <a:ext cx="5669280" cy="0"/>
          </a:xfrm>
          <a:prstGeom prst="line">
            <a:avLst/>
          </a:prstGeom>
          <a:ln w="12700">
            <a:solidFill>
              <a:srgbClr val="D3D9E1"/>
            </a:solidFill>
          </a:ln>
        </p:spPr>
      </p:cxnSp>
      <p:sp>
        <p:nvSpPr>
          <p:cNvPr id="33" name="TextBox 32"/>
          <p:cNvSpPr txBox="1"/>
          <p:nvPr/>
        </p:nvSpPr>
        <p:spPr>
          <a:xfrm>
            <a:off x="640080" y="3886200"/>
            <a:ext cx="2971800" cy="384048"/>
          </a:xfrm>
          <a:prstGeom prst="rect">
            <a:avLst/>
          </a:prstGeom>
          <a:noFill/>
        </p:spPr>
        <p:txBody>
          <a:bodyPr wrap="square" lIns="0" rIns="0" tIns="0" bIns="0" anchor="ctr">
            <a:spAutoFit/>
          </a:bodyPr>
          <a:lstStyle/>
          <a:p>
            <a:pPr algn="l">
              <a:spcBef>
                <a:spcPts val="0"/>
              </a:spcBef>
              <a:spcAft>
                <a:spcPts val="0"/>
              </a:spcAft>
            </a:pPr>
            <a:r>
              <a:rPr sz="1600" b="0" i="0">
                <a:solidFill>
                  <a:srgbClr val="14202E"/>
                </a:solidFill>
                <a:latin typeface="Calibri"/>
              </a:rPr>
              <a:t>combine the four terms</a:t>
            </a:r>
          </a:p>
        </p:txBody>
      </p:sp>
      <p:sp>
        <p:nvSpPr>
          <p:cNvPr id="34" name="TextBox 33"/>
          <p:cNvSpPr txBox="1"/>
          <p:nvPr/>
        </p:nvSpPr>
        <p:spPr>
          <a:xfrm>
            <a:off x="3794759" y="3886200"/>
            <a:ext cx="914400" cy="384048"/>
          </a:xfrm>
          <a:prstGeom prst="rect">
            <a:avLst/>
          </a:prstGeom>
          <a:noFill/>
        </p:spPr>
        <p:txBody>
          <a:bodyPr wrap="square" lIns="0" rIns="0" tIns="0" bIns="0" anchor="ctr">
            <a:spAutoFit/>
          </a:bodyPr>
          <a:lstStyle/>
          <a:p>
            <a:pPr algn="ctr">
              <a:spcBef>
                <a:spcPts val="0"/>
              </a:spcBef>
              <a:spcAft>
                <a:spcPts val="0"/>
              </a:spcAft>
            </a:pPr>
            <a:r>
              <a:rPr sz="1600" b="0" i="0">
                <a:solidFill>
                  <a:srgbClr val="14202E"/>
                </a:solidFill>
                <a:latin typeface="Calibri"/>
              </a:rPr>
              <a:t>–</a:t>
            </a:r>
          </a:p>
        </p:txBody>
      </p:sp>
      <p:sp>
        <p:nvSpPr>
          <p:cNvPr id="35" name="TextBox 34"/>
          <p:cNvSpPr txBox="1"/>
          <p:nvPr/>
        </p:nvSpPr>
        <p:spPr>
          <a:xfrm>
            <a:off x="4892040" y="3886200"/>
            <a:ext cx="1234440" cy="384048"/>
          </a:xfrm>
          <a:prstGeom prst="rect">
            <a:avLst/>
          </a:prstGeom>
          <a:noFill/>
        </p:spPr>
        <p:txBody>
          <a:bodyPr wrap="square" lIns="0" rIns="0" tIns="0" bIns="0" anchor="ctr">
            <a:spAutoFit/>
          </a:bodyPr>
          <a:lstStyle/>
          <a:p>
            <a:pPr algn="ctr">
              <a:spcBef>
                <a:spcPts val="0"/>
              </a:spcBef>
              <a:spcAft>
                <a:spcPts val="0"/>
              </a:spcAft>
            </a:pPr>
            <a:r>
              <a:rPr sz="1600" b="0" i="0">
                <a:solidFill>
                  <a:srgbClr val="14202E"/>
                </a:solidFill>
                <a:latin typeface="Calibri"/>
              </a:rPr>
              <a:t>3</a:t>
            </a:r>
          </a:p>
        </p:txBody>
      </p:sp>
      <p:cxnSp>
        <p:nvCxnSpPr>
          <p:cNvPr id="36" name="Connector 35"/>
          <p:cNvCxnSpPr/>
          <p:nvPr/>
        </p:nvCxnSpPr>
        <p:spPr>
          <a:xfrm>
            <a:off x="548640" y="4270248"/>
            <a:ext cx="5669280" cy="0"/>
          </a:xfrm>
          <a:prstGeom prst="line">
            <a:avLst/>
          </a:prstGeom>
          <a:ln w="12700">
            <a:solidFill>
              <a:srgbClr val="D3D9E1"/>
            </a:solidFill>
          </a:ln>
        </p:spPr>
      </p:cxnSp>
      <p:sp>
        <p:nvSpPr>
          <p:cNvPr id="37" name="TextBox 36"/>
          <p:cNvSpPr txBox="1"/>
          <p:nvPr/>
        </p:nvSpPr>
        <p:spPr>
          <a:xfrm>
            <a:off x="640080" y="4270248"/>
            <a:ext cx="2971800" cy="384048"/>
          </a:xfrm>
          <a:prstGeom prst="rect">
            <a:avLst/>
          </a:prstGeom>
          <a:noFill/>
        </p:spPr>
        <p:txBody>
          <a:bodyPr wrap="square" lIns="0" rIns="0" tIns="0" bIns="0" anchor="ctr">
            <a:spAutoFit/>
          </a:bodyPr>
          <a:lstStyle/>
          <a:p>
            <a:pPr algn="l">
              <a:spcBef>
                <a:spcPts val="0"/>
              </a:spcBef>
              <a:spcAft>
                <a:spcPts val="0"/>
              </a:spcAft>
            </a:pPr>
            <a:r>
              <a:rPr sz="1600" b="1" i="0">
                <a:solidFill>
                  <a:srgbClr val="14202E"/>
                </a:solidFill>
                <a:latin typeface="Calibri"/>
              </a:rPr>
              <a:t>total</a:t>
            </a:r>
          </a:p>
        </p:txBody>
      </p:sp>
      <p:sp>
        <p:nvSpPr>
          <p:cNvPr id="38" name="TextBox 37"/>
          <p:cNvSpPr txBox="1"/>
          <p:nvPr/>
        </p:nvSpPr>
        <p:spPr>
          <a:xfrm>
            <a:off x="3794759" y="4270248"/>
            <a:ext cx="914400" cy="384048"/>
          </a:xfrm>
          <a:prstGeom prst="rect">
            <a:avLst/>
          </a:prstGeom>
          <a:noFill/>
        </p:spPr>
        <p:txBody>
          <a:bodyPr wrap="square" lIns="0" rIns="0" tIns="0" bIns="0" anchor="ctr">
            <a:spAutoFit/>
          </a:bodyPr>
          <a:lstStyle/>
          <a:p>
            <a:pPr algn="ctr">
              <a:spcBef>
                <a:spcPts val="0"/>
              </a:spcBef>
              <a:spcAft>
                <a:spcPts val="0"/>
              </a:spcAft>
            </a:pPr>
            <a:r>
              <a:rPr sz="1600" b="1" i="0">
                <a:solidFill>
                  <a:srgbClr val="14202E"/>
                </a:solidFill>
                <a:latin typeface="Cambria"/>
              </a:rPr>
              <a:t>2</a:t>
            </a:r>
            <a:r>
              <a:rPr sz="1600" b="1" i="1">
                <a:solidFill>
                  <a:srgbClr val="14202E"/>
                </a:solidFill>
                <a:latin typeface="Cambria"/>
              </a:rPr>
              <a:t>n</a:t>
            </a:r>
            <a:r>
              <a:rPr sz="1600" b="1" i="0">
                <a:solidFill>
                  <a:srgbClr val="14202E"/>
                </a:solidFill>
                <a:latin typeface="Cambria"/>
              </a:rPr>
              <a:t>+2</a:t>
            </a:r>
          </a:p>
        </p:txBody>
      </p:sp>
      <p:sp>
        <p:nvSpPr>
          <p:cNvPr id="39" name="TextBox 38"/>
          <p:cNvSpPr txBox="1"/>
          <p:nvPr/>
        </p:nvSpPr>
        <p:spPr>
          <a:xfrm>
            <a:off x="4892040" y="4270248"/>
            <a:ext cx="1234440" cy="384048"/>
          </a:xfrm>
          <a:prstGeom prst="rect">
            <a:avLst/>
          </a:prstGeom>
          <a:noFill/>
        </p:spPr>
        <p:txBody>
          <a:bodyPr wrap="square" lIns="0" rIns="0" tIns="0" bIns="0" anchor="ctr">
            <a:spAutoFit/>
          </a:bodyPr>
          <a:lstStyle/>
          <a:p>
            <a:pPr algn="ctr">
              <a:spcBef>
                <a:spcPts val="0"/>
              </a:spcBef>
              <a:spcAft>
                <a:spcPts val="0"/>
              </a:spcAft>
            </a:pPr>
            <a:r>
              <a:rPr sz="1600" b="1" i="0">
                <a:solidFill>
                  <a:srgbClr val="14202E"/>
                </a:solidFill>
                <a:latin typeface="Cambria"/>
              </a:rPr>
              <a:t>3</a:t>
            </a:r>
            <a:r>
              <a:rPr sz="1600" b="1" i="1">
                <a:solidFill>
                  <a:srgbClr val="14202E"/>
                </a:solidFill>
                <a:latin typeface="Cambria"/>
              </a:rPr>
              <a:t>n</a:t>
            </a:r>
          </a:p>
        </p:txBody>
      </p:sp>
      <p:cxnSp>
        <p:nvCxnSpPr>
          <p:cNvPr id="40" name="Connector 39"/>
          <p:cNvCxnSpPr/>
          <p:nvPr/>
        </p:nvCxnSpPr>
        <p:spPr>
          <a:xfrm>
            <a:off x="548640" y="4654296"/>
            <a:ext cx="5669280" cy="0"/>
          </a:xfrm>
          <a:prstGeom prst="line">
            <a:avLst/>
          </a:prstGeom>
          <a:ln w="12700">
            <a:solidFill>
              <a:srgbClr val="D3D9E1"/>
            </a:solidFill>
          </a:ln>
        </p:spPr>
      </p:cxnSp>
      <p:sp>
        <p:nvSpPr>
          <p:cNvPr id="41" name="TextBox 40"/>
          <p:cNvSpPr txBox="1"/>
          <p:nvPr/>
        </p:nvSpPr>
        <p:spPr>
          <a:xfrm>
            <a:off x="548640" y="4754880"/>
            <a:ext cx="5669280" cy="365760"/>
          </a:xfrm>
          <a:prstGeom prst="rect">
            <a:avLst/>
          </a:prstGeom>
          <a:noFill/>
        </p:spPr>
        <p:txBody>
          <a:bodyPr wrap="square" lIns="0" rIns="0" tIns="0" bIns="0" anchor="t">
            <a:spAutoFit/>
          </a:bodyPr>
          <a:lstStyle/>
          <a:p>
            <a:pPr algn="l">
              <a:spcBef>
                <a:spcPts val="0"/>
              </a:spcBef>
              <a:spcAft>
                <a:spcPts val="0"/>
              </a:spcAft>
            </a:pPr>
            <a:r>
              <a:rPr sz="1600" b="0" i="0">
                <a:solidFill>
                  <a:srgbClr val="14202E"/>
                </a:solidFill>
                <a:latin typeface="Calibri"/>
              </a:rPr>
              <a:t>hashes per signer: </a:t>
            </a:r>
            <a:r>
              <a:rPr sz="1600" b="0" i="1">
                <a:solidFill>
                  <a:srgbClr val="14202E"/>
                </a:solidFill>
                <a:latin typeface="Cambria"/>
              </a:rPr>
              <a:t>h</a:t>
            </a:r>
            <a:r>
              <a:rPr sz="1600" b="0" i="1" baseline="30000">
                <a:solidFill>
                  <a:srgbClr val="14202E"/>
                </a:solidFill>
                <a:latin typeface="Cambria"/>
              </a:rPr>
              <a:t>i</a:t>
            </a:r>
            <a:r>
              <a:rPr sz="1600" b="0" i="0" baseline="-25000">
                <a:solidFill>
                  <a:srgbClr val="14202E"/>
                </a:solidFill>
                <a:latin typeface="Cambria"/>
              </a:rPr>
              <a:t>0</a:t>
            </a:r>
            <a:r>
              <a:rPr sz="1600" b="0" i="0">
                <a:solidFill>
                  <a:srgbClr val="14202E"/>
                </a:solidFill>
                <a:latin typeface="Calibri"/>
              </a:rPr>
              <a:t>, </a:t>
            </a:r>
            <a:r>
              <a:rPr sz="1600" b="0" i="1">
                <a:solidFill>
                  <a:srgbClr val="14202E"/>
                </a:solidFill>
                <a:latin typeface="Cambria"/>
              </a:rPr>
              <a:t>v</a:t>
            </a:r>
            <a:r>
              <a:rPr sz="1600" b="0" i="1" baseline="-25000">
                <a:solidFill>
                  <a:srgbClr val="14202E"/>
                </a:solidFill>
                <a:latin typeface="Cambria"/>
              </a:rPr>
              <a:t>i</a:t>
            </a:r>
            <a:r>
              <a:rPr sz="1600" b="0" i="0">
                <a:solidFill>
                  <a:srgbClr val="14202E"/>
                </a:solidFill>
                <a:latin typeface="Calibri"/>
              </a:rPr>
              <a:t>, </a:t>
            </a:r>
            <a:r>
              <a:rPr sz="1600" b="0" i="1">
                <a:solidFill>
                  <a:srgbClr val="14202E"/>
                </a:solidFill>
                <a:latin typeface="Cambria"/>
              </a:rPr>
              <a:t>u</a:t>
            </a:r>
            <a:r>
              <a:rPr sz="1600" b="0" i="1" baseline="-25000">
                <a:solidFill>
                  <a:srgbClr val="14202E"/>
                </a:solidFill>
                <a:latin typeface="Cambria"/>
              </a:rPr>
              <a:t>i</a:t>
            </a:r>
            <a:r>
              <a:rPr sz="1600" b="0" i="0">
                <a:solidFill>
                  <a:srgbClr val="14202E"/>
                </a:solidFill>
                <a:latin typeface="Calibri"/>
              </a:rPr>
              <a:t>   →   </a:t>
            </a:r>
            <a:r>
              <a:rPr sz="1600" b="0" i="0">
                <a:solidFill>
                  <a:srgbClr val="14202E"/>
                </a:solidFill>
                <a:latin typeface="Cambria"/>
              </a:rPr>
              <a:t>3</a:t>
            </a:r>
            <a:r>
              <a:rPr sz="1600" b="0" i="1">
                <a:solidFill>
                  <a:srgbClr val="14202E"/>
                </a:solidFill>
                <a:latin typeface="Cambria"/>
              </a:rPr>
              <a:t>nT</a:t>
            </a:r>
            <a:r>
              <a:rPr sz="1600" b="0" i="1" baseline="-25000">
                <a:solidFill>
                  <a:srgbClr val="14202E"/>
                </a:solidFill>
                <a:latin typeface="Cambria"/>
              </a:rPr>
              <a:t>h</a:t>
            </a:r>
          </a:p>
        </p:txBody>
      </p:sp>
      <p:sp>
        <p:nvSpPr>
          <p:cNvPr id="42" name="Rectangle 41"/>
          <p:cNvSpPr/>
          <p:nvPr/>
        </p:nvSpPr>
        <p:spPr>
          <a:xfrm>
            <a:off x="6492240" y="1600200"/>
            <a:ext cx="5148072" cy="365760"/>
          </a:xfrm>
          <a:prstGeom prst="rect">
            <a:avLst/>
          </a:prstGeom>
          <a:solidFill>
            <a:srgbClr val="F2F5F8"/>
          </a:solidFill>
          <a:ln>
            <a:noFill/>
          </a:ln>
          <a:effectLst/>
        </p:spPr>
        <p:txBody>
          <a:bodyPr rtlCol="0" anchor="ctr" wrap="square" lIns="73152" rIns="73152" tIns="36576" bIns="36576"/>
          <a:lstStyle/>
          <a:p>
            <a:pPr algn="ctr"/>
          </a:p>
        </p:txBody>
      </p:sp>
      <p:sp>
        <p:nvSpPr>
          <p:cNvPr id="43" name="TextBox 42"/>
          <p:cNvSpPr txBox="1"/>
          <p:nvPr/>
        </p:nvSpPr>
        <p:spPr>
          <a:xfrm>
            <a:off x="6583679" y="1600200"/>
            <a:ext cx="1005840" cy="365760"/>
          </a:xfrm>
          <a:prstGeom prst="rect">
            <a:avLst/>
          </a:prstGeom>
          <a:noFill/>
        </p:spPr>
        <p:txBody>
          <a:bodyPr wrap="square" lIns="0" rIns="0" tIns="0" bIns="0" anchor="ctr">
            <a:spAutoFit/>
          </a:bodyPr>
          <a:lstStyle/>
          <a:p>
            <a:pPr algn="l">
              <a:spcBef>
                <a:spcPts val="0"/>
              </a:spcBef>
              <a:spcAft>
                <a:spcPts val="0"/>
              </a:spcAft>
            </a:pPr>
          </a:p>
        </p:txBody>
      </p:sp>
      <p:sp>
        <p:nvSpPr>
          <p:cNvPr id="44" name="TextBox 43"/>
          <p:cNvSpPr txBox="1"/>
          <p:nvPr/>
        </p:nvSpPr>
        <p:spPr>
          <a:xfrm>
            <a:off x="7772400" y="1600200"/>
            <a:ext cx="1801368" cy="36576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PAPER</a:t>
            </a:r>
          </a:p>
        </p:txBody>
      </p:sp>
      <p:sp>
        <p:nvSpPr>
          <p:cNvPr id="45" name="TextBox 44"/>
          <p:cNvSpPr txBox="1"/>
          <p:nvPr/>
        </p:nvSpPr>
        <p:spPr>
          <a:xfrm>
            <a:off x="9756648" y="1600200"/>
            <a:ext cx="1792224" cy="36576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RECOUNT</a:t>
            </a:r>
          </a:p>
        </p:txBody>
      </p:sp>
      <p:cxnSp>
        <p:nvCxnSpPr>
          <p:cNvPr id="46" name="Connector 45"/>
          <p:cNvCxnSpPr/>
          <p:nvPr/>
        </p:nvCxnSpPr>
        <p:spPr>
          <a:xfrm>
            <a:off x="6492240" y="1965960"/>
            <a:ext cx="5148072" cy="0"/>
          </a:xfrm>
          <a:prstGeom prst="line">
            <a:avLst/>
          </a:prstGeom>
          <a:ln w="15875">
            <a:solidFill>
              <a:srgbClr val="5B6675"/>
            </a:solidFill>
          </a:ln>
        </p:spPr>
      </p:cxnSp>
      <p:sp>
        <p:nvSpPr>
          <p:cNvPr id="47" name="TextBox 46"/>
          <p:cNvSpPr txBox="1"/>
          <p:nvPr/>
        </p:nvSpPr>
        <p:spPr>
          <a:xfrm>
            <a:off x="6583679" y="1965960"/>
            <a:ext cx="1005840" cy="502920"/>
          </a:xfrm>
          <a:prstGeom prst="rect">
            <a:avLst/>
          </a:prstGeom>
          <a:noFill/>
        </p:spPr>
        <p:txBody>
          <a:bodyPr wrap="square" lIns="0" rIns="0" tIns="0" bIns="0" anchor="ctr">
            <a:spAutoFit/>
          </a:bodyPr>
          <a:lstStyle/>
          <a:p>
            <a:pPr algn="l">
              <a:spcBef>
                <a:spcPts val="0"/>
              </a:spcBef>
              <a:spcAft>
                <a:spcPts val="0"/>
              </a:spcAft>
            </a:pPr>
            <a:r>
              <a:rPr sz="1450" b="1" i="0">
                <a:solidFill>
                  <a:srgbClr val="14202E"/>
                </a:solidFill>
                <a:latin typeface="Calibri"/>
              </a:rPr>
              <a:t>Sign</a:t>
            </a:r>
          </a:p>
        </p:txBody>
      </p:sp>
      <p:sp>
        <p:nvSpPr>
          <p:cNvPr id="48" name="TextBox 47"/>
          <p:cNvSpPr txBox="1"/>
          <p:nvPr/>
        </p:nvSpPr>
        <p:spPr>
          <a:xfrm>
            <a:off x="7772400" y="1965960"/>
            <a:ext cx="1801368" cy="502920"/>
          </a:xfrm>
          <a:prstGeom prst="rect">
            <a:avLst/>
          </a:prstGeom>
          <a:noFill/>
        </p:spPr>
        <p:txBody>
          <a:bodyPr wrap="square" lIns="0" rIns="0" tIns="0" bIns="0" anchor="ctr">
            <a:spAutoFit/>
          </a:bodyPr>
          <a:lstStyle/>
          <a:p>
            <a:pPr algn="l">
              <a:spcBef>
                <a:spcPts val="0"/>
              </a:spcBef>
              <a:spcAft>
                <a:spcPts val="0"/>
              </a:spcAft>
            </a:pPr>
            <a:r>
              <a:rPr sz="1450" b="0" i="0">
                <a:solidFill>
                  <a:srgbClr val="14202E"/>
                </a:solidFill>
                <a:latin typeface="Cambria"/>
              </a:rPr>
              <a:t>1</a:t>
            </a:r>
            <a:r>
              <a:rPr sz="1450" b="0" i="1">
                <a:solidFill>
                  <a:srgbClr val="14202E"/>
                </a:solidFill>
                <a:latin typeface="Cambria"/>
              </a:rPr>
              <a:t>T</a:t>
            </a:r>
            <a:r>
              <a:rPr sz="1450" b="0" i="1" baseline="-25000">
                <a:solidFill>
                  <a:srgbClr val="14202E"/>
                </a:solidFill>
                <a:latin typeface="Cambria"/>
              </a:rPr>
              <a:t>e</a:t>
            </a:r>
            <a:r>
              <a:rPr sz="1450" b="0" i="0">
                <a:solidFill>
                  <a:srgbClr val="14202E"/>
                </a:solidFill>
                <a:latin typeface="Cambria"/>
              </a:rPr>
              <a:t> + 1</a:t>
            </a:r>
            <a:r>
              <a:rPr sz="1450" b="0" i="1">
                <a:solidFill>
                  <a:srgbClr val="14202E"/>
                </a:solidFill>
                <a:latin typeface="Cambria"/>
              </a:rPr>
              <a:t>T</a:t>
            </a:r>
            <a:r>
              <a:rPr sz="1450" b="0" i="1" baseline="-25000">
                <a:solidFill>
                  <a:srgbClr val="14202E"/>
                </a:solidFill>
                <a:latin typeface="Cambria"/>
              </a:rPr>
              <a:t>h</a:t>
            </a:r>
          </a:p>
        </p:txBody>
      </p:sp>
      <p:sp>
        <p:nvSpPr>
          <p:cNvPr id="49" name="TextBox 48"/>
          <p:cNvSpPr txBox="1"/>
          <p:nvPr/>
        </p:nvSpPr>
        <p:spPr>
          <a:xfrm>
            <a:off x="9756648" y="1965960"/>
            <a:ext cx="1792224" cy="502920"/>
          </a:xfrm>
          <a:prstGeom prst="rect">
            <a:avLst/>
          </a:prstGeom>
          <a:noFill/>
        </p:spPr>
        <p:txBody>
          <a:bodyPr wrap="square" lIns="0" rIns="0" tIns="0" bIns="0" anchor="ctr">
            <a:spAutoFit/>
          </a:bodyPr>
          <a:lstStyle/>
          <a:p>
            <a:pPr algn="l">
              <a:spcBef>
                <a:spcPts val="0"/>
              </a:spcBef>
              <a:spcAft>
                <a:spcPts val="0"/>
              </a:spcAft>
            </a:pPr>
            <a:r>
              <a:rPr sz="1450" b="1" i="0">
                <a:solidFill>
                  <a:srgbClr val="B3261E"/>
                </a:solidFill>
                <a:latin typeface="Cambria"/>
              </a:rPr>
              <a:t>1</a:t>
            </a:r>
            <a:r>
              <a:rPr sz="1450" b="1" i="1">
                <a:solidFill>
                  <a:srgbClr val="B3261E"/>
                </a:solidFill>
                <a:latin typeface="Cambria"/>
              </a:rPr>
              <a:t>T</a:t>
            </a:r>
            <a:r>
              <a:rPr sz="1450" b="1" i="1" baseline="-25000">
                <a:solidFill>
                  <a:srgbClr val="B3261E"/>
                </a:solidFill>
                <a:latin typeface="Cambria"/>
              </a:rPr>
              <a:t>e</a:t>
            </a:r>
            <a:r>
              <a:rPr sz="1450" b="1" i="0">
                <a:solidFill>
                  <a:srgbClr val="B3261E"/>
                </a:solidFill>
                <a:latin typeface="Cambria"/>
              </a:rPr>
              <a:t> + 2</a:t>
            </a:r>
            <a:r>
              <a:rPr sz="1450" b="1" i="1">
                <a:solidFill>
                  <a:srgbClr val="B3261E"/>
                </a:solidFill>
                <a:latin typeface="Cambria"/>
              </a:rPr>
              <a:t>T</a:t>
            </a:r>
            <a:r>
              <a:rPr sz="1450" b="1" i="1" baseline="-25000">
                <a:solidFill>
                  <a:srgbClr val="B3261E"/>
                </a:solidFill>
                <a:latin typeface="Cambria"/>
              </a:rPr>
              <a:t>h</a:t>
            </a:r>
          </a:p>
        </p:txBody>
      </p:sp>
      <p:cxnSp>
        <p:nvCxnSpPr>
          <p:cNvPr id="50" name="Connector 49"/>
          <p:cNvCxnSpPr/>
          <p:nvPr/>
        </p:nvCxnSpPr>
        <p:spPr>
          <a:xfrm>
            <a:off x="6492240" y="2468880"/>
            <a:ext cx="5148072" cy="0"/>
          </a:xfrm>
          <a:prstGeom prst="line">
            <a:avLst/>
          </a:prstGeom>
          <a:ln w="12700">
            <a:solidFill>
              <a:srgbClr val="D3D9E1"/>
            </a:solidFill>
          </a:ln>
        </p:spPr>
      </p:cxnSp>
      <p:sp>
        <p:nvSpPr>
          <p:cNvPr id="51" name="TextBox 50"/>
          <p:cNvSpPr txBox="1"/>
          <p:nvPr/>
        </p:nvSpPr>
        <p:spPr>
          <a:xfrm>
            <a:off x="6583679" y="2468880"/>
            <a:ext cx="1005840" cy="640080"/>
          </a:xfrm>
          <a:prstGeom prst="rect">
            <a:avLst/>
          </a:prstGeom>
          <a:noFill/>
        </p:spPr>
        <p:txBody>
          <a:bodyPr wrap="square" lIns="0" rIns="0" tIns="0" bIns="0" anchor="ctr">
            <a:spAutoFit/>
          </a:bodyPr>
          <a:lstStyle/>
          <a:p>
            <a:pPr algn="l">
              <a:spcBef>
                <a:spcPts val="0"/>
              </a:spcBef>
              <a:spcAft>
                <a:spcPts val="0"/>
              </a:spcAft>
            </a:pPr>
            <a:r>
              <a:rPr sz="1450" b="1" i="0">
                <a:solidFill>
                  <a:srgbClr val="14202E"/>
                </a:solidFill>
                <a:latin typeface="Calibri"/>
              </a:rPr>
              <a:t>Verify</a:t>
            </a:r>
          </a:p>
        </p:txBody>
      </p:sp>
      <p:sp>
        <p:nvSpPr>
          <p:cNvPr id="52" name="TextBox 51"/>
          <p:cNvSpPr txBox="1"/>
          <p:nvPr/>
        </p:nvSpPr>
        <p:spPr>
          <a:xfrm>
            <a:off x="7772400" y="2468880"/>
            <a:ext cx="1801368" cy="640080"/>
          </a:xfrm>
          <a:prstGeom prst="rect">
            <a:avLst/>
          </a:prstGeom>
          <a:noFill/>
        </p:spPr>
        <p:txBody>
          <a:bodyPr wrap="square" lIns="0" rIns="0" tIns="0" bIns="0" anchor="ctr">
            <a:spAutoFit/>
          </a:bodyPr>
          <a:lstStyle/>
          <a:p>
            <a:pPr algn="l">
              <a:spcBef>
                <a:spcPts val="0"/>
              </a:spcBef>
              <a:spcAft>
                <a:spcPts val="0"/>
              </a:spcAft>
            </a:pPr>
            <a:r>
              <a:rPr sz="1450" b="0" i="0">
                <a:solidFill>
                  <a:srgbClr val="14202E"/>
                </a:solidFill>
                <a:latin typeface="Cambria"/>
              </a:rPr>
              <a:t>3</a:t>
            </a:r>
            <a:r>
              <a:rPr sz="1450" b="0" i="1">
                <a:solidFill>
                  <a:srgbClr val="14202E"/>
                </a:solidFill>
                <a:latin typeface="Cambria"/>
              </a:rPr>
              <a:t>T</a:t>
            </a:r>
            <a:r>
              <a:rPr sz="1450" b="0" i="1" baseline="-25000">
                <a:solidFill>
                  <a:srgbClr val="14202E"/>
                </a:solidFill>
                <a:latin typeface="Cambria"/>
              </a:rPr>
              <a:t>e</a:t>
            </a:r>
            <a:r>
              <a:rPr sz="1450" b="0" i="0">
                <a:solidFill>
                  <a:srgbClr val="14202E"/>
                </a:solidFill>
                <a:latin typeface="Cambria"/>
              </a:rPr>
              <a:t> + 2</a:t>
            </a:r>
            <a:r>
              <a:rPr sz="1450" b="0" i="1">
                <a:solidFill>
                  <a:srgbClr val="14202E"/>
                </a:solidFill>
                <a:latin typeface="Cambria"/>
              </a:rPr>
              <a:t>T</a:t>
            </a:r>
            <a:r>
              <a:rPr sz="1450" b="0" i="1" baseline="-25000">
                <a:solidFill>
                  <a:srgbClr val="14202E"/>
                </a:solidFill>
                <a:latin typeface="Cambria"/>
              </a:rPr>
              <a:t>a</a:t>
            </a:r>
            <a:r>
              <a:rPr sz="1450" b="0" i="0">
                <a:solidFill>
                  <a:srgbClr val="14202E"/>
                </a:solidFill>
                <a:latin typeface="Cambria"/>
              </a:rPr>
              <a:t> + 2</a:t>
            </a:r>
            <a:r>
              <a:rPr sz="1450" b="0" i="1">
                <a:solidFill>
                  <a:srgbClr val="14202E"/>
                </a:solidFill>
                <a:latin typeface="Cambria"/>
              </a:rPr>
              <a:t>T</a:t>
            </a:r>
            <a:r>
              <a:rPr sz="1450" b="0" i="1" baseline="-25000">
                <a:solidFill>
                  <a:srgbClr val="14202E"/>
                </a:solidFill>
                <a:latin typeface="Cambria"/>
              </a:rPr>
              <a:t>h</a:t>
            </a:r>
          </a:p>
        </p:txBody>
      </p:sp>
      <p:sp>
        <p:nvSpPr>
          <p:cNvPr id="53" name="TextBox 52"/>
          <p:cNvSpPr txBox="1"/>
          <p:nvPr/>
        </p:nvSpPr>
        <p:spPr>
          <a:xfrm>
            <a:off x="9756648" y="2468880"/>
            <a:ext cx="1792224" cy="640080"/>
          </a:xfrm>
          <a:prstGeom prst="rect">
            <a:avLst/>
          </a:prstGeom>
          <a:noFill/>
        </p:spPr>
        <p:txBody>
          <a:bodyPr wrap="square" lIns="0" rIns="0" tIns="0" bIns="0" anchor="ctr">
            <a:spAutoFit/>
          </a:bodyPr>
          <a:lstStyle/>
          <a:p>
            <a:pPr algn="l">
              <a:spcBef>
                <a:spcPts val="0"/>
              </a:spcBef>
              <a:spcAft>
                <a:spcPts val="0"/>
              </a:spcAft>
            </a:pPr>
            <a:r>
              <a:rPr sz="1450" b="1" i="0">
                <a:solidFill>
                  <a:srgbClr val="B3261E"/>
                </a:solidFill>
                <a:latin typeface="Cambria"/>
              </a:rPr>
              <a:t>4</a:t>
            </a:r>
            <a:r>
              <a:rPr sz="1450" b="1" i="1">
                <a:solidFill>
                  <a:srgbClr val="B3261E"/>
                </a:solidFill>
                <a:latin typeface="Cambria"/>
              </a:rPr>
              <a:t>T</a:t>
            </a:r>
            <a:r>
              <a:rPr sz="1450" b="1" i="1" baseline="-25000">
                <a:solidFill>
                  <a:srgbClr val="B3261E"/>
                </a:solidFill>
                <a:latin typeface="Cambria"/>
              </a:rPr>
              <a:t>e</a:t>
            </a:r>
            <a:r>
              <a:rPr sz="1450" b="1" i="0">
                <a:solidFill>
                  <a:srgbClr val="B3261E"/>
                </a:solidFill>
                <a:latin typeface="Cambria"/>
              </a:rPr>
              <a:t> + 3</a:t>
            </a:r>
            <a:r>
              <a:rPr sz="1450" b="1" i="1">
                <a:solidFill>
                  <a:srgbClr val="B3261E"/>
                </a:solidFill>
                <a:latin typeface="Cambria"/>
              </a:rPr>
              <a:t>T</a:t>
            </a:r>
            <a:r>
              <a:rPr sz="1450" b="1" i="1" baseline="-25000">
                <a:solidFill>
                  <a:srgbClr val="B3261E"/>
                </a:solidFill>
                <a:latin typeface="Cambria"/>
              </a:rPr>
              <a:t>a</a:t>
            </a:r>
            <a:r>
              <a:rPr sz="1450" b="1" i="0">
                <a:solidFill>
                  <a:srgbClr val="B3261E"/>
                </a:solidFill>
                <a:latin typeface="Cambria"/>
              </a:rPr>
              <a:t> + 3</a:t>
            </a:r>
            <a:r>
              <a:rPr sz="1450" b="1" i="1">
                <a:solidFill>
                  <a:srgbClr val="B3261E"/>
                </a:solidFill>
                <a:latin typeface="Cambria"/>
              </a:rPr>
              <a:t>T</a:t>
            </a:r>
            <a:r>
              <a:rPr sz="1450" b="1" i="1" baseline="-25000">
                <a:solidFill>
                  <a:srgbClr val="B3261E"/>
                </a:solidFill>
                <a:latin typeface="Cambria"/>
              </a:rPr>
              <a:t>h</a:t>
            </a:r>
          </a:p>
        </p:txBody>
      </p:sp>
      <p:cxnSp>
        <p:nvCxnSpPr>
          <p:cNvPr id="54" name="Connector 53"/>
          <p:cNvCxnSpPr/>
          <p:nvPr/>
        </p:nvCxnSpPr>
        <p:spPr>
          <a:xfrm>
            <a:off x="6492240" y="3108960"/>
            <a:ext cx="5148072" cy="0"/>
          </a:xfrm>
          <a:prstGeom prst="line">
            <a:avLst/>
          </a:prstGeom>
          <a:ln w="12700">
            <a:solidFill>
              <a:srgbClr val="D3D9E1"/>
            </a:solidFill>
          </a:ln>
        </p:spPr>
      </p:cxnSp>
      <p:sp>
        <p:nvSpPr>
          <p:cNvPr id="55" name="TextBox 54"/>
          <p:cNvSpPr txBox="1"/>
          <p:nvPr/>
        </p:nvSpPr>
        <p:spPr>
          <a:xfrm>
            <a:off x="6583679" y="3108960"/>
            <a:ext cx="1005840" cy="502920"/>
          </a:xfrm>
          <a:prstGeom prst="rect">
            <a:avLst/>
          </a:prstGeom>
          <a:noFill/>
        </p:spPr>
        <p:txBody>
          <a:bodyPr wrap="square" lIns="0" rIns="0" tIns="0" bIns="0" anchor="ctr">
            <a:spAutoFit/>
          </a:bodyPr>
          <a:lstStyle/>
          <a:p>
            <a:pPr algn="l">
              <a:spcBef>
                <a:spcPts val="0"/>
              </a:spcBef>
              <a:spcAft>
                <a:spcPts val="0"/>
              </a:spcAft>
            </a:pPr>
            <a:r>
              <a:rPr sz="1450" b="1" i="0">
                <a:solidFill>
                  <a:srgbClr val="14202E"/>
                </a:solidFill>
                <a:latin typeface="Calibri"/>
              </a:rPr>
              <a:t>AggSign</a:t>
            </a:r>
          </a:p>
        </p:txBody>
      </p:sp>
      <p:sp>
        <p:nvSpPr>
          <p:cNvPr id="56" name="TextBox 55"/>
          <p:cNvSpPr txBox="1"/>
          <p:nvPr/>
        </p:nvSpPr>
        <p:spPr>
          <a:xfrm>
            <a:off x="7772400" y="3108960"/>
            <a:ext cx="1801368" cy="502920"/>
          </a:xfrm>
          <a:prstGeom prst="rect">
            <a:avLst/>
          </a:prstGeom>
          <a:noFill/>
        </p:spPr>
        <p:txBody>
          <a:bodyPr wrap="square" lIns="0" rIns="0" tIns="0" bIns="0" anchor="ctr">
            <a:spAutoFit/>
          </a:bodyPr>
          <a:lstStyle/>
          <a:p>
            <a:pPr algn="l">
              <a:spcBef>
                <a:spcPts val="0"/>
              </a:spcBef>
              <a:spcAft>
                <a:spcPts val="0"/>
              </a:spcAft>
            </a:pPr>
            <a:r>
              <a:rPr sz="1450" b="0" i="0">
                <a:solidFill>
                  <a:srgbClr val="14202E"/>
                </a:solidFill>
                <a:latin typeface="Cambria"/>
              </a:rPr>
              <a:t>(</a:t>
            </a:r>
            <a:r>
              <a:rPr sz="1450" b="0" i="1">
                <a:solidFill>
                  <a:srgbClr val="14202E"/>
                </a:solidFill>
                <a:latin typeface="Cambria"/>
              </a:rPr>
              <a:t>n</a:t>
            </a:r>
            <a:r>
              <a:rPr sz="1450" b="0" i="0">
                <a:solidFill>
                  <a:srgbClr val="14202E"/>
                </a:solidFill>
                <a:latin typeface="Cambria"/>
              </a:rPr>
              <a:t>−1)</a:t>
            </a:r>
            <a:r>
              <a:rPr sz="1450" b="0" i="1">
                <a:solidFill>
                  <a:srgbClr val="14202E"/>
                </a:solidFill>
                <a:latin typeface="Cambria"/>
              </a:rPr>
              <a:t>T</a:t>
            </a:r>
            <a:r>
              <a:rPr sz="1450" b="0" i="1" baseline="-25000">
                <a:solidFill>
                  <a:srgbClr val="14202E"/>
                </a:solidFill>
                <a:latin typeface="Cambria"/>
              </a:rPr>
              <a:t>a</a:t>
            </a:r>
          </a:p>
        </p:txBody>
      </p:sp>
      <p:sp>
        <p:nvSpPr>
          <p:cNvPr id="57" name="TextBox 56"/>
          <p:cNvSpPr txBox="1"/>
          <p:nvPr/>
        </p:nvSpPr>
        <p:spPr>
          <a:xfrm>
            <a:off x="9756648" y="3108960"/>
            <a:ext cx="1792224" cy="502920"/>
          </a:xfrm>
          <a:prstGeom prst="rect">
            <a:avLst/>
          </a:prstGeom>
          <a:noFill/>
        </p:spPr>
        <p:txBody>
          <a:bodyPr wrap="square" lIns="0" rIns="0" tIns="0" bIns="0" anchor="ctr">
            <a:spAutoFit/>
          </a:bodyPr>
          <a:lstStyle/>
          <a:p>
            <a:pPr algn="l">
              <a:spcBef>
                <a:spcPts val="0"/>
              </a:spcBef>
              <a:spcAft>
                <a:spcPts val="0"/>
              </a:spcAft>
            </a:pPr>
            <a:r>
              <a:rPr sz="1450" b="1" i="0">
                <a:solidFill>
                  <a:srgbClr val="1E7B4F"/>
                </a:solidFill>
                <a:latin typeface="Calibri"/>
              </a:rPr>
              <a:t>no group operation</a:t>
            </a:r>
          </a:p>
        </p:txBody>
      </p:sp>
      <p:cxnSp>
        <p:nvCxnSpPr>
          <p:cNvPr id="58" name="Connector 57"/>
          <p:cNvCxnSpPr/>
          <p:nvPr/>
        </p:nvCxnSpPr>
        <p:spPr>
          <a:xfrm>
            <a:off x="6492240" y="3611880"/>
            <a:ext cx="5148072" cy="0"/>
          </a:xfrm>
          <a:prstGeom prst="line">
            <a:avLst/>
          </a:prstGeom>
          <a:ln w="12700">
            <a:solidFill>
              <a:srgbClr val="D3D9E1"/>
            </a:solidFill>
          </a:ln>
        </p:spPr>
      </p:cxnSp>
      <p:sp>
        <p:nvSpPr>
          <p:cNvPr id="59" name="TextBox 58"/>
          <p:cNvSpPr txBox="1"/>
          <p:nvPr/>
        </p:nvSpPr>
        <p:spPr>
          <a:xfrm>
            <a:off x="6583679" y="3611880"/>
            <a:ext cx="1005840" cy="868680"/>
          </a:xfrm>
          <a:prstGeom prst="rect">
            <a:avLst/>
          </a:prstGeom>
          <a:noFill/>
        </p:spPr>
        <p:txBody>
          <a:bodyPr wrap="square" lIns="0" rIns="0" tIns="0" bIns="0" anchor="ctr">
            <a:spAutoFit/>
          </a:bodyPr>
          <a:lstStyle/>
          <a:p>
            <a:pPr algn="l">
              <a:spcBef>
                <a:spcPts val="0"/>
              </a:spcBef>
              <a:spcAft>
                <a:spcPts val="0"/>
              </a:spcAft>
            </a:pPr>
            <a:r>
              <a:rPr sz="1450" b="1" i="0">
                <a:solidFill>
                  <a:srgbClr val="14202E"/>
                </a:solidFill>
                <a:latin typeface="Calibri"/>
              </a:rPr>
              <a:t>AggVerify</a:t>
            </a:r>
          </a:p>
        </p:txBody>
      </p:sp>
      <p:sp>
        <p:nvSpPr>
          <p:cNvPr id="60" name="TextBox 59"/>
          <p:cNvSpPr txBox="1"/>
          <p:nvPr/>
        </p:nvSpPr>
        <p:spPr>
          <a:xfrm>
            <a:off x="7772400" y="3611880"/>
            <a:ext cx="1801368" cy="868680"/>
          </a:xfrm>
          <a:prstGeom prst="rect">
            <a:avLst/>
          </a:prstGeom>
          <a:noFill/>
        </p:spPr>
        <p:txBody>
          <a:bodyPr wrap="square" lIns="0" rIns="0" tIns="0" bIns="0" anchor="ctr">
            <a:spAutoFit/>
          </a:bodyPr>
          <a:lstStyle/>
          <a:p>
            <a:pPr algn="l">
              <a:spcBef>
                <a:spcPts val="0"/>
              </a:spcBef>
              <a:spcAft>
                <a:spcPts val="0"/>
              </a:spcAft>
            </a:pPr>
            <a:r>
              <a:rPr sz="1450" b="0" i="0">
                <a:solidFill>
                  <a:srgbClr val="14202E"/>
                </a:solidFill>
                <a:latin typeface="Cambria"/>
              </a:rPr>
              <a:t>(</a:t>
            </a:r>
            <a:r>
              <a:rPr sz="1450" b="0" i="1">
                <a:solidFill>
                  <a:srgbClr val="14202E"/>
                </a:solidFill>
                <a:latin typeface="Cambria"/>
              </a:rPr>
              <a:t>n</a:t>
            </a:r>
            <a:r>
              <a:rPr sz="1450" b="0" i="0">
                <a:solidFill>
                  <a:srgbClr val="14202E"/>
                </a:solidFill>
                <a:latin typeface="Cambria"/>
              </a:rPr>
              <a:t>+2)</a:t>
            </a:r>
            <a:r>
              <a:rPr sz="1450" b="0" i="1">
                <a:solidFill>
                  <a:srgbClr val="14202E"/>
                </a:solidFill>
                <a:latin typeface="Cambria"/>
              </a:rPr>
              <a:t>T</a:t>
            </a:r>
            <a:r>
              <a:rPr sz="1450" b="0" i="1" baseline="-25000">
                <a:solidFill>
                  <a:srgbClr val="14202E"/>
                </a:solidFill>
                <a:latin typeface="Cambria"/>
              </a:rPr>
              <a:t>e</a:t>
            </a:r>
            <a:r>
              <a:rPr sz="1450" b="0" i="0">
                <a:solidFill>
                  <a:srgbClr val="14202E"/>
                </a:solidFill>
                <a:latin typeface="Cambria"/>
              </a:rPr>
              <a:t> + (</a:t>
            </a:r>
            <a:r>
              <a:rPr sz="1450" b="0" i="1">
                <a:solidFill>
                  <a:srgbClr val="14202E"/>
                </a:solidFill>
                <a:latin typeface="Cambria"/>
              </a:rPr>
              <a:t>n</a:t>
            </a:r>
            <a:r>
              <a:rPr sz="1450" b="0" i="0">
                <a:solidFill>
                  <a:srgbClr val="14202E"/>
                </a:solidFill>
                <a:latin typeface="Cambria"/>
              </a:rPr>
              <a:t>+1)</a:t>
            </a:r>
            <a:r>
              <a:rPr sz="1450" b="0" i="1">
                <a:solidFill>
                  <a:srgbClr val="14202E"/>
                </a:solidFill>
                <a:latin typeface="Cambria"/>
              </a:rPr>
              <a:t>T</a:t>
            </a:r>
            <a:r>
              <a:rPr sz="1450" b="0" i="1" baseline="-25000">
                <a:solidFill>
                  <a:srgbClr val="14202E"/>
                </a:solidFill>
                <a:latin typeface="Cambria"/>
              </a:rPr>
              <a:t>a</a:t>
            </a:r>
            <a:r>
              <a:rPr sz="1450" b="0" i="0">
                <a:solidFill>
                  <a:srgbClr val="14202E"/>
                </a:solidFill>
                <a:latin typeface="Cambria"/>
              </a:rPr>
              <a:t> + 2</a:t>
            </a:r>
            <a:r>
              <a:rPr sz="1450" b="0" i="1">
                <a:solidFill>
                  <a:srgbClr val="14202E"/>
                </a:solidFill>
                <a:latin typeface="Cambria"/>
              </a:rPr>
              <a:t>nT</a:t>
            </a:r>
            <a:r>
              <a:rPr sz="1450" b="0" i="1" baseline="-25000">
                <a:solidFill>
                  <a:srgbClr val="14202E"/>
                </a:solidFill>
                <a:latin typeface="Cambria"/>
              </a:rPr>
              <a:t>h</a:t>
            </a:r>
          </a:p>
        </p:txBody>
      </p:sp>
      <p:sp>
        <p:nvSpPr>
          <p:cNvPr id="61" name="TextBox 60"/>
          <p:cNvSpPr txBox="1"/>
          <p:nvPr/>
        </p:nvSpPr>
        <p:spPr>
          <a:xfrm>
            <a:off x="9756648" y="3611880"/>
            <a:ext cx="1792224" cy="868680"/>
          </a:xfrm>
          <a:prstGeom prst="rect">
            <a:avLst/>
          </a:prstGeom>
          <a:noFill/>
        </p:spPr>
        <p:txBody>
          <a:bodyPr wrap="square" lIns="0" rIns="0" tIns="0" bIns="0" anchor="ctr">
            <a:spAutoFit/>
          </a:bodyPr>
          <a:lstStyle/>
          <a:p>
            <a:pPr algn="l">
              <a:spcBef>
                <a:spcPts val="0"/>
              </a:spcBef>
              <a:spcAft>
                <a:spcPts val="0"/>
              </a:spcAft>
            </a:pPr>
            <a:r>
              <a:rPr sz="1450" b="1" i="0">
                <a:solidFill>
                  <a:srgbClr val="B3261E"/>
                </a:solidFill>
                <a:latin typeface="Cambria"/>
              </a:rPr>
              <a:t>(2</a:t>
            </a:r>
            <a:r>
              <a:rPr sz="1450" b="1" i="1">
                <a:solidFill>
                  <a:srgbClr val="B3261E"/>
                </a:solidFill>
                <a:latin typeface="Cambria"/>
              </a:rPr>
              <a:t>n</a:t>
            </a:r>
            <a:r>
              <a:rPr sz="1450" b="1" i="0">
                <a:solidFill>
                  <a:srgbClr val="B3261E"/>
                </a:solidFill>
                <a:latin typeface="Cambria"/>
              </a:rPr>
              <a:t>+2)</a:t>
            </a:r>
            <a:r>
              <a:rPr sz="1450" b="1" i="1">
                <a:solidFill>
                  <a:srgbClr val="B3261E"/>
                </a:solidFill>
                <a:latin typeface="Cambria"/>
              </a:rPr>
              <a:t>T</a:t>
            </a:r>
            <a:r>
              <a:rPr sz="1450" b="1" i="1" baseline="-25000">
                <a:solidFill>
                  <a:srgbClr val="B3261E"/>
                </a:solidFill>
                <a:latin typeface="Cambria"/>
              </a:rPr>
              <a:t>e</a:t>
            </a:r>
            <a:r>
              <a:rPr sz="1450" b="1" i="0">
                <a:solidFill>
                  <a:srgbClr val="B3261E"/>
                </a:solidFill>
                <a:latin typeface="Cambria"/>
              </a:rPr>
              <a:t> + 3</a:t>
            </a:r>
            <a:r>
              <a:rPr sz="1450" b="1" i="1">
                <a:solidFill>
                  <a:srgbClr val="B3261E"/>
                </a:solidFill>
                <a:latin typeface="Cambria"/>
              </a:rPr>
              <a:t>nT</a:t>
            </a:r>
            <a:r>
              <a:rPr sz="1450" b="1" i="1" baseline="-25000">
                <a:solidFill>
                  <a:srgbClr val="B3261E"/>
                </a:solidFill>
                <a:latin typeface="Cambria"/>
              </a:rPr>
              <a:t>a</a:t>
            </a:r>
            <a:r>
              <a:rPr sz="1450" b="1" i="0">
                <a:solidFill>
                  <a:srgbClr val="B3261E"/>
                </a:solidFill>
                <a:latin typeface="Cambria"/>
              </a:rPr>
              <a:t> + 3</a:t>
            </a:r>
            <a:r>
              <a:rPr sz="1450" b="1" i="1">
                <a:solidFill>
                  <a:srgbClr val="B3261E"/>
                </a:solidFill>
                <a:latin typeface="Cambria"/>
              </a:rPr>
              <a:t>nT</a:t>
            </a:r>
            <a:r>
              <a:rPr sz="1450" b="1" i="1" baseline="-25000">
                <a:solidFill>
                  <a:srgbClr val="B3261E"/>
                </a:solidFill>
                <a:latin typeface="Cambria"/>
              </a:rPr>
              <a:t>h</a:t>
            </a:r>
          </a:p>
        </p:txBody>
      </p:sp>
      <p:cxnSp>
        <p:nvCxnSpPr>
          <p:cNvPr id="62" name="Connector 61"/>
          <p:cNvCxnSpPr/>
          <p:nvPr/>
        </p:nvCxnSpPr>
        <p:spPr>
          <a:xfrm>
            <a:off x="6492240" y="4480560"/>
            <a:ext cx="5148072" cy="0"/>
          </a:xfrm>
          <a:prstGeom prst="line">
            <a:avLst/>
          </a:prstGeom>
          <a:ln w="12700">
            <a:solidFill>
              <a:srgbClr val="D3D9E1"/>
            </a:solidFill>
          </a:ln>
        </p:spPr>
      </p:cxnSp>
      <p:sp>
        <p:nvSpPr>
          <p:cNvPr id="63" name="Rounded Rectangle 62"/>
          <p:cNvSpPr/>
          <p:nvPr/>
        </p:nvSpPr>
        <p:spPr>
          <a:xfrm>
            <a:off x="6492240" y="4572000"/>
            <a:ext cx="5148072" cy="1051560"/>
          </a:xfrm>
          <a:prstGeom prst="roundRect">
            <a:avLst>
              <a:gd name="adj" fmla="val 6956"/>
            </a:avLst>
          </a:prstGeom>
          <a:solidFill>
            <a:srgbClr val="E2F3EA"/>
          </a:solidFill>
          <a:ln w="19050">
            <a:solidFill>
              <a:srgbClr val="1E7B4F"/>
            </a:solidFill>
          </a:ln>
          <a:effectLst/>
        </p:spPr>
        <p:txBody>
          <a:bodyPr rtlCol="0" anchor="ctr" wrap="square" lIns="73152" rIns="73152" tIns="36576" bIns="36576"/>
          <a:lstStyle/>
          <a:p>
            <a:pPr algn="ctr"/>
          </a:p>
        </p:txBody>
      </p:sp>
      <p:sp>
        <p:nvSpPr>
          <p:cNvPr id="64" name="TextBox 63"/>
          <p:cNvSpPr txBox="1"/>
          <p:nvPr/>
        </p:nvSpPr>
        <p:spPr>
          <a:xfrm>
            <a:off x="6675120" y="4590288"/>
            <a:ext cx="4800600" cy="1024128"/>
          </a:xfrm>
          <a:prstGeom prst="rect">
            <a:avLst/>
          </a:prstGeom>
          <a:noFill/>
        </p:spPr>
        <p:txBody>
          <a:bodyPr wrap="square" lIns="0" rIns="0" tIns="0" bIns="0" anchor="ctr">
            <a:spAutoFit/>
          </a:bodyPr>
          <a:lstStyle/>
          <a:p>
            <a:pPr algn="l">
              <a:lnSpc>
                <a:spcPct val="95000"/>
              </a:lnSpc>
              <a:spcBef>
                <a:spcPts val="0"/>
              </a:spcBef>
              <a:spcAft>
                <a:spcPts val="0"/>
              </a:spcAft>
            </a:pPr>
            <a:r>
              <a:rPr sz="1450" b="1" i="0">
                <a:solidFill>
                  <a:srgbClr val="14202E"/>
                </a:solidFill>
                <a:latin typeface="Calibri"/>
              </a:rPr>
              <a:t>Calibration.</a:t>
            </a:r>
            <a:r>
              <a:rPr sz="1450" b="0" i="0">
                <a:solidFill>
                  <a:srgbClr val="14202E"/>
                </a:solidFill>
                <a:latin typeface="Calibri"/>
              </a:rPr>
              <a:t> The same counter reproduces Verma's printed AggVerify, AggSign and Verify rows exactly: the discrepancy is in the printed row, not in the method.</a:t>
            </a:r>
          </a:p>
        </p:txBody>
      </p:sp>
      <p:sp>
        <p:nvSpPr>
          <p:cNvPr id="65" name="Rectangle 64"/>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66" name="TextBox 65"/>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850" b="1" i="0">
                <a:solidFill>
                  <a:srgbClr val="14202E"/>
                </a:solidFill>
                <a:latin typeface="Calibri"/>
              </a:rPr>
              <a:t>The paper's own equation needs two scalar multiplications per signer, </a:t>
            </a:r>
            <a:r>
              <a:rPr sz="1850" b="1" i="1">
                <a:solidFill>
                  <a:srgbClr val="14202E"/>
                </a:solidFill>
                <a:latin typeface="Cambria"/>
              </a:rPr>
              <a:t>u</a:t>
            </a:r>
            <a:r>
              <a:rPr sz="1850" b="1" i="1" baseline="-25000">
                <a:solidFill>
                  <a:srgbClr val="14202E"/>
                </a:solidFill>
                <a:latin typeface="Cambria"/>
              </a:rPr>
              <a:t>i</a:t>
            </a:r>
            <a:r>
              <a:rPr sz="1850" b="1" i="1">
                <a:solidFill>
                  <a:srgbClr val="14202E"/>
                </a:solidFill>
                <a:latin typeface="Cambria"/>
              </a:rPr>
              <a:t>R</a:t>
            </a:r>
            <a:r>
              <a:rPr sz="1850" b="1" i="1" baseline="-25000">
                <a:solidFill>
                  <a:srgbClr val="14202E"/>
                </a:solidFill>
                <a:latin typeface="Cambria"/>
              </a:rPr>
              <a:t>i</a:t>
            </a:r>
            <a:r>
              <a:rPr sz="1850" b="1" i="0">
                <a:solidFill>
                  <a:srgbClr val="14202E"/>
                </a:solidFill>
                <a:latin typeface="Calibri"/>
              </a:rPr>
              <a:t> and </a:t>
            </a:r>
            <a:r>
              <a:rPr sz="1850" b="1" i="1">
                <a:solidFill>
                  <a:srgbClr val="14202E"/>
                </a:solidFill>
                <a:latin typeface="Cambria"/>
              </a:rPr>
              <a:t>v</a:t>
            </a:r>
            <a:r>
              <a:rPr sz="1850" b="1" i="1" baseline="-25000">
                <a:solidFill>
                  <a:srgbClr val="14202E"/>
                </a:solidFill>
                <a:latin typeface="Cambria"/>
              </a:rPr>
              <a:t>i</a:t>
            </a:r>
            <a:r>
              <a:rPr sz="1850" b="1" i="1">
                <a:solidFill>
                  <a:srgbClr val="14202E"/>
                </a:solidFill>
                <a:latin typeface="Cambria"/>
              </a:rPr>
              <a:t>pk</a:t>
            </a:r>
            <a:r>
              <a:rPr sz="1850" b="1" i="1" baseline="-25000">
                <a:solidFill>
                  <a:srgbClr val="14202E"/>
                </a:solidFill>
                <a:latin typeface="Cambria"/>
              </a:rPr>
              <a:t>i</a:t>
            </a:r>
            <a:r>
              <a:rPr sz="1850" b="1" i="0">
                <a:solidFill>
                  <a:srgbClr val="14202E"/>
                </a:solidFill>
                <a:latin typeface="Calibri"/>
              </a:rPr>
              <a:t>, not one.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VI · EVIDENCE CHAIN 2 / 6 · STRESS TEST</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We tested the obvious objection: caching</a:t>
            </a:r>
          </a:p>
        </p:txBody>
      </p:sp>
      <p:sp>
        <p:nvSpPr>
          <p:cNvPr id="4" name="Rounded Rectangle 3"/>
          <p:cNvSpPr/>
          <p:nvPr/>
        </p:nvSpPr>
        <p:spPr>
          <a:xfrm>
            <a:off x="10736884" y="274320"/>
            <a:ext cx="903427" cy="246888"/>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OUR AUDIT</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27 / 32</a:t>
            </a:r>
          </a:p>
        </p:txBody>
      </p:sp>
      <p:sp>
        <p:nvSpPr>
          <p:cNvPr id="8" name="Rectangle 7"/>
          <p:cNvSpPr/>
          <p:nvPr/>
        </p:nvSpPr>
        <p:spPr>
          <a:xfrm>
            <a:off x="548640" y="1554480"/>
            <a:ext cx="11091672" cy="411480"/>
          </a:xfrm>
          <a:prstGeom prst="rect">
            <a:avLst/>
          </a:prstGeom>
          <a:solidFill>
            <a:srgbClr val="F2F5F8"/>
          </a:solidFill>
          <a:ln>
            <a:noFill/>
          </a:ln>
          <a:effectLst/>
        </p:spPr>
        <p:txBody>
          <a:bodyPr rtlCol="0" anchor="ctr" wrap="square" lIns="73152" rIns="73152" tIns="36576" bIns="36576"/>
          <a:lstStyle/>
          <a:p>
            <a:pPr algn="ctr"/>
          </a:p>
        </p:txBody>
      </p:sp>
      <p:sp>
        <p:nvSpPr>
          <p:cNvPr id="9" name="TextBox 8"/>
          <p:cNvSpPr txBox="1"/>
          <p:nvPr/>
        </p:nvSpPr>
        <p:spPr>
          <a:xfrm>
            <a:off x="640080" y="1554480"/>
            <a:ext cx="3657600" cy="41148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CONVENTION</a:t>
            </a:r>
          </a:p>
        </p:txBody>
      </p:sp>
      <p:sp>
        <p:nvSpPr>
          <p:cNvPr id="10" name="TextBox 9"/>
          <p:cNvSpPr txBox="1"/>
          <p:nvPr/>
        </p:nvSpPr>
        <p:spPr>
          <a:xfrm>
            <a:off x="4480559" y="1554480"/>
            <a:ext cx="2423160" cy="41148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QIAO · ONE VERIFY</a:t>
            </a:r>
          </a:p>
        </p:txBody>
      </p:sp>
      <p:sp>
        <p:nvSpPr>
          <p:cNvPr id="11" name="TextBox 10"/>
          <p:cNvSpPr txBox="1"/>
          <p:nvPr/>
        </p:nvSpPr>
        <p:spPr>
          <a:xfrm>
            <a:off x="7086600" y="1554480"/>
            <a:ext cx="2331720" cy="41148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VERMA · ONE VERIFY</a:t>
            </a:r>
          </a:p>
        </p:txBody>
      </p:sp>
      <p:sp>
        <p:nvSpPr>
          <p:cNvPr id="12" name="TextBox 11"/>
          <p:cNvSpPr txBox="1"/>
          <p:nvPr/>
        </p:nvSpPr>
        <p:spPr>
          <a:xfrm>
            <a:off x="9601200" y="1554480"/>
            <a:ext cx="1947672" cy="41148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QIAO · AGGVERIFY </a:t>
            </a:r>
            <a:r>
              <a:rPr sz="1150" b="1" i="1" spc="60">
                <a:solidFill>
                  <a:srgbClr val="5B6675"/>
                </a:solidFill>
                <a:latin typeface="Cambria"/>
              </a:rPr>
              <a:t>T</a:t>
            </a:r>
            <a:r>
              <a:rPr sz="1150" b="1" i="1" baseline="-25000" spc="60">
                <a:solidFill>
                  <a:srgbClr val="5B6675"/>
                </a:solidFill>
                <a:latin typeface="Cambria"/>
              </a:rPr>
              <a:t>e</a:t>
            </a:r>
          </a:p>
        </p:txBody>
      </p:sp>
      <p:cxnSp>
        <p:nvCxnSpPr>
          <p:cNvPr id="13" name="Connector 12"/>
          <p:cNvCxnSpPr/>
          <p:nvPr/>
        </p:nvCxnSpPr>
        <p:spPr>
          <a:xfrm>
            <a:off x="548640" y="1965960"/>
            <a:ext cx="11091672" cy="0"/>
          </a:xfrm>
          <a:prstGeom prst="line">
            <a:avLst/>
          </a:prstGeom>
          <a:ln w="15875">
            <a:solidFill>
              <a:srgbClr val="5B6675"/>
            </a:solidFill>
          </a:ln>
        </p:spPr>
      </p:cxnSp>
      <p:sp>
        <p:nvSpPr>
          <p:cNvPr id="14" name="TextBox 13"/>
          <p:cNvSpPr txBox="1"/>
          <p:nvPr/>
        </p:nvSpPr>
        <p:spPr>
          <a:xfrm>
            <a:off x="640080" y="1965960"/>
            <a:ext cx="3657600" cy="777240"/>
          </a:xfrm>
          <a:prstGeom prst="rect">
            <a:avLst/>
          </a:prstGeom>
          <a:noFill/>
        </p:spPr>
        <p:txBody>
          <a:bodyPr wrap="square" lIns="0" rIns="0" tIns="0" bIns="0" anchor="ctr">
            <a:spAutoFit/>
          </a:bodyPr>
          <a:lstStyle/>
          <a:p>
            <a:pPr algn="l">
              <a:spcBef>
                <a:spcPts val="0"/>
              </a:spcBef>
              <a:spcAft>
                <a:spcPts val="0"/>
              </a:spcAft>
            </a:pPr>
            <a:r>
              <a:rPr sz="1450" b="0" i="0">
                <a:solidFill>
                  <a:srgbClr val="14202E"/>
                </a:solidFill>
                <a:latin typeface="Calibri"/>
              </a:rPr>
              <a:t>No caching: the convention behind Verma's printed row</a:t>
            </a:r>
          </a:p>
        </p:txBody>
      </p:sp>
      <p:sp>
        <p:nvSpPr>
          <p:cNvPr id="15" name="TextBox 14"/>
          <p:cNvSpPr txBox="1"/>
          <p:nvPr/>
        </p:nvSpPr>
        <p:spPr>
          <a:xfrm>
            <a:off x="4480559" y="1965960"/>
            <a:ext cx="2423160" cy="777240"/>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4</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+ 3</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+ 3</a:t>
            </a:r>
            <a:r>
              <a:rPr sz="1500" b="0" i="1">
                <a:solidFill>
                  <a:srgbClr val="14202E"/>
                </a:solidFill>
                <a:latin typeface="Cambria"/>
              </a:rPr>
              <a:t>T</a:t>
            </a:r>
            <a:r>
              <a:rPr sz="1500" b="0" i="1" baseline="-25000">
                <a:solidFill>
                  <a:srgbClr val="14202E"/>
                </a:solidFill>
                <a:latin typeface="Cambria"/>
              </a:rPr>
              <a:t>h</a:t>
            </a:r>
          </a:p>
        </p:txBody>
      </p:sp>
      <p:sp>
        <p:nvSpPr>
          <p:cNvPr id="16" name="TextBox 15"/>
          <p:cNvSpPr txBox="1"/>
          <p:nvPr/>
        </p:nvSpPr>
        <p:spPr>
          <a:xfrm>
            <a:off x="7086600" y="1965960"/>
            <a:ext cx="2331720" cy="777240"/>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3</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h</a:t>
            </a:r>
          </a:p>
          <a:p>
            <a:pPr algn="l">
              <a:spcBef>
                <a:spcPts val="0"/>
              </a:spcBef>
              <a:spcAft>
                <a:spcPts val="0"/>
              </a:spcAft>
            </a:pPr>
            <a:r>
              <a:rPr sz="1500" b="0" i="0">
                <a:solidFill>
                  <a:srgbClr val="1E7B4F"/>
                </a:solidFill>
                <a:latin typeface="Calibri"/>
              </a:rPr>
              <a:t>= printed row</a:t>
            </a:r>
          </a:p>
        </p:txBody>
      </p:sp>
      <p:sp>
        <p:nvSpPr>
          <p:cNvPr id="17" name="TextBox 16"/>
          <p:cNvSpPr txBox="1"/>
          <p:nvPr/>
        </p:nvSpPr>
        <p:spPr>
          <a:xfrm>
            <a:off x="9601200" y="1965960"/>
            <a:ext cx="1947672" cy="777240"/>
          </a:xfrm>
          <a:prstGeom prst="rect">
            <a:avLst/>
          </a:prstGeom>
          <a:noFill/>
        </p:spPr>
        <p:txBody>
          <a:bodyPr wrap="square" lIns="0" rIns="0" tIns="0" bIns="0" anchor="ctr">
            <a:spAutoFit/>
          </a:bodyPr>
          <a:lstStyle/>
          <a:p>
            <a:pPr algn="l">
              <a:spcBef>
                <a:spcPts val="0"/>
              </a:spcBef>
              <a:spcAft>
                <a:spcPts val="0"/>
              </a:spcAft>
            </a:pPr>
            <a:r>
              <a:rPr sz="1500" b="1" i="0">
                <a:solidFill>
                  <a:srgbClr val="14202E"/>
                </a:solidFill>
                <a:latin typeface="Cambria"/>
              </a:rPr>
              <a:t>2</a:t>
            </a:r>
            <a:r>
              <a:rPr sz="1500" b="1" i="1">
                <a:solidFill>
                  <a:srgbClr val="14202E"/>
                </a:solidFill>
                <a:latin typeface="Cambria"/>
              </a:rPr>
              <a:t>n</a:t>
            </a:r>
            <a:r>
              <a:rPr sz="1500" b="1" i="0">
                <a:solidFill>
                  <a:srgbClr val="14202E"/>
                </a:solidFill>
                <a:latin typeface="Cambria"/>
              </a:rPr>
              <a:t> + 2</a:t>
            </a:r>
          </a:p>
        </p:txBody>
      </p:sp>
      <p:cxnSp>
        <p:nvCxnSpPr>
          <p:cNvPr id="18" name="Connector 17"/>
          <p:cNvCxnSpPr/>
          <p:nvPr/>
        </p:nvCxnSpPr>
        <p:spPr>
          <a:xfrm>
            <a:off x="548640" y="2743200"/>
            <a:ext cx="11091672" cy="0"/>
          </a:xfrm>
          <a:prstGeom prst="line">
            <a:avLst/>
          </a:prstGeom>
          <a:ln w="12700">
            <a:solidFill>
              <a:srgbClr val="D3D9E1"/>
            </a:solidFill>
          </a:ln>
        </p:spPr>
      </p:cxnSp>
      <p:sp>
        <p:nvSpPr>
          <p:cNvPr id="19" name="TextBox 18"/>
          <p:cNvSpPr txBox="1"/>
          <p:nvPr/>
        </p:nvSpPr>
        <p:spPr>
          <a:xfrm>
            <a:off x="640080" y="2743200"/>
            <a:ext cx="3657600" cy="1005840"/>
          </a:xfrm>
          <a:prstGeom prst="rect">
            <a:avLst/>
          </a:prstGeom>
          <a:noFill/>
        </p:spPr>
        <p:txBody>
          <a:bodyPr wrap="square" lIns="0" rIns="0" tIns="0" bIns="0" anchor="ctr">
            <a:spAutoFit/>
          </a:bodyPr>
          <a:lstStyle/>
          <a:p>
            <a:pPr algn="l">
              <a:spcBef>
                <a:spcPts val="0"/>
              </a:spcBef>
              <a:spcAft>
                <a:spcPts val="0"/>
              </a:spcAft>
            </a:pPr>
            <a:r>
              <a:rPr sz="1400" b="0" i="0">
                <a:solidFill>
                  <a:srgbClr val="14202E"/>
                </a:solidFill>
                <a:latin typeface="Calibri"/>
              </a:rPr>
              <a:t>Cache every per-signer constant: </a:t>
            </a:r>
            <a:r>
              <a:rPr sz="1400" b="0" i="1">
                <a:solidFill>
                  <a:srgbClr val="14202E"/>
                </a:solidFill>
                <a:latin typeface="Cambria"/>
              </a:rPr>
              <a:t>h</a:t>
            </a:r>
            <a:r>
              <a:rPr sz="1400" b="0" i="1" baseline="30000">
                <a:solidFill>
                  <a:srgbClr val="14202E"/>
                </a:solidFill>
                <a:latin typeface="Cambria"/>
              </a:rPr>
              <a:t>i</a:t>
            </a:r>
            <a:r>
              <a:rPr sz="1400" b="0" i="0" baseline="-25000">
                <a:solidFill>
                  <a:srgbClr val="14202E"/>
                </a:solidFill>
                <a:latin typeface="Cambria"/>
              </a:rPr>
              <a:t>0</a:t>
            </a:r>
            <a:r>
              <a:rPr sz="1400" b="0" i="0">
                <a:solidFill>
                  <a:srgbClr val="14202E"/>
                </a:solidFill>
                <a:latin typeface="Calibri"/>
              </a:rPr>
              <a:t> and </a:t>
            </a:r>
            <a:r>
              <a:rPr sz="1400" b="0" i="1">
                <a:solidFill>
                  <a:srgbClr val="14202E"/>
                </a:solidFill>
                <a:latin typeface="Cambria"/>
              </a:rPr>
              <a:t>C</a:t>
            </a:r>
            <a:r>
              <a:rPr sz="1400" b="0" i="1" baseline="-25000">
                <a:solidFill>
                  <a:srgbClr val="14202E"/>
                </a:solidFill>
                <a:latin typeface="Cambria"/>
              </a:rPr>
              <a:t>i</a:t>
            </a:r>
            <a:r>
              <a:rPr sz="1400" b="0" i="0">
                <a:solidFill>
                  <a:srgbClr val="14202E"/>
                </a:solidFill>
                <a:latin typeface="Cambria"/>
              </a:rPr>
              <a:t> = </a:t>
            </a:r>
            <a:r>
              <a:rPr sz="1400" b="0" i="1">
                <a:solidFill>
                  <a:srgbClr val="14202E"/>
                </a:solidFill>
                <a:latin typeface="Cambria"/>
              </a:rPr>
              <a:t>R</a:t>
            </a:r>
            <a:r>
              <a:rPr sz="1400" b="0" i="1" baseline="-25000">
                <a:solidFill>
                  <a:srgbClr val="14202E"/>
                </a:solidFill>
                <a:latin typeface="Cambria"/>
              </a:rPr>
              <a:t>i</a:t>
            </a:r>
            <a:r>
              <a:rPr sz="1400" b="0" i="0">
                <a:solidFill>
                  <a:srgbClr val="14202E"/>
                </a:solidFill>
                <a:latin typeface="Cambria"/>
              </a:rPr>
              <a:t> + </a:t>
            </a:r>
            <a:r>
              <a:rPr sz="1400" b="0" i="1">
                <a:solidFill>
                  <a:srgbClr val="14202E"/>
                </a:solidFill>
                <a:latin typeface="Cambria"/>
              </a:rPr>
              <a:t>h</a:t>
            </a:r>
            <a:r>
              <a:rPr sz="1400" b="0" i="1" baseline="30000">
                <a:solidFill>
                  <a:srgbClr val="14202E"/>
                </a:solidFill>
                <a:latin typeface="Cambria"/>
              </a:rPr>
              <a:t>i</a:t>
            </a:r>
            <a:r>
              <a:rPr sz="1400" b="0" i="0" baseline="-25000">
                <a:solidFill>
                  <a:srgbClr val="14202E"/>
                </a:solidFill>
                <a:latin typeface="Cambria"/>
              </a:rPr>
              <a:t>0</a:t>
            </a:r>
            <a:r>
              <a:rPr sz="1400" b="0" i="1">
                <a:solidFill>
                  <a:srgbClr val="14202E"/>
                </a:solidFill>
                <a:latin typeface="Cambria"/>
              </a:rPr>
              <a:t>P</a:t>
            </a:r>
            <a:r>
              <a:rPr sz="1400" b="0" i="1" baseline="30000">
                <a:solidFill>
                  <a:srgbClr val="14202E"/>
                </a:solidFill>
                <a:latin typeface="Cambria"/>
              </a:rPr>
              <a:t>k</a:t>
            </a:r>
            <a:r>
              <a:rPr sz="1400" b="0" i="1" baseline="-25000">
                <a:solidFill>
                  <a:srgbClr val="14202E"/>
                </a:solidFill>
                <a:latin typeface="Cambria"/>
              </a:rPr>
              <a:t>TA</a:t>
            </a:r>
            <a:r>
              <a:rPr sz="1400" b="0" i="0">
                <a:solidFill>
                  <a:srgbClr val="14202E"/>
                </a:solidFill>
                <a:latin typeface="Calibri"/>
              </a:rPr>
              <a:t> (Verma: </a:t>
            </a:r>
            <a:r>
              <a:rPr sz="1400" b="0" i="1">
                <a:solidFill>
                  <a:srgbClr val="14202E"/>
                </a:solidFill>
                <a:latin typeface="Cambria"/>
              </a:rPr>
              <a:t>h</a:t>
            </a:r>
            <a:r>
              <a:rPr sz="1400" b="0" i="1" baseline="30000">
                <a:solidFill>
                  <a:srgbClr val="14202E"/>
                </a:solidFill>
                <a:latin typeface="Cambria"/>
              </a:rPr>
              <a:t>i</a:t>
            </a:r>
            <a:r>
              <a:rPr sz="1400" b="0" i="0" baseline="-25000">
                <a:solidFill>
                  <a:srgbClr val="14202E"/>
                </a:solidFill>
                <a:latin typeface="Cambria"/>
              </a:rPr>
              <a:t>0</a:t>
            </a:r>
            <a:r>
              <a:rPr sz="1400" b="0" i="1">
                <a:solidFill>
                  <a:srgbClr val="14202E"/>
                </a:solidFill>
                <a:latin typeface="Cambria"/>
              </a:rPr>
              <a:t>P</a:t>
            </a:r>
            <a:r>
              <a:rPr sz="1400" b="0" i="1" baseline="30000">
                <a:solidFill>
                  <a:srgbClr val="14202E"/>
                </a:solidFill>
                <a:latin typeface="Cambria"/>
              </a:rPr>
              <a:t>k</a:t>
            </a:r>
            <a:r>
              <a:rPr sz="1400" b="0" i="1" baseline="-25000">
                <a:solidFill>
                  <a:srgbClr val="14202E"/>
                </a:solidFill>
                <a:latin typeface="Cambria"/>
              </a:rPr>
              <a:t>TA</a:t>
            </a:r>
            <a:r>
              <a:rPr sz="1400" b="0" i="0">
                <a:solidFill>
                  <a:srgbClr val="14202E"/>
                </a:solidFill>
                <a:latin typeface="Calibri"/>
              </a:rPr>
              <a:t>)</a:t>
            </a:r>
          </a:p>
        </p:txBody>
      </p:sp>
      <p:sp>
        <p:nvSpPr>
          <p:cNvPr id="20" name="TextBox 19"/>
          <p:cNvSpPr txBox="1"/>
          <p:nvPr/>
        </p:nvSpPr>
        <p:spPr>
          <a:xfrm>
            <a:off x="4480559" y="2743200"/>
            <a:ext cx="2423160" cy="1005840"/>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3</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h</a:t>
            </a:r>
          </a:p>
          <a:p>
            <a:pPr algn="l">
              <a:spcBef>
                <a:spcPts val="0"/>
              </a:spcBef>
              <a:spcAft>
                <a:spcPts val="0"/>
              </a:spcAft>
            </a:pPr>
            <a:r>
              <a:rPr sz="1500" b="0" i="0">
                <a:solidFill>
                  <a:srgbClr val="1E7B4F"/>
                </a:solidFill>
                <a:latin typeface="Calibri"/>
              </a:rPr>
              <a:t>= printed Table II row</a:t>
            </a:r>
          </a:p>
        </p:txBody>
      </p:sp>
      <p:sp>
        <p:nvSpPr>
          <p:cNvPr id="21" name="TextBox 20"/>
          <p:cNvSpPr txBox="1"/>
          <p:nvPr/>
        </p:nvSpPr>
        <p:spPr>
          <a:xfrm>
            <a:off x="7086600" y="2743200"/>
            <a:ext cx="2331720" cy="1005840"/>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2</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+ 1</a:t>
            </a:r>
            <a:r>
              <a:rPr sz="1500" b="0" i="1">
                <a:solidFill>
                  <a:srgbClr val="14202E"/>
                </a:solidFill>
                <a:latin typeface="Cambria"/>
              </a:rPr>
              <a:t>T</a:t>
            </a:r>
            <a:r>
              <a:rPr sz="1500" b="0" i="1" baseline="-25000">
                <a:solidFill>
                  <a:srgbClr val="14202E"/>
                </a:solidFill>
                <a:latin typeface="Cambria"/>
              </a:rPr>
              <a:t>h</a:t>
            </a:r>
          </a:p>
        </p:txBody>
      </p:sp>
      <p:sp>
        <p:nvSpPr>
          <p:cNvPr id="22" name="TextBox 21"/>
          <p:cNvSpPr txBox="1"/>
          <p:nvPr/>
        </p:nvSpPr>
        <p:spPr>
          <a:xfrm>
            <a:off x="9601200" y="2743200"/>
            <a:ext cx="1947672" cy="1005840"/>
          </a:xfrm>
          <a:prstGeom prst="rect">
            <a:avLst/>
          </a:prstGeom>
          <a:noFill/>
        </p:spPr>
        <p:txBody>
          <a:bodyPr wrap="square" lIns="0" rIns="0" tIns="0" bIns="0" anchor="ctr">
            <a:spAutoFit/>
          </a:bodyPr>
          <a:lstStyle/>
          <a:p>
            <a:pPr algn="l">
              <a:spcBef>
                <a:spcPts val="0"/>
              </a:spcBef>
              <a:spcAft>
                <a:spcPts val="0"/>
              </a:spcAft>
            </a:pPr>
            <a:r>
              <a:rPr sz="1500" b="1" i="0">
                <a:solidFill>
                  <a:srgbClr val="14202E"/>
                </a:solidFill>
                <a:latin typeface="Cambria"/>
              </a:rPr>
              <a:t>2</a:t>
            </a:r>
            <a:r>
              <a:rPr sz="1500" b="1" i="1">
                <a:solidFill>
                  <a:srgbClr val="14202E"/>
                </a:solidFill>
                <a:latin typeface="Cambria"/>
              </a:rPr>
              <a:t>n</a:t>
            </a:r>
            <a:r>
              <a:rPr sz="1500" b="1" i="0">
                <a:solidFill>
                  <a:srgbClr val="14202E"/>
                </a:solidFill>
                <a:latin typeface="Cambria"/>
              </a:rPr>
              <a:t> + 1</a:t>
            </a:r>
          </a:p>
        </p:txBody>
      </p:sp>
      <p:cxnSp>
        <p:nvCxnSpPr>
          <p:cNvPr id="23" name="Connector 22"/>
          <p:cNvCxnSpPr/>
          <p:nvPr/>
        </p:nvCxnSpPr>
        <p:spPr>
          <a:xfrm>
            <a:off x="548640" y="3749039"/>
            <a:ext cx="11091672" cy="0"/>
          </a:xfrm>
          <a:prstGeom prst="line">
            <a:avLst/>
          </a:prstGeom>
          <a:ln w="12700">
            <a:solidFill>
              <a:srgbClr val="D3D9E1"/>
            </a:solidFill>
          </a:ln>
        </p:spPr>
      </p:cxnSp>
      <p:sp>
        <p:nvSpPr>
          <p:cNvPr id="24" name="Rounded Rectangle 23"/>
          <p:cNvSpPr/>
          <p:nvPr/>
        </p:nvSpPr>
        <p:spPr>
          <a:xfrm>
            <a:off x="548640" y="3977639"/>
            <a:ext cx="11091672" cy="1600200"/>
          </a:xfrm>
          <a:prstGeom prst="roundRect">
            <a:avLst>
              <a:gd name="adj" fmla="val 4571"/>
            </a:avLst>
          </a:prstGeom>
          <a:solidFill>
            <a:srgbClr val="FFFFFF"/>
          </a:solidFill>
          <a:ln w="15875">
            <a:solidFill>
              <a:srgbClr val="D3D9E1"/>
            </a:solidFill>
          </a:ln>
          <a:effectLst/>
        </p:spPr>
        <p:txBody>
          <a:bodyPr rtlCol="0" anchor="ctr" wrap="square" lIns="73152" rIns="73152" tIns="36576" bIns="36576"/>
          <a:lstStyle/>
          <a:p>
            <a:pPr algn="ctr"/>
          </a:p>
        </p:txBody>
      </p:sp>
      <p:sp>
        <p:nvSpPr>
          <p:cNvPr id="25" name="Rounded Rectangle 24"/>
          <p:cNvSpPr/>
          <p:nvPr/>
        </p:nvSpPr>
        <p:spPr>
          <a:xfrm>
            <a:off x="685800" y="4087368"/>
            <a:ext cx="903427" cy="237744"/>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00" b="1" i="0">
                <a:solidFill>
                  <a:srgbClr val="FFFFFF"/>
                </a:solidFill>
                <a:latin typeface="Calibri"/>
              </a:rPr>
              <a:t>OUR AUDIT</a:t>
            </a:r>
          </a:p>
        </p:txBody>
      </p:sp>
      <p:sp>
        <p:nvSpPr>
          <p:cNvPr id="26" name="TextBox 25"/>
          <p:cNvSpPr txBox="1"/>
          <p:nvPr/>
        </p:nvSpPr>
        <p:spPr>
          <a:xfrm>
            <a:off x="685800" y="4398264"/>
            <a:ext cx="10817352" cy="1143000"/>
          </a:xfrm>
          <a:prstGeom prst="rect">
            <a:avLst/>
          </a:prstGeom>
          <a:noFill/>
        </p:spPr>
        <p:txBody>
          <a:bodyPr wrap="square" lIns="0" rIns="0" tIns="0" bIns="0" anchor="t">
            <a:spAutoFit/>
          </a:bodyPr>
          <a:lstStyle/>
          <a:p>
            <a:pPr algn="l">
              <a:lnSpc>
                <a:spcPct val="95000"/>
              </a:lnSpc>
              <a:spcBef>
                <a:spcPts val="0"/>
              </a:spcBef>
              <a:spcAft>
                <a:spcPts val="300"/>
              </a:spcAft>
            </a:pPr>
            <a:r>
              <a:rPr sz="1700" b="1" i="0">
                <a:solidFill>
                  <a:srgbClr val="14202E"/>
                </a:solidFill>
                <a:latin typeface="Calibri"/>
              </a:rPr>
              <a:t>Aggregate, n = 100, with caching</a:t>
            </a:r>
          </a:p>
          <a:p>
            <a:pPr algn="l">
              <a:lnSpc>
                <a:spcPct val="95000"/>
              </a:lnSpc>
              <a:spcBef>
                <a:spcPts val="0"/>
              </a:spcBef>
              <a:spcAft>
                <a:spcPts val="400"/>
              </a:spcAft>
            </a:pPr>
            <a:r>
              <a:rPr sz="1600" b="0" i="0">
                <a:solidFill>
                  <a:srgbClr val="5B6675"/>
                </a:solidFill>
                <a:latin typeface="Cambria"/>
              </a:rPr>
              <a:t>201</a:t>
            </a:r>
            <a:r>
              <a:rPr sz="1600" b="0" i="1">
                <a:solidFill>
                  <a:srgbClr val="5B6675"/>
                </a:solidFill>
                <a:latin typeface="Cambria"/>
              </a:rPr>
              <a:t>T</a:t>
            </a:r>
            <a:r>
              <a:rPr sz="1600" b="0" i="1" baseline="-25000">
                <a:solidFill>
                  <a:srgbClr val="5B6675"/>
                </a:solidFill>
                <a:latin typeface="Cambria"/>
              </a:rPr>
              <a:t>e</a:t>
            </a:r>
            <a:r>
              <a:rPr sz="1600" b="0" i="0">
                <a:solidFill>
                  <a:srgbClr val="5B6675"/>
                </a:solidFill>
                <a:latin typeface="Cambria"/>
              </a:rPr>
              <a:t> + 299</a:t>
            </a:r>
            <a:r>
              <a:rPr sz="1600" b="0" i="1">
                <a:solidFill>
                  <a:srgbClr val="5B6675"/>
                </a:solidFill>
                <a:latin typeface="Cambria"/>
              </a:rPr>
              <a:t>T</a:t>
            </a:r>
            <a:r>
              <a:rPr sz="1600" b="0" i="1" baseline="-25000">
                <a:solidFill>
                  <a:srgbClr val="5B6675"/>
                </a:solidFill>
                <a:latin typeface="Cambria"/>
              </a:rPr>
              <a:t>a</a:t>
            </a:r>
            <a:r>
              <a:rPr sz="1600" b="0" i="0">
                <a:solidFill>
                  <a:srgbClr val="5B6675"/>
                </a:solidFill>
                <a:latin typeface="Cambria"/>
              </a:rPr>
              <a:t> + 200</a:t>
            </a:r>
            <a:r>
              <a:rPr sz="1600" b="0" i="1">
                <a:solidFill>
                  <a:srgbClr val="5B6675"/>
                </a:solidFill>
                <a:latin typeface="Cambria"/>
              </a:rPr>
              <a:t>T</a:t>
            </a:r>
            <a:r>
              <a:rPr sz="1600" b="0" i="1" baseline="-25000">
                <a:solidFill>
                  <a:srgbClr val="5B6675"/>
                </a:solidFill>
                <a:latin typeface="Cambria"/>
              </a:rPr>
              <a:t>h</a:t>
            </a:r>
            <a:r>
              <a:rPr sz="1600" b="0" i="0">
                <a:solidFill>
                  <a:srgbClr val="5B6675"/>
                </a:solidFill>
                <a:latin typeface="Calibri"/>
              </a:rPr>
              <a:t> against the printed </a:t>
            </a:r>
            <a:r>
              <a:rPr sz="1600" b="0" i="0">
                <a:solidFill>
                  <a:srgbClr val="5B6675"/>
                </a:solidFill>
                <a:latin typeface="Cambria"/>
              </a:rPr>
              <a:t>102</a:t>
            </a:r>
            <a:r>
              <a:rPr sz="1600" b="0" i="1">
                <a:solidFill>
                  <a:srgbClr val="5B6675"/>
                </a:solidFill>
                <a:latin typeface="Cambria"/>
              </a:rPr>
              <a:t>T</a:t>
            </a:r>
            <a:r>
              <a:rPr sz="1600" b="0" i="1" baseline="-25000">
                <a:solidFill>
                  <a:srgbClr val="5B6675"/>
                </a:solidFill>
                <a:latin typeface="Cambria"/>
              </a:rPr>
              <a:t>e</a:t>
            </a:r>
            <a:r>
              <a:rPr sz="1600" b="0" i="0">
                <a:solidFill>
                  <a:srgbClr val="5B6675"/>
                </a:solidFill>
                <a:latin typeface="Cambria"/>
              </a:rPr>
              <a:t> + 101</a:t>
            </a:r>
            <a:r>
              <a:rPr sz="1600" b="0" i="1">
                <a:solidFill>
                  <a:srgbClr val="5B6675"/>
                </a:solidFill>
                <a:latin typeface="Cambria"/>
              </a:rPr>
              <a:t>T</a:t>
            </a:r>
            <a:r>
              <a:rPr sz="1600" b="0" i="1" baseline="-25000">
                <a:solidFill>
                  <a:srgbClr val="5B6675"/>
                </a:solidFill>
                <a:latin typeface="Cambria"/>
              </a:rPr>
              <a:t>a</a:t>
            </a:r>
            <a:r>
              <a:rPr sz="1600" b="0" i="0">
                <a:solidFill>
                  <a:srgbClr val="5B6675"/>
                </a:solidFill>
                <a:latin typeface="Cambria"/>
              </a:rPr>
              <a:t> + 200</a:t>
            </a:r>
            <a:r>
              <a:rPr sz="1600" b="0" i="1">
                <a:solidFill>
                  <a:srgbClr val="5B6675"/>
                </a:solidFill>
                <a:latin typeface="Cambria"/>
              </a:rPr>
              <a:t>T</a:t>
            </a:r>
            <a:r>
              <a:rPr sz="1600" b="0" i="1" baseline="-25000">
                <a:solidFill>
                  <a:srgbClr val="5B6675"/>
                </a:solidFill>
                <a:latin typeface="Cambria"/>
              </a:rPr>
              <a:t>h</a:t>
            </a:r>
            <a:r>
              <a:rPr sz="1600" b="0" i="0">
                <a:solidFill>
                  <a:srgbClr val="5B6675"/>
                </a:solidFill>
                <a:latin typeface="Calibri"/>
              </a:rPr>
              <a:t>: </a:t>
            </a:r>
            <a:r>
              <a:rPr sz="1600" b="0" i="1">
                <a:solidFill>
                  <a:srgbClr val="5B6675"/>
                </a:solidFill>
                <a:latin typeface="Cambria"/>
              </a:rPr>
              <a:t>T</a:t>
            </a:r>
            <a:r>
              <a:rPr sz="1600" b="0" i="1" baseline="-25000">
                <a:solidFill>
                  <a:srgbClr val="5B6675"/>
                </a:solidFill>
                <a:latin typeface="Cambria"/>
              </a:rPr>
              <a:t>h</a:t>
            </a:r>
            <a:r>
              <a:rPr sz="1600" b="0" i="0">
                <a:solidFill>
                  <a:srgbClr val="5B6675"/>
                </a:solidFill>
                <a:latin typeface="Calibri"/>
              </a:rPr>
              <a:t> matches, </a:t>
            </a:r>
            <a:r>
              <a:rPr sz="1600" b="0" i="1">
                <a:solidFill>
                  <a:srgbClr val="5B6675"/>
                </a:solidFill>
                <a:latin typeface="Cambria"/>
              </a:rPr>
              <a:t>T</a:t>
            </a:r>
            <a:r>
              <a:rPr sz="1600" b="0" i="1" baseline="-25000">
                <a:solidFill>
                  <a:srgbClr val="5B6675"/>
                </a:solidFill>
                <a:latin typeface="Cambria"/>
              </a:rPr>
              <a:t>e</a:t>
            </a:r>
            <a:r>
              <a:rPr sz="1600" b="0" i="0">
                <a:solidFill>
                  <a:srgbClr val="5B6675"/>
                </a:solidFill>
                <a:latin typeface="Calibri"/>
              </a:rPr>
              <a:t> does not.</a:t>
            </a:r>
          </a:p>
          <a:p>
            <a:pPr algn="l">
              <a:lnSpc>
                <a:spcPct val="95000"/>
              </a:lnSpc>
              <a:spcBef>
                <a:spcPts val="0"/>
              </a:spcBef>
              <a:spcAft>
                <a:spcPts val="0"/>
              </a:spcAft>
            </a:pPr>
            <a:r>
              <a:rPr sz="1600" b="0" i="0">
                <a:solidFill>
                  <a:srgbClr val="5B6675"/>
                </a:solidFill>
                <a:latin typeface="Calibri"/>
              </a:rPr>
              <a:t>Folding </a:t>
            </a:r>
            <a:r>
              <a:rPr sz="1600" b="0" i="0">
                <a:solidFill>
                  <a:srgbClr val="5B6675"/>
                </a:solidFill>
                <a:latin typeface="Cambria"/>
              </a:rPr>
              <a:t>Σ</a:t>
            </a:r>
            <a:r>
              <a:rPr sz="1600" b="0" i="1">
                <a:solidFill>
                  <a:srgbClr val="5B6675"/>
                </a:solidFill>
                <a:latin typeface="Cambria"/>
              </a:rPr>
              <a:t>u</a:t>
            </a:r>
            <a:r>
              <a:rPr sz="1600" b="0" i="1" baseline="-25000">
                <a:solidFill>
                  <a:srgbClr val="5B6675"/>
                </a:solidFill>
                <a:latin typeface="Cambria"/>
              </a:rPr>
              <a:t>i</a:t>
            </a:r>
            <a:r>
              <a:rPr sz="1600" b="0" i="1">
                <a:solidFill>
                  <a:srgbClr val="5B6675"/>
                </a:solidFill>
                <a:latin typeface="Cambria"/>
              </a:rPr>
              <a:t>R</a:t>
            </a:r>
            <a:r>
              <a:rPr sz="1600" b="0" i="1" baseline="-25000">
                <a:solidFill>
                  <a:srgbClr val="5B6675"/>
                </a:solidFill>
                <a:latin typeface="Cambria"/>
              </a:rPr>
              <a:t>i</a:t>
            </a:r>
            <a:r>
              <a:rPr sz="1600" b="0" i="0">
                <a:solidFill>
                  <a:srgbClr val="5B6675"/>
                </a:solidFill>
                <a:latin typeface="Calibri"/>
              </a:rPr>
              <a:t> needs the secret </a:t>
            </a:r>
            <a:r>
              <a:rPr sz="1600" b="0" i="1">
                <a:solidFill>
                  <a:srgbClr val="5B6675"/>
                </a:solidFill>
                <a:latin typeface="Cambria"/>
              </a:rPr>
              <a:t>c</a:t>
            </a:r>
            <a:r>
              <a:rPr sz="1600" b="0" i="1" baseline="-25000">
                <a:solidFill>
                  <a:srgbClr val="5B6675"/>
                </a:solidFill>
                <a:latin typeface="Cambria"/>
              </a:rPr>
              <a:t>i</a:t>
            </a:r>
            <a:r>
              <a:rPr sz="1600" b="0" i="0">
                <a:solidFill>
                  <a:srgbClr val="5B6675"/>
                </a:solidFill>
                <a:latin typeface="Calibri"/>
              </a:rPr>
              <a:t>; multi-scalar multiplication is a different cost model (backup B8).</a:t>
            </a:r>
          </a:p>
        </p:txBody>
      </p:sp>
      <p:sp>
        <p:nvSpPr>
          <p:cNvPr id="27" name="Rectangle 26"/>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28" name="TextBox 27"/>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700" b="1" i="0">
                <a:solidFill>
                  <a:srgbClr val="14202E"/>
                </a:solidFill>
                <a:latin typeface="Calibri"/>
              </a:rPr>
              <a:t>Caching reproduces the single-signature row, but aggregate verification still needs at least </a:t>
            </a:r>
            <a:r>
              <a:rPr sz="1700" b="1" i="0">
                <a:solidFill>
                  <a:srgbClr val="14202E"/>
                </a:solidFill>
                <a:latin typeface="Cambria"/>
              </a:rPr>
              <a:t>2</a:t>
            </a:r>
            <a:r>
              <a:rPr sz="1700" b="1" i="1">
                <a:solidFill>
                  <a:srgbClr val="14202E"/>
                </a:solidFill>
                <a:latin typeface="Cambria"/>
              </a:rPr>
              <a:t>n</a:t>
            </a:r>
            <a:r>
              <a:rPr sz="1700" b="1" i="0">
                <a:solidFill>
                  <a:srgbClr val="14202E"/>
                </a:solidFill>
                <a:latin typeface="Cambria"/>
              </a:rPr>
              <a:t>+1</a:t>
            </a:r>
            <a:r>
              <a:rPr sz="1700" b="1" i="0">
                <a:solidFill>
                  <a:srgbClr val="14202E"/>
                </a:solidFill>
                <a:latin typeface="Calibri"/>
              </a:rPr>
              <a:t> scalar multiplications, against the printed </a:t>
            </a:r>
            <a:r>
              <a:rPr sz="1700" b="1" i="1">
                <a:solidFill>
                  <a:srgbClr val="14202E"/>
                </a:solidFill>
                <a:latin typeface="Cambria"/>
              </a:rPr>
              <a:t>n</a:t>
            </a:r>
            <a:r>
              <a:rPr sz="1700" b="1" i="0">
                <a:solidFill>
                  <a:srgbClr val="14202E"/>
                </a:solidFill>
                <a:latin typeface="Cambria"/>
              </a:rPr>
              <a:t>+2</a:t>
            </a:r>
            <a:r>
              <a:rPr sz="1700" b="1" i="0">
                <a:solidFill>
                  <a:srgbClr val="14202E"/>
                </a:solidFill>
                <a:latin typeface="Calibri"/>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VI · EVIDENCE CHAIN 4 / 6 · EXPECTED TIME</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At n = 100 the paper's own costs give about twice the printed time</a:t>
            </a:r>
          </a:p>
        </p:txBody>
      </p:sp>
      <p:sp>
        <p:nvSpPr>
          <p:cNvPr id="4" name="Rounded Rectangle 3"/>
          <p:cNvSpPr/>
          <p:nvPr/>
        </p:nvSpPr>
        <p:spPr>
          <a:xfrm>
            <a:off x="10736884" y="274320"/>
            <a:ext cx="903427" cy="246888"/>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OUR AUDIT</a:t>
            </a:r>
          </a:p>
        </p:txBody>
      </p:sp>
      <p:sp>
        <p:nvSpPr>
          <p:cNvPr id="5" name="Rounded Rectangle 4"/>
          <p:cNvSpPr/>
          <p:nvPr/>
        </p:nvSpPr>
        <p:spPr>
          <a:xfrm>
            <a:off x="1009680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28 / 32</a:t>
            </a:r>
          </a:p>
        </p:txBody>
      </p:sp>
      <p:pic>
        <p:nvPicPr>
          <p:cNvPr id="9" name="Picture 8" descr="fig_n100_bars.png"/>
          <p:cNvPicPr>
            <a:picLocks noChangeAspect="1"/>
          </p:cNvPicPr>
          <p:nvPr/>
        </p:nvPicPr>
        <p:blipFill>
          <a:blip r:embed="rId3"/>
          <a:stretch>
            <a:fillRect/>
          </a:stretch>
        </p:blipFill>
        <p:spPr>
          <a:xfrm>
            <a:off x="548640" y="1508760"/>
            <a:ext cx="5760720" cy="3965713"/>
          </a:xfrm>
          <a:prstGeom prst="rect">
            <a:avLst/>
          </a:prstGeom>
        </p:spPr>
      </p:pic>
      <p:sp>
        <p:nvSpPr>
          <p:cNvPr id="10" name="Rounded Rectangle 9"/>
          <p:cNvSpPr/>
          <p:nvPr/>
        </p:nvSpPr>
        <p:spPr>
          <a:xfrm>
            <a:off x="6583680" y="1554480"/>
            <a:ext cx="5056632" cy="1280160"/>
          </a:xfrm>
          <a:prstGeom prst="roundRect">
            <a:avLst>
              <a:gd name="adj" fmla="val 5714"/>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1" name="Rounded Rectangle 10"/>
          <p:cNvSpPr/>
          <p:nvPr/>
        </p:nvSpPr>
        <p:spPr>
          <a:xfrm>
            <a:off x="6720840" y="1664207"/>
            <a:ext cx="566928" cy="237744"/>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00" b="1" i="0">
                <a:solidFill>
                  <a:srgbClr val="FFFFFF"/>
                </a:solidFill>
                <a:latin typeface="Calibri"/>
              </a:rPr>
              <a:t>PAPER</a:t>
            </a:r>
          </a:p>
        </p:txBody>
      </p:sp>
      <p:sp>
        <p:nvSpPr>
          <p:cNvPr id="12" name="TextBox 11"/>
          <p:cNvSpPr txBox="1"/>
          <p:nvPr/>
        </p:nvSpPr>
        <p:spPr>
          <a:xfrm>
            <a:off x="6720840" y="1975104"/>
            <a:ext cx="4782312" cy="822959"/>
          </a:xfrm>
          <a:prstGeom prst="rect">
            <a:avLst/>
          </a:prstGeom>
          <a:noFill/>
        </p:spPr>
        <p:txBody>
          <a:bodyPr wrap="square" lIns="0" rIns="0" tIns="0" bIns="0" anchor="t">
            <a:spAutoFit/>
          </a:bodyPr>
          <a:lstStyle/>
          <a:p>
            <a:pPr algn="l">
              <a:lnSpc>
                <a:spcPct val="95000"/>
              </a:lnSpc>
              <a:spcBef>
                <a:spcPts val="0"/>
              </a:spcBef>
              <a:spcAft>
                <a:spcPts val="300"/>
              </a:spcAft>
            </a:pPr>
            <a:r>
              <a:rPr sz="1650" b="1" i="0">
                <a:solidFill>
                  <a:srgbClr val="14202E"/>
                </a:solidFill>
                <a:latin typeface="Calibri"/>
              </a:rPr>
              <a:t>12.729 ms is the bar in the paper's own Fig. 4</a:t>
            </a:r>
          </a:p>
          <a:p>
            <a:pPr algn="l">
              <a:lnSpc>
                <a:spcPct val="95000"/>
              </a:lnSpc>
              <a:spcBef>
                <a:spcPts val="0"/>
              </a:spcBef>
              <a:spcAft>
                <a:spcPts val="0"/>
              </a:spcAft>
            </a:pPr>
            <a:r>
              <a:rPr sz="1450" b="0" i="0">
                <a:solidFill>
                  <a:srgbClr val="5B6675"/>
                </a:solidFill>
                <a:latin typeface="Calibri"/>
              </a:rPr>
              <a:t>So Fig. 4 was computed from Table III, and carries its count.</a:t>
            </a:r>
          </a:p>
        </p:txBody>
      </p:sp>
      <p:sp>
        <p:nvSpPr>
          <p:cNvPr id="13" name="Rounded Rectangle 12"/>
          <p:cNvSpPr/>
          <p:nvPr/>
        </p:nvSpPr>
        <p:spPr>
          <a:xfrm>
            <a:off x="6583680" y="2944368"/>
            <a:ext cx="5056632" cy="1280160"/>
          </a:xfrm>
          <a:prstGeom prst="roundRect">
            <a:avLst>
              <a:gd name="adj" fmla="val 5714"/>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4" name="Rounded Rectangle 13"/>
          <p:cNvSpPr/>
          <p:nvPr/>
        </p:nvSpPr>
        <p:spPr>
          <a:xfrm>
            <a:off x="6720840" y="3054096"/>
            <a:ext cx="903427" cy="237744"/>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00" b="1" i="0">
                <a:solidFill>
                  <a:srgbClr val="FFFFFF"/>
                </a:solidFill>
                <a:latin typeface="Calibri"/>
              </a:rPr>
              <a:t>OUR AUDIT</a:t>
            </a:r>
          </a:p>
        </p:txBody>
      </p:sp>
      <p:sp>
        <p:nvSpPr>
          <p:cNvPr id="15" name="TextBox 14"/>
          <p:cNvSpPr txBox="1"/>
          <p:nvPr/>
        </p:nvSpPr>
        <p:spPr>
          <a:xfrm>
            <a:off x="6720840" y="3364992"/>
            <a:ext cx="4782312" cy="822959"/>
          </a:xfrm>
          <a:prstGeom prst="rect">
            <a:avLst/>
          </a:prstGeom>
          <a:noFill/>
        </p:spPr>
        <p:txBody>
          <a:bodyPr wrap="square" lIns="0" rIns="0" tIns="0" bIns="0" anchor="t">
            <a:spAutoFit/>
          </a:bodyPr>
          <a:lstStyle/>
          <a:p>
            <a:pPr algn="l">
              <a:lnSpc>
                <a:spcPct val="95000"/>
              </a:lnSpc>
              <a:spcBef>
                <a:spcPts val="0"/>
              </a:spcBef>
              <a:spcAft>
                <a:spcPts val="300"/>
              </a:spcAft>
            </a:pPr>
            <a:r>
              <a:rPr sz="1650" b="1" i="0">
                <a:solidFill>
                  <a:srgbClr val="14202E"/>
                </a:solidFill>
                <a:latin typeface="Calibri"/>
              </a:rPr>
              <a:t>×1.99 from the paper's algorithm; ×1.95 even with caching</a:t>
            </a:r>
          </a:p>
          <a:p>
            <a:pPr algn="l">
              <a:lnSpc>
                <a:spcPct val="95000"/>
              </a:lnSpc>
              <a:spcBef>
                <a:spcPts val="0"/>
              </a:spcBef>
              <a:spcAft>
                <a:spcPts val="0"/>
              </a:spcAft>
            </a:pPr>
            <a:r>
              <a:rPr sz="1450" b="0" i="0">
                <a:solidFill>
                  <a:srgbClr val="5B6675"/>
                </a:solidFill>
                <a:latin typeface="Calibri"/>
              </a:rPr>
              <a:t>Per signer under Table IV: 125 → 251 µs (×2.01).</a:t>
            </a:r>
          </a:p>
        </p:txBody>
      </p:sp>
      <p:sp>
        <p:nvSpPr>
          <p:cNvPr id="16" name="Rounded Rectangle 15"/>
          <p:cNvSpPr/>
          <p:nvPr/>
        </p:nvSpPr>
        <p:spPr>
          <a:xfrm>
            <a:off x="6583680" y="4334256"/>
            <a:ext cx="5056632" cy="1280160"/>
          </a:xfrm>
          <a:prstGeom prst="roundRect">
            <a:avLst>
              <a:gd name="adj" fmla="val 5714"/>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7" name="Rounded Rectangle 16"/>
          <p:cNvSpPr/>
          <p:nvPr/>
        </p:nvSpPr>
        <p:spPr>
          <a:xfrm>
            <a:off x="6720840" y="4443984"/>
            <a:ext cx="903427" cy="237744"/>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00" b="1" i="0">
                <a:solidFill>
                  <a:srgbClr val="FFFFFF"/>
                </a:solidFill>
                <a:latin typeface="Calibri"/>
              </a:rPr>
              <a:t>OUR AUDIT</a:t>
            </a:r>
          </a:p>
        </p:txBody>
      </p:sp>
      <p:sp>
        <p:nvSpPr>
          <p:cNvPr id="18" name="TextBox 17"/>
          <p:cNvSpPr txBox="1"/>
          <p:nvPr/>
        </p:nvSpPr>
        <p:spPr>
          <a:xfrm>
            <a:off x="6720840" y="4754880"/>
            <a:ext cx="4782312" cy="822959"/>
          </a:xfrm>
          <a:prstGeom prst="rect">
            <a:avLst/>
          </a:prstGeom>
          <a:noFill/>
        </p:spPr>
        <p:txBody>
          <a:bodyPr wrap="square" lIns="0" rIns="0" tIns="0" bIns="0" anchor="t">
            <a:spAutoFit/>
          </a:bodyPr>
          <a:lstStyle/>
          <a:p>
            <a:pPr algn="l">
              <a:lnSpc>
                <a:spcPct val="95000"/>
              </a:lnSpc>
              <a:spcBef>
                <a:spcPts val="0"/>
              </a:spcBef>
              <a:spcAft>
                <a:spcPts val="300"/>
              </a:spcAft>
            </a:pPr>
            <a:r>
              <a:rPr sz="1650" b="1" i="0">
                <a:solidFill>
                  <a:srgbClr val="14202E"/>
                </a:solidFill>
                <a:latin typeface="Calibri"/>
              </a:rPr>
              <a:t>Not a one-off typo</a:t>
            </a:r>
          </a:p>
          <a:p>
            <a:pPr algn="l">
              <a:lnSpc>
                <a:spcPct val="95000"/>
              </a:lnSpc>
              <a:spcBef>
                <a:spcPts val="0"/>
              </a:spcBef>
              <a:spcAft>
                <a:spcPts val="0"/>
              </a:spcAft>
            </a:pPr>
            <a:r>
              <a:rPr sz="1450" b="0" i="0">
                <a:solidFill>
                  <a:srgbClr val="5B6675"/>
                </a:solidFill>
                <a:latin typeface="Calibri"/>
              </a:rPr>
              <a:t>A printed row that reproduces exactly in a figure, yet does not follow from the printed algorithm.</a:t>
            </a:r>
          </a:p>
        </p:txBody>
      </p:sp>
      <p:sp>
        <p:nvSpPr>
          <p:cNvPr id="19" name="Rectangle 18"/>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20" name="TextBox 19"/>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900" b="1" i="0">
                <a:solidFill>
                  <a:srgbClr val="14202E"/>
                </a:solidFill>
                <a:latin typeface="Calibri"/>
              </a:rPr>
              <a:t>The printed row agrees with Fig. 4 and disagrees with the printed verification equation.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VI · WHAT FOLLOWS FROM THE PAPER'S OWN NUMBERS</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700" b="1" i="0">
                <a:solidFill>
                  <a:srgbClr val="14202E"/>
                </a:solidFill>
                <a:latin typeface="Cambria"/>
              </a:rPr>
              <a:t>The paper's figures and its comparison with [6] inherit the count</a:t>
            </a:r>
          </a:p>
        </p:txBody>
      </p:sp>
      <p:sp>
        <p:nvSpPr>
          <p:cNvPr id="4" name="Rounded Rectangle 3"/>
          <p:cNvSpPr/>
          <p:nvPr/>
        </p:nvSpPr>
        <p:spPr>
          <a:xfrm>
            <a:off x="10736884" y="274320"/>
            <a:ext cx="903427" cy="246888"/>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OUR AUDIT</a:t>
            </a:r>
          </a:p>
        </p:txBody>
      </p:sp>
      <p:sp>
        <p:nvSpPr>
          <p:cNvPr id="5" name="Rounded Rectangle 4"/>
          <p:cNvSpPr/>
          <p:nvPr/>
        </p:nvSpPr>
        <p:spPr>
          <a:xfrm>
            <a:off x="1009680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29 / 32</a:t>
            </a:r>
          </a:p>
        </p:txBody>
      </p:sp>
      <p:pic>
        <p:nvPicPr>
          <p:cNvPr id="9" name="Picture 8" descr="fig_fig5_recomputed.png"/>
          <p:cNvPicPr>
            <a:picLocks noChangeAspect="1"/>
          </p:cNvPicPr>
          <p:nvPr/>
        </p:nvPicPr>
        <p:blipFill>
          <a:blip r:embed="rId3"/>
          <a:stretch>
            <a:fillRect/>
          </a:stretch>
        </p:blipFill>
        <p:spPr>
          <a:xfrm>
            <a:off x="548640" y="1508760"/>
            <a:ext cx="5943600" cy="4033157"/>
          </a:xfrm>
          <a:prstGeom prst="rect">
            <a:avLst/>
          </a:prstGeom>
        </p:spPr>
      </p:pic>
      <p:sp>
        <p:nvSpPr>
          <p:cNvPr id="10" name="Rounded Rectangle 9"/>
          <p:cNvSpPr/>
          <p:nvPr/>
        </p:nvSpPr>
        <p:spPr>
          <a:xfrm>
            <a:off x="6720840" y="1554480"/>
            <a:ext cx="4919472" cy="1097280"/>
          </a:xfrm>
          <a:prstGeom prst="roundRect">
            <a:avLst>
              <a:gd name="adj" fmla="val 6666"/>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1" name="Rounded Rectangle 10"/>
          <p:cNvSpPr/>
          <p:nvPr/>
        </p:nvSpPr>
        <p:spPr>
          <a:xfrm>
            <a:off x="6858000" y="1664207"/>
            <a:ext cx="903427" cy="237744"/>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00" b="1" i="0">
                <a:solidFill>
                  <a:srgbClr val="FFFFFF"/>
                </a:solidFill>
                <a:latin typeface="Calibri"/>
              </a:rPr>
              <a:t>OUR AUDIT</a:t>
            </a:r>
          </a:p>
        </p:txBody>
      </p:sp>
      <p:sp>
        <p:nvSpPr>
          <p:cNvPr id="12" name="TextBox 11"/>
          <p:cNvSpPr txBox="1"/>
          <p:nvPr/>
        </p:nvSpPr>
        <p:spPr>
          <a:xfrm>
            <a:off x="6858000" y="1975104"/>
            <a:ext cx="4645152" cy="640080"/>
          </a:xfrm>
          <a:prstGeom prst="rect">
            <a:avLst/>
          </a:prstGeom>
          <a:noFill/>
        </p:spPr>
        <p:txBody>
          <a:bodyPr wrap="square" lIns="0" rIns="0" tIns="0" bIns="0" anchor="t">
            <a:spAutoFit/>
          </a:bodyPr>
          <a:lstStyle/>
          <a:p>
            <a:pPr algn="l">
              <a:lnSpc>
                <a:spcPct val="95000"/>
              </a:lnSpc>
              <a:spcBef>
                <a:spcPts val="0"/>
              </a:spcBef>
              <a:spcAft>
                <a:spcPts val="300"/>
              </a:spcAft>
            </a:pPr>
            <a:r>
              <a:rPr sz="1550" b="1" i="0">
                <a:solidFill>
                  <a:srgbClr val="14202E"/>
                </a:solidFill>
                <a:latin typeface="Calibri"/>
              </a:rPr>
              <a:t>Figs. 3–5 are table formulas × Table IV</a:t>
            </a:r>
          </a:p>
          <a:p>
            <a:pPr algn="l">
              <a:lnSpc>
                <a:spcPct val="95000"/>
              </a:lnSpc>
              <a:spcBef>
                <a:spcPts val="0"/>
              </a:spcBef>
              <a:spcAft>
                <a:spcPts val="0"/>
              </a:spcAft>
            </a:pPr>
            <a:r>
              <a:rPr sz="1250" b="0" i="0">
                <a:solidFill>
                  <a:srgbClr val="5B6675"/>
                </a:solidFill>
                <a:latin typeface="Calibri"/>
              </a:rPr>
              <a:t>Figs. 3 and 4: every label reproduces exactly. Fig. 5: line ends match, read from the plot.</a:t>
            </a:r>
          </a:p>
        </p:txBody>
      </p:sp>
      <p:sp>
        <p:nvSpPr>
          <p:cNvPr id="13" name="Rounded Rectangle 12"/>
          <p:cNvSpPr/>
          <p:nvPr/>
        </p:nvSpPr>
        <p:spPr>
          <a:xfrm>
            <a:off x="6720840" y="2743200"/>
            <a:ext cx="4919472" cy="1280160"/>
          </a:xfrm>
          <a:prstGeom prst="roundRect">
            <a:avLst>
              <a:gd name="adj" fmla="val 5714"/>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4" name="Rounded Rectangle 13"/>
          <p:cNvSpPr/>
          <p:nvPr/>
        </p:nvSpPr>
        <p:spPr>
          <a:xfrm>
            <a:off x="6858000" y="2852928"/>
            <a:ext cx="566928" cy="237744"/>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00" b="1" i="0">
                <a:solidFill>
                  <a:srgbClr val="FFFFFF"/>
                </a:solidFill>
                <a:latin typeface="Calibri"/>
              </a:rPr>
              <a:t>PAPER</a:t>
            </a:r>
          </a:p>
        </p:txBody>
      </p:sp>
      <p:sp>
        <p:nvSpPr>
          <p:cNvPr id="15" name="TextBox 14"/>
          <p:cNvSpPr txBox="1"/>
          <p:nvPr/>
        </p:nvSpPr>
        <p:spPr>
          <a:xfrm>
            <a:off x="6858000" y="3163824"/>
            <a:ext cx="4645152" cy="822959"/>
          </a:xfrm>
          <a:prstGeom prst="rect">
            <a:avLst/>
          </a:prstGeom>
          <a:noFill/>
        </p:spPr>
        <p:txBody>
          <a:bodyPr wrap="square" lIns="0" rIns="0" tIns="0" bIns="0" anchor="t">
            <a:spAutoFit/>
          </a:bodyPr>
          <a:lstStyle/>
          <a:p>
            <a:pPr algn="l">
              <a:lnSpc>
                <a:spcPct val="95000"/>
              </a:lnSpc>
              <a:spcBef>
                <a:spcPts val="0"/>
              </a:spcBef>
              <a:spcAft>
                <a:spcPts val="300"/>
              </a:spcAft>
            </a:pPr>
            <a:r>
              <a:rPr sz="1550" b="1" i="0">
                <a:solidFill>
                  <a:srgbClr val="14202E"/>
                </a:solidFill>
                <a:latin typeface="Calibri"/>
              </a:rPr>
              <a:t>Using the paper's own row for [6]</a:t>
            </a:r>
          </a:p>
          <a:p>
            <a:pPr algn="l">
              <a:lnSpc>
                <a:spcPct val="95000"/>
              </a:lnSpc>
              <a:spcBef>
                <a:spcPts val="0"/>
              </a:spcBef>
              <a:spcAft>
                <a:spcPts val="0"/>
              </a:spcAft>
            </a:pPr>
            <a:r>
              <a:rPr sz="1350" b="0" i="0">
                <a:solidFill>
                  <a:srgbClr val="5B6675"/>
                </a:solidFill>
                <a:latin typeface="Calibri"/>
              </a:rPr>
              <a:t>25.324 ms (Qiao recount) vs 25.319 ms ([6]) at n = 100. The ≈ 49% advantage in Fig. 4 (13.224 vs 25.814 ms) is not supported.</a:t>
            </a:r>
          </a:p>
        </p:txBody>
      </p:sp>
      <p:sp>
        <p:nvSpPr>
          <p:cNvPr id="16" name="Rounded Rectangle 15"/>
          <p:cNvSpPr/>
          <p:nvPr/>
        </p:nvSpPr>
        <p:spPr>
          <a:xfrm>
            <a:off x="6720840" y="4133087"/>
            <a:ext cx="4919472" cy="731520"/>
          </a:xfrm>
          <a:prstGeom prst="roundRect">
            <a:avLst>
              <a:gd name="adj" fmla="val 10000"/>
            </a:avLst>
          </a:prstGeom>
          <a:solidFill>
            <a:srgbClr val="FBF0DC"/>
          </a:solidFill>
          <a:ln w="19050">
            <a:solidFill>
              <a:srgbClr val="B26A00"/>
            </a:solidFill>
          </a:ln>
          <a:effectLst/>
        </p:spPr>
        <p:txBody>
          <a:bodyPr rtlCol="0" anchor="ctr" wrap="square" lIns="73152" rIns="73152" tIns="36576" bIns="36576"/>
          <a:lstStyle/>
          <a:p>
            <a:pPr algn="ctr">
              <a:spcBef>
                <a:spcPts val="0"/>
              </a:spcBef>
              <a:spcAft>
                <a:spcPts val="0"/>
              </a:spcAft>
            </a:pPr>
            <a:r>
              <a:rPr sz="1550" b="1" i="0">
                <a:solidFill>
                  <a:srgbClr val="14202E"/>
                </a:solidFill>
                <a:latin typeface="Calibri"/>
              </a:rPr>
              <a:t>We have not verified scheme [6]. No claim about its real speed.</a:t>
            </a:r>
          </a:p>
        </p:txBody>
      </p:sp>
      <p:sp>
        <p:nvSpPr>
          <p:cNvPr id="17" name="TextBox 16"/>
          <p:cNvSpPr txBox="1"/>
          <p:nvPr/>
        </p:nvSpPr>
        <p:spPr>
          <a:xfrm>
            <a:off x="6720840" y="4983480"/>
            <a:ext cx="4919472" cy="457200"/>
          </a:xfrm>
          <a:prstGeom prst="rect">
            <a:avLst/>
          </a:prstGeom>
          <a:noFill/>
        </p:spPr>
        <p:txBody>
          <a:bodyPr wrap="square" lIns="0" rIns="0" tIns="0" bIns="0" anchor="t">
            <a:spAutoFit/>
          </a:bodyPr>
          <a:lstStyle/>
          <a:p>
            <a:pPr algn="l">
              <a:spcBef>
                <a:spcPts val="0"/>
              </a:spcBef>
              <a:spcAft>
                <a:spcPts val="0"/>
              </a:spcAft>
            </a:pPr>
            <a:r>
              <a:rPr sz="1450" b="0" i="0">
                <a:solidFill>
                  <a:srgbClr val="5B6675"/>
                </a:solidFill>
                <a:latin typeface="Calibri"/>
              </a:rPr>
              <a:t>Unchanged: bandwidth, </a:t>
            </a:r>
            <a:r>
              <a:rPr sz="1450" b="0" i="1">
                <a:solidFill>
                  <a:srgbClr val="5B6675"/>
                </a:solidFill>
                <a:latin typeface="Cambria"/>
              </a:rPr>
              <a:t>n</a:t>
            </a:r>
            <a:r>
              <a:rPr sz="1450" b="0" i="0">
                <a:solidFill>
                  <a:srgbClr val="5B6675"/>
                </a:solidFill>
                <a:latin typeface="Cambria"/>
              </a:rPr>
              <a:t>|</a:t>
            </a:r>
            <a:r>
              <a:rPr sz="1450" b="0" i="1">
                <a:solidFill>
                  <a:srgbClr val="5B6675"/>
                </a:solidFill>
                <a:latin typeface="Cambria"/>
              </a:rPr>
              <a:t>G</a:t>
            </a:r>
            <a:r>
              <a:rPr sz="1450" b="0" i="0">
                <a:solidFill>
                  <a:srgbClr val="5B6675"/>
                </a:solidFill>
                <a:latin typeface="Cambria"/>
              </a:rPr>
              <a:t>|</a:t>
            </a:r>
            <a:r>
              <a:rPr sz="1450" b="0" i="0">
                <a:solidFill>
                  <a:srgbClr val="5B6675"/>
                </a:solidFill>
                <a:latin typeface="Calibri"/>
              </a:rPr>
              <a:t> vs </a:t>
            </a:r>
            <a:r>
              <a:rPr sz="1450" b="0" i="0">
                <a:solidFill>
                  <a:srgbClr val="5B6675"/>
                </a:solidFill>
                <a:latin typeface="Cambria"/>
              </a:rPr>
              <a:t>2</a:t>
            </a:r>
            <a:r>
              <a:rPr sz="1450" b="0" i="1">
                <a:solidFill>
                  <a:srgbClr val="5B6675"/>
                </a:solidFill>
                <a:latin typeface="Cambria"/>
              </a:rPr>
              <a:t>n</a:t>
            </a:r>
            <a:r>
              <a:rPr sz="1450" b="0" i="0">
                <a:solidFill>
                  <a:srgbClr val="5B6675"/>
                </a:solidFill>
                <a:latin typeface="Cambria"/>
              </a:rPr>
              <a:t>|</a:t>
            </a:r>
            <a:r>
              <a:rPr sz="1450" b="0" i="1">
                <a:solidFill>
                  <a:srgbClr val="5B6675"/>
                </a:solidFill>
                <a:latin typeface="Cambria"/>
              </a:rPr>
              <a:t>G</a:t>
            </a:r>
            <a:r>
              <a:rPr sz="1450" b="0" i="0">
                <a:solidFill>
                  <a:srgbClr val="5B6675"/>
                </a:solidFill>
                <a:latin typeface="Cambria"/>
              </a:rPr>
              <a:t>|</a:t>
            </a:r>
            <a:r>
              <a:rPr sz="1450" b="0" i="0">
                <a:solidFill>
                  <a:srgbClr val="5B6675"/>
                </a:solidFill>
                <a:latin typeface="Calibri"/>
              </a:rPr>
              <a:t> (paper Table VI).</a:t>
            </a:r>
          </a:p>
        </p:txBody>
      </p:sp>
      <p:sp>
        <p:nvSpPr>
          <p:cNvPr id="18" name="Rectangle 17"/>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19" name="TextBox 18"/>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800" b="1" i="0">
                <a:solidFill>
                  <a:srgbClr val="14202E"/>
                </a:solidFill>
                <a:latin typeface="Calibri"/>
              </a:rPr>
              <a:t>Only from the paper's own numbers: its computational advantage over [6] disappears; its bandwidth advantage does not.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VI · EVIDENCE CHAIN 5 / 6 · MEASURED TIME</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Independent measurements are consistent with the higher cost</a:t>
            </a:r>
          </a:p>
        </p:txBody>
      </p:sp>
      <p:sp>
        <p:nvSpPr>
          <p:cNvPr id="4" name="Rounded Rectangle 3"/>
          <p:cNvSpPr/>
          <p:nvPr/>
        </p:nvSpPr>
        <p:spPr>
          <a:xfrm>
            <a:off x="10652760" y="274320"/>
            <a:ext cx="987551" cy="246888"/>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EXPERIMENT</a:t>
            </a:r>
          </a:p>
        </p:txBody>
      </p:sp>
      <p:cxnSp>
        <p:nvCxnSpPr>
          <p:cNvPr id="5" name="Connector 4"/>
          <p:cNvCxnSpPr/>
          <p:nvPr/>
        </p:nvCxnSpPr>
        <p:spPr>
          <a:xfrm>
            <a:off x="548640" y="6419088"/>
            <a:ext cx="11091672" cy="0"/>
          </a:xfrm>
          <a:prstGeom prst="line">
            <a:avLst/>
          </a:prstGeom>
          <a:ln w="12700">
            <a:solidFill>
              <a:srgbClr val="D3D9E1"/>
            </a:solidFill>
          </a:ln>
        </p:spPr>
      </p:cxnSp>
      <p:sp>
        <p:nvSpPr>
          <p:cNvPr id="6" name="TextBox 5"/>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7" name="TextBox 6"/>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30 / 32</a:t>
            </a:r>
          </a:p>
        </p:txBody>
      </p:sp>
      <p:pic>
        <p:nvPicPr>
          <p:cNvPr id="8" name="Picture 7" descr="fig_measured_vs_n.png"/>
          <p:cNvPicPr>
            <a:picLocks noChangeAspect="1"/>
          </p:cNvPicPr>
          <p:nvPr/>
        </p:nvPicPr>
        <p:blipFill>
          <a:blip r:embed="rId3"/>
          <a:stretch>
            <a:fillRect/>
          </a:stretch>
        </p:blipFill>
        <p:spPr>
          <a:xfrm>
            <a:off x="548640" y="1508760"/>
            <a:ext cx="5394960" cy="3866388"/>
          </a:xfrm>
          <a:prstGeom prst="rect">
            <a:avLst/>
          </a:prstGeom>
        </p:spPr>
      </p:pic>
      <p:pic>
        <p:nvPicPr>
          <p:cNvPr id="9" name="Picture 8" descr="fig_ratio_runs.png"/>
          <p:cNvPicPr>
            <a:picLocks noChangeAspect="1"/>
          </p:cNvPicPr>
          <p:nvPr/>
        </p:nvPicPr>
        <p:blipFill>
          <a:blip r:embed="rId4"/>
          <a:stretch>
            <a:fillRect/>
          </a:stretch>
        </p:blipFill>
        <p:spPr>
          <a:xfrm>
            <a:off x="6245352" y="1508760"/>
            <a:ext cx="5394960" cy="3866388"/>
          </a:xfrm>
          <a:prstGeom prst="rect">
            <a:avLst/>
          </a:prstGeom>
        </p:spPr>
      </p:pic>
      <p:sp>
        <p:nvSpPr>
          <p:cNvPr id="10" name="TextBox 9"/>
          <p:cNvSpPr txBox="1"/>
          <p:nvPr/>
        </p:nvSpPr>
        <p:spPr>
          <a:xfrm>
            <a:off x="548640" y="5376672"/>
            <a:ext cx="11064240" cy="365760"/>
          </a:xfrm>
          <a:prstGeom prst="rect">
            <a:avLst/>
          </a:prstGeom>
          <a:noFill/>
        </p:spPr>
        <p:txBody>
          <a:bodyPr wrap="square" lIns="0" rIns="0" tIns="0" bIns="0" anchor="t">
            <a:spAutoFit/>
          </a:bodyPr>
          <a:lstStyle/>
          <a:p>
            <a:pPr algn="l">
              <a:lnSpc>
                <a:spcPct val="95000"/>
              </a:lnSpc>
              <a:spcBef>
                <a:spcPts val="0"/>
              </a:spcBef>
              <a:spcAft>
                <a:spcPts val="0"/>
              </a:spcAft>
            </a:pPr>
            <a:r>
              <a:rPr sz="1250" b="0" i="0">
                <a:solidFill>
                  <a:srgbClr val="5B6675"/>
                </a:solidFill>
                <a:latin typeface="Calibri"/>
              </a:rPr>
              <a:t>P-256: pricing the real hash calls (point serialisation) lifts the prediction from 1.99 to ≈ 2.37 (our audit). Ratios only: absolute times are not comparable with the paper's.</a:t>
            </a:r>
          </a:p>
        </p:txBody>
      </p:sp>
      <p:sp>
        <p:nvSpPr>
          <p:cNvPr id="11" name="Rectangle 10"/>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12" name="TextBox 11"/>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850" b="1" i="0">
                <a:solidFill>
                  <a:srgbClr val="14202E"/>
                </a:solidFill>
                <a:latin typeface="Calibri"/>
              </a:rPr>
              <a:t>Counting and timing both point the same way: per-signer cost is about twice Verma's, not equal.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VII · CONCLUSION</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What we established, and what we did not</a:t>
            </a:r>
          </a:p>
        </p:txBody>
      </p:sp>
      <p:sp>
        <p:nvSpPr>
          <p:cNvPr id="4" name="Rounded Rectangle 3"/>
          <p:cNvSpPr/>
          <p:nvPr/>
        </p:nvSpPr>
        <p:spPr>
          <a:xfrm>
            <a:off x="10736884" y="274320"/>
            <a:ext cx="903427" cy="246888"/>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OUR AUDIT</a:t>
            </a:r>
          </a:p>
        </p:txBody>
      </p:sp>
      <p:sp>
        <p:nvSpPr>
          <p:cNvPr id="5" name="Rounded Rectangle 4"/>
          <p:cNvSpPr/>
          <p:nvPr/>
        </p:nvSpPr>
        <p:spPr>
          <a:xfrm>
            <a:off x="9676180" y="274320"/>
            <a:ext cx="987551" cy="246888"/>
          </a:xfrm>
          <a:prstGeom prst="roundRect">
            <a:avLst>
              <a:gd name="adj" fmla="val 50000"/>
            </a:avLst>
          </a:prstGeom>
          <a:solidFill>
            <a:srgbClr val="0E7C86"/>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REPRODUCED</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31 / 32</a:t>
            </a:r>
          </a:p>
        </p:txBody>
      </p:sp>
      <p:sp>
        <p:nvSpPr>
          <p:cNvPr id="9" name="Rounded Rectangle 8"/>
          <p:cNvSpPr/>
          <p:nvPr/>
        </p:nvSpPr>
        <p:spPr>
          <a:xfrm>
            <a:off x="548640" y="1600200"/>
            <a:ext cx="3593592" cy="3200400"/>
          </a:xfrm>
          <a:prstGeom prst="roundRect">
            <a:avLst>
              <a:gd name="adj" fmla="val 2857"/>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0" name="Rounded Rectangle 9"/>
          <p:cNvSpPr/>
          <p:nvPr/>
        </p:nvSpPr>
        <p:spPr>
          <a:xfrm>
            <a:off x="548640" y="1600200"/>
            <a:ext cx="3593592" cy="118872"/>
          </a:xfrm>
          <a:prstGeom prst="roundRect">
            <a:avLst>
              <a:gd name="adj" fmla="val 46153"/>
            </a:avLst>
          </a:prstGeom>
          <a:solidFill>
            <a:srgbClr val="0E7C86"/>
          </a:solidFill>
          <a:ln>
            <a:noFill/>
          </a:ln>
          <a:effectLst/>
        </p:spPr>
        <p:txBody>
          <a:bodyPr rtlCol="0" anchor="ctr" wrap="square" lIns="73152" rIns="73152" tIns="36576" bIns="36576"/>
          <a:lstStyle/>
          <a:p>
            <a:pPr algn="ctr"/>
          </a:p>
        </p:txBody>
      </p:sp>
      <p:sp>
        <p:nvSpPr>
          <p:cNvPr id="11" name="TextBox 10"/>
          <p:cNvSpPr txBox="1"/>
          <p:nvPr/>
        </p:nvSpPr>
        <p:spPr>
          <a:xfrm>
            <a:off x="731520" y="1874519"/>
            <a:ext cx="3246120" cy="365760"/>
          </a:xfrm>
          <a:prstGeom prst="rect">
            <a:avLst/>
          </a:prstGeom>
          <a:noFill/>
        </p:spPr>
        <p:txBody>
          <a:bodyPr wrap="square" lIns="0" rIns="0" tIns="0" bIns="0" anchor="t">
            <a:spAutoFit/>
          </a:bodyPr>
          <a:lstStyle/>
          <a:p>
            <a:pPr algn="l">
              <a:spcBef>
                <a:spcPts val="0"/>
              </a:spcBef>
              <a:spcAft>
                <a:spcPts val="0"/>
              </a:spcAft>
            </a:pPr>
            <a:r>
              <a:rPr sz="1900" b="1" i="0">
                <a:solidFill>
                  <a:srgbClr val="14202E"/>
                </a:solidFill>
                <a:latin typeface="Cambria"/>
              </a:rPr>
              <a:t>Reproduced from the paper</a:t>
            </a:r>
          </a:p>
        </p:txBody>
      </p:sp>
      <p:sp>
        <p:nvSpPr>
          <p:cNvPr id="12" name="TextBox 11"/>
          <p:cNvSpPr txBox="1"/>
          <p:nvPr/>
        </p:nvSpPr>
        <p:spPr>
          <a:xfrm>
            <a:off x="731520" y="2377440"/>
            <a:ext cx="3246120" cy="2377440"/>
          </a:xfrm>
          <a:prstGeom prst="rect">
            <a:avLst/>
          </a:prstGeom>
          <a:noFill/>
        </p:spPr>
        <p:txBody>
          <a:bodyPr wrap="square" lIns="0" rIns="0" tIns="0" bIns="0" anchor="t">
            <a:spAutoFit/>
          </a:bodyPr>
          <a:lstStyle/>
          <a:p>
            <a:pPr algn="l" marL="256032" indent="-256032">
              <a:lnSpc>
                <a:spcPct val="97000"/>
              </a:lnSpc>
              <a:spcBef>
                <a:spcPts val="0"/>
              </a:spcBef>
              <a:spcAft>
                <a:spcPts val="900"/>
              </a:spcAft>
              <a:buFont typeface="Arial"/>
              <a:buChar char="•"/>
            </a:pPr>
            <a:r>
              <a:rPr sz="1650" b="0" i="0">
                <a:solidFill>
                  <a:srgbClr val="14202E"/>
                </a:solidFill>
                <a:latin typeface="Calibri"/>
              </a:rPr>
              <a:t>A malicious KGC forges Verma signatures from one observed signature (§IV-B): 8 / 8, two backends</a:t>
            </a:r>
          </a:p>
          <a:p>
            <a:pPr algn="l" marL="256032" indent="-256032">
              <a:lnSpc>
                <a:spcPct val="97000"/>
              </a:lnSpc>
              <a:spcBef>
                <a:spcPts val="0"/>
              </a:spcBef>
              <a:spcAft>
                <a:spcPts val="900"/>
              </a:spcAft>
              <a:buFont typeface="Arial"/>
              <a:buChar char="•"/>
            </a:pPr>
            <a:r>
              <a:rPr sz="1650" b="0" i="0">
                <a:solidFill>
                  <a:srgbClr val="14202E"/>
                </a:solidFill>
                <a:latin typeface="Calibri"/>
              </a:rPr>
              <a:t>The same strategy fails against Qiao's repaired scheme: 0 / 8</a:t>
            </a:r>
          </a:p>
        </p:txBody>
      </p:sp>
      <p:sp>
        <p:nvSpPr>
          <p:cNvPr id="13" name="Rounded Rectangle 12"/>
          <p:cNvSpPr/>
          <p:nvPr/>
        </p:nvSpPr>
        <p:spPr>
          <a:xfrm>
            <a:off x="4297679" y="1600200"/>
            <a:ext cx="3593592" cy="3200400"/>
          </a:xfrm>
          <a:prstGeom prst="roundRect">
            <a:avLst>
              <a:gd name="adj" fmla="val 2857"/>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4" name="Rounded Rectangle 13"/>
          <p:cNvSpPr/>
          <p:nvPr/>
        </p:nvSpPr>
        <p:spPr>
          <a:xfrm>
            <a:off x="4297679" y="1600200"/>
            <a:ext cx="3593592" cy="118872"/>
          </a:xfrm>
          <a:prstGeom prst="roundRect">
            <a:avLst>
              <a:gd name="adj" fmla="val 46153"/>
            </a:avLst>
          </a:prstGeom>
          <a:solidFill>
            <a:srgbClr val="A21F6B"/>
          </a:solidFill>
          <a:ln>
            <a:noFill/>
          </a:ln>
          <a:effectLst/>
        </p:spPr>
        <p:txBody>
          <a:bodyPr rtlCol="0" anchor="ctr" wrap="square" lIns="73152" rIns="73152" tIns="36576" bIns="36576"/>
          <a:lstStyle/>
          <a:p>
            <a:pPr algn="ctr"/>
          </a:p>
        </p:txBody>
      </p:sp>
      <p:sp>
        <p:nvSpPr>
          <p:cNvPr id="15" name="TextBox 14"/>
          <p:cNvSpPr txBox="1"/>
          <p:nvPr/>
        </p:nvSpPr>
        <p:spPr>
          <a:xfrm>
            <a:off x="4480559" y="1874519"/>
            <a:ext cx="3246120" cy="365760"/>
          </a:xfrm>
          <a:prstGeom prst="rect">
            <a:avLst/>
          </a:prstGeom>
          <a:noFill/>
        </p:spPr>
        <p:txBody>
          <a:bodyPr wrap="square" lIns="0" rIns="0" tIns="0" bIns="0" anchor="t">
            <a:spAutoFit/>
          </a:bodyPr>
          <a:lstStyle/>
          <a:p>
            <a:pPr algn="l">
              <a:spcBef>
                <a:spcPts val="0"/>
              </a:spcBef>
              <a:spcAft>
                <a:spcPts val="0"/>
              </a:spcAft>
            </a:pPr>
            <a:r>
              <a:rPr sz="1900" b="1" i="0">
                <a:solidFill>
                  <a:srgbClr val="14202E"/>
                </a:solidFill>
                <a:latin typeface="Cambria"/>
              </a:rPr>
              <a:t>Our original audit</a:t>
            </a:r>
          </a:p>
        </p:txBody>
      </p:sp>
      <p:sp>
        <p:nvSpPr>
          <p:cNvPr id="16" name="TextBox 15"/>
          <p:cNvSpPr txBox="1"/>
          <p:nvPr/>
        </p:nvSpPr>
        <p:spPr>
          <a:xfrm>
            <a:off x="4480559" y="2377440"/>
            <a:ext cx="3246120" cy="2377440"/>
          </a:xfrm>
          <a:prstGeom prst="rect">
            <a:avLst/>
          </a:prstGeom>
          <a:noFill/>
        </p:spPr>
        <p:txBody>
          <a:bodyPr wrap="square" lIns="0" rIns="0" tIns="0" bIns="0" anchor="t">
            <a:spAutoFit/>
          </a:bodyPr>
          <a:lstStyle/>
          <a:p>
            <a:pPr algn="l" marL="256032" indent="-256032">
              <a:lnSpc>
                <a:spcPct val="97000"/>
              </a:lnSpc>
              <a:spcBef>
                <a:spcPts val="0"/>
              </a:spcBef>
              <a:spcAft>
                <a:spcPts val="900"/>
              </a:spcAft>
              <a:buFont typeface="Arial"/>
              <a:buChar char="•"/>
            </a:pPr>
            <a:r>
              <a:rPr sz="1650" b="0" i="0">
                <a:solidFill>
                  <a:srgbClr val="14202E"/>
                </a:solidFill>
                <a:latin typeface="Calibri"/>
              </a:rPr>
              <a:t>Removing only the </a:t>
            </a:r>
            <a:r>
              <a:rPr sz="1650" b="0" i="1">
                <a:solidFill>
                  <a:srgbClr val="14202E"/>
                </a:solidFill>
                <a:latin typeface="Cambria"/>
              </a:rPr>
              <a:t>T</a:t>
            </a:r>
            <a:r>
              <a:rPr sz="1650" b="0" i="1" baseline="-25000">
                <a:solidFill>
                  <a:srgbClr val="14202E"/>
                </a:solidFill>
                <a:latin typeface="Cambria"/>
              </a:rPr>
              <a:t>i</a:t>
            </a:r>
            <a:r>
              <a:rPr sz="1650" b="0" i="0">
                <a:solidFill>
                  <a:srgbClr val="14202E"/>
                </a:solidFill>
                <a:latin typeface="Calibri"/>
              </a:rPr>
              <a:t> binding brings the attack back: 8 / 8</a:t>
            </a:r>
          </a:p>
          <a:p>
            <a:pPr algn="l" marL="256032" indent="-256032">
              <a:lnSpc>
                <a:spcPct val="97000"/>
              </a:lnSpc>
              <a:spcBef>
                <a:spcPts val="0"/>
              </a:spcBef>
              <a:spcAft>
                <a:spcPts val="900"/>
              </a:spcAft>
              <a:buFont typeface="Arial"/>
              <a:buChar char="•"/>
            </a:pPr>
            <a:r>
              <a:rPr sz="1650" b="0" i="0">
                <a:solidFill>
                  <a:srgbClr val="14202E"/>
                </a:solidFill>
                <a:latin typeface="Calibri"/>
              </a:rPr>
              <a:t>Table III's AggVerify row does not follow from the algorithm: about ×2 at n = 100; Fig. 4 repeats it</a:t>
            </a:r>
          </a:p>
          <a:p>
            <a:pPr algn="l" marL="256032" indent="-256032">
              <a:lnSpc>
                <a:spcPct val="97000"/>
              </a:lnSpc>
              <a:spcBef>
                <a:spcPts val="0"/>
              </a:spcBef>
              <a:spcAft>
                <a:spcPts val="900"/>
              </a:spcAft>
              <a:buFont typeface="Arial"/>
              <a:buChar char="•"/>
            </a:pPr>
            <a:r>
              <a:rPr sz="1650" b="0" i="0">
                <a:solidFill>
                  <a:srgbClr val="14202E"/>
                </a:solidFill>
                <a:latin typeface="Calibri"/>
              </a:rPr>
              <a:t>Timing: per-signer ratio 2.12 – 2.37, where the printed rows imply 1.00</a:t>
            </a:r>
          </a:p>
        </p:txBody>
      </p:sp>
      <p:sp>
        <p:nvSpPr>
          <p:cNvPr id="17" name="Rounded Rectangle 16"/>
          <p:cNvSpPr/>
          <p:nvPr/>
        </p:nvSpPr>
        <p:spPr>
          <a:xfrm>
            <a:off x="8046719" y="1600200"/>
            <a:ext cx="3593592" cy="3200400"/>
          </a:xfrm>
          <a:prstGeom prst="roundRect">
            <a:avLst>
              <a:gd name="adj" fmla="val 2857"/>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8" name="Rounded Rectangle 17"/>
          <p:cNvSpPr/>
          <p:nvPr/>
        </p:nvSpPr>
        <p:spPr>
          <a:xfrm>
            <a:off x="8046719" y="1600200"/>
            <a:ext cx="3593592" cy="118872"/>
          </a:xfrm>
          <a:prstGeom prst="roundRect">
            <a:avLst>
              <a:gd name="adj" fmla="val 46153"/>
            </a:avLst>
          </a:prstGeom>
          <a:solidFill>
            <a:srgbClr val="5B6675"/>
          </a:solidFill>
          <a:ln>
            <a:noFill/>
          </a:ln>
          <a:effectLst/>
        </p:spPr>
        <p:txBody>
          <a:bodyPr rtlCol="0" anchor="ctr" wrap="square" lIns="73152" rIns="73152" tIns="36576" bIns="36576"/>
          <a:lstStyle/>
          <a:p>
            <a:pPr algn="ctr"/>
          </a:p>
        </p:txBody>
      </p:sp>
      <p:sp>
        <p:nvSpPr>
          <p:cNvPr id="19" name="TextBox 18"/>
          <p:cNvSpPr txBox="1"/>
          <p:nvPr/>
        </p:nvSpPr>
        <p:spPr>
          <a:xfrm>
            <a:off x="8229599" y="1874519"/>
            <a:ext cx="3246120" cy="365760"/>
          </a:xfrm>
          <a:prstGeom prst="rect">
            <a:avLst/>
          </a:prstGeom>
          <a:noFill/>
        </p:spPr>
        <p:txBody>
          <a:bodyPr wrap="square" lIns="0" rIns="0" tIns="0" bIns="0" anchor="t">
            <a:spAutoFit/>
          </a:bodyPr>
          <a:lstStyle/>
          <a:p>
            <a:pPr algn="l">
              <a:spcBef>
                <a:spcPts val="0"/>
              </a:spcBef>
              <a:spcAft>
                <a:spcPts val="0"/>
              </a:spcAft>
            </a:pPr>
            <a:r>
              <a:rPr sz="1900" b="1" i="0">
                <a:solidFill>
                  <a:srgbClr val="14202E"/>
                </a:solidFill>
                <a:latin typeface="Cambria"/>
              </a:rPr>
              <a:t>Not established</a:t>
            </a:r>
          </a:p>
        </p:txBody>
      </p:sp>
      <p:sp>
        <p:nvSpPr>
          <p:cNvPr id="20" name="TextBox 19"/>
          <p:cNvSpPr txBox="1"/>
          <p:nvPr/>
        </p:nvSpPr>
        <p:spPr>
          <a:xfrm>
            <a:off x="8229599" y="2377440"/>
            <a:ext cx="3246120" cy="2377440"/>
          </a:xfrm>
          <a:prstGeom prst="rect">
            <a:avLst/>
          </a:prstGeom>
          <a:noFill/>
        </p:spPr>
        <p:txBody>
          <a:bodyPr wrap="square" lIns="0" rIns="0" tIns="0" bIns="0" anchor="t">
            <a:spAutoFit/>
          </a:bodyPr>
          <a:lstStyle/>
          <a:p>
            <a:pPr algn="l" marL="256032" indent="-256032">
              <a:lnSpc>
                <a:spcPct val="97000"/>
              </a:lnSpc>
              <a:spcBef>
                <a:spcPts val="0"/>
              </a:spcBef>
              <a:spcAft>
                <a:spcPts val="900"/>
              </a:spcAft>
              <a:buFont typeface="Arial"/>
              <a:buChar char="•"/>
            </a:pPr>
            <a:r>
              <a:rPr sz="1650" b="0" i="0">
                <a:solidFill>
                  <a:srgbClr val="14202E"/>
                </a:solidFill>
                <a:latin typeface="Calibri"/>
              </a:rPr>
              <a:t>Formal security of the repaired scheme: the paper's proof, not audited</a:t>
            </a:r>
          </a:p>
          <a:p>
            <a:pPr algn="l" marL="256032" indent="-256032">
              <a:lnSpc>
                <a:spcPct val="97000"/>
              </a:lnSpc>
              <a:spcBef>
                <a:spcPts val="0"/>
              </a:spcBef>
              <a:spcAft>
                <a:spcPts val="900"/>
              </a:spcAft>
              <a:buFont typeface="Arial"/>
              <a:buChar char="•"/>
            </a:pPr>
            <a:r>
              <a:rPr sz="1650" b="0" i="0">
                <a:solidFill>
                  <a:srgbClr val="14202E"/>
                </a:solidFill>
                <a:latin typeface="Calibri"/>
              </a:rPr>
              <a:t>Fidelity to Verma's original paper: we implemented Qiao's description</a:t>
            </a:r>
          </a:p>
          <a:p>
            <a:pPr algn="l" marL="256032" indent="-256032">
              <a:lnSpc>
                <a:spcPct val="97000"/>
              </a:lnSpc>
              <a:spcBef>
                <a:spcPts val="0"/>
              </a:spcBef>
              <a:spcAft>
                <a:spcPts val="900"/>
              </a:spcAft>
              <a:buFont typeface="Arial"/>
              <a:buChar char="•"/>
            </a:pPr>
            <a:r>
              <a:rPr sz="1650" b="0" i="0">
                <a:solidFill>
                  <a:srgbClr val="14202E"/>
                </a:solidFill>
                <a:latin typeface="Calibri"/>
              </a:rPr>
              <a:t>Anything about scheme [6]'s real cost</a:t>
            </a:r>
          </a:p>
        </p:txBody>
      </p:sp>
      <p:sp>
        <p:nvSpPr>
          <p:cNvPr id="21" name="Rounded Rectangle 20"/>
          <p:cNvSpPr/>
          <p:nvPr/>
        </p:nvSpPr>
        <p:spPr>
          <a:xfrm>
            <a:off x="548640" y="4956048"/>
            <a:ext cx="3593592" cy="548640"/>
          </a:xfrm>
          <a:prstGeom prst="roundRect">
            <a:avLst>
              <a:gd name="adj" fmla="val 20000"/>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500" b="1" i="0">
                <a:solidFill>
                  <a:srgbClr val="14202E"/>
                </a:solidFill>
                <a:latin typeface="Calibri"/>
              </a:rPr>
              <a:t>① how the KGC forges without </a:t>
            </a:r>
            <a:r>
              <a:rPr sz="1500" b="1" i="1">
                <a:solidFill>
                  <a:srgbClr val="14202E"/>
                </a:solidFill>
                <a:latin typeface="Cambria"/>
              </a:rPr>
              <a:t>r</a:t>
            </a:r>
            <a:r>
              <a:rPr sz="1500" b="1" i="0" baseline="-25000">
                <a:solidFill>
                  <a:srgbClr val="14202E"/>
                </a:solidFill>
                <a:latin typeface="Cambria"/>
              </a:rPr>
              <a:t>2</a:t>
            </a:r>
            <a:r>
              <a:rPr sz="1500" b="1" i="1" baseline="-25000">
                <a:solidFill>
                  <a:srgbClr val="14202E"/>
                </a:solidFill>
                <a:latin typeface="Cambria"/>
              </a:rPr>
              <a:t>i</a:t>
            </a:r>
            <a:r>
              <a:rPr sz="1500" b="1" i="0">
                <a:solidFill>
                  <a:srgbClr val="14202E"/>
                </a:solidFill>
                <a:latin typeface="Calibri"/>
              </a:rPr>
              <a:t> or </a:t>
            </a:r>
            <a:r>
              <a:rPr sz="1500" b="1" i="1">
                <a:solidFill>
                  <a:srgbClr val="14202E"/>
                </a:solidFill>
                <a:latin typeface="Cambria"/>
              </a:rPr>
              <a:t>sk</a:t>
            </a:r>
            <a:r>
              <a:rPr sz="1500" b="1" i="1" baseline="-25000">
                <a:solidFill>
                  <a:srgbClr val="14202E"/>
                </a:solidFill>
                <a:latin typeface="Cambria"/>
              </a:rPr>
              <a:t>i</a:t>
            </a:r>
          </a:p>
        </p:txBody>
      </p:sp>
      <p:sp>
        <p:nvSpPr>
          <p:cNvPr id="22" name="Rounded Rectangle 21"/>
          <p:cNvSpPr/>
          <p:nvPr/>
        </p:nvSpPr>
        <p:spPr>
          <a:xfrm>
            <a:off x="4297679" y="4956048"/>
            <a:ext cx="3593592" cy="548640"/>
          </a:xfrm>
          <a:prstGeom prst="roundRect">
            <a:avLst>
              <a:gd name="adj" fmla="val 20000"/>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500" b="1" i="0">
                <a:solidFill>
                  <a:srgbClr val="14202E"/>
                </a:solidFill>
                <a:latin typeface="Calibri"/>
              </a:rPr>
              <a:t>② why binding </a:t>
            </a:r>
            <a:r>
              <a:rPr sz="1500" b="1" i="1">
                <a:solidFill>
                  <a:srgbClr val="14202E"/>
                </a:solidFill>
                <a:latin typeface="Cambria"/>
              </a:rPr>
              <a:t>T</a:t>
            </a:r>
            <a:r>
              <a:rPr sz="1500" b="1" i="1" baseline="-25000">
                <a:solidFill>
                  <a:srgbClr val="14202E"/>
                </a:solidFill>
                <a:latin typeface="Cambria"/>
              </a:rPr>
              <a:t>i</a:t>
            </a:r>
            <a:r>
              <a:rPr sz="1500" b="1" i="0">
                <a:solidFill>
                  <a:srgbClr val="14202E"/>
                </a:solidFill>
                <a:latin typeface="Calibri"/>
              </a:rPr>
              <a:t> changes the algebra</a:t>
            </a:r>
          </a:p>
        </p:txBody>
      </p:sp>
      <p:sp>
        <p:nvSpPr>
          <p:cNvPr id="23" name="Rounded Rectangle 22"/>
          <p:cNvSpPr/>
          <p:nvPr/>
        </p:nvSpPr>
        <p:spPr>
          <a:xfrm>
            <a:off x="8046719" y="4956048"/>
            <a:ext cx="3593592" cy="548640"/>
          </a:xfrm>
          <a:prstGeom prst="roundRect">
            <a:avLst>
              <a:gd name="adj" fmla="val 20000"/>
            </a:avLst>
          </a:prstGeom>
          <a:solidFill>
            <a:srgbClr val="FFFFFF"/>
          </a:solidFill>
          <a:ln w="15240">
            <a:solidFill>
              <a:srgbClr val="D3D9E1"/>
            </a:solidFill>
          </a:ln>
          <a:effectLst/>
        </p:spPr>
        <p:txBody>
          <a:bodyPr rtlCol="0" anchor="ctr" wrap="square" lIns="73152" rIns="73152" tIns="36576" bIns="36576"/>
          <a:lstStyle/>
          <a:p>
            <a:pPr algn="ctr">
              <a:spcBef>
                <a:spcPts val="0"/>
              </a:spcBef>
              <a:spcAft>
                <a:spcPts val="0"/>
              </a:spcAft>
            </a:pPr>
            <a:r>
              <a:rPr sz="1500" b="1" i="0">
                <a:solidFill>
                  <a:srgbClr val="14202E"/>
                </a:solidFill>
                <a:latin typeface="Calibri"/>
              </a:rPr>
              <a:t>③ why the cost rows do not follow from the algorithm</a:t>
            </a:r>
          </a:p>
        </p:txBody>
      </p:sp>
      <p:sp>
        <p:nvSpPr>
          <p:cNvPr id="24" name="Rectangle 23"/>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25" name="TextBox 24"/>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1750" b="1" i="0">
                <a:solidFill>
                  <a:srgbClr val="14202E"/>
                </a:solidFill>
                <a:latin typeface="Calibri"/>
              </a:rPr>
              <a:t>Next, as questions only: does the repaired scheme have weaknesses of its own that its proof does not rule out in practice?</a:t>
            </a:r>
          </a:p>
        </p:txBody>
      </p:sp>
      <p:sp>
        <p:nvSpPr>
          <p:cNvPr id="26" name="PresenterCue"/>
          <p:cNvSpPr/>
          <p:nvPr/>
        </p:nvSpPr>
        <p:spPr>
          <a:xfrm>
            <a:off x="8503920" y="1033271"/>
            <a:ext cx="3136392" cy="457200"/>
          </a:xfrm>
          <a:prstGeom prst="roundRect">
            <a:avLst>
              <a:gd name="adj" fmla="val 10000"/>
            </a:avLst>
          </a:prstGeom>
          <a:solidFill>
            <a:srgbClr val="FFF3B0"/>
          </a:solidFill>
          <a:ln w="12700">
            <a:solidFill>
              <a:srgbClr val="D9B93A"/>
            </a:solidFill>
          </a:ln>
          <a:effectLst/>
        </p:spPr>
        <p:txBody>
          <a:bodyPr rtlCol="0" anchor="ctr" wrap="square" tIns="36576" bIns="36576"/>
          <a:lstStyle/>
          <a:p>
            <a:pPr algn="l">
              <a:lnSpc>
                <a:spcPct val="92000"/>
              </a:lnSpc>
              <a:spcBef>
                <a:spcPts val="0"/>
              </a:spcBef>
              <a:spcAft>
                <a:spcPts val="0"/>
              </a:spcAft>
            </a:pPr>
            <a:r>
              <a:rPr sz="850" b="1" i="0">
                <a:solidFill>
                  <a:srgbClr val="8A6D00"/>
                </a:solidFill>
                <a:latin typeface="Calibri"/>
              </a:rPr>
              <a:t>PRESENTER CUE</a:t>
            </a:r>
          </a:p>
          <a:p>
            <a:pPr algn="l">
              <a:lnSpc>
                <a:spcPct val="92000"/>
              </a:lnSpc>
              <a:spcBef>
                <a:spcPts val="0"/>
              </a:spcBef>
              <a:spcAft>
                <a:spcPts val="0"/>
              </a:spcAft>
            </a:pPr>
            <a:r>
              <a:rPr sz="1250" b="0" i="0">
                <a:solidFill>
                  <a:srgbClr val="4A3B00"/>
                </a:solidFill>
                <a:latin typeface="Calibri"/>
              </a:rPr>
              <a:t>3 things to remember.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PART VII · WHAT COMES NEXT</a:t>
            </a:r>
          </a:p>
        </p:txBody>
      </p:sp>
      <p:sp>
        <p:nvSpPr>
          <p:cNvPr id="3" name="TextBox 2"/>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3000" b="1" i="0">
                <a:solidFill>
                  <a:srgbClr val="14202E"/>
                </a:solidFill>
                <a:latin typeface="Cambria"/>
              </a:rPr>
              <a:t>What remains for the final presentation</a:t>
            </a:r>
          </a:p>
        </p:txBody>
      </p:sp>
      <p:cxnSp>
        <p:nvCxnSpPr>
          <p:cNvPr id="4" name="Connector 3"/>
          <p:cNvCxnSpPr/>
          <p:nvPr/>
        </p:nvCxnSpPr>
        <p:spPr>
          <a:xfrm>
            <a:off x="548640" y="6419088"/>
            <a:ext cx="11091672" cy="0"/>
          </a:xfrm>
          <a:prstGeom prst="line">
            <a:avLst/>
          </a:prstGeom>
          <a:ln w="12700">
            <a:solidFill>
              <a:srgbClr val="D3D9E1"/>
            </a:solidFill>
          </a:ln>
        </p:spPr>
      </p:cxnSp>
      <p:sp>
        <p:nvSpPr>
          <p:cNvPr id="5" name="TextBox 4"/>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6" name="TextBox 5"/>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32 / 32</a:t>
            </a:r>
          </a:p>
        </p:txBody>
      </p:sp>
      <p:sp>
        <p:nvSpPr>
          <p:cNvPr id="7" name="Rounded Rectangle 6"/>
          <p:cNvSpPr/>
          <p:nvPr/>
        </p:nvSpPr>
        <p:spPr>
          <a:xfrm>
            <a:off x="548640" y="1554480"/>
            <a:ext cx="11091672" cy="868680"/>
          </a:xfrm>
          <a:prstGeom prst="roundRect">
            <a:avLst>
              <a:gd name="adj" fmla="val 10526"/>
            </a:avLst>
          </a:prstGeom>
          <a:solidFill>
            <a:srgbClr val="FFFFFF"/>
          </a:solidFill>
          <a:ln w="15875">
            <a:solidFill>
              <a:srgbClr val="D3D9E1"/>
            </a:solidFill>
          </a:ln>
          <a:effectLst/>
        </p:spPr>
        <p:txBody>
          <a:bodyPr rtlCol="0" anchor="ctr" wrap="square" lIns="73152" rIns="73152" tIns="36576" bIns="36576"/>
          <a:lstStyle/>
          <a:p>
            <a:pPr algn="ctr"/>
          </a:p>
        </p:txBody>
      </p:sp>
      <p:sp>
        <p:nvSpPr>
          <p:cNvPr id="8" name="Rounded Rectangle 7"/>
          <p:cNvSpPr/>
          <p:nvPr/>
        </p:nvSpPr>
        <p:spPr>
          <a:xfrm>
            <a:off x="548640" y="1554480"/>
            <a:ext cx="109728" cy="868680"/>
          </a:xfrm>
          <a:prstGeom prst="roundRect">
            <a:avLst>
              <a:gd name="adj" fmla="val 41666"/>
            </a:avLst>
          </a:prstGeom>
          <a:solidFill>
            <a:srgbClr val="14202E"/>
          </a:solidFill>
          <a:ln>
            <a:noFill/>
          </a:ln>
          <a:effectLst/>
        </p:spPr>
        <p:txBody>
          <a:bodyPr rtlCol="0" anchor="ctr" wrap="square" lIns="73152" rIns="73152" tIns="36576" bIns="36576"/>
          <a:lstStyle/>
          <a:p>
            <a:pPr algn="ctr"/>
          </a:p>
        </p:txBody>
      </p:sp>
      <p:sp>
        <p:nvSpPr>
          <p:cNvPr id="9" name="TextBox 8"/>
          <p:cNvSpPr txBox="1"/>
          <p:nvPr/>
        </p:nvSpPr>
        <p:spPr>
          <a:xfrm>
            <a:off x="868680" y="1645920"/>
            <a:ext cx="10607040" cy="365760"/>
          </a:xfrm>
          <a:prstGeom prst="rect">
            <a:avLst/>
          </a:prstGeom>
          <a:noFill/>
        </p:spPr>
        <p:txBody>
          <a:bodyPr wrap="square" lIns="0" rIns="0" tIns="0" bIns="0" anchor="t">
            <a:spAutoFit/>
          </a:bodyPr>
          <a:lstStyle/>
          <a:p>
            <a:pPr algn="l">
              <a:spcBef>
                <a:spcPts val="0"/>
              </a:spcBef>
              <a:spcAft>
                <a:spcPts val="0"/>
              </a:spcAft>
            </a:pPr>
            <a:r>
              <a:rPr sz="2000" b="1" i="0">
                <a:solidFill>
                  <a:srgbClr val="14202E"/>
                </a:solidFill>
                <a:latin typeface="Cambria"/>
              </a:rPr>
              <a:t>Faster verification</a:t>
            </a:r>
          </a:p>
        </p:txBody>
      </p:sp>
      <p:sp>
        <p:nvSpPr>
          <p:cNvPr id="10" name="TextBox 9"/>
          <p:cNvSpPr txBox="1"/>
          <p:nvPr/>
        </p:nvSpPr>
        <p:spPr>
          <a:xfrm>
            <a:off x="868680" y="2029967"/>
            <a:ext cx="10607040" cy="347472"/>
          </a:xfrm>
          <a:prstGeom prst="rect">
            <a:avLst/>
          </a:prstGeom>
          <a:noFill/>
        </p:spPr>
        <p:txBody>
          <a:bodyPr wrap="square" lIns="0" rIns="0" tIns="0" bIns="0" anchor="t">
            <a:spAutoFit/>
          </a:bodyPr>
          <a:lstStyle/>
          <a:p>
            <a:pPr algn="l">
              <a:spcBef>
                <a:spcPts val="0"/>
              </a:spcBef>
              <a:spcAft>
                <a:spcPts val="0"/>
              </a:spcAft>
            </a:pPr>
            <a:r>
              <a:rPr sz="1600" b="0" i="0">
                <a:solidFill>
                  <a:srgbClr val="5B6675"/>
                </a:solidFill>
                <a:latin typeface="Calibri"/>
              </a:rPr>
              <a:t>Does batching and precomputation change the cost comparison, if both schemes get the same treatment?</a:t>
            </a:r>
          </a:p>
        </p:txBody>
      </p:sp>
      <p:sp>
        <p:nvSpPr>
          <p:cNvPr id="11" name="Rounded Rectangle 10"/>
          <p:cNvSpPr/>
          <p:nvPr/>
        </p:nvSpPr>
        <p:spPr>
          <a:xfrm>
            <a:off x="548640" y="2514600"/>
            <a:ext cx="11091672" cy="868680"/>
          </a:xfrm>
          <a:prstGeom prst="roundRect">
            <a:avLst>
              <a:gd name="adj" fmla="val 10526"/>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2" name="Rounded Rectangle 11"/>
          <p:cNvSpPr/>
          <p:nvPr/>
        </p:nvSpPr>
        <p:spPr>
          <a:xfrm>
            <a:off x="548640" y="2514600"/>
            <a:ext cx="109728" cy="868680"/>
          </a:xfrm>
          <a:prstGeom prst="roundRect">
            <a:avLst>
              <a:gd name="adj" fmla="val 41666"/>
            </a:avLst>
          </a:prstGeom>
          <a:solidFill>
            <a:srgbClr val="14202E"/>
          </a:solidFill>
          <a:ln>
            <a:noFill/>
          </a:ln>
          <a:effectLst/>
        </p:spPr>
        <p:txBody>
          <a:bodyPr rtlCol="0" anchor="ctr" wrap="square" lIns="73152" rIns="73152" tIns="36576" bIns="36576"/>
          <a:lstStyle/>
          <a:p>
            <a:pPr algn="ctr"/>
          </a:p>
        </p:txBody>
      </p:sp>
      <p:sp>
        <p:nvSpPr>
          <p:cNvPr id="13" name="TextBox 12"/>
          <p:cNvSpPr txBox="1"/>
          <p:nvPr/>
        </p:nvSpPr>
        <p:spPr>
          <a:xfrm>
            <a:off x="868680" y="2606040"/>
            <a:ext cx="10607040" cy="365760"/>
          </a:xfrm>
          <a:prstGeom prst="rect">
            <a:avLst/>
          </a:prstGeom>
          <a:noFill/>
        </p:spPr>
        <p:txBody>
          <a:bodyPr wrap="square" lIns="0" rIns="0" tIns="0" bIns="0" anchor="t">
            <a:spAutoFit/>
          </a:bodyPr>
          <a:lstStyle/>
          <a:p>
            <a:pPr algn="l">
              <a:spcBef>
                <a:spcPts val="0"/>
              </a:spcBef>
              <a:spcAft>
                <a:spcPts val="0"/>
              </a:spcAft>
            </a:pPr>
            <a:r>
              <a:rPr sz="2000" b="1" i="0">
                <a:solidFill>
                  <a:srgbClr val="14202E"/>
                </a:solidFill>
                <a:latin typeface="Cambria"/>
              </a:rPr>
              <a:t>The aggregator in practice</a:t>
            </a:r>
          </a:p>
        </p:txBody>
      </p:sp>
      <p:sp>
        <p:nvSpPr>
          <p:cNvPr id="14" name="TextBox 13"/>
          <p:cNvSpPr txBox="1"/>
          <p:nvPr/>
        </p:nvSpPr>
        <p:spPr>
          <a:xfrm>
            <a:off x="868680" y="2990088"/>
            <a:ext cx="10607040" cy="347472"/>
          </a:xfrm>
          <a:prstGeom prst="rect">
            <a:avLst/>
          </a:prstGeom>
          <a:noFill/>
        </p:spPr>
        <p:txBody>
          <a:bodyPr wrap="square" lIns="0" rIns="0" tIns="0" bIns="0" anchor="t">
            <a:spAutoFit/>
          </a:bodyPr>
          <a:lstStyle/>
          <a:p>
            <a:pPr algn="l">
              <a:spcBef>
                <a:spcPts val="0"/>
              </a:spcBef>
              <a:spcAft>
                <a:spcPts val="0"/>
              </a:spcAft>
            </a:pPr>
            <a:r>
              <a:rPr sz="1600" b="0" i="0">
                <a:solidFill>
                  <a:srgbClr val="5B6675"/>
                </a:solidFill>
                <a:latin typeface="Calibri"/>
              </a:rPr>
              <a:t>What happens when one signature in a batch is bad, and can the faulty one be found?</a:t>
            </a:r>
          </a:p>
        </p:txBody>
      </p:sp>
      <p:sp>
        <p:nvSpPr>
          <p:cNvPr id="15" name="Rounded Rectangle 14"/>
          <p:cNvSpPr/>
          <p:nvPr/>
        </p:nvSpPr>
        <p:spPr>
          <a:xfrm>
            <a:off x="548640" y="3474720"/>
            <a:ext cx="11091672" cy="868680"/>
          </a:xfrm>
          <a:prstGeom prst="roundRect">
            <a:avLst>
              <a:gd name="adj" fmla="val 10526"/>
            </a:avLst>
          </a:prstGeom>
          <a:solidFill>
            <a:srgbClr val="FFFFFF"/>
          </a:solidFill>
          <a:ln w="15875">
            <a:solidFill>
              <a:srgbClr val="D3D9E1"/>
            </a:solidFill>
          </a:ln>
          <a:effectLst/>
        </p:spPr>
        <p:txBody>
          <a:bodyPr rtlCol="0" anchor="ctr" wrap="square" lIns="73152" rIns="73152" tIns="36576" bIns="36576"/>
          <a:lstStyle/>
          <a:p>
            <a:pPr algn="ctr"/>
          </a:p>
        </p:txBody>
      </p:sp>
      <p:sp>
        <p:nvSpPr>
          <p:cNvPr id="16" name="Rounded Rectangle 15"/>
          <p:cNvSpPr/>
          <p:nvPr/>
        </p:nvSpPr>
        <p:spPr>
          <a:xfrm>
            <a:off x="548640" y="3474720"/>
            <a:ext cx="109728" cy="868680"/>
          </a:xfrm>
          <a:prstGeom prst="roundRect">
            <a:avLst>
              <a:gd name="adj" fmla="val 41666"/>
            </a:avLst>
          </a:prstGeom>
          <a:solidFill>
            <a:srgbClr val="14202E"/>
          </a:solidFill>
          <a:ln>
            <a:noFill/>
          </a:ln>
          <a:effectLst/>
        </p:spPr>
        <p:txBody>
          <a:bodyPr rtlCol="0" anchor="ctr" wrap="square" lIns="73152" rIns="73152" tIns="36576" bIns="36576"/>
          <a:lstStyle/>
          <a:p>
            <a:pPr algn="ctr"/>
          </a:p>
        </p:txBody>
      </p:sp>
      <p:sp>
        <p:nvSpPr>
          <p:cNvPr id="17" name="TextBox 16"/>
          <p:cNvSpPr txBox="1"/>
          <p:nvPr/>
        </p:nvSpPr>
        <p:spPr>
          <a:xfrm>
            <a:off x="868680" y="3566160"/>
            <a:ext cx="10607040" cy="365760"/>
          </a:xfrm>
          <a:prstGeom prst="rect">
            <a:avLst/>
          </a:prstGeom>
          <a:noFill/>
        </p:spPr>
        <p:txBody>
          <a:bodyPr wrap="square" lIns="0" rIns="0" tIns="0" bIns="0" anchor="t">
            <a:spAutoFit/>
          </a:bodyPr>
          <a:lstStyle/>
          <a:p>
            <a:pPr algn="l">
              <a:spcBef>
                <a:spcPts val="0"/>
              </a:spcBef>
              <a:spcAft>
                <a:spcPts val="0"/>
              </a:spcAft>
            </a:pPr>
            <a:r>
              <a:rPr sz="2000" b="1" i="0">
                <a:solidFill>
                  <a:srgbClr val="14202E"/>
                </a:solidFill>
                <a:latin typeface="Cambria"/>
              </a:rPr>
              <a:t>A second look at the attack</a:t>
            </a:r>
          </a:p>
        </p:txBody>
      </p:sp>
      <p:sp>
        <p:nvSpPr>
          <p:cNvPr id="18" name="TextBox 17"/>
          <p:cNvSpPr txBox="1"/>
          <p:nvPr/>
        </p:nvSpPr>
        <p:spPr>
          <a:xfrm>
            <a:off x="868680" y="3950208"/>
            <a:ext cx="10607040" cy="347472"/>
          </a:xfrm>
          <a:prstGeom prst="rect">
            <a:avLst/>
          </a:prstGeom>
          <a:noFill/>
        </p:spPr>
        <p:txBody>
          <a:bodyPr wrap="square" lIns="0" rIns="0" tIns="0" bIns="0" anchor="t">
            <a:spAutoFit/>
          </a:bodyPr>
          <a:lstStyle/>
          <a:p>
            <a:pPr algn="l">
              <a:spcBef>
                <a:spcPts val="0"/>
              </a:spcBef>
              <a:spcAft>
                <a:spcPts val="0"/>
              </a:spcAft>
            </a:pPr>
            <a:r>
              <a:rPr sz="1600" b="0" i="0">
                <a:solidFill>
                  <a:srgbClr val="5B6675"/>
                </a:solidFill>
                <a:latin typeface="Calibri"/>
              </a:rPr>
              <a:t>Is the paper's attack the weakest one against Verma's scheme? Which change in the repair closes which door?</a:t>
            </a:r>
          </a:p>
        </p:txBody>
      </p:sp>
      <p:sp>
        <p:nvSpPr>
          <p:cNvPr id="19" name="Rounded Rectangle 18"/>
          <p:cNvSpPr/>
          <p:nvPr/>
        </p:nvSpPr>
        <p:spPr>
          <a:xfrm>
            <a:off x="548640" y="4434840"/>
            <a:ext cx="11091672" cy="868680"/>
          </a:xfrm>
          <a:prstGeom prst="roundRect">
            <a:avLst>
              <a:gd name="adj" fmla="val 10526"/>
            </a:avLst>
          </a:prstGeom>
          <a:solidFill>
            <a:srgbClr val="FFFFFF"/>
          </a:solidFill>
          <a:ln w="15875">
            <a:solidFill>
              <a:srgbClr val="D3D9E1"/>
            </a:solidFill>
          </a:ln>
          <a:effectLst/>
        </p:spPr>
        <p:txBody>
          <a:bodyPr rtlCol="0" anchor="ctr" wrap="square" lIns="73152" rIns="73152" tIns="36576" bIns="36576"/>
          <a:lstStyle/>
          <a:p>
            <a:pPr algn="ctr"/>
          </a:p>
        </p:txBody>
      </p:sp>
      <p:sp>
        <p:nvSpPr>
          <p:cNvPr id="20" name="Rounded Rectangle 19"/>
          <p:cNvSpPr/>
          <p:nvPr/>
        </p:nvSpPr>
        <p:spPr>
          <a:xfrm>
            <a:off x="548640" y="4434840"/>
            <a:ext cx="109728" cy="868680"/>
          </a:xfrm>
          <a:prstGeom prst="roundRect">
            <a:avLst>
              <a:gd name="adj" fmla="val 41666"/>
            </a:avLst>
          </a:prstGeom>
          <a:solidFill>
            <a:srgbClr val="14202E"/>
          </a:solidFill>
          <a:ln>
            <a:noFill/>
          </a:ln>
          <a:effectLst/>
        </p:spPr>
        <p:txBody>
          <a:bodyPr rtlCol="0" anchor="ctr" wrap="square" lIns="73152" rIns="73152" tIns="36576" bIns="36576"/>
          <a:lstStyle/>
          <a:p>
            <a:pPr algn="ctr"/>
          </a:p>
        </p:txBody>
      </p:sp>
      <p:sp>
        <p:nvSpPr>
          <p:cNvPr id="21" name="TextBox 20"/>
          <p:cNvSpPr txBox="1"/>
          <p:nvPr/>
        </p:nvSpPr>
        <p:spPr>
          <a:xfrm>
            <a:off x="868680" y="4526280"/>
            <a:ext cx="10607040" cy="365760"/>
          </a:xfrm>
          <a:prstGeom prst="rect">
            <a:avLst/>
          </a:prstGeom>
          <a:noFill/>
        </p:spPr>
        <p:txBody>
          <a:bodyPr wrap="square" lIns="0" rIns="0" tIns="0" bIns="0" anchor="t">
            <a:spAutoFit/>
          </a:bodyPr>
          <a:lstStyle/>
          <a:p>
            <a:pPr algn="l">
              <a:spcBef>
                <a:spcPts val="0"/>
              </a:spcBef>
              <a:spcAft>
                <a:spcPts val="0"/>
              </a:spcAft>
            </a:pPr>
            <a:r>
              <a:rPr sz="2000" b="1" i="0">
                <a:solidFill>
                  <a:srgbClr val="14202E"/>
                </a:solidFill>
                <a:latin typeface="Cambria"/>
              </a:rPr>
              <a:t>Open analysis</a:t>
            </a:r>
          </a:p>
        </p:txBody>
      </p:sp>
      <p:sp>
        <p:nvSpPr>
          <p:cNvPr id="22" name="TextBox 21"/>
          <p:cNvSpPr txBox="1"/>
          <p:nvPr/>
        </p:nvSpPr>
        <p:spPr>
          <a:xfrm>
            <a:off x="868680" y="4910328"/>
            <a:ext cx="10607040" cy="347472"/>
          </a:xfrm>
          <a:prstGeom prst="rect">
            <a:avLst/>
          </a:prstGeom>
          <a:noFill/>
        </p:spPr>
        <p:txBody>
          <a:bodyPr wrap="square" lIns="0" rIns="0" tIns="0" bIns="0" anchor="t">
            <a:spAutoFit/>
          </a:bodyPr>
          <a:lstStyle/>
          <a:p>
            <a:pPr algn="l">
              <a:spcBef>
                <a:spcPts val="0"/>
              </a:spcBef>
              <a:spcAft>
                <a:spcPts val="0"/>
              </a:spcAft>
            </a:pPr>
            <a:r>
              <a:rPr sz="1600" b="0" i="0">
                <a:solidFill>
                  <a:srgbClr val="5B6675"/>
                </a:solidFill>
                <a:latin typeface="Calibri"/>
              </a:rPr>
              <a:t>Nonce reuse on sensors, and the paper's forward-security claim.</a:t>
            </a:r>
          </a:p>
        </p:txBody>
      </p:sp>
      <p:sp>
        <p:nvSpPr>
          <p:cNvPr id="23" name="TextBox 22"/>
          <p:cNvSpPr txBox="1"/>
          <p:nvPr/>
        </p:nvSpPr>
        <p:spPr>
          <a:xfrm>
            <a:off x="548640" y="5440680"/>
            <a:ext cx="11064240" cy="274320"/>
          </a:xfrm>
          <a:prstGeom prst="rect">
            <a:avLst/>
          </a:prstGeom>
          <a:noFill/>
        </p:spPr>
        <p:txBody>
          <a:bodyPr wrap="square" lIns="0" rIns="0" tIns="0" bIns="0" anchor="t">
            <a:spAutoFit/>
          </a:bodyPr>
          <a:lstStyle/>
          <a:p>
            <a:pPr algn="l">
              <a:spcBef>
                <a:spcPts val="0"/>
              </a:spcBef>
              <a:spcAft>
                <a:spcPts val="0"/>
              </a:spcAft>
            </a:pPr>
            <a:r>
              <a:rPr sz="1400" b="0" i="0">
                <a:solidFill>
                  <a:srgbClr val="5B6675"/>
                </a:solidFill>
                <a:latin typeface="Calibri"/>
              </a:rPr>
              <a:t>If time allows: the bandwidth cost of the aggregate, and a small MQTT simulation of the sensor-to-cloud path.</a:t>
            </a:r>
          </a:p>
        </p:txBody>
      </p:sp>
      <p:sp>
        <p:nvSpPr>
          <p:cNvPr id="24" name="Rectangle 23"/>
          <p:cNvSpPr/>
          <p:nvPr/>
        </p:nvSpPr>
        <p:spPr>
          <a:xfrm>
            <a:off x="548640" y="5760720"/>
            <a:ext cx="82296" cy="566928"/>
          </a:xfrm>
          <a:prstGeom prst="rect">
            <a:avLst/>
          </a:prstGeom>
          <a:solidFill>
            <a:srgbClr val="14202E"/>
          </a:solidFill>
          <a:ln>
            <a:noFill/>
          </a:ln>
          <a:effectLst/>
        </p:spPr>
        <p:txBody>
          <a:bodyPr rtlCol="0" anchor="ctr" wrap="square" lIns="73152" rIns="73152" tIns="36576" bIns="36576"/>
          <a:lstStyle/>
          <a:p>
            <a:pPr algn="ctr"/>
          </a:p>
        </p:txBody>
      </p:sp>
      <p:sp>
        <p:nvSpPr>
          <p:cNvPr id="25" name="TextBox 24"/>
          <p:cNvSpPr txBox="1"/>
          <p:nvPr/>
        </p:nvSpPr>
        <p:spPr>
          <a:xfrm>
            <a:off x="777240" y="5760720"/>
            <a:ext cx="10835640" cy="566928"/>
          </a:xfrm>
          <a:prstGeom prst="rect">
            <a:avLst/>
          </a:prstGeom>
          <a:noFill/>
        </p:spPr>
        <p:txBody>
          <a:bodyPr wrap="square" lIns="0" rIns="0" tIns="0" bIns="0" anchor="ctr">
            <a:spAutoFit/>
          </a:bodyPr>
          <a:lstStyle/>
          <a:p>
            <a:pPr algn="l">
              <a:lnSpc>
                <a:spcPct val="95000"/>
              </a:lnSpc>
              <a:spcBef>
                <a:spcPts val="0"/>
              </a:spcBef>
              <a:spcAft>
                <a:spcPts val="0"/>
              </a:spcAft>
            </a:pPr>
            <a:r>
              <a:rPr sz="2000" b="1" i="0">
                <a:solidFill>
                  <a:srgbClr val="14202E"/>
                </a:solidFill>
                <a:latin typeface="Calibri"/>
              </a:rPr>
              <a:t>Next: from reproducing the paper to testing the repaired scheme itself.</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731520" y="2331720"/>
            <a:ext cx="10698480" cy="1463040"/>
          </a:xfrm>
          <a:prstGeom prst="rect">
            <a:avLst/>
          </a:prstGeom>
          <a:noFill/>
        </p:spPr>
        <p:txBody>
          <a:bodyPr wrap="square" lIns="0" rIns="0" tIns="0" bIns="0" anchor="t">
            <a:spAutoFit/>
          </a:bodyPr>
          <a:lstStyle/>
          <a:p>
            <a:pPr algn="ctr">
              <a:spcBef>
                <a:spcPts val="0"/>
              </a:spcBef>
              <a:spcAft>
                <a:spcPts val="0"/>
              </a:spcAft>
            </a:pPr>
            <a:r>
              <a:rPr sz="8400" b="1" i="0">
                <a:solidFill>
                  <a:srgbClr val="FFFFFF"/>
                </a:solidFill>
                <a:latin typeface="Cambria"/>
              </a:rPr>
              <a:t>Thank you</a:t>
            </a:r>
          </a:p>
        </p:txBody>
      </p:sp>
      <p:sp>
        <p:nvSpPr>
          <p:cNvPr id="3" name="TextBox 2"/>
          <p:cNvSpPr txBox="1"/>
          <p:nvPr/>
        </p:nvSpPr>
        <p:spPr>
          <a:xfrm>
            <a:off x="731520" y="3977639"/>
            <a:ext cx="10698480" cy="731520"/>
          </a:xfrm>
          <a:prstGeom prst="rect">
            <a:avLst/>
          </a:prstGeom>
          <a:noFill/>
        </p:spPr>
        <p:txBody>
          <a:bodyPr wrap="square" lIns="0" rIns="0" tIns="0" bIns="0" anchor="t">
            <a:spAutoFit/>
          </a:bodyPr>
          <a:lstStyle/>
          <a:p>
            <a:pPr algn="ctr">
              <a:spcBef>
                <a:spcPts val="0"/>
              </a:spcBef>
              <a:spcAft>
                <a:spcPts val="0"/>
              </a:spcAft>
            </a:pPr>
            <a:r>
              <a:rPr sz="3800" b="0" i="0">
                <a:solidFill>
                  <a:srgbClr val="9FB3C8"/>
                </a:solidFill>
                <a:latin typeface="Calibri"/>
              </a:rPr>
              <a:t>Questions?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34414F"/>
        </a:solidFill>
        <a:effectLst/>
      </p:bgPr>
    </p:bg>
    <p:spTree>
      <p:nvGrpSpPr>
        <p:cNvPr id="1" name=""/>
        <p:cNvGrpSpPr/>
        <p:nvPr/>
      </p:nvGrpSpPr>
      <p:grpSpPr/>
      <p:sp>
        <p:nvSpPr>
          <p:cNvPr id="2" name="TextBox 1"/>
          <p:cNvSpPr txBox="1"/>
          <p:nvPr/>
        </p:nvSpPr>
        <p:spPr>
          <a:xfrm>
            <a:off x="731520" y="822960"/>
            <a:ext cx="8229600" cy="320040"/>
          </a:xfrm>
          <a:prstGeom prst="rect">
            <a:avLst/>
          </a:prstGeom>
          <a:noFill/>
        </p:spPr>
        <p:txBody>
          <a:bodyPr wrap="square" lIns="0" rIns="0" tIns="0" bIns="0" anchor="t">
            <a:spAutoFit/>
          </a:bodyPr>
          <a:lstStyle/>
          <a:p>
            <a:pPr algn="l">
              <a:spcBef>
                <a:spcPts val="0"/>
              </a:spcBef>
              <a:spcAft>
                <a:spcPts val="0"/>
              </a:spcAft>
            </a:pPr>
            <a:r>
              <a:rPr sz="1400" b="1" i="0" spc="140">
                <a:solidFill>
                  <a:srgbClr val="B7C3D0"/>
                </a:solidFill>
                <a:latin typeface="Calibri"/>
              </a:rPr>
              <a:t>BACKUP · ONLY IF ASKED</a:t>
            </a:r>
          </a:p>
        </p:txBody>
      </p:sp>
      <p:sp>
        <p:nvSpPr>
          <p:cNvPr id="3" name="TextBox 2"/>
          <p:cNvSpPr txBox="1"/>
          <p:nvPr/>
        </p:nvSpPr>
        <p:spPr>
          <a:xfrm>
            <a:off x="731520" y="1234440"/>
            <a:ext cx="10058400" cy="914400"/>
          </a:xfrm>
          <a:prstGeom prst="rect">
            <a:avLst/>
          </a:prstGeom>
          <a:noFill/>
        </p:spPr>
        <p:txBody>
          <a:bodyPr wrap="square" lIns="0" rIns="0" tIns="0" bIns="0" anchor="t">
            <a:spAutoFit/>
          </a:bodyPr>
          <a:lstStyle/>
          <a:p>
            <a:pPr algn="l">
              <a:spcBef>
                <a:spcPts val="0"/>
              </a:spcBef>
              <a:spcAft>
                <a:spcPts val="0"/>
              </a:spcAft>
            </a:pPr>
            <a:r>
              <a:rPr sz="4800" b="1" i="0">
                <a:solidFill>
                  <a:srgbClr val="FFFFFF"/>
                </a:solidFill>
                <a:latin typeface="Cambria"/>
              </a:rPr>
              <a:t>Appendix</a:t>
            </a:r>
          </a:p>
        </p:txBody>
      </p:sp>
      <p:sp>
        <p:nvSpPr>
          <p:cNvPr id="4" name="TextBox 3"/>
          <p:cNvSpPr txBox="1"/>
          <p:nvPr/>
        </p:nvSpPr>
        <p:spPr>
          <a:xfrm>
            <a:off x="731520" y="2514600"/>
            <a:ext cx="5303520" cy="457200"/>
          </a:xfrm>
          <a:prstGeom prst="rect">
            <a:avLst/>
          </a:prstGeom>
          <a:noFill/>
        </p:spPr>
        <p:txBody>
          <a:bodyPr wrap="square" lIns="0" rIns="0" tIns="0" bIns="0" anchor="t">
            <a:spAutoFit/>
          </a:bodyPr>
          <a:lstStyle/>
          <a:p>
            <a:pPr algn="l">
              <a:spcBef>
                <a:spcPts val="0"/>
              </a:spcBef>
              <a:spcAft>
                <a:spcPts val="0"/>
              </a:spcAft>
            </a:pPr>
            <a:r>
              <a:rPr sz="1900" b="0" i="0">
                <a:solidFill>
                  <a:srgbClr val="E4EAF0"/>
                </a:solidFill>
                <a:latin typeface="Calibri"/>
              </a:rPr>
              <a:t>B1  The complete Verma scheme</a:t>
            </a:r>
          </a:p>
        </p:txBody>
      </p:sp>
      <p:sp>
        <p:nvSpPr>
          <p:cNvPr id="5" name="TextBox 4"/>
          <p:cNvSpPr txBox="1"/>
          <p:nvPr/>
        </p:nvSpPr>
        <p:spPr>
          <a:xfrm>
            <a:off x="731520" y="3081528"/>
            <a:ext cx="5303520" cy="457200"/>
          </a:xfrm>
          <a:prstGeom prst="rect">
            <a:avLst/>
          </a:prstGeom>
          <a:noFill/>
        </p:spPr>
        <p:txBody>
          <a:bodyPr wrap="square" lIns="0" rIns="0" tIns="0" bIns="0" anchor="t">
            <a:spAutoFit/>
          </a:bodyPr>
          <a:lstStyle/>
          <a:p>
            <a:pPr algn="l">
              <a:spcBef>
                <a:spcPts val="0"/>
              </a:spcBef>
              <a:spcAft>
                <a:spcPts val="0"/>
              </a:spcAft>
            </a:pPr>
            <a:r>
              <a:rPr sz="1900" b="0" i="0">
                <a:solidFill>
                  <a:srgbClr val="E4EAF0"/>
                </a:solidFill>
                <a:latin typeface="Calibri"/>
              </a:rPr>
              <a:t>B2  The complete Qiao scheme</a:t>
            </a:r>
          </a:p>
        </p:txBody>
      </p:sp>
      <p:sp>
        <p:nvSpPr>
          <p:cNvPr id="6" name="TextBox 5"/>
          <p:cNvSpPr txBox="1"/>
          <p:nvPr/>
        </p:nvSpPr>
        <p:spPr>
          <a:xfrm>
            <a:off x="731520" y="3648456"/>
            <a:ext cx="5303520" cy="457200"/>
          </a:xfrm>
          <a:prstGeom prst="rect">
            <a:avLst/>
          </a:prstGeom>
          <a:noFill/>
        </p:spPr>
        <p:txBody>
          <a:bodyPr wrap="square" lIns="0" rIns="0" tIns="0" bIns="0" anchor="t">
            <a:spAutoFit/>
          </a:bodyPr>
          <a:lstStyle/>
          <a:p>
            <a:pPr algn="l">
              <a:spcBef>
                <a:spcPts val="0"/>
              </a:spcBef>
              <a:spcAft>
                <a:spcPts val="0"/>
              </a:spcAft>
            </a:pPr>
            <a:r>
              <a:rPr sz="1900" b="0" i="0">
                <a:solidFill>
                  <a:srgbClr val="E4EAF0"/>
                </a:solidFill>
                <a:latin typeface="Calibri"/>
              </a:rPr>
              <a:t>B3  The full malicious-KGC derivation</a:t>
            </a:r>
          </a:p>
        </p:txBody>
      </p:sp>
      <p:sp>
        <p:nvSpPr>
          <p:cNvPr id="7" name="TextBox 6"/>
          <p:cNvSpPr txBox="1"/>
          <p:nvPr/>
        </p:nvSpPr>
        <p:spPr>
          <a:xfrm>
            <a:off x="731520" y="4215383"/>
            <a:ext cx="5303520" cy="457200"/>
          </a:xfrm>
          <a:prstGeom prst="rect">
            <a:avLst/>
          </a:prstGeom>
          <a:noFill/>
        </p:spPr>
        <p:txBody>
          <a:bodyPr wrap="square" lIns="0" rIns="0" tIns="0" bIns="0" anchor="t">
            <a:spAutoFit/>
          </a:bodyPr>
          <a:lstStyle/>
          <a:p>
            <a:pPr algn="l">
              <a:spcBef>
                <a:spcPts val="0"/>
              </a:spcBef>
              <a:spcAft>
                <a:spcPts val="0"/>
              </a:spcAft>
            </a:pPr>
            <a:r>
              <a:rPr sz="1900" b="0" i="0">
                <a:solidFill>
                  <a:srgbClr val="E4EAF0"/>
                </a:solidFill>
                <a:latin typeface="Calibri"/>
              </a:rPr>
              <a:t>B4  Correctness of aggregate verification</a:t>
            </a:r>
          </a:p>
        </p:txBody>
      </p:sp>
      <p:sp>
        <p:nvSpPr>
          <p:cNvPr id="8" name="TextBox 7"/>
          <p:cNvSpPr txBox="1"/>
          <p:nvPr/>
        </p:nvSpPr>
        <p:spPr>
          <a:xfrm>
            <a:off x="731520" y="4782312"/>
            <a:ext cx="5303520" cy="457200"/>
          </a:xfrm>
          <a:prstGeom prst="rect">
            <a:avLst/>
          </a:prstGeom>
          <a:noFill/>
        </p:spPr>
        <p:txBody>
          <a:bodyPr wrap="square" lIns="0" rIns="0" tIns="0" bIns="0" anchor="t">
            <a:spAutoFit/>
          </a:bodyPr>
          <a:lstStyle/>
          <a:p>
            <a:pPr algn="l">
              <a:spcBef>
                <a:spcPts val="0"/>
              </a:spcBef>
              <a:spcAft>
                <a:spcPts val="0"/>
              </a:spcAft>
            </a:pPr>
            <a:r>
              <a:rPr sz="1900" b="0" i="0">
                <a:solidFill>
                  <a:srgbClr val="E4EAF0"/>
                </a:solidFill>
                <a:latin typeface="Calibri"/>
              </a:rPr>
              <a:t>B5  Security models and the paper's proof</a:t>
            </a:r>
          </a:p>
        </p:txBody>
      </p:sp>
      <p:sp>
        <p:nvSpPr>
          <p:cNvPr id="9" name="TextBox 8"/>
          <p:cNvSpPr txBox="1"/>
          <p:nvPr/>
        </p:nvSpPr>
        <p:spPr>
          <a:xfrm>
            <a:off x="731520" y="5349240"/>
            <a:ext cx="5303520" cy="457200"/>
          </a:xfrm>
          <a:prstGeom prst="rect">
            <a:avLst/>
          </a:prstGeom>
          <a:noFill/>
        </p:spPr>
        <p:txBody>
          <a:bodyPr wrap="square" lIns="0" rIns="0" tIns="0" bIns="0" anchor="t">
            <a:spAutoFit/>
          </a:bodyPr>
          <a:lstStyle/>
          <a:p>
            <a:pPr algn="l">
              <a:spcBef>
                <a:spcPts val="0"/>
              </a:spcBef>
              <a:spcAft>
                <a:spcPts val="0"/>
              </a:spcAft>
            </a:pPr>
            <a:r>
              <a:rPr sz="1900" b="0" i="0">
                <a:solidFill>
                  <a:srgbClr val="E4EAF0"/>
                </a:solidFill>
                <a:latin typeface="Calibri"/>
              </a:rPr>
              <a:t>B6  Why </a:t>
            </a:r>
            <a:r>
              <a:rPr sz="1900" b="0" i="1">
                <a:solidFill>
                  <a:srgbClr val="E4EAF0"/>
                </a:solidFill>
                <a:latin typeface="Cambria"/>
              </a:rPr>
              <a:t>T</a:t>
            </a:r>
            <a:r>
              <a:rPr sz="1900" b="0" i="1" baseline="-25000">
                <a:solidFill>
                  <a:srgbClr val="E4EAF0"/>
                </a:solidFill>
                <a:latin typeface="Cambria"/>
              </a:rPr>
              <a:t>i</a:t>
            </a:r>
            <a:r>
              <a:rPr sz="1900" b="0" i="0">
                <a:solidFill>
                  <a:srgbClr val="E4EAF0"/>
                </a:solidFill>
                <a:latin typeface="Calibri"/>
              </a:rPr>
              <a:t> is in both hashes</a:t>
            </a:r>
          </a:p>
        </p:txBody>
      </p:sp>
      <p:sp>
        <p:nvSpPr>
          <p:cNvPr id="10" name="TextBox 9"/>
          <p:cNvSpPr txBox="1"/>
          <p:nvPr/>
        </p:nvSpPr>
        <p:spPr>
          <a:xfrm>
            <a:off x="6309359" y="2514600"/>
            <a:ext cx="5303520" cy="457200"/>
          </a:xfrm>
          <a:prstGeom prst="rect">
            <a:avLst/>
          </a:prstGeom>
          <a:noFill/>
        </p:spPr>
        <p:txBody>
          <a:bodyPr wrap="square" lIns="0" rIns="0" tIns="0" bIns="0" anchor="t">
            <a:spAutoFit/>
          </a:bodyPr>
          <a:lstStyle/>
          <a:p>
            <a:pPr algn="l">
              <a:spcBef>
                <a:spcPts val="0"/>
              </a:spcBef>
              <a:spcAft>
                <a:spcPts val="0"/>
              </a:spcAft>
            </a:pPr>
            <a:r>
              <a:rPr sz="1900" b="0" i="0">
                <a:solidFill>
                  <a:srgbClr val="E4EAF0"/>
                </a:solidFill>
                <a:latin typeface="Calibri"/>
              </a:rPr>
              <a:t>B7  The complete operation-count table</a:t>
            </a:r>
          </a:p>
        </p:txBody>
      </p:sp>
      <p:sp>
        <p:nvSpPr>
          <p:cNvPr id="11" name="TextBox 10"/>
          <p:cNvSpPr txBox="1"/>
          <p:nvPr/>
        </p:nvSpPr>
        <p:spPr>
          <a:xfrm>
            <a:off x="6309359" y="3081528"/>
            <a:ext cx="5303520" cy="457200"/>
          </a:xfrm>
          <a:prstGeom prst="rect">
            <a:avLst/>
          </a:prstGeom>
          <a:noFill/>
        </p:spPr>
        <p:txBody>
          <a:bodyPr wrap="square" lIns="0" rIns="0" tIns="0" bIns="0" anchor="t">
            <a:spAutoFit/>
          </a:bodyPr>
          <a:lstStyle/>
          <a:p>
            <a:pPr algn="l">
              <a:spcBef>
                <a:spcPts val="0"/>
              </a:spcBef>
              <a:spcAft>
                <a:spcPts val="0"/>
              </a:spcAft>
            </a:pPr>
            <a:r>
              <a:rPr sz="1900" b="0" i="0">
                <a:solidFill>
                  <a:srgbClr val="E4EAF0"/>
                </a:solidFill>
                <a:latin typeface="Calibri"/>
              </a:rPr>
              <a:t>B8  Caching and precomputation</a:t>
            </a:r>
          </a:p>
        </p:txBody>
      </p:sp>
      <p:sp>
        <p:nvSpPr>
          <p:cNvPr id="12" name="TextBox 11"/>
          <p:cNvSpPr txBox="1"/>
          <p:nvPr/>
        </p:nvSpPr>
        <p:spPr>
          <a:xfrm>
            <a:off x="6309359" y="3648456"/>
            <a:ext cx="5303520" cy="457200"/>
          </a:xfrm>
          <a:prstGeom prst="rect">
            <a:avLst/>
          </a:prstGeom>
          <a:noFill/>
        </p:spPr>
        <p:txBody>
          <a:bodyPr wrap="square" lIns="0" rIns="0" tIns="0" bIns="0" anchor="t">
            <a:spAutoFit/>
          </a:bodyPr>
          <a:lstStyle/>
          <a:p>
            <a:pPr algn="l">
              <a:spcBef>
                <a:spcPts val="0"/>
              </a:spcBef>
              <a:spcAft>
                <a:spcPts val="0"/>
              </a:spcAft>
            </a:pPr>
            <a:r>
              <a:rPr sz="1900" b="0" i="0">
                <a:solidFill>
                  <a:srgbClr val="E4EAF0"/>
                </a:solidFill>
                <a:latin typeface="Calibri"/>
              </a:rPr>
              <a:t>B9  Benchmark methodology</a:t>
            </a:r>
          </a:p>
        </p:txBody>
      </p:sp>
      <p:sp>
        <p:nvSpPr>
          <p:cNvPr id="13" name="TextBox 12"/>
          <p:cNvSpPr txBox="1"/>
          <p:nvPr/>
        </p:nvSpPr>
        <p:spPr>
          <a:xfrm>
            <a:off x="6309359" y="4215383"/>
            <a:ext cx="5303520" cy="457200"/>
          </a:xfrm>
          <a:prstGeom prst="rect">
            <a:avLst/>
          </a:prstGeom>
          <a:noFill/>
        </p:spPr>
        <p:txBody>
          <a:bodyPr wrap="square" lIns="0" rIns="0" tIns="0" bIns="0" anchor="t">
            <a:spAutoFit/>
          </a:bodyPr>
          <a:lstStyle/>
          <a:p>
            <a:pPr algn="l">
              <a:spcBef>
                <a:spcPts val="0"/>
              </a:spcBef>
              <a:spcAft>
                <a:spcPts val="0"/>
              </a:spcAft>
            </a:pPr>
            <a:r>
              <a:rPr sz="1900" b="0" i="0">
                <a:solidFill>
                  <a:srgbClr val="E4EAF0"/>
                </a:solidFill>
                <a:latin typeface="Calibri"/>
              </a:rPr>
              <a:t>B10 Testing and reproducibility</a:t>
            </a:r>
          </a:p>
        </p:txBody>
      </p:sp>
      <p:sp>
        <p:nvSpPr>
          <p:cNvPr id="14" name="TextBox 13"/>
          <p:cNvSpPr txBox="1"/>
          <p:nvPr/>
        </p:nvSpPr>
        <p:spPr>
          <a:xfrm>
            <a:off x="6309359" y="4782312"/>
            <a:ext cx="5303520" cy="457200"/>
          </a:xfrm>
          <a:prstGeom prst="rect">
            <a:avLst/>
          </a:prstGeom>
          <a:noFill/>
        </p:spPr>
        <p:txBody>
          <a:bodyPr wrap="square" lIns="0" rIns="0" tIns="0" bIns="0" anchor="t">
            <a:spAutoFit/>
          </a:bodyPr>
          <a:lstStyle/>
          <a:p>
            <a:pPr algn="l">
              <a:spcBef>
                <a:spcPts val="0"/>
              </a:spcBef>
              <a:spcAft>
                <a:spcPts val="0"/>
              </a:spcAft>
            </a:pPr>
            <a:r>
              <a:rPr sz="1900" b="0" i="0">
                <a:solidFill>
                  <a:srgbClr val="E4EAF0"/>
                </a:solidFill>
                <a:latin typeface="Calibri"/>
              </a:rPr>
              <a:t>B11 Demo fallback: Demos 1 and 2</a:t>
            </a:r>
          </a:p>
        </p:txBody>
      </p:sp>
      <p:sp>
        <p:nvSpPr>
          <p:cNvPr id="15" name="TextBox 14"/>
          <p:cNvSpPr txBox="1"/>
          <p:nvPr/>
        </p:nvSpPr>
        <p:spPr>
          <a:xfrm>
            <a:off x="6309359" y="5349240"/>
            <a:ext cx="5303520" cy="457200"/>
          </a:xfrm>
          <a:prstGeom prst="rect">
            <a:avLst/>
          </a:prstGeom>
          <a:noFill/>
        </p:spPr>
        <p:txBody>
          <a:bodyPr wrap="square" lIns="0" rIns="0" tIns="0" bIns="0" anchor="t">
            <a:spAutoFit/>
          </a:bodyPr>
          <a:lstStyle/>
          <a:p>
            <a:pPr algn="l">
              <a:spcBef>
                <a:spcPts val="0"/>
              </a:spcBef>
              <a:spcAft>
                <a:spcPts val="0"/>
              </a:spcAft>
            </a:pPr>
            <a:r>
              <a:rPr sz="1900" b="0" i="0">
                <a:solidFill>
                  <a:srgbClr val="E4EAF0"/>
                </a:solidFill>
                <a:latin typeface="Calibri"/>
              </a:rPr>
              <a:t>B12 Demo fallback: Demo 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9AA5B1"/>
          </a:solidFill>
          <a:ln>
            <a:noFill/>
          </a:ln>
          <a:effectLst/>
        </p:spPr>
        <p:txBody>
          <a:bodyPr rtlCol="0" anchor="ctr" wrap="square" lIns="73152" rIns="73152" tIns="36576" bIns="36576"/>
          <a:lstStyle/>
          <a:p>
            <a:pPr algn="ctr"/>
          </a:p>
        </p:txBody>
      </p:sp>
      <p:sp>
        <p:nvSpPr>
          <p:cNvPr id="3" name="TextBox 2"/>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BACKUP · VERMA ET AL.</a:t>
            </a:r>
          </a:p>
        </p:txBody>
      </p:sp>
      <p:sp>
        <p:nvSpPr>
          <p:cNvPr id="4" name="TextBox 3"/>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B1 · The complete Verma scheme</a:t>
            </a:r>
          </a:p>
        </p:txBody>
      </p:sp>
      <p:sp>
        <p:nvSpPr>
          <p:cNvPr id="5" name="Rounded Rectangle 4"/>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Backup B1</a:t>
            </a:r>
          </a:p>
        </p:txBody>
      </p:sp>
      <p:sp>
        <p:nvSpPr>
          <p:cNvPr id="9" name="Rectangle 8"/>
          <p:cNvSpPr/>
          <p:nvPr/>
        </p:nvSpPr>
        <p:spPr>
          <a:xfrm>
            <a:off x="548640" y="1463040"/>
            <a:ext cx="11091672" cy="365760"/>
          </a:xfrm>
          <a:prstGeom prst="rect">
            <a:avLst/>
          </a:prstGeom>
          <a:solidFill>
            <a:srgbClr val="F2F5F8"/>
          </a:solidFill>
          <a:ln>
            <a:noFill/>
          </a:ln>
          <a:effectLst/>
        </p:spPr>
        <p:txBody>
          <a:bodyPr rtlCol="0" anchor="ctr" wrap="square" lIns="73152" rIns="73152" tIns="36576" bIns="36576"/>
          <a:lstStyle/>
          <a:p>
            <a:pPr algn="ctr"/>
          </a:p>
        </p:txBody>
      </p:sp>
      <p:sp>
        <p:nvSpPr>
          <p:cNvPr id="10" name="TextBox 9"/>
          <p:cNvSpPr txBox="1"/>
          <p:nvPr/>
        </p:nvSpPr>
        <p:spPr>
          <a:xfrm>
            <a:off x="640080" y="1463040"/>
            <a:ext cx="1417320" cy="36576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ALGORITHM</a:t>
            </a:r>
          </a:p>
        </p:txBody>
      </p:sp>
      <p:sp>
        <p:nvSpPr>
          <p:cNvPr id="11" name="TextBox 10"/>
          <p:cNvSpPr txBox="1"/>
          <p:nvPr/>
        </p:nvSpPr>
        <p:spPr>
          <a:xfrm>
            <a:off x="2240280" y="1463040"/>
            <a:ext cx="9308592" cy="36576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DEFINITION</a:t>
            </a:r>
          </a:p>
        </p:txBody>
      </p:sp>
      <p:cxnSp>
        <p:nvCxnSpPr>
          <p:cNvPr id="12" name="Connector 11"/>
          <p:cNvCxnSpPr/>
          <p:nvPr/>
        </p:nvCxnSpPr>
        <p:spPr>
          <a:xfrm>
            <a:off x="548640" y="1828800"/>
            <a:ext cx="11091672" cy="0"/>
          </a:xfrm>
          <a:prstGeom prst="line">
            <a:avLst/>
          </a:prstGeom>
          <a:ln w="15875">
            <a:solidFill>
              <a:srgbClr val="5B6675"/>
            </a:solidFill>
          </a:ln>
        </p:spPr>
      </p:cxnSp>
      <p:sp>
        <p:nvSpPr>
          <p:cNvPr id="13" name="TextBox 12"/>
          <p:cNvSpPr txBox="1"/>
          <p:nvPr/>
        </p:nvSpPr>
        <p:spPr>
          <a:xfrm>
            <a:off x="640080" y="1828800"/>
            <a:ext cx="1417320" cy="777240"/>
          </a:xfrm>
          <a:prstGeom prst="rect">
            <a:avLst/>
          </a:prstGeom>
          <a:noFill/>
        </p:spPr>
        <p:txBody>
          <a:bodyPr wrap="square" lIns="0" rIns="0" tIns="0" bIns="0" anchor="ctr">
            <a:spAutoFit/>
          </a:bodyPr>
          <a:lstStyle/>
          <a:p>
            <a:pPr algn="l">
              <a:spcBef>
                <a:spcPts val="0"/>
              </a:spcBef>
              <a:spcAft>
                <a:spcPts val="0"/>
              </a:spcAft>
            </a:pPr>
            <a:r>
              <a:rPr sz="1650" b="1" i="0">
                <a:solidFill>
                  <a:srgbClr val="14202E"/>
                </a:solidFill>
                <a:latin typeface="Calibri"/>
              </a:rPr>
              <a:t>Setup</a:t>
            </a:r>
          </a:p>
        </p:txBody>
      </p:sp>
      <p:sp>
        <p:nvSpPr>
          <p:cNvPr id="14" name="TextBox 13"/>
          <p:cNvSpPr txBox="1"/>
          <p:nvPr/>
        </p:nvSpPr>
        <p:spPr>
          <a:xfrm>
            <a:off x="2240280" y="1828800"/>
            <a:ext cx="9308592" cy="777240"/>
          </a:xfrm>
          <a:prstGeom prst="rect">
            <a:avLst/>
          </a:prstGeom>
          <a:noFill/>
        </p:spPr>
        <p:txBody>
          <a:bodyPr wrap="square" lIns="0" rIns="0" tIns="0" bIns="0" anchor="ctr">
            <a:spAutoFit/>
          </a:bodyPr>
          <a:lstStyle/>
          <a:p>
            <a:pPr algn="l">
              <a:spcBef>
                <a:spcPts val="0"/>
              </a:spcBef>
              <a:spcAft>
                <a:spcPts val="0"/>
              </a:spcAft>
            </a:pPr>
            <a:r>
              <a:rPr sz="1650" b="0" i="1">
                <a:solidFill>
                  <a:srgbClr val="14202E"/>
                </a:solidFill>
                <a:latin typeface="Cambria"/>
              </a:rPr>
              <a:t>s</a:t>
            </a:r>
            <a:r>
              <a:rPr sz="1650" b="0" i="0">
                <a:solidFill>
                  <a:srgbClr val="14202E"/>
                </a:solidFill>
                <a:latin typeface="Cambria"/>
              </a:rPr>
              <a:t> ←</a:t>
            </a:r>
            <a:r>
              <a:rPr sz="1650" b="0" i="1" baseline="-25000">
                <a:solidFill>
                  <a:srgbClr val="14202E"/>
                </a:solidFill>
                <a:latin typeface="Cambria"/>
              </a:rPr>
              <a:t>R</a:t>
            </a:r>
            <a:r>
              <a:rPr sz="1650" b="0" i="0">
                <a:solidFill>
                  <a:srgbClr val="14202E"/>
                </a:solidFill>
                <a:latin typeface="Cambria"/>
              </a:rPr>
              <a:t> </a:t>
            </a:r>
            <a:r>
              <a:rPr sz="1650" b="0" i="1">
                <a:solidFill>
                  <a:srgbClr val="14202E"/>
                </a:solidFill>
                <a:latin typeface="Cambria"/>
              </a:rPr>
              <a:t>Z</a:t>
            </a:r>
            <a:r>
              <a:rPr sz="1650" b="0" i="0" baseline="30000">
                <a:solidFill>
                  <a:srgbClr val="14202E"/>
                </a:solidFill>
                <a:latin typeface="Cambria"/>
              </a:rPr>
              <a:t>*</a:t>
            </a:r>
            <a:r>
              <a:rPr sz="1650" b="0" i="1" baseline="-25000">
                <a:solidFill>
                  <a:srgbClr val="14202E"/>
                </a:solidFill>
                <a:latin typeface="Cambria"/>
              </a:rPr>
              <a:t>p</a:t>
            </a:r>
            <a:r>
              <a:rPr sz="1650" b="0" i="0">
                <a:solidFill>
                  <a:srgbClr val="14202E"/>
                </a:solidFill>
                <a:latin typeface="Calibri"/>
              </a:rPr>
              <a:t>,  </a:t>
            </a:r>
            <a:r>
              <a:rPr sz="1650" b="0" i="1">
                <a:solidFill>
                  <a:srgbClr val="14202E"/>
                </a:solidFill>
                <a:latin typeface="Cambria"/>
              </a:rPr>
              <a:t>s</a:t>
            </a:r>
            <a:r>
              <a:rPr sz="1650" b="0" i="1" baseline="30000">
                <a:solidFill>
                  <a:srgbClr val="14202E"/>
                </a:solidFill>
                <a:latin typeface="Cambria"/>
              </a:rPr>
              <a:t>k</a:t>
            </a:r>
            <a:r>
              <a:rPr sz="1650" b="0" i="1" baseline="-25000">
                <a:solidFill>
                  <a:srgbClr val="14202E"/>
                </a:solidFill>
                <a:latin typeface="Cambria"/>
              </a:rPr>
              <a:t>TA</a:t>
            </a:r>
            <a:r>
              <a:rPr sz="1650" b="0" i="0">
                <a:solidFill>
                  <a:srgbClr val="14202E"/>
                </a:solidFill>
                <a:latin typeface="Cambria"/>
              </a:rPr>
              <a:t> = </a:t>
            </a:r>
            <a:r>
              <a:rPr sz="1650" b="0" i="1">
                <a:solidFill>
                  <a:srgbClr val="14202E"/>
                </a:solidFill>
                <a:latin typeface="Cambria"/>
              </a:rPr>
              <a:t>s</a:t>
            </a:r>
            <a:r>
              <a:rPr sz="1650" b="0" i="0">
                <a:solidFill>
                  <a:srgbClr val="14202E"/>
                </a:solidFill>
                <a:latin typeface="Calibri"/>
              </a:rPr>
              <a:t>,  </a:t>
            </a:r>
            <a:r>
              <a:rPr sz="1650" b="0" i="1">
                <a:solidFill>
                  <a:srgbClr val="14202E"/>
                </a:solidFill>
                <a:latin typeface="Cambria"/>
              </a:rPr>
              <a:t>P</a:t>
            </a:r>
            <a:r>
              <a:rPr sz="1650" b="0" i="1" baseline="30000">
                <a:solidFill>
                  <a:srgbClr val="14202E"/>
                </a:solidFill>
                <a:latin typeface="Cambria"/>
              </a:rPr>
              <a:t>k</a:t>
            </a:r>
            <a:r>
              <a:rPr sz="1650" b="0" i="1" baseline="-25000">
                <a:solidFill>
                  <a:srgbClr val="14202E"/>
                </a:solidFill>
                <a:latin typeface="Cambria"/>
              </a:rPr>
              <a:t>TA</a:t>
            </a:r>
            <a:r>
              <a:rPr sz="1650" b="0" i="0">
                <a:solidFill>
                  <a:srgbClr val="14202E"/>
                </a:solidFill>
                <a:latin typeface="Cambria"/>
              </a:rPr>
              <a:t> = </a:t>
            </a:r>
            <a:r>
              <a:rPr sz="1650" b="0" i="1">
                <a:solidFill>
                  <a:srgbClr val="14202E"/>
                </a:solidFill>
                <a:latin typeface="Cambria"/>
              </a:rPr>
              <a:t>sP</a:t>
            </a:r>
          </a:p>
          <a:p>
            <a:pPr algn="l">
              <a:spcBef>
                <a:spcPts val="0"/>
              </a:spcBef>
              <a:spcAft>
                <a:spcPts val="0"/>
              </a:spcAft>
            </a:pPr>
            <a:r>
              <a:rPr sz="1650" b="0" i="1">
                <a:solidFill>
                  <a:srgbClr val="14202E"/>
                </a:solidFill>
                <a:latin typeface="Cambria"/>
              </a:rPr>
              <a:t>Params</a:t>
            </a:r>
            <a:r>
              <a:rPr sz="1650" b="0" i="0">
                <a:solidFill>
                  <a:srgbClr val="14202E"/>
                </a:solidFill>
                <a:latin typeface="Cambria"/>
              </a:rPr>
              <a:t> = (</a:t>
            </a:r>
            <a:r>
              <a:rPr sz="1650" b="0" i="1">
                <a:solidFill>
                  <a:srgbClr val="14202E"/>
                </a:solidFill>
                <a:latin typeface="Cambria"/>
              </a:rPr>
              <a:t>G</a:t>
            </a:r>
            <a:r>
              <a:rPr sz="1650" b="0" i="0">
                <a:solidFill>
                  <a:srgbClr val="14202E"/>
                </a:solidFill>
                <a:latin typeface="Cambria"/>
              </a:rPr>
              <a:t>, </a:t>
            </a:r>
            <a:r>
              <a:rPr sz="1650" b="0" i="1">
                <a:solidFill>
                  <a:srgbClr val="14202E"/>
                </a:solidFill>
                <a:latin typeface="Cambria"/>
              </a:rPr>
              <a:t>p</a:t>
            </a:r>
            <a:r>
              <a:rPr sz="1650" b="0" i="0">
                <a:solidFill>
                  <a:srgbClr val="14202E"/>
                </a:solidFill>
                <a:latin typeface="Cambria"/>
              </a:rPr>
              <a:t>, </a:t>
            </a:r>
            <a:r>
              <a:rPr sz="1650" b="0" i="1">
                <a:solidFill>
                  <a:srgbClr val="14202E"/>
                </a:solidFill>
                <a:latin typeface="Cambria"/>
              </a:rPr>
              <a:t>P</a:t>
            </a:r>
            <a:r>
              <a:rPr sz="1650" b="0" i="0">
                <a:solidFill>
                  <a:srgbClr val="14202E"/>
                </a:solidFill>
                <a:latin typeface="Cambria"/>
              </a:rPr>
              <a:t>, </a:t>
            </a:r>
            <a:r>
              <a:rPr sz="1650" b="0" i="1">
                <a:solidFill>
                  <a:srgbClr val="14202E"/>
                </a:solidFill>
                <a:latin typeface="Cambria"/>
              </a:rPr>
              <a:t>H</a:t>
            </a:r>
            <a:r>
              <a:rPr sz="1650" b="0" i="0" baseline="-25000">
                <a:solidFill>
                  <a:srgbClr val="14202E"/>
                </a:solidFill>
                <a:latin typeface="Cambria"/>
              </a:rPr>
              <a:t>0</a:t>
            </a:r>
            <a:r>
              <a:rPr sz="1650" b="0" i="0">
                <a:solidFill>
                  <a:srgbClr val="14202E"/>
                </a:solidFill>
                <a:latin typeface="Cambria"/>
              </a:rPr>
              <a:t>, </a:t>
            </a:r>
            <a:r>
              <a:rPr sz="1650" b="0" i="1">
                <a:solidFill>
                  <a:srgbClr val="14202E"/>
                </a:solidFill>
                <a:latin typeface="Cambria"/>
              </a:rPr>
              <a:t>H</a:t>
            </a:r>
            <a:r>
              <a:rPr sz="1650" b="0" i="0" baseline="-25000">
                <a:solidFill>
                  <a:srgbClr val="14202E"/>
                </a:solidFill>
                <a:latin typeface="Cambria"/>
              </a:rPr>
              <a:t>1</a:t>
            </a:r>
            <a:r>
              <a:rPr sz="1650" b="0" i="0">
                <a:solidFill>
                  <a:srgbClr val="14202E"/>
                </a:solidFill>
                <a:latin typeface="Cambria"/>
              </a:rPr>
              <a:t>, </a:t>
            </a:r>
            <a:r>
              <a:rPr sz="1650" b="0" i="1">
                <a:solidFill>
                  <a:srgbClr val="14202E"/>
                </a:solidFill>
                <a:latin typeface="Cambria"/>
              </a:rPr>
              <a:t>P</a:t>
            </a:r>
            <a:r>
              <a:rPr sz="1650" b="0" i="1" baseline="30000">
                <a:solidFill>
                  <a:srgbClr val="14202E"/>
                </a:solidFill>
                <a:latin typeface="Cambria"/>
              </a:rPr>
              <a:t>k</a:t>
            </a:r>
            <a:r>
              <a:rPr sz="1650" b="0" i="1" baseline="-25000">
                <a:solidFill>
                  <a:srgbClr val="14202E"/>
                </a:solidFill>
                <a:latin typeface="Cambria"/>
              </a:rPr>
              <a:t>TA</a:t>
            </a:r>
            <a:r>
              <a:rPr sz="1650" b="0" i="0">
                <a:solidFill>
                  <a:srgbClr val="14202E"/>
                </a:solidFill>
                <a:latin typeface="Cambria"/>
              </a:rPr>
              <a:t>, Δ)</a:t>
            </a:r>
          </a:p>
        </p:txBody>
      </p:sp>
      <p:cxnSp>
        <p:nvCxnSpPr>
          <p:cNvPr id="15" name="Connector 14"/>
          <p:cNvCxnSpPr/>
          <p:nvPr/>
        </p:nvCxnSpPr>
        <p:spPr>
          <a:xfrm>
            <a:off x="548640" y="2606040"/>
            <a:ext cx="11091672" cy="0"/>
          </a:xfrm>
          <a:prstGeom prst="line">
            <a:avLst/>
          </a:prstGeom>
          <a:ln w="12700">
            <a:solidFill>
              <a:srgbClr val="D3D9E1"/>
            </a:solidFill>
          </a:ln>
        </p:spPr>
      </p:cxnSp>
      <p:sp>
        <p:nvSpPr>
          <p:cNvPr id="16" name="TextBox 15"/>
          <p:cNvSpPr txBox="1"/>
          <p:nvPr/>
        </p:nvSpPr>
        <p:spPr>
          <a:xfrm>
            <a:off x="640080" y="2606040"/>
            <a:ext cx="1417320" cy="457200"/>
          </a:xfrm>
          <a:prstGeom prst="rect">
            <a:avLst/>
          </a:prstGeom>
          <a:noFill/>
        </p:spPr>
        <p:txBody>
          <a:bodyPr wrap="square" lIns="0" rIns="0" tIns="0" bIns="0" anchor="ctr">
            <a:spAutoFit/>
          </a:bodyPr>
          <a:lstStyle/>
          <a:p>
            <a:pPr algn="l">
              <a:spcBef>
                <a:spcPts val="0"/>
              </a:spcBef>
              <a:spcAft>
                <a:spcPts val="0"/>
              </a:spcAft>
            </a:pPr>
            <a:r>
              <a:rPr sz="1650" b="1" i="0">
                <a:solidFill>
                  <a:srgbClr val="14202E"/>
                </a:solidFill>
                <a:latin typeface="Calibri"/>
              </a:rPr>
              <a:t>KeyGen</a:t>
            </a:r>
          </a:p>
        </p:txBody>
      </p:sp>
      <p:sp>
        <p:nvSpPr>
          <p:cNvPr id="17" name="TextBox 16"/>
          <p:cNvSpPr txBox="1"/>
          <p:nvPr/>
        </p:nvSpPr>
        <p:spPr>
          <a:xfrm>
            <a:off x="2240280" y="2606040"/>
            <a:ext cx="9308592" cy="457200"/>
          </a:xfrm>
          <a:prstGeom prst="rect">
            <a:avLst/>
          </a:prstGeom>
          <a:noFill/>
        </p:spPr>
        <p:txBody>
          <a:bodyPr wrap="square" lIns="0" rIns="0" tIns="0" bIns="0" anchor="ctr">
            <a:spAutoFit/>
          </a:bodyPr>
          <a:lstStyle/>
          <a:p>
            <a:pPr algn="l">
              <a:spcBef>
                <a:spcPts val="0"/>
              </a:spcBef>
              <a:spcAft>
                <a:spcPts val="0"/>
              </a:spcAft>
            </a:pPr>
            <a:r>
              <a:rPr sz="1650" b="0" i="1">
                <a:solidFill>
                  <a:srgbClr val="14202E"/>
                </a:solidFill>
                <a:latin typeface="Cambria"/>
              </a:rPr>
              <a:t>s</a:t>
            </a:r>
            <a:r>
              <a:rPr sz="1650" b="0" i="1" baseline="-25000">
                <a:solidFill>
                  <a:srgbClr val="14202E"/>
                </a:solidFill>
                <a:latin typeface="Cambria"/>
              </a:rPr>
              <a:t>i</a:t>
            </a:r>
            <a:r>
              <a:rPr sz="1650" b="0" i="0">
                <a:solidFill>
                  <a:srgbClr val="14202E"/>
                </a:solidFill>
                <a:latin typeface="Cambria"/>
              </a:rPr>
              <a:t> ←</a:t>
            </a:r>
            <a:r>
              <a:rPr sz="1650" b="0" i="1" baseline="-25000">
                <a:solidFill>
                  <a:srgbClr val="14202E"/>
                </a:solidFill>
                <a:latin typeface="Cambria"/>
              </a:rPr>
              <a:t>R</a:t>
            </a:r>
            <a:r>
              <a:rPr sz="1650" b="0" i="0">
                <a:solidFill>
                  <a:srgbClr val="14202E"/>
                </a:solidFill>
                <a:latin typeface="Cambria"/>
              </a:rPr>
              <a:t> </a:t>
            </a:r>
            <a:r>
              <a:rPr sz="1650" b="0" i="1">
                <a:solidFill>
                  <a:srgbClr val="14202E"/>
                </a:solidFill>
                <a:latin typeface="Cambria"/>
              </a:rPr>
              <a:t>Z</a:t>
            </a:r>
            <a:r>
              <a:rPr sz="1650" b="0" i="0" baseline="30000">
                <a:solidFill>
                  <a:srgbClr val="14202E"/>
                </a:solidFill>
                <a:latin typeface="Cambria"/>
              </a:rPr>
              <a:t>*</a:t>
            </a:r>
            <a:r>
              <a:rPr sz="1650" b="0" i="1" baseline="-25000">
                <a:solidFill>
                  <a:srgbClr val="14202E"/>
                </a:solidFill>
                <a:latin typeface="Cambria"/>
              </a:rPr>
              <a:t>p</a:t>
            </a:r>
            <a:r>
              <a:rPr sz="1650" b="0" i="0">
                <a:solidFill>
                  <a:srgbClr val="14202E"/>
                </a:solidFill>
                <a:latin typeface="Calibri"/>
              </a:rPr>
              <a:t>,  </a:t>
            </a:r>
            <a:r>
              <a:rPr sz="1650" b="0" i="1">
                <a:solidFill>
                  <a:srgbClr val="14202E"/>
                </a:solidFill>
                <a:latin typeface="Cambria"/>
              </a:rPr>
              <a:t>sk</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s</a:t>
            </a:r>
            <a:r>
              <a:rPr sz="1650" b="0" i="1" baseline="-25000">
                <a:solidFill>
                  <a:srgbClr val="14202E"/>
                </a:solidFill>
                <a:latin typeface="Cambria"/>
              </a:rPr>
              <a:t>i</a:t>
            </a:r>
            <a:r>
              <a:rPr sz="1650" b="0" i="0">
                <a:solidFill>
                  <a:srgbClr val="14202E"/>
                </a:solidFill>
                <a:latin typeface="Calibri"/>
              </a:rPr>
              <a:t>,  </a:t>
            </a:r>
            <a:r>
              <a:rPr sz="1650" b="0" i="1">
                <a:solidFill>
                  <a:srgbClr val="14202E"/>
                </a:solidFill>
                <a:latin typeface="Cambria"/>
              </a:rPr>
              <a:t>pk</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s</a:t>
            </a:r>
            <a:r>
              <a:rPr sz="1650" b="0" i="1" baseline="-25000">
                <a:solidFill>
                  <a:srgbClr val="14202E"/>
                </a:solidFill>
                <a:latin typeface="Cambria"/>
              </a:rPr>
              <a:t>i</a:t>
            </a:r>
            <a:r>
              <a:rPr sz="1650" b="0" i="1">
                <a:solidFill>
                  <a:srgbClr val="14202E"/>
                </a:solidFill>
                <a:latin typeface="Cambria"/>
              </a:rPr>
              <a:t>P</a:t>
            </a:r>
          </a:p>
        </p:txBody>
      </p:sp>
      <p:cxnSp>
        <p:nvCxnSpPr>
          <p:cNvPr id="18" name="Connector 17"/>
          <p:cNvCxnSpPr/>
          <p:nvPr/>
        </p:nvCxnSpPr>
        <p:spPr>
          <a:xfrm>
            <a:off x="548640" y="3063240"/>
            <a:ext cx="11091672" cy="0"/>
          </a:xfrm>
          <a:prstGeom prst="line">
            <a:avLst/>
          </a:prstGeom>
          <a:ln w="12700">
            <a:solidFill>
              <a:srgbClr val="D3D9E1"/>
            </a:solidFill>
          </a:ln>
        </p:spPr>
      </p:cxnSp>
      <p:sp>
        <p:nvSpPr>
          <p:cNvPr id="19" name="TextBox 18"/>
          <p:cNvSpPr txBox="1"/>
          <p:nvPr/>
        </p:nvSpPr>
        <p:spPr>
          <a:xfrm>
            <a:off x="640080" y="3063240"/>
            <a:ext cx="1417320" cy="822960"/>
          </a:xfrm>
          <a:prstGeom prst="rect">
            <a:avLst/>
          </a:prstGeom>
          <a:noFill/>
        </p:spPr>
        <p:txBody>
          <a:bodyPr wrap="square" lIns="0" rIns="0" tIns="0" bIns="0" anchor="ctr">
            <a:spAutoFit/>
          </a:bodyPr>
          <a:lstStyle/>
          <a:p>
            <a:pPr algn="l">
              <a:spcBef>
                <a:spcPts val="0"/>
              </a:spcBef>
              <a:spcAft>
                <a:spcPts val="0"/>
              </a:spcAft>
            </a:pPr>
            <a:r>
              <a:rPr sz="1650" b="1" i="0">
                <a:solidFill>
                  <a:srgbClr val="14202E"/>
                </a:solidFill>
                <a:latin typeface="Calibri"/>
              </a:rPr>
              <a:t>CertGen</a:t>
            </a:r>
          </a:p>
        </p:txBody>
      </p:sp>
      <p:sp>
        <p:nvSpPr>
          <p:cNvPr id="20" name="TextBox 19"/>
          <p:cNvSpPr txBox="1"/>
          <p:nvPr/>
        </p:nvSpPr>
        <p:spPr>
          <a:xfrm>
            <a:off x="2240280" y="3063240"/>
            <a:ext cx="9308592" cy="822960"/>
          </a:xfrm>
          <a:prstGeom prst="rect">
            <a:avLst/>
          </a:prstGeom>
          <a:noFill/>
        </p:spPr>
        <p:txBody>
          <a:bodyPr wrap="square" lIns="0" rIns="0" tIns="0" bIns="0" anchor="ctr">
            <a:spAutoFit/>
          </a:bodyPr>
          <a:lstStyle/>
          <a:p>
            <a:pPr algn="l">
              <a:spcBef>
                <a:spcPts val="0"/>
              </a:spcBef>
              <a:spcAft>
                <a:spcPts val="0"/>
              </a:spcAft>
            </a:pPr>
            <a:r>
              <a:rPr sz="1650" b="0" i="1">
                <a:solidFill>
                  <a:srgbClr val="14202E"/>
                </a:solidFill>
                <a:latin typeface="Cambria"/>
              </a:rPr>
              <a:t>r</a:t>
            </a:r>
            <a:r>
              <a:rPr sz="1650" b="0" i="0" baseline="-25000">
                <a:solidFill>
                  <a:srgbClr val="14202E"/>
                </a:solidFill>
                <a:latin typeface="Cambria"/>
              </a:rPr>
              <a:t>1</a:t>
            </a:r>
            <a:r>
              <a:rPr sz="1650" b="0" i="1" baseline="-25000">
                <a:solidFill>
                  <a:srgbClr val="14202E"/>
                </a:solidFill>
                <a:latin typeface="Cambria"/>
              </a:rPr>
              <a:t>i</a:t>
            </a:r>
            <a:r>
              <a:rPr sz="1650" b="0" i="0">
                <a:solidFill>
                  <a:srgbClr val="14202E"/>
                </a:solidFill>
                <a:latin typeface="Cambria"/>
              </a:rPr>
              <a:t> ←</a:t>
            </a:r>
            <a:r>
              <a:rPr sz="1650" b="0" i="1" baseline="-25000">
                <a:solidFill>
                  <a:srgbClr val="14202E"/>
                </a:solidFill>
                <a:latin typeface="Cambria"/>
              </a:rPr>
              <a:t>R</a:t>
            </a:r>
            <a:r>
              <a:rPr sz="1650" b="0" i="0">
                <a:solidFill>
                  <a:srgbClr val="14202E"/>
                </a:solidFill>
                <a:latin typeface="Cambria"/>
              </a:rPr>
              <a:t> </a:t>
            </a:r>
            <a:r>
              <a:rPr sz="1650" b="0" i="1">
                <a:solidFill>
                  <a:srgbClr val="14202E"/>
                </a:solidFill>
                <a:latin typeface="Cambria"/>
              </a:rPr>
              <a:t>Z</a:t>
            </a:r>
            <a:r>
              <a:rPr sz="1650" b="0" i="0" baseline="30000">
                <a:solidFill>
                  <a:srgbClr val="14202E"/>
                </a:solidFill>
                <a:latin typeface="Cambria"/>
              </a:rPr>
              <a:t>*</a:t>
            </a:r>
            <a:r>
              <a:rPr sz="1650" b="0" i="1" baseline="-25000">
                <a:solidFill>
                  <a:srgbClr val="14202E"/>
                </a:solidFill>
                <a:latin typeface="Cambria"/>
              </a:rPr>
              <a:t>p</a:t>
            </a:r>
            <a:r>
              <a:rPr sz="1650" b="0" i="0">
                <a:solidFill>
                  <a:srgbClr val="14202E"/>
                </a:solidFill>
                <a:latin typeface="Calibri"/>
              </a:rPr>
              <a:t>,  </a:t>
            </a:r>
            <a:r>
              <a:rPr sz="1650" b="0" i="1">
                <a:solidFill>
                  <a:srgbClr val="14202E"/>
                </a:solidFill>
                <a:latin typeface="Cambria"/>
              </a:rPr>
              <a:t>R</a:t>
            </a:r>
            <a:r>
              <a:rPr sz="1650" b="0" i="0" baseline="-25000">
                <a:solidFill>
                  <a:srgbClr val="14202E"/>
                </a:solidFill>
                <a:latin typeface="Cambria"/>
              </a:rPr>
              <a:t>1</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r</a:t>
            </a:r>
            <a:r>
              <a:rPr sz="1650" b="0" i="0" baseline="-25000">
                <a:solidFill>
                  <a:srgbClr val="14202E"/>
                </a:solidFill>
                <a:latin typeface="Cambria"/>
              </a:rPr>
              <a:t>1</a:t>
            </a:r>
            <a:r>
              <a:rPr sz="1650" b="0" i="1" baseline="-25000">
                <a:solidFill>
                  <a:srgbClr val="14202E"/>
                </a:solidFill>
                <a:latin typeface="Cambria"/>
              </a:rPr>
              <a:t>i</a:t>
            </a:r>
            <a:r>
              <a:rPr sz="1650" b="0" i="1">
                <a:solidFill>
                  <a:srgbClr val="14202E"/>
                </a:solidFill>
                <a:latin typeface="Cambria"/>
              </a:rPr>
              <a:t>P</a:t>
            </a:r>
            <a:r>
              <a:rPr sz="1650" b="0" i="0">
                <a:solidFill>
                  <a:srgbClr val="14202E"/>
                </a:solidFill>
                <a:latin typeface="Calibri"/>
              </a:rPr>
              <a:t>,  </a:t>
            </a:r>
            <a:r>
              <a:rPr sz="1650" b="0" i="1">
                <a:solidFill>
                  <a:srgbClr val="14202E"/>
                </a:solidFill>
                <a:latin typeface="Cambria"/>
              </a:rPr>
              <a:t>c</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r</a:t>
            </a:r>
            <a:r>
              <a:rPr sz="1650" b="0" i="0" baseline="-25000">
                <a:solidFill>
                  <a:srgbClr val="14202E"/>
                </a:solidFill>
                <a:latin typeface="Cambria"/>
              </a:rPr>
              <a:t>1</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s</a:t>
            </a:r>
            <a:r>
              <a:rPr sz="1650" b="0" i="1" baseline="30000">
                <a:solidFill>
                  <a:srgbClr val="14202E"/>
                </a:solidFill>
                <a:latin typeface="Cambria"/>
              </a:rPr>
              <a:t>k</a:t>
            </a:r>
            <a:r>
              <a:rPr sz="1650" b="0" i="1" baseline="-25000">
                <a:solidFill>
                  <a:srgbClr val="14202E"/>
                </a:solidFill>
                <a:latin typeface="Cambria"/>
              </a:rPr>
              <a:t>TA</a:t>
            </a:r>
            <a:r>
              <a:rPr sz="1650" b="0" i="1">
                <a:solidFill>
                  <a:srgbClr val="14202E"/>
                </a:solidFill>
                <a:latin typeface="Cambria"/>
              </a:rPr>
              <a:t>H</a:t>
            </a:r>
            <a:r>
              <a:rPr sz="1650" b="0" i="0" baseline="-25000">
                <a:solidFill>
                  <a:srgbClr val="14202E"/>
                </a:solidFill>
                <a:latin typeface="Cambria"/>
              </a:rPr>
              <a:t>0</a:t>
            </a:r>
            <a:r>
              <a:rPr sz="1650" b="0" i="0">
                <a:solidFill>
                  <a:srgbClr val="14202E"/>
                </a:solidFill>
                <a:latin typeface="Cambria"/>
              </a:rPr>
              <a:t>(</a:t>
            </a:r>
            <a:r>
              <a:rPr sz="1650" b="0" i="1">
                <a:solidFill>
                  <a:srgbClr val="14202E"/>
                </a:solidFill>
                <a:latin typeface="Cambria"/>
              </a:rPr>
              <a:t>id</a:t>
            </a:r>
            <a:r>
              <a:rPr sz="1650" b="0" i="1" baseline="-25000">
                <a:solidFill>
                  <a:srgbClr val="14202E"/>
                </a:solidFill>
                <a:latin typeface="Cambria"/>
              </a:rPr>
              <a:t>i</a:t>
            </a:r>
            <a:r>
              <a:rPr sz="1650" b="0" i="0">
                <a:solidFill>
                  <a:srgbClr val="14202E"/>
                </a:solidFill>
                <a:latin typeface="Cambria"/>
              </a:rPr>
              <a:t>‖</a:t>
            </a:r>
            <a:r>
              <a:rPr sz="1650" b="0" i="1">
                <a:solidFill>
                  <a:srgbClr val="14202E"/>
                </a:solidFill>
                <a:latin typeface="Cambria"/>
              </a:rPr>
              <a:t>pk</a:t>
            </a:r>
            <a:r>
              <a:rPr sz="1650" b="0" i="1" baseline="-25000">
                <a:solidFill>
                  <a:srgbClr val="14202E"/>
                </a:solidFill>
                <a:latin typeface="Cambria"/>
              </a:rPr>
              <a:t>i</a:t>
            </a:r>
            <a:r>
              <a:rPr sz="1650" b="0" i="0">
                <a:solidFill>
                  <a:srgbClr val="14202E"/>
                </a:solidFill>
                <a:latin typeface="Cambria"/>
              </a:rPr>
              <a:t>)</a:t>
            </a:r>
          </a:p>
          <a:p>
            <a:pPr algn="l">
              <a:spcBef>
                <a:spcPts val="0"/>
              </a:spcBef>
              <a:spcAft>
                <a:spcPts val="0"/>
              </a:spcAft>
            </a:pPr>
            <a:r>
              <a:rPr sz="1650" b="0" i="1">
                <a:solidFill>
                  <a:srgbClr val="14202E"/>
                </a:solidFill>
                <a:latin typeface="Cambria"/>
              </a:rPr>
              <a:t>Cert</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R</a:t>
            </a:r>
            <a:r>
              <a:rPr sz="1650" b="0" i="0" baseline="-25000">
                <a:solidFill>
                  <a:srgbClr val="14202E"/>
                </a:solidFill>
                <a:latin typeface="Cambria"/>
              </a:rPr>
              <a:t>1</a:t>
            </a:r>
            <a:r>
              <a:rPr sz="1650" b="0" i="1" baseline="-25000">
                <a:solidFill>
                  <a:srgbClr val="14202E"/>
                </a:solidFill>
                <a:latin typeface="Cambria"/>
              </a:rPr>
              <a:t>i</a:t>
            </a:r>
            <a:r>
              <a:rPr sz="1650" b="0" i="0">
                <a:solidFill>
                  <a:srgbClr val="14202E"/>
                </a:solidFill>
                <a:latin typeface="Cambria"/>
              </a:rPr>
              <a:t>, </a:t>
            </a:r>
            <a:r>
              <a:rPr sz="1650" b="0" i="1">
                <a:solidFill>
                  <a:srgbClr val="14202E"/>
                </a:solidFill>
                <a:latin typeface="Cambria"/>
              </a:rPr>
              <a:t>c</a:t>
            </a:r>
            <a:r>
              <a:rPr sz="1650" b="0" i="1" baseline="-25000">
                <a:solidFill>
                  <a:srgbClr val="14202E"/>
                </a:solidFill>
                <a:latin typeface="Cambria"/>
              </a:rPr>
              <a:t>i</a:t>
            </a:r>
            <a:r>
              <a:rPr sz="1650" b="0" i="0">
                <a:solidFill>
                  <a:srgbClr val="14202E"/>
                </a:solidFill>
                <a:latin typeface="Cambria"/>
              </a:rPr>
              <a:t>)</a:t>
            </a:r>
            <a:r>
              <a:rPr sz="1650" b="0" i="0">
                <a:solidFill>
                  <a:srgbClr val="14202E"/>
                </a:solidFill>
                <a:latin typeface="Calibri"/>
              </a:rPr>
              <a:t>,  checked by </a:t>
            </a:r>
            <a:r>
              <a:rPr sz="1650" b="0" i="1">
                <a:solidFill>
                  <a:srgbClr val="14202E"/>
                </a:solidFill>
                <a:latin typeface="Cambria"/>
              </a:rPr>
              <a:t>c</a:t>
            </a:r>
            <a:r>
              <a:rPr sz="1650" b="0" i="1" baseline="-25000">
                <a:solidFill>
                  <a:srgbClr val="14202E"/>
                </a:solidFill>
                <a:latin typeface="Cambria"/>
              </a:rPr>
              <a:t>i</a:t>
            </a:r>
            <a:r>
              <a:rPr sz="1650" b="0" i="1">
                <a:solidFill>
                  <a:srgbClr val="14202E"/>
                </a:solidFill>
                <a:latin typeface="Cambria"/>
              </a:rPr>
              <a:t>P</a:t>
            </a:r>
            <a:r>
              <a:rPr sz="1650" b="0" i="0">
                <a:solidFill>
                  <a:srgbClr val="14202E"/>
                </a:solidFill>
                <a:latin typeface="Cambria"/>
              </a:rPr>
              <a:t> = </a:t>
            </a:r>
            <a:r>
              <a:rPr sz="1650" b="0" i="1">
                <a:solidFill>
                  <a:srgbClr val="14202E"/>
                </a:solidFill>
                <a:latin typeface="Cambria"/>
              </a:rPr>
              <a:t>R</a:t>
            </a:r>
            <a:r>
              <a:rPr sz="1650" b="0" i="0" baseline="-25000">
                <a:solidFill>
                  <a:srgbClr val="14202E"/>
                </a:solidFill>
                <a:latin typeface="Cambria"/>
              </a:rPr>
              <a:t>1</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H</a:t>
            </a:r>
            <a:r>
              <a:rPr sz="1650" b="0" i="0" baseline="-25000">
                <a:solidFill>
                  <a:srgbClr val="14202E"/>
                </a:solidFill>
                <a:latin typeface="Cambria"/>
              </a:rPr>
              <a:t>0</a:t>
            </a:r>
            <a:r>
              <a:rPr sz="1650" b="0" i="0">
                <a:solidFill>
                  <a:srgbClr val="14202E"/>
                </a:solidFill>
                <a:latin typeface="Cambria"/>
              </a:rPr>
              <a:t>(</a:t>
            </a:r>
            <a:r>
              <a:rPr sz="1650" b="0" i="1">
                <a:solidFill>
                  <a:srgbClr val="14202E"/>
                </a:solidFill>
                <a:latin typeface="Cambria"/>
              </a:rPr>
              <a:t>id</a:t>
            </a:r>
            <a:r>
              <a:rPr sz="1650" b="0" i="1" baseline="-25000">
                <a:solidFill>
                  <a:srgbClr val="14202E"/>
                </a:solidFill>
                <a:latin typeface="Cambria"/>
              </a:rPr>
              <a:t>i</a:t>
            </a:r>
            <a:r>
              <a:rPr sz="1650" b="0" i="0">
                <a:solidFill>
                  <a:srgbClr val="14202E"/>
                </a:solidFill>
                <a:latin typeface="Cambria"/>
              </a:rPr>
              <a:t>‖</a:t>
            </a:r>
            <a:r>
              <a:rPr sz="1650" b="0" i="1">
                <a:solidFill>
                  <a:srgbClr val="14202E"/>
                </a:solidFill>
                <a:latin typeface="Cambria"/>
              </a:rPr>
              <a:t>pk</a:t>
            </a:r>
            <a:r>
              <a:rPr sz="1650" b="0" i="1" baseline="-25000">
                <a:solidFill>
                  <a:srgbClr val="14202E"/>
                </a:solidFill>
                <a:latin typeface="Cambria"/>
              </a:rPr>
              <a:t>i</a:t>
            </a:r>
            <a:r>
              <a:rPr sz="1650" b="0" i="0">
                <a:solidFill>
                  <a:srgbClr val="14202E"/>
                </a:solidFill>
                <a:latin typeface="Cambria"/>
              </a:rPr>
              <a:t>)</a:t>
            </a:r>
            <a:r>
              <a:rPr sz="1650" b="0" i="1">
                <a:solidFill>
                  <a:srgbClr val="14202E"/>
                </a:solidFill>
                <a:latin typeface="Cambria"/>
              </a:rPr>
              <a:t>P</a:t>
            </a:r>
            <a:r>
              <a:rPr sz="1650" b="0" i="1" baseline="30000">
                <a:solidFill>
                  <a:srgbClr val="14202E"/>
                </a:solidFill>
                <a:latin typeface="Cambria"/>
              </a:rPr>
              <a:t>k</a:t>
            </a:r>
            <a:r>
              <a:rPr sz="1650" b="0" i="1" baseline="-25000">
                <a:solidFill>
                  <a:srgbClr val="14202E"/>
                </a:solidFill>
                <a:latin typeface="Cambria"/>
              </a:rPr>
              <a:t>TA</a:t>
            </a:r>
          </a:p>
        </p:txBody>
      </p:sp>
      <p:cxnSp>
        <p:nvCxnSpPr>
          <p:cNvPr id="21" name="Connector 20"/>
          <p:cNvCxnSpPr/>
          <p:nvPr/>
        </p:nvCxnSpPr>
        <p:spPr>
          <a:xfrm>
            <a:off x="548640" y="3886200"/>
            <a:ext cx="11091672" cy="0"/>
          </a:xfrm>
          <a:prstGeom prst="line">
            <a:avLst/>
          </a:prstGeom>
          <a:ln w="12700">
            <a:solidFill>
              <a:srgbClr val="D3D9E1"/>
            </a:solidFill>
          </a:ln>
        </p:spPr>
      </p:cxnSp>
      <p:sp>
        <p:nvSpPr>
          <p:cNvPr id="22" name="TextBox 21"/>
          <p:cNvSpPr txBox="1"/>
          <p:nvPr/>
        </p:nvSpPr>
        <p:spPr>
          <a:xfrm>
            <a:off x="640080" y="3886200"/>
            <a:ext cx="1417320" cy="822960"/>
          </a:xfrm>
          <a:prstGeom prst="rect">
            <a:avLst/>
          </a:prstGeom>
          <a:noFill/>
        </p:spPr>
        <p:txBody>
          <a:bodyPr wrap="square" lIns="0" rIns="0" tIns="0" bIns="0" anchor="ctr">
            <a:spAutoFit/>
          </a:bodyPr>
          <a:lstStyle/>
          <a:p>
            <a:pPr algn="l">
              <a:spcBef>
                <a:spcPts val="0"/>
              </a:spcBef>
              <a:spcAft>
                <a:spcPts val="0"/>
              </a:spcAft>
            </a:pPr>
            <a:r>
              <a:rPr sz="1650" b="1" i="0">
                <a:solidFill>
                  <a:srgbClr val="14202E"/>
                </a:solidFill>
                <a:latin typeface="Calibri"/>
              </a:rPr>
              <a:t>Sign</a:t>
            </a:r>
          </a:p>
        </p:txBody>
      </p:sp>
      <p:sp>
        <p:nvSpPr>
          <p:cNvPr id="23" name="TextBox 22"/>
          <p:cNvSpPr txBox="1"/>
          <p:nvPr/>
        </p:nvSpPr>
        <p:spPr>
          <a:xfrm>
            <a:off x="2240280" y="3886200"/>
            <a:ext cx="9308592" cy="822960"/>
          </a:xfrm>
          <a:prstGeom prst="rect">
            <a:avLst/>
          </a:prstGeom>
          <a:noFill/>
        </p:spPr>
        <p:txBody>
          <a:bodyPr wrap="square" lIns="0" rIns="0" tIns="0" bIns="0" anchor="ctr">
            <a:spAutoFit/>
          </a:bodyPr>
          <a:lstStyle/>
          <a:p>
            <a:pPr algn="l">
              <a:spcBef>
                <a:spcPts val="0"/>
              </a:spcBef>
              <a:spcAft>
                <a:spcPts val="0"/>
              </a:spcAft>
            </a:pPr>
            <a:r>
              <a:rPr sz="1650" b="0" i="1">
                <a:solidFill>
                  <a:srgbClr val="14202E"/>
                </a:solidFill>
                <a:latin typeface="Cambria"/>
              </a:rPr>
              <a:t>r</a:t>
            </a:r>
            <a:r>
              <a:rPr sz="1650" b="0" i="0" baseline="-25000">
                <a:solidFill>
                  <a:srgbClr val="14202E"/>
                </a:solidFill>
                <a:latin typeface="Cambria"/>
              </a:rPr>
              <a:t>2</a:t>
            </a:r>
            <a:r>
              <a:rPr sz="1650" b="0" i="1" baseline="-25000">
                <a:solidFill>
                  <a:srgbClr val="14202E"/>
                </a:solidFill>
                <a:latin typeface="Cambria"/>
              </a:rPr>
              <a:t>i</a:t>
            </a:r>
            <a:r>
              <a:rPr sz="1650" b="0" i="0">
                <a:solidFill>
                  <a:srgbClr val="14202E"/>
                </a:solidFill>
                <a:latin typeface="Cambria"/>
              </a:rPr>
              <a:t> ←</a:t>
            </a:r>
            <a:r>
              <a:rPr sz="1650" b="0" i="1" baseline="-25000">
                <a:solidFill>
                  <a:srgbClr val="14202E"/>
                </a:solidFill>
                <a:latin typeface="Cambria"/>
              </a:rPr>
              <a:t>R</a:t>
            </a:r>
            <a:r>
              <a:rPr sz="1650" b="0" i="0">
                <a:solidFill>
                  <a:srgbClr val="14202E"/>
                </a:solidFill>
                <a:latin typeface="Cambria"/>
              </a:rPr>
              <a:t> </a:t>
            </a:r>
            <a:r>
              <a:rPr sz="1650" b="0" i="1">
                <a:solidFill>
                  <a:srgbClr val="14202E"/>
                </a:solidFill>
                <a:latin typeface="Cambria"/>
              </a:rPr>
              <a:t>Z</a:t>
            </a:r>
            <a:r>
              <a:rPr sz="1650" b="0" i="0" baseline="30000">
                <a:solidFill>
                  <a:srgbClr val="14202E"/>
                </a:solidFill>
                <a:latin typeface="Cambria"/>
              </a:rPr>
              <a:t>*</a:t>
            </a:r>
            <a:r>
              <a:rPr sz="1650" b="0" i="1" baseline="-25000">
                <a:solidFill>
                  <a:srgbClr val="14202E"/>
                </a:solidFill>
                <a:latin typeface="Cambria"/>
              </a:rPr>
              <a:t>p</a:t>
            </a:r>
            <a:r>
              <a:rPr sz="1650" b="0" i="0">
                <a:solidFill>
                  <a:srgbClr val="14202E"/>
                </a:solidFill>
                <a:latin typeface="Calibri"/>
              </a:rPr>
              <a:t>,  </a:t>
            </a:r>
            <a:r>
              <a:rPr sz="1650" b="0" i="1">
                <a:solidFill>
                  <a:srgbClr val="14202E"/>
                </a:solidFill>
                <a:latin typeface="Cambria"/>
              </a:rPr>
              <a:t>R</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R</a:t>
            </a:r>
            <a:r>
              <a:rPr sz="1650" b="0" i="0" baseline="-25000">
                <a:solidFill>
                  <a:srgbClr val="14202E"/>
                </a:solidFill>
                <a:latin typeface="Cambria"/>
              </a:rPr>
              <a:t>1</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r</a:t>
            </a:r>
            <a:r>
              <a:rPr sz="1650" b="0" i="0" baseline="-25000">
                <a:solidFill>
                  <a:srgbClr val="14202E"/>
                </a:solidFill>
                <a:latin typeface="Cambria"/>
              </a:rPr>
              <a:t>2</a:t>
            </a:r>
            <a:r>
              <a:rPr sz="1650" b="0" i="1" baseline="-25000">
                <a:solidFill>
                  <a:srgbClr val="14202E"/>
                </a:solidFill>
                <a:latin typeface="Cambria"/>
              </a:rPr>
              <a:t>i</a:t>
            </a:r>
            <a:r>
              <a:rPr sz="1650" b="0" i="1">
                <a:solidFill>
                  <a:srgbClr val="14202E"/>
                </a:solidFill>
                <a:latin typeface="Cambria"/>
              </a:rPr>
              <a:t>P</a:t>
            </a:r>
            <a:r>
              <a:rPr sz="1650" b="0" i="0">
                <a:solidFill>
                  <a:srgbClr val="14202E"/>
                </a:solidFill>
                <a:latin typeface="Calibri"/>
              </a:rPr>
              <a:t>,  </a:t>
            </a:r>
            <a:r>
              <a:rPr sz="1650" b="0" i="1">
                <a:solidFill>
                  <a:srgbClr val="14202E"/>
                </a:solidFill>
                <a:latin typeface="Cambria"/>
              </a:rPr>
              <a:t>v</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H</a:t>
            </a:r>
            <a:r>
              <a:rPr sz="1650" b="0" i="0" baseline="-25000">
                <a:solidFill>
                  <a:srgbClr val="14202E"/>
                </a:solidFill>
                <a:latin typeface="Cambria"/>
              </a:rPr>
              <a:t>1</a:t>
            </a:r>
            <a:r>
              <a:rPr sz="1650" b="0" i="0">
                <a:solidFill>
                  <a:srgbClr val="14202E"/>
                </a:solidFill>
                <a:latin typeface="Cambria"/>
              </a:rPr>
              <a:t>(</a:t>
            </a:r>
            <a:r>
              <a:rPr sz="1650" b="0" i="1">
                <a:solidFill>
                  <a:srgbClr val="14202E"/>
                </a:solidFill>
                <a:latin typeface="Cambria"/>
              </a:rPr>
              <a:t>m</a:t>
            </a:r>
            <a:r>
              <a:rPr sz="1650" b="0" i="1" baseline="-25000">
                <a:solidFill>
                  <a:srgbClr val="14202E"/>
                </a:solidFill>
                <a:latin typeface="Cambria"/>
              </a:rPr>
              <a:t>i</a:t>
            </a:r>
            <a:r>
              <a:rPr sz="1650" b="0" i="0">
                <a:solidFill>
                  <a:srgbClr val="14202E"/>
                </a:solidFill>
                <a:latin typeface="Cambria"/>
              </a:rPr>
              <a:t>‖</a:t>
            </a:r>
            <a:r>
              <a:rPr sz="1650" b="0" i="1">
                <a:solidFill>
                  <a:srgbClr val="14202E"/>
                </a:solidFill>
                <a:latin typeface="Cambria"/>
              </a:rPr>
              <a:t>pk</a:t>
            </a:r>
            <a:r>
              <a:rPr sz="1650" b="0" i="1" baseline="-25000">
                <a:solidFill>
                  <a:srgbClr val="14202E"/>
                </a:solidFill>
                <a:latin typeface="Cambria"/>
              </a:rPr>
              <a:t>i</a:t>
            </a:r>
            <a:r>
              <a:rPr sz="1650" b="0" i="0">
                <a:solidFill>
                  <a:srgbClr val="14202E"/>
                </a:solidFill>
                <a:latin typeface="Cambria"/>
              </a:rPr>
              <a:t>‖</a:t>
            </a:r>
            <a:r>
              <a:rPr sz="1650" b="0" i="1">
                <a:solidFill>
                  <a:srgbClr val="14202E"/>
                </a:solidFill>
                <a:latin typeface="Cambria"/>
              </a:rPr>
              <a:t>id</a:t>
            </a:r>
            <a:r>
              <a:rPr sz="1650" b="0" i="1" baseline="-25000">
                <a:solidFill>
                  <a:srgbClr val="14202E"/>
                </a:solidFill>
                <a:latin typeface="Cambria"/>
              </a:rPr>
              <a:t>i</a:t>
            </a:r>
            <a:r>
              <a:rPr sz="1650" b="0" i="0">
                <a:solidFill>
                  <a:srgbClr val="14202E"/>
                </a:solidFill>
                <a:latin typeface="Cambria"/>
              </a:rPr>
              <a:t>‖Δ)</a:t>
            </a:r>
          </a:p>
          <a:p>
            <a:pPr algn="l">
              <a:spcBef>
                <a:spcPts val="0"/>
              </a:spcBef>
              <a:spcAft>
                <a:spcPts val="0"/>
              </a:spcAft>
            </a:pPr>
            <a:r>
              <a:rPr sz="1650" b="0" i="1">
                <a:solidFill>
                  <a:srgbClr val="14202E"/>
                </a:solidFill>
                <a:latin typeface="Cambria"/>
              </a:rPr>
              <a:t>z</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r</a:t>
            </a:r>
            <a:r>
              <a:rPr sz="1650" b="0" i="0" baseline="-25000">
                <a:solidFill>
                  <a:srgbClr val="14202E"/>
                </a:solidFill>
                <a:latin typeface="Cambria"/>
              </a:rPr>
              <a:t>2</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c</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sk</a:t>
            </a:r>
            <a:r>
              <a:rPr sz="1650" b="0" i="1" baseline="-25000">
                <a:solidFill>
                  <a:srgbClr val="14202E"/>
                </a:solidFill>
                <a:latin typeface="Cambria"/>
              </a:rPr>
              <a:t>i</a:t>
            </a:r>
            <a:r>
              <a:rPr sz="1650" b="0" i="1">
                <a:solidFill>
                  <a:srgbClr val="14202E"/>
                </a:solidFill>
                <a:latin typeface="Cambria"/>
              </a:rPr>
              <a:t>v</a:t>
            </a:r>
            <a:r>
              <a:rPr sz="1650" b="0" i="1" baseline="-25000">
                <a:solidFill>
                  <a:srgbClr val="14202E"/>
                </a:solidFill>
                <a:latin typeface="Cambria"/>
              </a:rPr>
              <a:t>i</a:t>
            </a:r>
            <a:r>
              <a:rPr sz="1650" b="0" i="0">
                <a:solidFill>
                  <a:srgbClr val="14202E"/>
                </a:solidFill>
                <a:latin typeface="Calibri"/>
              </a:rPr>
              <a:t>,  </a:t>
            </a:r>
            <a:r>
              <a:rPr sz="1650" b="0" i="1">
                <a:solidFill>
                  <a:srgbClr val="14202E"/>
                </a:solidFill>
                <a:latin typeface="Cambria"/>
              </a:rPr>
              <a:t>δ</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R</a:t>
            </a:r>
            <a:r>
              <a:rPr sz="1650" b="0" i="1" baseline="-25000">
                <a:solidFill>
                  <a:srgbClr val="14202E"/>
                </a:solidFill>
                <a:latin typeface="Cambria"/>
              </a:rPr>
              <a:t>i</a:t>
            </a:r>
            <a:r>
              <a:rPr sz="1650" b="0" i="0">
                <a:solidFill>
                  <a:srgbClr val="14202E"/>
                </a:solidFill>
                <a:latin typeface="Cambria"/>
              </a:rPr>
              <a:t>, </a:t>
            </a:r>
            <a:r>
              <a:rPr sz="1650" b="0" i="1">
                <a:solidFill>
                  <a:srgbClr val="14202E"/>
                </a:solidFill>
                <a:latin typeface="Cambria"/>
              </a:rPr>
              <a:t>z</a:t>
            </a:r>
            <a:r>
              <a:rPr sz="1650" b="0" i="1" baseline="-25000">
                <a:solidFill>
                  <a:srgbClr val="14202E"/>
                </a:solidFill>
                <a:latin typeface="Cambria"/>
              </a:rPr>
              <a:t>i</a:t>
            </a:r>
            <a:r>
              <a:rPr sz="1650" b="0" i="0">
                <a:solidFill>
                  <a:srgbClr val="14202E"/>
                </a:solidFill>
                <a:latin typeface="Cambria"/>
              </a:rPr>
              <a:t>)</a:t>
            </a:r>
          </a:p>
        </p:txBody>
      </p:sp>
      <p:cxnSp>
        <p:nvCxnSpPr>
          <p:cNvPr id="24" name="Connector 23"/>
          <p:cNvCxnSpPr/>
          <p:nvPr/>
        </p:nvCxnSpPr>
        <p:spPr>
          <a:xfrm>
            <a:off x="548640" y="4709160"/>
            <a:ext cx="11091672" cy="0"/>
          </a:xfrm>
          <a:prstGeom prst="line">
            <a:avLst/>
          </a:prstGeom>
          <a:ln w="12700">
            <a:solidFill>
              <a:srgbClr val="D3D9E1"/>
            </a:solidFill>
          </a:ln>
        </p:spPr>
      </p:cxnSp>
      <p:sp>
        <p:nvSpPr>
          <p:cNvPr id="25" name="TextBox 24"/>
          <p:cNvSpPr txBox="1"/>
          <p:nvPr/>
        </p:nvSpPr>
        <p:spPr>
          <a:xfrm>
            <a:off x="640080" y="4709160"/>
            <a:ext cx="1417320" cy="457200"/>
          </a:xfrm>
          <a:prstGeom prst="rect">
            <a:avLst/>
          </a:prstGeom>
          <a:noFill/>
        </p:spPr>
        <p:txBody>
          <a:bodyPr wrap="square" lIns="0" rIns="0" tIns="0" bIns="0" anchor="ctr">
            <a:spAutoFit/>
          </a:bodyPr>
          <a:lstStyle/>
          <a:p>
            <a:pPr algn="l">
              <a:spcBef>
                <a:spcPts val="0"/>
              </a:spcBef>
              <a:spcAft>
                <a:spcPts val="0"/>
              </a:spcAft>
            </a:pPr>
            <a:r>
              <a:rPr sz="1650" b="1" i="0">
                <a:solidFill>
                  <a:srgbClr val="14202E"/>
                </a:solidFill>
                <a:latin typeface="Calibri"/>
              </a:rPr>
              <a:t>AggSign</a:t>
            </a:r>
          </a:p>
        </p:txBody>
      </p:sp>
      <p:sp>
        <p:nvSpPr>
          <p:cNvPr id="26" name="TextBox 25"/>
          <p:cNvSpPr txBox="1"/>
          <p:nvPr/>
        </p:nvSpPr>
        <p:spPr>
          <a:xfrm>
            <a:off x="2240280" y="4709160"/>
            <a:ext cx="9308592" cy="457200"/>
          </a:xfrm>
          <a:prstGeom prst="rect">
            <a:avLst/>
          </a:prstGeom>
          <a:noFill/>
        </p:spPr>
        <p:txBody>
          <a:bodyPr wrap="square" lIns="0" rIns="0" tIns="0" bIns="0" anchor="ctr">
            <a:spAutoFit/>
          </a:bodyPr>
          <a:lstStyle/>
          <a:p>
            <a:pPr algn="l">
              <a:spcBef>
                <a:spcPts val="0"/>
              </a:spcBef>
              <a:spcAft>
                <a:spcPts val="0"/>
              </a:spcAft>
            </a:pPr>
            <a:r>
              <a:rPr sz="1650" b="0" i="1">
                <a:solidFill>
                  <a:srgbClr val="14202E"/>
                </a:solidFill>
                <a:latin typeface="Cambria"/>
              </a:rPr>
              <a:t>R</a:t>
            </a:r>
            <a:r>
              <a:rPr sz="1650" b="0" i="0">
                <a:solidFill>
                  <a:srgbClr val="14202E"/>
                </a:solidFill>
                <a:latin typeface="Cambria"/>
              </a:rPr>
              <a:t> = Σ</a:t>
            </a:r>
            <a:r>
              <a:rPr sz="1650" b="0" i="1">
                <a:solidFill>
                  <a:srgbClr val="14202E"/>
                </a:solidFill>
                <a:latin typeface="Cambria"/>
              </a:rPr>
              <a:t>R</a:t>
            </a:r>
            <a:r>
              <a:rPr sz="1650" b="0" i="1" baseline="-25000">
                <a:solidFill>
                  <a:srgbClr val="14202E"/>
                </a:solidFill>
                <a:latin typeface="Cambria"/>
              </a:rPr>
              <a:t>i</a:t>
            </a:r>
            <a:r>
              <a:rPr sz="1650" b="0" i="0">
                <a:solidFill>
                  <a:srgbClr val="14202E"/>
                </a:solidFill>
                <a:latin typeface="Calibri"/>
              </a:rPr>
              <a:t>,  </a:t>
            </a:r>
            <a:r>
              <a:rPr sz="1650" b="0" i="1">
                <a:solidFill>
                  <a:srgbClr val="14202E"/>
                </a:solidFill>
                <a:latin typeface="Cambria"/>
              </a:rPr>
              <a:t>z</a:t>
            </a:r>
            <a:r>
              <a:rPr sz="1650" b="0" i="0">
                <a:solidFill>
                  <a:srgbClr val="14202E"/>
                </a:solidFill>
                <a:latin typeface="Cambria"/>
              </a:rPr>
              <a:t> = Σ</a:t>
            </a:r>
            <a:r>
              <a:rPr sz="1650" b="0" i="1">
                <a:solidFill>
                  <a:srgbClr val="14202E"/>
                </a:solidFill>
                <a:latin typeface="Cambria"/>
              </a:rPr>
              <a:t>z</a:t>
            </a:r>
            <a:r>
              <a:rPr sz="1650" b="0" i="1" baseline="-25000">
                <a:solidFill>
                  <a:srgbClr val="14202E"/>
                </a:solidFill>
                <a:latin typeface="Cambria"/>
              </a:rPr>
              <a:t>i</a:t>
            </a:r>
            <a:r>
              <a:rPr sz="1650" b="0" i="0">
                <a:solidFill>
                  <a:srgbClr val="14202E"/>
                </a:solidFill>
                <a:latin typeface="Calibri"/>
              </a:rPr>
              <a:t>,  </a:t>
            </a:r>
            <a:r>
              <a:rPr sz="1650" b="0" i="1">
                <a:solidFill>
                  <a:srgbClr val="14202E"/>
                </a:solidFill>
                <a:latin typeface="Cambria"/>
              </a:rPr>
              <a:t>δ</a:t>
            </a:r>
            <a:r>
              <a:rPr sz="1650" b="0" i="0">
                <a:solidFill>
                  <a:srgbClr val="14202E"/>
                </a:solidFill>
                <a:latin typeface="Cambria"/>
              </a:rPr>
              <a:t> = (</a:t>
            </a:r>
            <a:r>
              <a:rPr sz="1650" b="0" i="1">
                <a:solidFill>
                  <a:srgbClr val="14202E"/>
                </a:solidFill>
                <a:latin typeface="Cambria"/>
              </a:rPr>
              <a:t>R</a:t>
            </a:r>
            <a:r>
              <a:rPr sz="1650" b="0" i="0">
                <a:solidFill>
                  <a:srgbClr val="14202E"/>
                </a:solidFill>
                <a:latin typeface="Cambria"/>
              </a:rPr>
              <a:t>, </a:t>
            </a:r>
            <a:r>
              <a:rPr sz="1650" b="0" i="1">
                <a:solidFill>
                  <a:srgbClr val="14202E"/>
                </a:solidFill>
                <a:latin typeface="Cambria"/>
              </a:rPr>
              <a:t>z</a:t>
            </a:r>
            <a:r>
              <a:rPr sz="1650" b="0" i="0">
                <a:solidFill>
                  <a:srgbClr val="14202E"/>
                </a:solidFill>
                <a:latin typeface="Cambria"/>
              </a:rPr>
              <a:t>)</a:t>
            </a:r>
          </a:p>
        </p:txBody>
      </p:sp>
      <p:cxnSp>
        <p:nvCxnSpPr>
          <p:cNvPr id="27" name="Connector 26"/>
          <p:cNvCxnSpPr/>
          <p:nvPr/>
        </p:nvCxnSpPr>
        <p:spPr>
          <a:xfrm>
            <a:off x="548640" y="5166360"/>
            <a:ext cx="11091672" cy="0"/>
          </a:xfrm>
          <a:prstGeom prst="line">
            <a:avLst/>
          </a:prstGeom>
          <a:ln w="12700">
            <a:solidFill>
              <a:srgbClr val="D3D9E1"/>
            </a:solidFill>
          </a:ln>
        </p:spPr>
      </p:cxnSp>
      <p:sp>
        <p:nvSpPr>
          <p:cNvPr id="28" name="TextBox 27"/>
          <p:cNvSpPr txBox="1"/>
          <p:nvPr/>
        </p:nvSpPr>
        <p:spPr>
          <a:xfrm>
            <a:off x="640080" y="5166360"/>
            <a:ext cx="1417320" cy="822960"/>
          </a:xfrm>
          <a:prstGeom prst="rect">
            <a:avLst/>
          </a:prstGeom>
          <a:noFill/>
        </p:spPr>
        <p:txBody>
          <a:bodyPr wrap="square" lIns="0" rIns="0" tIns="0" bIns="0" anchor="ctr">
            <a:spAutoFit/>
          </a:bodyPr>
          <a:lstStyle/>
          <a:p>
            <a:pPr algn="l">
              <a:spcBef>
                <a:spcPts val="0"/>
              </a:spcBef>
              <a:spcAft>
                <a:spcPts val="0"/>
              </a:spcAft>
            </a:pPr>
            <a:r>
              <a:rPr sz="1650" b="1" i="0">
                <a:solidFill>
                  <a:srgbClr val="14202E"/>
                </a:solidFill>
                <a:latin typeface="Calibri"/>
              </a:rPr>
              <a:t>AggVerify</a:t>
            </a:r>
          </a:p>
        </p:txBody>
      </p:sp>
      <p:sp>
        <p:nvSpPr>
          <p:cNvPr id="29" name="TextBox 28"/>
          <p:cNvSpPr txBox="1"/>
          <p:nvPr/>
        </p:nvSpPr>
        <p:spPr>
          <a:xfrm>
            <a:off x="2240280" y="5166360"/>
            <a:ext cx="9308592" cy="822960"/>
          </a:xfrm>
          <a:prstGeom prst="rect">
            <a:avLst/>
          </a:prstGeom>
          <a:noFill/>
        </p:spPr>
        <p:txBody>
          <a:bodyPr wrap="square" lIns="0" rIns="0" tIns="0" bIns="0" anchor="ctr">
            <a:spAutoFit/>
          </a:bodyPr>
          <a:lstStyle/>
          <a:p>
            <a:pPr algn="l">
              <a:spcBef>
                <a:spcPts val="0"/>
              </a:spcBef>
              <a:spcAft>
                <a:spcPts val="0"/>
              </a:spcAft>
            </a:pPr>
            <a:r>
              <a:rPr sz="1650" b="0" i="1">
                <a:solidFill>
                  <a:srgbClr val="14202E"/>
                </a:solidFill>
                <a:latin typeface="Cambria"/>
              </a:rPr>
              <a:t>h</a:t>
            </a:r>
            <a:r>
              <a:rPr sz="1650" b="0" i="1" baseline="30000">
                <a:solidFill>
                  <a:srgbClr val="14202E"/>
                </a:solidFill>
                <a:latin typeface="Cambria"/>
              </a:rPr>
              <a:t>i</a:t>
            </a:r>
            <a:r>
              <a:rPr sz="1650" b="0" i="0" baseline="-25000">
                <a:solidFill>
                  <a:srgbClr val="14202E"/>
                </a:solidFill>
                <a:latin typeface="Cambria"/>
              </a:rPr>
              <a:t>0</a:t>
            </a:r>
            <a:r>
              <a:rPr sz="1650" b="0" i="0">
                <a:solidFill>
                  <a:srgbClr val="14202E"/>
                </a:solidFill>
                <a:latin typeface="Cambria"/>
              </a:rPr>
              <a:t> = </a:t>
            </a:r>
            <a:r>
              <a:rPr sz="1650" b="0" i="1">
                <a:solidFill>
                  <a:srgbClr val="14202E"/>
                </a:solidFill>
                <a:latin typeface="Cambria"/>
              </a:rPr>
              <a:t>H</a:t>
            </a:r>
            <a:r>
              <a:rPr sz="1650" b="0" i="0" baseline="-25000">
                <a:solidFill>
                  <a:srgbClr val="14202E"/>
                </a:solidFill>
                <a:latin typeface="Cambria"/>
              </a:rPr>
              <a:t>0</a:t>
            </a:r>
            <a:r>
              <a:rPr sz="1650" b="0" i="0">
                <a:solidFill>
                  <a:srgbClr val="14202E"/>
                </a:solidFill>
                <a:latin typeface="Cambria"/>
              </a:rPr>
              <a:t>(</a:t>
            </a:r>
            <a:r>
              <a:rPr sz="1650" b="0" i="1">
                <a:solidFill>
                  <a:srgbClr val="14202E"/>
                </a:solidFill>
                <a:latin typeface="Cambria"/>
              </a:rPr>
              <a:t>id</a:t>
            </a:r>
            <a:r>
              <a:rPr sz="1650" b="0" i="1" baseline="-25000">
                <a:solidFill>
                  <a:srgbClr val="14202E"/>
                </a:solidFill>
                <a:latin typeface="Cambria"/>
              </a:rPr>
              <a:t>i</a:t>
            </a:r>
            <a:r>
              <a:rPr sz="1650" b="0" i="0">
                <a:solidFill>
                  <a:srgbClr val="14202E"/>
                </a:solidFill>
                <a:latin typeface="Cambria"/>
              </a:rPr>
              <a:t>‖</a:t>
            </a:r>
            <a:r>
              <a:rPr sz="1650" b="0" i="1">
                <a:solidFill>
                  <a:srgbClr val="14202E"/>
                </a:solidFill>
                <a:latin typeface="Cambria"/>
              </a:rPr>
              <a:t>pk</a:t>
            </a:r>
            <a:r>
              <a:rPr sz="1650" b="0" i="1" baseline="-25000">
                <a:solidFill>
                  <a:srgbClr val="14202E"/>
                </a:solidFill>
                <a:latin typeface="Cambria"/>
              </a:rPr>
              <a:t>i</a:t>
            </a:r>
            <a:r>
              <a:rPr sz="1650" b="0" i="0">
                <a:solidFill>
                  <a:srgbClr val="14202E"/>
                </a:solidFill>
                <a:latin typeface="Cambria"/>
              </a:rPr>
              <a:t>)</a:t>
            </a:r>
            <a:r>
              <a:rPr sz="1650" b="0" i="0">
                <a:solidFill>
                  <a:srgbClr val="14202E"/>
                </a:solidFill>
                <a:latin typeface="Calibri"/>
              </a:rPr>
              <a:t>,  </a:t>
            </a:r>
            <a:r>
              <a:rPr sz="1650" b="0" i="1">
                <a:solidFill>
                  <a:srgbClr val="14202E"/>
                </a:solidFill>
                <a:latin typeface="Cambria"/>
              </a:rPr>
              <a:t>v</a:t>
            </a:r>
            <a:r>
              <a:rPr sz="1650" b="0" i="1" baseline="-25000">
                <a:solidFill>
                  <a:srgbClr val="14202E"/>
                </a:solidFill>
                <a:latin typeface="Cambria"/>
              </a:rPr>
              <a:t>i</a:t>
            </a:r>
            <a:r>
              <a:rPr sz="1650" b="0" i="0">
                <a:solidFill>
                  <a:srgbClr val="14202E"/>
                </a:solidFill>
                <a:latin typeface="Cambria"/>
              </a:rPr>
              <a:t> = </a:t>
            </a:r>
            <a:r>
              <a:rPr sz="1650" b="0" i="1">
                <a:solidFill>
                  <a:srgbClr val="14202E"/>
                </a:solidFill>
                <a:latin typeface="Cambria"/>
              </a:rPr>
              <a:t>H</a:t>
            </a:r>
            <a:r>
              <a:rPr sz="1650" b="0" i="0" baseline="-25000">
                <a:solidFill>
                  <a:srgbClr val="14202E"/>
                </a:solidFill>
                <a:latin typeface="Cambria"/>
              </a:rPr>
              <a:t>1</a:t>
            </a:r>
            <a:r>
              <a:rPr sz="1650" b="0" i="0">
                <a:solidFill>
                  <a:srgbClr val="14202E"/>
                </a:solidFill>
                <a:latin typeface="Cambria"/>
              </a:rPr>
              <a:t>(</a:t>
            </a:r>
            <a:r>
              <a:rPr sz="1650" b="0" i="1">
                <a:solidFill>
                  <a:srgbClr val="14202E"/>
                </a:solidFill>
                <a:latin typeface="Cambria"/>
              </a:rPr>
              <a:t>m</a:t>
            </a:r>
            <a:r>
              <a:rPr sz="1650" b="0" i="1" baseline="-25000">
                <a:solidFill>
                  <a:srgbClr val="14202E"/>
                </a:solidFill>
                <a:latin typeface="Cambria"/>
              </a:rPr>
              <a:t>i</a:t>
            </a:r>
            <a:r>
              <a:rPr sz="1650" b="0" i="0">
                <a:solidFill>
                  <a:srgbClr val="14202E"/>
                </a:solidFill>
                <a:latin typeface="Cambria"/>
              </a:rPr>
              <a:t>‖</a:t>
            </a:r>
            <a:r>
              <a:rPr sz="1650" b="0" i="1">
                <a:solidFill>
                  <a:srgbClr val="14202E"/>
                </a:solidFill>
                <a:latin typeface="Cambria"/>
              </a:rPr>
              <a:t>pk</a:t>
            </a:r>
            <a:r>
              <a:rPr sz="1650" b="0" i="1" baseline="-25000">
                <a:solidFill>
                  <a:srgbClr val="14202E"/>
                </a:solidFill>
                <a:latin typeface="Cambria"/>
              </a:rPr>
              <a:t>i</a:t>
            </a:r>
            <a:r>
              <a:rPr sz="1650" b="0" i="0">
                <a:solidFill>
                  <a:srgbClr val="14202E"/>
                </a:solidFill>
                <a:latin typeface="Cambria"/>
              </a:rPr>
              <a:t>‖</a:t>
            </a:r>
            <a:r>
              <a:rPr sz="1650" b="0" i="1">
                <a:solidFill>
                  <a:srgbClr val="14202E"/>
                </a:solidFill>
                <a:latin typeface="Cambria"/>
              </a:rPr>
              <a:t>id</a:t>
            </a:r>
            <a:r>
              <a:rPr sz="1650" b="0" i="1" baseline="-25000">
                <a:solidFill>
                  <a:srgbClr val="14202E"/>
                </a:solidFill>
                <a:latin typeface="Cambria"/>
              </a:rPr>
              <a:t>i</a:t>
            </a:r>
            <a:r>
              <a:rPr sz="1650" b="0" i="0">
                <a:solidFill>
                  <a:srgbClr val="14202E"/>
                </a:solidFill>
                <a:latin typeface="Cambria"/>
              </a:rPr>
              <a:t>‖Δ)</a:t>
            </a:r>
          </a:p>
          <a:p>
            <a:pPr algn="l">
              <a:spcBef>
                <a:spcPts val="0"/>
              </a:spcBef>
              <a:spcAft>
                <a:spcPts val="0"/>
              </a:spcAft>
            </a:pPr>
            <a:r>
              <a:rPr sz="1650" b="0" i="0">
                <a:solidFill>
                  <a:srgbClr val="14202E"/>
                </a:solidFill>
                <a:latin typeface="Calibri"/>
              </a:rPr>
              <a:t>accept iff  </a:t>
            </a:r>
            <a:r>
              <a:rPr sz="1650" b="0" i="1">
                <a:solidFill>
                  <a:srgbClr val="14202E"/>
                </a:solidFill>
                <a:latin typeface="Cambria"/>
              </a:rPr>
              <a:t>zP</a:t>
            </a:r>
            <a:r>
              <a:rPr sz="1650" b="0" i="0">
                <a:solidFill>
                  <a:srgbClr val="14202E"/>
                </a:solidFill>
                <a:latin typeface="Cambria"/>
              </a:rPr>
              <a:t> = </a:t>
            </a:r>
            <a:r>
              <a:rPr sz="1650" b="0" i="1">
                <a:solidFill>
                  <a:srgbClr val="14202E"/>
                </a:solidFill>
                <a:latin typeface="Cambria"/>
              </a:rPr>
              <a:t>R</a:t>
            </a:r>
            <a:r>
              <a:rPr sz="1650" b="0" i="0">
                <a:solidFill>
                  <a:srgbClr val="14202E"/>
                </a:solidFill>
                <a:latin typeface="Cambria"/>
              </a:rPr>
              <a:t> + (Σ</a:t>
            </a:r>
            <a:r>
              <a:rPr sz="1650" b="0" i="1">
                <a:solidFill>
                  <a:srgbClr val="14202E"/>
                </a:solidFill>
                <a:latin typeface="Cambria"/>
              </a:rPr>
              <a:t>h</a:t>
            </a:r>
            <a:r>
              <a:rPr sz="1650" b="0" i="1" baseline="30000">
                <a:solidFill>
                  <a:srgbClr val="14202E"/>
                </a:solidFill>
                <a:latin typeface="Cambria"/>
              </a:rPr>
              <a:t>i</a:t>
            </a:r>
            <a:r>
              <a:rPr sz="1650" b="0" i="0" baseline="-25000">
                <a:solidFill>
                  <a:srgbClr val="14202E"/>
                </a:solidFill>
                <a:latin typeface="Cambria"/>
              </a:rPr>
              <a:t>0</a:t>
            </a:r>
            <a:r>
              <a:rPr sz="1650" b="0" i="0">
                <a:solidFill>
                  <a:srgbClr val="14202E"/>
                </a:solidFill>
                <a:latin typeface="Cambria"/>
              </a:rPr>
              <a:t>)</a:t>
            </a:r>
            <a:r>
              <a:rPr sz="1650" b="0" i="1">
                <a:solidFill>
                  <a:srgbClr val="14202E"/>
                </a:solidFill>
                <a:latin typeface="Cambria"/>
              </a:rPr>
              <a:t>P</a:t>
            </a:r>
            <a:r>
              <a:rPr sz="1650" b="0" i="1" baseline="30000">
                <a:solidFill>
                  <a:srgbClr val="14202E"/>
                </a:solidFill>
                <a:latin typeface="Cambria"/>
              </a:rPr>
              <a:t>k</a:t>
            </a:r>
            <a:r>
              <a:rPr sz="1650" b="0" i="1" baseline="-25000">
                <a:solidFill>
                  <a:srgbClr val="14202E"/>
                </a:solidFill>
                <a:latin typeface="Cambria"/>
              </a:rPr>
              <a:t>TA</a:t>
            </a:r>
            <a:r>
              <a:rPr sz="1650" b="0" i="0">
                <a:solidFill>
                  <a:srgbClr val="14202E"/>
                </a:solidFill>
                <a:latin typeface="Cambria"/>
              </a:rPr>
              <a:t> + Σ</a:t>
            </a:r>
            <a:r>
              <a:rPr sz="1650" b="0" i="1">
                <a:solidFill>
                  <a:srgbClr val="14202E"/>
                </a:solidFill>
                <a:latin typeface="Cambria"/>
              </a:rPr>
              <a:t>v</a:t>
            </a:r>
            <a:r>
              <a:rPr sz="1650" b="0" i="1" baseline="-25000">
                <a:solidFill>
                  <a:srgbClr val="14202E"/>
                </a:solidFill>
                <a:latin typeface="Cambria"/>
              </a:rPr>
              <a:t>i</a:t>
            </a:r>
            <a:r>
              <a:rPr sz="1650" b="0" i="1">
                <a:solidFill>
                  <a:srgbClr val="14202E"/>
                </a:solidFill>
                <a:latin typeface="Cambria"/>
              </a:rPr>
              <a:t>pk</a:t>
            </a:r>
            <a:r>
              <a:rPr sz="1650" b="0" i="1" baseline="-25000">
                <a:solidFill>
                  <a:srgbClr val="14202E"/>
                </a:solidFill>
                <a:latin typeface="Cambria"/>
              </a:rPr>
              <a:t>i</a:t>
            </a:r>
          </a:p>
        </p:txBody>
      </p:sp>
      <p:cxnSp>
        <p:nvCxnSpPr>
          <p:cNvPr id="30" name="Connector 29"/>
          <p:cNvCxnSpPr/>
          <p:nvPr/>
        </p:nvCxnSpPr>
        <p:spPr>
          <a:xfrm>
            <a:off x="548640" y="5989320"/>
            <a:ext cx="11091672" cy="0"/>
          </a:xfrm>
          <a:prstGeom prst="line">
            <a:avLst/>
          </a:prstGeom>
          <a:ln w="12700">
            <a:solidFill>
              <a:srgbClr val="D3D9E1"/>
            </a:solidFill>
          </a:ln>
        </p:spPr>
      </p:cxnSp>
      <p:sp>
        <p:nvSpPr>
          <p:cNvPr id="31" name="TextBox 30"/>
          <p:cNvSpPr txBox="1"/>
          <p:nvPr/>
        </p:nvSpPr>
        <p:spPr>
          <a:xfrm>
            <a:off x="548640" y="6053328"/>
            <a:ext cx="11064240" cy="274320"/>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Source: Qiao et al., §IV-A. Code: verma.py. “Very” is the paper's name for AggVerify.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9AA5B1"/>
          </a:solidFill>
          <a:ln>
            <a:noFill/>
          </a:ln>
          <a:effectLst/>
        </p:spPr>
        <p:txBody>
          <a:bodyPr rtlCol="0" anchor="ctr" wrap="square" lIns="73152" rIns="73152" tIns="36576" bIns="36576"/>
          <a:lstStyle/>
          <a:p>
            <a:pPr algn="ctr"/>
          </a:p>
        </p:txBody>
      </p:sp>
      <p:sp>
        <p:nvSpPr>
          <p:cNvPr id="3" name="TextBox 2"/>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BACKUP · QIAO ET AL.</a:t>
            </a:r>
          </a:p>
        </p:txBody>
      </p:sp>
      <p:sp>
        <p:nvSpPr>
          <p:cNvPr id="4" name="TextBox 3"/>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B2 · The complete Qiao scheme</a:t>
            </a:r>
          </a:p>
        </p:txBody>
      </p:sp>
      <p:sp>
        <p:nvSpPr>
          <p:cNvPr id="5" name="Rounded Rectangle 4"/>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Backup B2</a:t>
            </a:r>
          </a:p>
        </p:txBody>
      </p:sp>
      <p:sp>
        <p:nvSpPr>
          <p:cNvPr id="9" name="Rectangle 8"/>
          <p:cNvSpPr/>
          <p:nvPr/>
        </p:nvSpPr>
        <p:spPr>
          <a:xfrm>
            <a:off x="548640" y="1463040"/>
            <a:ext cx="11091672" cy="365760"/>
          </a:xfrm>
          <a:prstGeom prst="rect">
            <a:avLst/>
          </a:prstGeom>
          <a:solidFill>
            <a:srgbClr val="F2F5F8"/>
          </a:solidFill>
          <a:ln>
            <a:noFill/>
          </a:ln>
          <a:effectLst/>
        </p:spPr>
        <p:txBody>
          <a:bodyPr rtlCol="0" anchor="ctr" wrap="square" lIns="73152" rIns="73152" tIns="36576" bIns="36576"/>
          <a:lstStyle/>
          <a:p>
            <a:pPr algn="ctr"/>
          </a:p>
        </p:txBody>
      </p:sp>
      <p:sp>
        <p:nvSpPr>
          <p:cNvPr id="10" name="TextBox 9"/>
          <p:cNvSpPr txBox="1"/>
          <p:nvPr/>
        </p:nvSpPr>
        <p:spPr>
          <a:xfrm>
            <a:off x="640080" y="1463040"/>
            <a:ext cx="1417320" cy="36576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ALGORITHM</a:t>
            </a:r>
          </a:p>
        </p:txBody>
      </p:sp>
      <p:sp>
        <p:nvSpPr>
          <p:cNvPr id="11" name="TextBox 10"/>
          <p:cNvSpPr txBox="1"/>
          <p:nvPr/>
        </p:nvSpPr>
        <p:spPr>
          <a:xfrm>
            <a:off x="2240280" y="1463040"/>
            <a:ext cx="9308592" cy="36576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DEFINITION</a:t>
            </a:r>
          </a:p>
        </p:txBody>
      </p:sp>
      <p:cxnSp>
        <p:nvCxnSpPr>
          <p:cNvPr id="12" name="Connector 11"/>
          <p:cNvCxnSpPr/>
          <p:nvPr/>
        </p:nvCxnSpPr>
        <p:spPr>
          <a:xfrm>
            <a:off x="548640" y="1828800"/>
            <a:ext cx="11091672" cy="0"/>
          </a:xfrm>
          <a:prstGeom prst="line">
            <a:avLst/>
          </a:prstGeom>
          <a:ln w="15875">
            <a:solidFill>
              <a:srgbClr val="5B6675"/>
            </a:solidFill>
          </a:ln>
        </p:spPr>
      </p:cxnSp>
      <p:sp>
        <p:nvSpPr>
          <p:cNvPr id="13" name="TextBox 12"/>
          <p:cNvSpPr txBox="1"/>
          <p:nvPr/>
        </p:nvSpPr>
        <p:spPr>
          <a:xfrm>
            <a:off x="640080" y="1828800"/>
            <a:ext cx="1417320" cy="731520"/>
          </a:xfrm>
          <a:prstGeom prst="rect">
            <a:avLst/>
          </a:prstGeom>
          <a:noFill/>
        </p:spPr>
        <p:txBody>
          <a:bodyPr wrap="square" lIns="0" rIns="0" tIns="0" bIns="0" anchor="ctr">
            <a:spAutoFit/>
          </a:bodyPr>
          <a:lstStyle/>
          <a:p>
            <a:pPr algn="l">
              <a:spcBef>
                <a:spcPts val="0"/>
              </a:spcBef>
              <a:spcAft>
                <a:spcPts val="0"/>
              </a:spcAft>
            </a:pPr>
            <a:r>
              <a:rPr sz="1600" b="1" i="0">
                <a:solidFill>
                  <a:srgbClr val="14202E"/>
                </a:solidFill>
                <a:latin typeface="Calibri"/>
              </a:rPr>
              <a:t>Setup</a:t>
            </a:r>
          </a:p>
        </p:txBody>
      </p:sp>
      <p:sp>
        <p:nvSpPr>
          <p:cNvPr id="14" name="TextBox 13"/>
          <p:cNvSpPr txBox="1"/>
          <p:nvPr/>
        </p:nvSpPr>
        <p:spPr>
          <a:xfrm>
            <a:off x="2240280" y="1828800"/>
            <a:ext cx="9308592" cy="731520"/>
          </a:xfrm>
          <a:prstGeom prst="rect">
            <a:avLst/>
          </a:prstGeom>
          <a:noFill/>
        </p:spPr>
        <p:txBody>
          <a:bodyPr wrap="square" lIns="0" rIns="0" tIns="0" bIns="0" anchor="ctr">
            <a:spAutoFit/>
          </a:bodyPr>
          <a:lstStyle/>
          <a:p>
            <a:pPr algn="l">
              <a:spcBef>
                <a:spcPts val="0"/>
              </a:spcBef>
              <a:spcAft>
                <a:spcPts val="0"/>
              </a:spcAft>
            </a:pPr>
            <a:r>
              <a:rPr sz="1600" b="0" i="1">
                <a:solidFill>
                  <a:srgbClr val="14202E"/>
                </a:solidFill>
                <a:latin typeface="Cambria"/>
              </a:rPr>
              <a:t>s</a:t>
            </a:r>
            <a:r>
              <a:rPr sz="1600" b="0" i="0">
                <a:solidFill>
                  <a:srgbClr val="14202E"/>
                </a:solidFill>
                <a:latin typeface="Cambria"/>
              </a:rPr>
              <a:t> ←</a:t>
            </a:r>
            <a:r>
              <a:rPr sz="1600" b="0" i="1" baseline="-25000">
                <a:solidFill>
                  <a:srgbClr val="14202E"/>
                </a:solidFill>
                <a:latin typeface="Cambria"/>
              </a:rPr>
              <a:t>R</a:t>
            </a:r>
            <a:r>
              <a:rPr sz="1600" b="0" i="0">
                <a:solidFill>
                  <a:srgbClr val="14202E"/>
                </a:solidFill>
                <a:latin typeface="Cambria"/>
              </a:rPr>
              <a:t> </a:t>
            </a:r>
            <a:r>
              <a:rPr sz="1600" b="0" i="1">
                <a:solidFill>
                  <a:srgbClr val="14202E"/>
                </a:solidFill>
                <a:latin typeface="Cambria"/>
              </a:rPr>
              <a:t>Z</a:t>
            </a:r>
            <a:r>
              <a:rPr sz="1600" b="0" i="0" baseline="30000">
                <a:solidFill>
                  <a:srgbClr val="14202E"/>
                </a:solidFill>
                <a:latin typeface="Cambria"/>
              </a:rPr>
              <a:t>*</a:t>
            </a:r>
            <a:r>
              <a:rPr sz="1600" b="0" i="1" baseline="-25000">
                <a:solidFill>
                  <a:srgbClr val="14202E"/>
                </a:solidFill>
                <a:latin typeface="Cambria"/>
              </a:rPr>
              <a:t>p</a:t>
            </a:r>
            <a:r>
              <a:rPr sz="1600" b="0" i="0">
                <a:solidFill>
                  <a:srgbClr val="14202E"/>
                </a:solidFill>
                <a:latin typeface="Calibri"/>
              </a:rPr>
              <a:t>,  </a:t>
            </a:r>
            <a:r>
              <a:rPr sz="1600" b="0" i="1">
                <a:solidFill>
                  <a:srgbClr val="14202E"/>
                </a:solidFill>
                <a:latin typeface="Cambria"/>
              </a:rPr>
              <a:t>s</a:t>
            </a:r>
            <a:r>
              <a:rPr sz="1600" b="0" i="1" baseline="30000">
                <a:solidFill>
                  <a:srgbClr val="14202E"/>
                </a:solidFill>
                <a:latin typeface="Cambria"/>
              </a:rPr>
              <a:t>k</a:t>
            </a:r>
            <a:r>
              <a:rPr sz="1600" b="0" i="1" baseline="-25000">
                <a:solidFill>
                  <a:srgbClr val="14202E"/>
                </a:solidFill>
                <a:latin typeface="Cambria"/>
              </a:rPr>
              <a:t>TA</a:t>
            </a:r>
            <a:r>
              <a:rPr sz="1600" b="0" i="0">
                <a:solidFill>
                  <a:srgbClr val="14202E"/>
                </a:solidFill>
                <a:latin typeface="Cambria"/>
              </a:rPr>
              <a:t> = </a:t>
            </a:r>
            <a:r>
              <a:rPr sz="1600" b="0" i="1">
                <a:solidFill>
                  <a:srgbClr val="14202E"/>
                </a:solidFill>
                <a:latin typeface="Cambria"/>
              </a:rPr>
              <a:t>s</a:t>
            </a:r>
            <a:r>
              <a:rPr sz="1600" b="0" i="0">
                <a:solidFill>
                  <a:srgbClr val="14202E"/>
                </a:solidFill>
                <a:latin typeface="Calibri"/>
              </a:rPr>
              <a:t>,  </a:t>
            </a:r>
            <a:r>
              <a:rPr sz="1600" b="0" i="1">
                <a:solidFill>
                  <a:srgbClr val="14202E"/>
                </a:solidFill>
                <a:latin typeface="Cambria"/>
              </a:rPr>
              <a:t>P</a:t>
            </a:r>
            <a:r>
              <a:rPr sz="1600" b="0" i="1" baseline="30000">
                <a:solidFill>
                  <a:srgbClr val="14202E"/>
                </a:solidFill>
                <a:latin typeface="Cambria"/>
              </a:rPr>
              <a:t>k</a:t>
            </a:r>
            <a:r>
              <a:rPr sz="1600" b="0" i="1" baseline="-25000">
                <a:solidFill>
                  <a:srgbClr val="14202E"/>
                </a:solidFill>
                <a:latin typeface="Cambria"/>
              </a:rPr>
              <a:t>TA</a:t>
            </a:r>
            <a:r>
              <a:rPr sz="1600" b="0" i="0">
                <a:solidFill>
                  <a:srgbClr val="14202E"/>
                </a:solidFill>
                <a:latin typeface="Cambria"/>
              </a:rPr>
              <a:t> = </a:t>
            </a:r>
            <a:r>
              <a:rPr sz="1600" b="0" i="1">
                <a:solidFill>
                  <a:srgbClr val="14202E"/>
                </a:solidFill>
                <a:latin typeface="Cambria"/>
              </a:rPr>
              <a:t>sP</a:t>
            </a:r>
          </a:p>
          <a:p>
            <a:pPr algn="l">
              <a:spcBef>
                <a:spcPts val="0"/>
              </a:spcBef>
              <a:spcAft>
                <a:spcPts val="0"/>
              </a:spcAft>
            </a:pPr>
            <a:r>
              <a:rPr sz="1600" b="0" i="1">
                <a:solidFill>
                  <a:srgbClr val="14202E"/>
                </a:solidFill>
                <a:latin typeface="Cambria"/>
              </a:rPr>
              <a:t>Params</a:t>
            </a:r>
            <a:r>
              <a:rPr sz="1600" b="0" i="0">
                <a:solidFill>
                  <a:srgbClr val="14202E"/>
                </a:solidFill>
                <a:latin typeface="Cambria"/>
              </a:rPr>
              <a:t> = (</a:t>
            </a:r>
            <a:r>
              <a:rPr sz="1600" b="0" i="1">
                <a:solidFill>
                  <a:srgbClr val="14202E"/>
                </a:solidFill>
                <a:latin typeface="Cambria"/>
              </a:rPr>
              <a:t>G</a:t>
            </a:r>
            <a:r>
              <a:rPr sz="1600" b="0" i="0">
                <a:solidFill>
                  <a:srgbClr val="14202E"/>
                </a:solidFill>
                <a:latin typeface="Cambria"/>
              </a:rPr>
              <a:t>, </a:t>
            </a:r>
            <a:r>
              <a:rPr sz="1600" b="0" i="1">
                <a:solidFill>
                  <a:srgbClr val="14202E"/>
                </a:solidFill>
                <a:latin typeface="Cambria"/>
              </a:rPr>
              <a:t>p</a:t>
            </a:r>
            <a:r>
              <a:rPr sz="1600" b="0" i="0">
                <a:solidFill>
                  <a:srgbClr val="14202E"/>
                </a:solidFill>
                <a:latin typeface="Cambria"/>
              </a:rPr>
              <a:t>, </a:t>
            </a:r>
            <a:r>
              <a:rPr sz="1600" b="0" i="1">
                <a:solidFill>
                  <a:srgbClr val="14202E"/>
                </a:solidFill>
                <a:latin typeface="Cambria"/>
              </a:rPr>
              <a:t>P</a:t>
            </a:r>
            <a:r>
              <a:rPr sz="1600" b="0" i="0">
                <a:solidFill>
                  <a:srgbClr val="14202E"/>
                </a:solidFill>
                <a:latin typeface="Cambria"/>
              </a:rPr>
              <a:t>, </a:t>
            </a:r>
            <a:r>
              <a:rPr sz="1600" b="0" i="1">
                <a:solidFill>
                  <a:srgbClr val="14202E"/>
                </a:solidFill>
                <a:latin typeface="Cambria"/>
              </a:rPr>
              <a:t>H</a:t>
            </a:r>
            <a:r>
              <a:rPr sz="1600" b="0" i="0" baseline="-25000">
                <a:solidFill>
                  <a:srgbClr val="14202E"/>
                </a:solidFill>
                <a:latin typeface="Cambria"/>
              </a:rPr>
              <a:t>0</a:t>
            </a:r>
            <a:r>
              <a:rPr sz="1600" b="0" i="0">
                <a:solidFill>
                  <a:srgbClr val="14202E"/>
                </a:solidFill>
                <a:latin typeface="Cambria"/>
              </a:rPr>
              <a:t>, </a:t>
            </a:r>
            <a:r>
              <a:rPr sz="1600" b="0" i="1">
                <a:solidFill>
                  <a:srgbClr val="14202E"/>
                </a:solidFill>
                <a:latin typeface="Cambria"/>
              </a:rPr>
              <a:t>H</a:t>
            </a:r>
            <a:r>
              <a:rPr sz="1600" b="0" i="0" baseline="-25000">
                <a:solidFill>
                  <a:srgbClr val="14202E"/>
                </a:solidFill>
                <a:latin typeface="Cambria"/>
              </a:rPr>
              <a:t>1</a:t>
            </a:r>
            <a:r>
              <a:rPr sz="1600" b="0" i="0">
                <a:solidFill>
                  <a:srgbClr val="14202E"/>
                </a:solidFill>
                <a:latin typeface="Cambria"/>
              </a:rPr>
              <a:t>, </a:t>
            </a:r>
            <a:r>
              <a:rPr sz="1600" b="0" i="1">
                <a:solidFill>
                  <a:srgbClr val="14202E"/>
                </a:solidFill>
                <a:latin typeface="Cambria"/>
              </a:rPr>
              <a:t>H</a:t>
            </a:r>
            <a:r>
              <a:rPr sz="1600" b="0" i="0" baseline="-25000">
                <a:solidFill>
                  <a:srgbClr val="14202E"/>
                </a:solidFill>
                <a:latin typeface="Cambria"/>
              </a:rPr>
              <a:t>2</a:t>
            </a:r>
            <a:r>
              <a:rPr sz="1600" b="0" i="0">
                <a:solidFill>
                  <a:srgbClr val="14202E"/>
                </a:solidFill>
                <a:latin typeface="Cambria"/>
              </a:rPr>
              <a:t>, </a:t>
            </a:r>
            <a:r>
              <a:rPr sz="1600" b="0" i="1">
                <a:solidFill>
                  <a:srgbClr val="14202E"/>
                </a:solidFill>
                <a:latin typeface="Cambria"/>
              </a:rPr>
              <a:t>P</a:t>
            </a:r>
            <a:r>
              <a:rPr sz="1600" b="0" i="1" baseline="30000">
                <a:solidFill>
                  <a:srgbClr val="14202E"/>
                </a:solidFill>
                <a:latin typeface="Cambria"/>
              </a:rPr>
              <a:t>k</a:t>
            </a:r>
            <a:r>
              <a:rPr sz="1600" b="0" i="1" baseline="-25000">
                <a:solidFill>
                  <a:srgbClr val="14202E"/>
                </a:solidFill>
                <a:latin typeface="Cambria"/>
              </a:rPr>
              <a:t>TA</a:t>
            </a:r>
            <a:r>
              <a:rPr sz="1600" b="0" i="0">
                <a:solidFill>
                  <a:srgbClr val="14202E"/>
                </a:solidFill>
                <a:latin typeface="Cambria"/>
              </a:rPr>
              <a:t>, Δ)</a:t>
            </a:r>
          </a:p>
        </p:txBody>
      </p:sp>
      <p:cxnSp>
        <p:nvCxnSpPr>
          <p:cNvPr id="15" name="Connector 14"/>
          <p:cNvCxnSpPr/>
          <p:nvPr/>
        </p:nvCxnSpPr>
        <p:spPr>
          <a:xfrm>
            <a:off x="548640" y="2560320"/>
            <a:ext cx="11091672" cy="0"/>
          </a:xfrm>
          <a:prstGeom prst="line">
            <a:avLst/>
          </a:prstGeom>
          <a:ln w="12700">
            <a:solidFill>
              <a:srgbClr val="D3D9E1"/>
            </a:solidFill>
          </a:ln>
        </p:spPr>
      </p:cxnSp>
      <p:sp>
        <p:nvSpPr>
          <p:cNvPr id="16" name="TextBox 15"/>
          <p:cNvSpPr txBox="1"/>
          <p:nvPr/>
        </p:nvSpPr>
        <p:spPr>
          <a:xfrm>
            <a:off x="640080" y="2560320"/>
            <a:ext cx="1417320" cy="438912"/>
          </a:xfrm>
          <a:prstGeom prst="rect">
            <a:avLst/>
          </a:prstGeom>
          <a:noFill/>
        </p:spPr>
        <p:txBody>
          <a:bodyPr wrap="square" lIns="0" rIns="0" tIns="0" bIns="0" anchor="ctr">
            <a:spAutoFit/>
          </a:bodyPr>
          <a:lstStyle/>
          <a:p>
            <a:pPr algn="l">
              <a:spcBef>
                <a:spcPts val="0"/>
              </a:spcBef>
              <a:spcAft>
                <a:spcPts val="0"/>
              </a:spcAft>
            </a:pPr>
            <a:r>
              <a:rPr sz="1600" b="1" i="0">
                <a:solidFill>
                  <a:srgbClr val="14202E"/>
                </a:solidFill>
                <a:latin typeface="Calibri"/>
              </a:rPr>
              <a:t>KeyGen</a:t>
            </a:r>
          </a:p>
        </p:txBody>
      </p:sp>
      <p:sp>
        <p:nvSpPr>
          <p:cNvPr id="17" name="TextBox 16"/>
          <p:cNvSpPr txBox="1"/>
          <p:nvPr/>
        </p:nvSpPr>
        <p:spPr>
          <a:xfrm>
            <a:off x="2240280" y="2560320"/>
            <a:ext cx="9308592" cy="438912"/>
          </a:xfrm>
          <a:prstGeom prst="rect">
            <a:avLst/>
          </a:prstGeom>
          <a:noFill/>
        </p:spPr>
        <p:txBody>
          <a:bodyPr wrap="square" lIns="0" rIns="0" tIns="0" bIns="0" anchor="ctr">
            <a:spAutoFit/>
          </a:bodyPr>
          <a:lstStyle/>
          <a:p>
            <a:pPr algn="l">
              <a:spcBef>
                <a:spcPts val="0"/>
              </a:spcBef>
              <a:spcAft>
                <a:spcPts val="0"/>
              </a:spcAft>
            </a:pPr>
            <a:r>
              <a:rPr sz="1600" b="0" i="1">
                <a:solidFill>
                  <a:srgbClr val="14202E"/>
                </a:solidFill>
                <a:latin typeface="Cambria"/>
              </a:rPr>
              <a:t>s</a:t>
            </a:r>
            <a:r>
              <a:rPr sz="1600" b="0" i="1" baseline="-25000">
                <a:solidFill>
                  <a:srgbClr val="14202E"/>
                </a:solidFill>
                <a:latin typeface="Cambria"/>
              </a:rPr>
              <a:t>i</a:t>
            </a:r>
            <a:r>
              <a:rPr sz="1600" b="0" i="0">
                <a:solidFill>
                  <a:srgbClr val="14202E"/>
                </a:solidFill>
                <a:latin typeface="Cambria"/>
              </a:rPr>
              <a:t> ←</a:t>
            </a:r>
            <a:r>
              <a:rPr sz="1600" b="0" i="1" baseline="-25000">
                <a:solidFill>
                  <a:srgbClr val="14202E"/>
                </a:solidFill>
                <a:latin typeface="Cambria"/>
              </a:rPr>
              <a:t>R</a:t>
            </a:r>
            <a:r>
              <a:rPr sz="1600" b="0" i="0">
                <a:solidFill>
                  <a:srgbClr val="14202E"/>
                </a:solidFill>
                <a:latin typeface="Cambria"/>
              </a:rPr>
              <a:t> </a:t>
            </a:r>
            <a:r>
              <a:rPr sz="1600" b="0" i="1">
                <a:solidFill>
                  <a:srgbClr val="14202E"/>
                </a:solidFill>
                <a:latin typeface="Cambria"/>
              </a:rPr>
              <a:t>Z</a:t>
            </a:r>
            <a:r>
              <a:rPr sz="1600" b="0" i="0" baseline="30000">
                <a:solidFill>
                  <a:srgbClr val="14202E"/>
                </a:solidFill>
                <a:latin typeface="Cambria"/>
              </a:rPr>
              <a:t>*</a:t>
            </a:r>
            <a:r>
              <a:rPr sz="1600" b="0" i="1" baseline="-25000">
                <a:solidFill>
                  <a:srgbClr val="14202E"/>
                </a:solidFill>
                <a:latin typeface="Cambria"/>
              </a:rPr>
              <a:t>p</a:t>
            </a:r>
            <a:r>
              <a:rPr sz="1600" b="0" i="0">
                <a:solidFill>
                  <a:srgbClr val="14202E"/>
                </a:solidFill>
                <a:latin typeface="Calibri"/>
              </a:rPr>
              <a:t>,  </a:t>
            </a:r>
            <a:r>
              <a:rPr sz="1600" b="0" i="1">
                <a:solidFill>
                  <a:srgbClr val="14202E"/>
                </a:solidFill>
                <a:latin typeface="Cambria"/>
              </a:rPr>
              <a:t>sk</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s</a:t>
            </a:r>
            <a:r>
              <a:rPr sz="1600" b="0" i="1" baseline="-25000">
                <a:solidFill>
                  <a:srgbClr val="14202E"/>
                </a:solidFill>
                <a:latin typeface="Cambria"/>
              </a:rPr>
              <a:t>i</a:t>
            </a:r>
            <a:r>
              <a:rPr sz="1600" b="0" i="0">
                <a:solidFill>
                  <a:srgbClr val="14202E"/>
                </a:solidFill>
                <a:latin typeface="Calibri"/>
              </a:rPr>
              <a:t>,  </a:t>
            </a:r>
            <a:r>
              <a:rPr sz="1600" b="0" i="1">
                <a:solidFill>
                  <a:srgbClr val="14202E"/>
                </a:solidFill>
                <a:latin typeface="Cambria"/>
              </a:rPr>
              <a:t>pk</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s</a:t>
            </a:r>
            <a:r>
              <a:rPr sz="1600" b="0" i="1" baseline="-25000">
                <a:solidFill>
                  <a:srgbClr val="14202E"/>
                </a:solidFill>
                <a:latin typeface="Cambria"/>
              </a:rPr>
              <a:t>i</a:t>
            </a:r>
            <a:r>
              <a:rPr sz="1600" b="0" i="1">
                <a:solidFill>
                  <a:srgbClr val="14202E"/>
                </a:solidFill>
                <a:latin typeface="Cambria"/>
              </a:rPr>
              <a:t>P</a:t>
            </a:r>
          </a:p>
        </p:txBody>
      </p:sp>
      <p:cxnSp>
        <p:nvCxnSpPr>
          <p:cNvPr id="18" name="Connector 17"/>
          <p:cNvCxnSpPr/>
          <p:nvPr/>
        </p:nvCxnSpPr>
        <p:spPr>
          <a:xfrm>
            <a:off x="548640" y="2999232"/>
            <a:ext cx="11091672" cy="0"/>
          </a:xfrm>
          <a:prstGeom prst="line">
            <a:avLst/>
          </a:prstGeom>
          <a:ln w="12700">
            <a:solidFill>
              <a:srgbClr val="D3D9E1"/>
            </a:solidFill>
          </a:ln>
        </p:spPr>
      </p:cxnSp>
      <p:sp>
        <p:nvSpPr>
          <p:cNvPr id="19" name="TextBox 18"/>
          <p:cNvSpPr txBox="1"/>
          <p:nvPr/>
        </p:nvSpPr>
        <p:spPr>
          <a:xfrm>
            <a:off x="640080" y="2999232"/>
            <a:ext cx="1417320" cy="777240"/>
          </a:xfrm>
          <a:prstGeom prst="rect">
            <a:avLst/>
          </a:prstGeom>
          <a:noFill/>
        </p:spPr>
        <p:txBody>
          <a:bodyPr wrap="square" lIns="0" rIns="0" tIns="0" bIns="0" anchor="ctr">
            <a:spAutoFit/>
          </a:bodyPr>
          <a:lstStyle/>
          <a:p>
            <a:pPr algn="l">
              <a:spcBef>
                <a:spcPts val="0"/>
              </a:spcBef>
              <a:spcAft>
                <a:spcPts val="0"/>
              </a:spcAft>
            </a:pPr>
            <a:r>
              <a:rPr sz="1600" b="1" i="0">
                <a:solidFill>
                  <a:srgbClr val="14202E"/>
                </a:solidFill>
                <a:latin typeface="Calibri"/>
              </a:rPr>
              <a:t>CertGen</a:t>
            </a:r>
          </a:p>
        </p:txBody>
      </p:sp>
      <p:sp>
        <p:nvSpPr>
          <p:cNvPr id="20" name="TextBox 19"/>
          <p:cNvSpPr txBox="1"/>
          <p:nvPr/>
        </p:nvSpPr>
        <p:spPr>
          <a:xfrm>
            <a:off x="2240280" y="2999232"/>
            <a:ext cx="9308592" cy="777240"/>
          </a:xfrm>
          <a:prstGeom prst="rect">
            <a:avLst/>
          </a:prstGeom>
          <a:noFill/>
        </p:spPr>
        <p:txBody>
          <a:bodyPr wrap="square" lIns="0" rIns="0" tIns="0" bIns="0" anchor="ctr">
            <a:spAutoFit/>
          </a:bodyPr>
          <a:lstStyle/>
          <a:p>
            <a:pPr algn="l">
              <a:spcBef>
                <a:spcPts val="0"/>
              </a:spcBef>
              <a:spcAft>
                <a:spcPts val="0"/>
              </a:spcAft>
            </a:pP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mbria"/>
              </a:rPr>
              <a:t> ←</a:t>
            </a:r>
            <a:r>
              <a:rPr sz="1600" b="0" i="1" baseline="-25000">
                <a:solidFill>
                  <a:srgbClr val="14202E"/>
                </a:solidFill>
                <a:latin typeface="Cambria"/>
              </a:rPr>
              <a:t>R</a:t>
            </a:r>
            <a:r>
              <a:rPr sz="1600" b="0" i="0">
                <a:solidFill>
                  <a:srgbClr val="14202E"/>
                </a:solidFill>
                <a:latin typeface="Cambria"/>
              </a:rPr>
              <a:t> </a:t>
            </a:r>
            <a:r>
              <a:rPr sz="1600" b="0" i="1">
                <a:solidFill>
                  <a:srgbClr val="14202E"/>
                </a:solidFill>
                <a:latin typeface="Cambria"/>
              </a:rPr>
              <a:t>Z</a:t>
            </a:r>
            <a:r>
              <a:rPr sz="1600" b="0" i="0" baseline="30000">
                <a:solidFill>
                  <a:srgbClr val="14202E"/>
                </a:solidFill>
                <a:latin typeface="Cambria"/>
              </a:rPr>
              <a:t>*</a:t>
            </a:r>
            <a:r>
              <a:rPr sz="1600" b="0" i="1" baseline="-25000">
                <a:solidFill>
                  <a:srgbClr val="14202E"/>
                </a:solidFill>
                <a:latin typeface="Cambria"/>
              </a:rPr>
              <a:t>p</a:t>
            </a:r>
            <a:r>
              <a:rPr sz="1600" b="0" i="0">
                <a:solidFill>
                  <a:srgbClr val="14202E"/>
                </a:solidFill>
                <a:latin typeface="Calibri"/>
              </a:rPr>
              <a:t>,  </a:t>
            </a: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r</a:t>
            </a:r>
            <a:r>
              <a:rPr sz="1600" b="0" i="1" baseline="-25000">
                <a:solidFill>
                  <a:srgbClr val="14202E"/>
                </a:solidFill>
                <a:latin typeface="Cambria"/>
              </a:rPr>
              <a:t>i</a:t>
            </a:r>
            <a:r>
              <a:rPr sz="1600" b="0" i="1">
                <a:solidFill>
                  <a:srgbClr val="14202E"/>
                </a:solidFill>
                <a:latin typeface="Cambria"/>
              </a:rPr>
              <a:t>P</a:t>
            </a:r>
            <a:r>
              <a:rPr sz="1600" b="0" i="0">
                <a:solidFill>
                  <a:srgbClr val="14202E"/>
                </a:solidFill>
                <a:latin typeface="Calibri"/>
              </a:rPr>
              <a:t>,  </a:t>
            </a:r>
            <a:r>
              <a:rPr sz="1600" b="0" i="1">
                <a:solidFill>
                  <a:srgbClr val="14202E"/>
                </a:solidFill>
                <a:latin typeface="Cambria"/>
              </a:rPr>
              <a:t>c</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s</a:t>
            </a:r>
            <a:r>
              <a:rPr sz="1600" b="0" i="1" baseline="30000">
                <a:solidFill>
                  <a:srgbClr val="14202E"/>
                </a:solidFill>
                <a:latin typeface="Cambria"/>
              </a:rPr>
              <a:t>k</a:t>
            </a:r>
            <a:r>
              <a:rPr sz="1600" b="0" i="1" baseline="-25000">
                <a:solidFill>
                  <a:srgbClr val="14202E"/>
                </a:solidFill>
                <a:latin typeface="Cambria"/>
              </a:rPr>
              <a:t>TA</a:t>
            </a:r>
            <a:r>
              <a:rPr sz="1600" b="0" i="1">
                <a:solidFill>
                  <a:srgbClr val="14202E"/>
                </a:solidFill>
                <a:latin typeface="Cambria"/>
              </a:rPr>
              <a:t>H</a:t>
            </a:r>
            <a:r>
              <a:rPr sz="1600" b="0" i="0" baseline="-25000">
                <a:solidFill>
                  <a:srgbClr val="14202E"/>
                </a:solidFill>
                <a:latin typeface="Cambria"/>
              </a:rPr>
              <a:t>0</a:t>
            </a:r>
            <a:r>
              <a:rPr sz="1600" b="0" i="0">
                <a:solidFill>
                  <a:srgbClr val="14202E"/>
                </a:solidFill>
                <a:latin typeface="Cambria"/>
              </a:rPr>
              <a:t>(</a:t>
            </a:r>
            <a:r>
              <a:rPr sz="1600" b="0" i="1">
                <a:solidFill>
                  <a:srgbClr val="14202E"/>
                </a:solidFill>
                <a:latin typeface="Cambria"/>
              </a:rPr>
              <a:t>id</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pk</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mbria"/>
              </a:rPr>
              <a:t>)</a:t>
            </a:r>
          </a:p>
          <a:p>
            <a:pPr algn="l">
              <a:spcBef>
                <a:spcPts val="0"/>
              </a:spcBef>
              <a:spcAft>
                <a:spcPts val="0"/>
              </a:spcAft>
            </a:pPr>
            <a:r>
              <a:rPr sz="1600" b="0" i="1">
                <a:solidFill>
                  <a:srgbClr val="14202E"/>
                </a:solidFill>
                <a:latin typeface="Cambria"/>
              </a:rPr>
              <a:t>Cert</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c</a:t>
            </a:r>
            <a:r>
              <a:rPr sz="1600" b="0" i="1" baseline="-25000">
                <a:solidFill>
                  <a:srgbClr val="14202E"/>
                </a:solidFill>
                <a:latin typeface="Cambria"/>
              </a:rPr>
              <a:t>i</a:t>
            </a:r>
            <a:r>
              <a:rPr sz="1600" b="0" i="0">
                <a:solidFill>
                  <a:srgbClr val="14202E"/>
                </a:solidFill>
                <a:latin typeface="Cambria"/>
              </a:rPr>
              <a:t>, </a:t>
            </a: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mbria"/>
              </a:rPr>
              <a:t>)</a:t>
            </a:r>
            <a:r>
              <a:rPr sz="1600" b="0" i="0">
                <a:solidFill>
                  <a:srgbClr val="14202E"/>
                </a:solidFill>
                <a:latin typeface="Calibri"/>
              </a:rPr>
              <a:t>,  </a:t>
            </a: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libri"/>
              </a:rPr>
              <a:t> public;  check </a:t>
            </a:r>
            <a:r>
              <a:rPr sz="1600" b="0" i="1">
                <a:solidFill>
                  <a:srgbClr val="14202E"/>
                </a:solidFill>
                <a:latin typeface="Cambria"/>
              </a:rPr>
              <a:t>c</a:t>
            </a:r>
            <a:r>
              <a:rPr sz="1600" b="0" i="1" baseline="-25000">
                <a:solidFill>
                  <a:srgbClr val="14202E"/>
                </a:solidFill>
                <a:latin typeface="Cambria"/>
              </a:rPr>
              <a:t>i</a:t>
            </a:r>
            <a:r>
              <a:rPr sz="1600" b="0" i="1">
                <a:solidFill>
                  <a:srgbClr val="14202E"/>
                </a:solidFill>
                <a:latin typeface="Cambria"/>
              </a:rPr>
              <a:t>P</a:t>
            </a:r>
            <a:r>
              <a:rPr sz="1600" b="0" i="0">
                <a:solidFill>
                  <a:srgbClr val="14202E"/>
                </a:solidFill>
                <a:latin typeface="Cambria"/>
              </a:rPr>
              <a:t> = </a:t>
            </a: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H</a:t>
            </a:r>
            <a:r>
              <a:rPr sz="1600" b="0" i="0" baseline="-25000">
                <a:solidFill>
                  <a:srgbClr val="14202E"/>
                </a:solidFill>
                <a:latin typeface="Cambria"/>
              </a:rPr>
              <a:t>0</a:t>
            </a:r>
            <a:r>
              <a:rPr sz="1600" b="0" i="0">
                <a:solidFill>
                  <a:srgbClr val="14202E"/>
                </a:solidFill>
                <a:latin typeface="Cambria"/>
              </a:rPr>
              <a:t>(</a:t>
            </a:r>
            <a:r>
              <a:rPr sz="1600" b="0" i="1">
                <a:solidFill>
                  <a:srgbClr val="14202E"/>
                </a:solidFill>
                <a:latin typeface="Cambria"/>
              </a:rPr>
              <a:t>id</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pk</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P</a:t>
            </a:r>
            <a:r>
              <a:rPr sz="1600" b="0" i="1" baseline="30000">
                <a:solidFill>
                  <a:srgbClr val="14202E"/>
                </a:solidFill>
                <a:latin typeface="Cambria"/>
              </a:rPr>
              <a:t>k</a:t>
            </a:r>
            <a:r>
              <a:rPr sz="1600" b="0" i="1" baseline="-25000">
                <a:solidFill>
                  <a:srgbClr val="14202E"/>
                </a:solidFill>
                <a:latin typeface="Cambria"/>
              </a:rPr>
              <a:t>TA</a:t>
            </a:r>
          </a:p>
        </p:txBody>
      </p:sp>
      <p:cxnSp>
        <p:nvCxnSpPr>
          <p:cNvPr id="21" name="Connector 20"/>
          <p:cNvCxnSpPr/>
          <p:nvPr/>
        </p:nvCxnSpPr>
        <p:spPr>
          <a:xfrm>
            <a:off x="548640" y="3776472"/>
            <a:ext cx="11091672" cy="0"/>
          </a:xfrm>
          <a:prstGeom prst="line">
            <a:avLst/>
          </a:prstGeom>
          <a:ln w="12700">
            <a:solidFill>
              <a:srgbClr val="D3D9E1"/>
            </a:solidFill>
          </a:ln>
        </p:spPr>
      </p:cxnSp>
      <p:sp>
        <p:nvSpPr>
          <p:cNvPr id="22" name="TextBox 21"/>
          <p:cNvSpPr txBox="1"/>
          <p:nvPr/>
        </p:nvSpPr>
        <p:spPr>
          <a:xfrm>
            <a:off x="640080" y="3776472"/>
            <a:ext cx="1417320" cy="777240"/>
          </a:xfrm>
          <a:prstGeom prst="rect">
            <a:avLst/>
          </a:prstGeom>
          <a:noFill/>
        </p:spPr>
        <p:txBody>
          <a:bodyPr wrap="square" lIns="0" rIns="0" tIns="0" bIns="0" anchor="ctr">
            <a:spAutoFit/>
          </a:bodyPr>
          <a:lstStyle/>
          <a:p>
            <a:pPr algn="l">
              <a:spcBef>
                <a:spcPts val="0"/>
              </a:spcBef>
              <a:spcAft>
                <a:spcPts val="0"/>
              </a:spcAft>
            </a:pPr>
            <a:r>
              <a:rPr sz="1600" b="1" i="0">
                <a:solidFill>
                  <a:srgbClr val="14202E"/>
                </a:solidFill>
                <a:latin typeface="Calibri"/>
              </a:rPr>
              <a:t>Sign</a:t>
            </a:r>
          </a:p>
        </p:txBody>
      </p:sp>
      <p:sp>
        <p:nvSpPr>
          <p:cNvPr id="23" name="TextBox 22"/>
          <p:cNvSpPr txBox="1"/>
          <p:nvPr/>
        </p:nvSpPr>
        <p:spPr>
          <a:xfrm>
            <a:off x="2240280" y="3776472"/>
            <a:ext cx="9308592" cy="777240"/>
          </a:xfrm>
          <a:prstGeom prst="rect">
            <a:avLst/>
          </a:prstGeom>
          <a:noFill/>
        </p:spPr>
        <p:txBody>
          <a:bodyPr wrap="square" lIns="0" rIns="0" tIns="0" bIns="0" anchor="ctr">
            <a:spAutoFit/>
          </a:bodyPr>
          <a:lstStyle/>
          <a:p>
            <a:pPr algn="l">
              <a:spcBef>
                <a:spcPts val="0"/>
              </a:spcBef>
              <a:spcAft>
                <a:spcPts val="0"/>
              </a:spcAft>
            </a:pPr>
            <a:r>
              <a:rPr sz="1600" b="0" i="1">
                <a:solidFill>
                  <a:srgbClr val="14202E"/>
                </a:solidFill>
                <a:latin typeface="Cambria"/>
              </a:rPr>
              <a:t>t</a:t>
            </a:r>
            <a:r>
              <a:rPr sz="1600" b="0" i="1" baseline="-25000">
                <a:solidFill>
                  <a:srgbClr val="14202E"/>
                </a:solidFill>
                <a:latin typeface="Cambria"/>
              </a:rPr>
              <a:t>i</a:t>
            </a:r>
            <a:r>
              <a:rPr sz="1600" b="0" i="0">
                <a:solidFill>
                  <a:srgbClr val="14202E"/>
                </a:solidFill>
                <a:latin typeface="Cambria"/>
              </a:rPr>
              <a:t> ←</a:t>
            </a:r>
            <a:r>
              <a:rPr sz="1600" b="0" i="1" baseline="-25000">
                <a:solidFill>
                  <a:srgbClr val="14202E"/>
                </a:solidFill>
                <a:latin typeface="Cambria"/>
              </a:rPr>
              <a:t>R</a:t>
            </a:r>
            <a:r>
              <a:rPr sz="1600" b="0" i="0">
                <a:solidFill>
                  <a:srgbClr val="14202E"/>
                </a:solidFill>
                <a:latin typeface="Cambria"/>
              </a:rPr>
              <a:t> </a:t>
            </a:r>
            <a:r>
              <a:rPr sz="1600" b="0" i="1">
                <a:solidFill>
                  <a:srgbClr val="14202E"/>
                </a:solidFill>
                <a:latin typeface="Cambria"/>
              </a:rPr>
              <a:t>Z</a:t>
            </a:r>
            <a:r>
              <a:rPr sz="1600" b="0" i="0" baseline="30000">
                <a:solidFill>
                  <a:srgbClr val="14202E"/>
                </a:solidFill>
                <a:latin typeface="Cambria"/>
              </a:rPr>
              <a:t>*</a:t>
            </a:r>
            <a:r>
              <a:rPr sz="1600" b="0" i="1" baseline="-25000">
                <a:solidFill>
                  <a:srgbClr val="14202E"/>
                </a:solidFill>
                <a:latin typeface="Cambria"/>
              </a:rPr>
              <a:t>p</a:t>
            </a:r>
            <a:r>
              <a:rPr sz="1600" b="0" i="0">
                <a:solidFill>
                  <a:srgbClr val="14202E"/>
                </a:solidFill>
                <a:latin typeface="Calibri"/>
              </a:rPr>
              <a:t>,  </a:t>
            </a:r>
            <a:r>
              <a:rPr sz="1600" b="0" i="1">
                <a:solidFill>
                  <a:srgbClr val="14202E"/>
                </a:solidFill>
                <a:latin typeface="Cambria"/>
              </a:rPr>
              <a:t>T</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t</a:t>
            </a:r>
            <a:r>
              <a:rPr sz="1600" b="0" i="1" baseline="-25000">
                <a:solidFill>
                  <a:srgbClr val="14202E"/>
                </a:solidFill>
                <a:latin typeface="Cambria"/>
              </a:rPr>
              <a:t>i</a:t>
            </a:r>
            <a:r>
              <a:rPr sz="1600" b="0" i="1">
                <a:solidFill>
                  <a:srgbClr val="14202E"/>
                </a:solidFill>
                <a:latin typeface="Cambria"/>
              </a:rPr>
              <a:t>P</a:t>
            </a:r>
            <a:r>
              <a:rPr sz="1600" b="0" i="0">
                <a:solidFill>
                  <a:srgbClr val="14202E"/>
                </a:solidFill>
                <a:latin typeface="Calibri"/>
              </a:rPr>
              <a:t>,   </a:t>
            </a:r>
            <a:r>
              <a:rPr sz="1600" b="0" i="1">
                <a:solidFill>
                  <a:srgbClr val="14202E"/>
                </a:solidFill>
                <a:latin typeface="Cambria"/>
              </a:rPr>
              <a:t>v</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H</a:t>
            </a:r>
            <a:r>
              <a:rPr sz="1600" b="0" i="0" baseline="-25000">
                <a:solidFill>
                  <a:srgbClr val="14202E"/>
                </a:solidFill>
                <a:latin typeface="Cambria"/>
              </a:rPr>
              <a:t>1</a:t>
            </a:r>
            <a:r>
              <a:rPr sz="1600" b="0" i="0">
                <a:solidFill>
                  <a:srgbClr val="14202E"/>
                </a:solidFill>
                <a:latin typeface="Cambria"/>
              </a:rPr>
              <a:t>(</a:t>
            </a:r>
            <a:r>
              <a:rPr sz="1600" b="0" i="1">
                <a:solidFill>
                  <a:srgbClr val="14202E"/>
                </a:solidFill>
                <a:latin typeface="Cambria"/>
              </a:rPr>
              <a:t>m</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pk</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id</a:t>
            </a:r>
            <a:r>
              <a:rPr sz="1600" b="0" i="1" baseline="-25000">
                <a:solidFill>
                  <a:srgbClr val="14202E"/>
                </a:solidFill>
                <a:latin typeface="Cambria"/>
              </a:rPr>
              <a:t>i</a:t>
            </a:r>
            <a:r>
              <a:rPr sz="1600" b="0" i="0">
                <a:solidFill>
                  <a:srgbClr val="14202E"/>
                </a:solidFill>
                <a:latin typeface="Cambria"/>
              </a:rPr>
              <a:t>‖</a:t>
            </a:r>
            <a:r>
              <a:rPr sz="1600" b="0" i="1">
                <a:solidFill>
                  <a:srgbClr val="1E7B4F"/>
                </a:solidFill>
                <a:latin typeface="Cambria"/>
              </a:rPr>
              <a:t>T</a:t>
            </a:r>
            <a:r>
              <a:rPr sz="1600" b="0" i="1" baseline="-25000">
                <a:solidFill>
                  <a:srgbClr val="1E7B4F"/>
                </a:solidFill>
                <a:latin typeface="Cambria"/>
              </a:rPr>
              <a:t>i</a:t>
            </a:r>
            <a:r>
              <a:rPr sz="1600" b="0" i="0">
                <a:solidFill>
                  <a:srgbClr val="14202E"/>
                </a:solidFill>
                <a:latin typeface="Cambria"/>
              </a:rPr>
              <a:t>‖Δ)</a:t>
            </a:r>
          </a:p>
          <a:p>
            <a:pPr algn="l">
              <a:spcBef>
                <a:spcPts val="0"/>
              </a:spcBef>
              <a:spcAft>
                <a:spcPts val="0"/>
              </a:spcAft>
            </a:pPr>
            <a:r>
              <a:rPr sz="1600" b="0" i="1">
                <a:solidFill>
                  <a:srgbClr val="14202E"/>
                </a:solidFill>
                <a:latin typeface="Cambria"/>
              </a:rPr>
              <a:t>u</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H</a:t>
            </a:r>
            <a:r>
              <a:rPr sz="1600" b="0" i="0" baseline="-25000">
                <a:solidFill>
                  <a:srgbClr val="14202E"/>
                </a:solidFill>
                <a:latin typeface="Cambria"/>
              </a:rPr>
              <a:t>2</a:t>
            </a:r>
            <a:r>
              <a:rPr sz="1600" b="0" i="0">
                <a:solidFill>
                  <a:srgbClr val="14202E"/>
                </a:solidFill>
                <a:latin typeface="Cambria"/>
              </a:rPr>
              <a:t>(</a:t>
            </a:r>
            <a:r>
              <a:rPr sz="1600" b="0" i="1">
                <a:solidFill>
                  <a:srgbClr val="14202E"/>
                </a:solidFill>
                <a:latin typeface="Cambria"/>
              </a:rPr>
              <a:t>m</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pk</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id</a:t>
            </a:r>
            <a:r>
              <a:rPr sz="1600" b="0" i="1" baseline="-25000">
                <a:solidFill>
                  <a:srgbClr val="14202E"/>
                </a:solidFill>
                <a:latin typeface="Cambria"/>
              </a:rPr>
              <a:t>i</a:t>
            </a:r>
            <a:r>
              <a:rPr sz="1600" b="0" i="0">
                <a:solidFill>
                  <a:srgbClr val="14202E"/>
                </a:solidFill>
                <a:latin typeface="Cambria"/>
              </a:rPr>
              <a:t>‖</a:t>
            </a:r>
            <a:r>
              <a:rPr sz="1600" b="0" i="1">
                <a:solidFill>
                  <a:srgbClr val="1E7B4F"/>
                </a:solidFill>
                <a:latin typeface="Cambria"/>
              </a:rPr>
              <a:t>T</a:t>
            </a:r>
            <a:r>
              <a:rPr sz="1600" b="0" i="1" baseline="-25000">
                <a:solidFill>
                  <a:srgbClr val="1E7B4F"/>
                </a:solidFill>
                <a:latin typeface="Cambria"/>
              </a:rPr>
              <a:t>i</a:t>
            </a:r>
            <a:r>
              <a:rPr sz="1600" b="0" i="0">
                <a:solidFill>
                  <a:srgbClr val="14202E"/>
                </a:solidFill>
                <a:latin typeface="Cambria"/>
              </a:rPr>
              <a:t>‖Δ)</a:t>
            </a:r>
            <a:r>
              <a:rPr sz="1600" b="0" i="0">
                <a:solidFill>
                  <a:srgbClr val="14202E"/>
                </a:solidFill>
                <a:latin typeface="Calibri"/>
              </a:rPr>
              <a:t>,   </a:t>
            </a:r>
            <a:r>
              <a:rPr sz="1600" b="0" i="1">
                <a:solidFill>
                  <a:srgbClr val="14202E"/>
                </a:solidFill>
                <a:latin typeface="Cambria"/>
              </a:rPr>
              <a:t>z</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t</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c</a:t>
            </a:r>
            <a:r>
              <a:rPr sz="1600" b="0" i="1" baseline="-25000">
                <a:solidFill>
                  <a:srgbClr val="14202E"/>
                </a:solidFill>
                <a:latin typeface="Cambria"/>
              </a:rPr>
              <a:t>i</a:t>
            </a:r>
            <a:r>
              <a:rPr sz="1600" b="0" i="1">
                <a:solidFill>
                  <a:srgbClr val="14202E"/>
                </a:solidFill>
                <a:latin typeface="Cambria"/>
              </a:rPr>
              <a:t>u</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sk</a:t>
            </a:r>
            <a:r>
              <a:rPr sz="1600" b="0" i="1" baseline="-25000">
                <a:solidFill>
                  <a:srgbClr val="14202E"/>
                </a:solidFill>
                <a:latin typeface="Cambria"/>
              </a:rPr>
              <a:t>i</a:t>
            </a:r>
            <a:r>
              <a:rPr sz="1600" b="0" i="1">
                <a:solidFill>
                  <a:srgbClr val="14202E"/>
                </a:solidFill>
                <a:latin typeface="Cambria"/>
              </a:rPr>
              <a:t>v</a:t>
            </a:r>
            <a:r>
              <a:rPr sz="1600" b="0" i="1" baseline="-25000">
                <a:solidFill>
                  <a:srgbClr val="14202E"/>
                </a:solidFill>
                <a:latin typeface="Cambria"/>
              </a:rPr>
              <a:t>i</a:t>
            </a:r>
            <a:r>
              <a:rPr sz="1600" b="0" i="0">
                <a:solidFill>
                  <a:srgbClr val="14202E"/>
                </a:solidFill>
                <a:latin typeface="Calibri"/>
              </a:rPr>
              <a:t>,   </a:t>
            </a:r>
            <a:r>
              <a:rPr sz="1600" b="0" i="1">
                <a:solidFill>
                  <a:srgbClr val="14202E"/>
                </a:solidFill>
                <a:latin typeface="Cambria"/>
              </a:rPr>
              <a:t>δ</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T</a:t>
            </a:r>
            <a:r>
              <a:rPr sz="1600" b="0" i="1" baseline="-25000">
                <a:solidFill>
                  <a:srgbClr val="14202E"/>
                </a:solidFill>
                <a:latin typeface="Cambria"/>
              </a:rPr>
              <a:t>i</a:t>
            </a:r>
            <a:r>
              <a:rPr sz="1600" b="0" i="0">
                <a:solidFill>
                  <a:srgbClr val="14202E"/>
                </a:solidFill>
                <a:latin typeface="Cambria"/>
              </a:rPr>
              <a:t>, </a:t>
            </a:r>
            <a:r>
              <a:rPr sz="1600" b="0" i="1">
                <a:solidFill>
                  <a:srgbClr val="14202E"/>
                </a:solidFill>
                <a:latin typeface="Cambria"/>
              </a:rPr>
              <a:t>z</a:t>
            </a:r>
            <a:r>
              <a:rPr sz="1600" b="0" i="1" baseline="-25000">
                <a:solidFill>
                  <a:srgbClr val="14202E"/>
                </a:solidFill>
                <a:latin typeface="Cambria"/>
              </a:rPr>
              <a:t>i</a:t>
            </a:r>
            <a:r>
              <a:rPr sz="1600" b="0" i="0">
                <a:solidFill>
                  <a:srgbClr val="14202E"/>
                </a:solidFill>
                <a:latin typeface="Cambria"/>
              </a:rPr>
              <a:t>)</a:t>
            </a:r>
          </a:p>
        </p:txBody>
      </p:sp>
      <p:cxnSp>
        <p:nvCxnSpPr>
          <p:cNvPr id="24" name="Connector 23"/>
          <p:cNvCxnSpPr/>
          <p:nvPr/>
        </p:nvCxnSpPr>
        <p:spPr>
          <a:xfrm>
            <a:off x="548640" y="4553712"/>
            <a:ext cx="11091672" cy="0"/>
          </a:xfrm>
          <a:prstGeom prst="line">
            <a:avLst/>
          </a:prstGeom>
          <a:ln w="12700">
            <a:solidFill>
              <a:srgbClr val="D3D9E1"/>
            </a:solidFill>
          </a:ln>
        </p:spPr>
      </p:cxnSp>
      <p:sp>
        <p:nvSpPr>
          <p:cNvPr id="25" name="TextBox 24"/>
          <p:cNvSpPr txBox="1"/>
          <p:nvPr/>
        </p:nvSpPr>
        <p:spPr>
          <a:xfrm>
            <a:off x="640080" y="4553712"/>
            <a:ext cx="1417320" cy="438912"/>
          </a:xfrm>
          <a:prstGeom prst="rect">
            <a:avLst/>
          </a:prstGeom>
          <a:noFill/>
        </p:spPr>
        <p:txBody>
          <a:bodyPr wrap="square" lIns="0" rIns="0" tIns="0" bIns="0" anchor="ctr">
            <a:spAutoFit/>
          </a:bodyPr>
          <a:lstStyle/>
          <a:p>
            <a:pPr algn="l">
              <a:spcBef>
                <a:spcPts val="0"/>
              </a:spcBef>
              <a:spcAft>
                <a:spcPts val="0"/>
              </a:spcAft>
            </a:pPr>
            <a:r>
              <a:rPr sz="1600" b="1" i="0">
                <a:solidFill>
                  <a:srgbClr val="14202E"/>
                </a:solidFill>
                <a:latin typeface="Calibri"/>
              </a:rPr>
              <a:t>AggSign</a:t>
            </a:r>
          </a:p>
        </p:txBody>
      </p:sp>
      <p:sp>
        <p:nvSpPr>
          <p:cNvPr id="26" name="TextBox 25"/>
          <p:cNvSpPr txBox="1"/>
          <p:nvPr/>
        </p:nvSpPr>
        <p:spPr>
          <a:xfrm>
            <a:off x="2240280" y="4553712"/>
            <a:ext cx="9308592" cy="438912"/>
          </a:xfrm>
          <a:prstGeom prst="rect">
            <a:avLst/>
          </a:prstGeom>
          <a:noFill/>
        </p:spPr>
        <p:txBody>
          <a:bodyPr wrap="square" lIns="0" rIns="0" tIns="0" bIns="0" anchor="ctr">
            <a:spAutoFit/>
          </a:bodyPr>
          <a:lstStyle/>
          <a:p>
            <a:pPr algn="l">
              <a:spcBef>
                <a:spcPts val="0"/>
              </a:spcBef>
              <a:spcAft>
                <a:spcPts val="0"/>
              </a:spcAft>
            </a:pPr>
            <a:r>
              <a:rPr sz="1600" b="0" i="1">
                <a:solidFill>
                  <a:srgbClr val="14202E"/>
                </a:solidFill>
                <a:latin typeface="Cambria"/>
              </a:rPr>
              <a:t>z</a:t>
            </a:r>
            <a:r>
              <a:rPr sz="1600" b="0" i="0">
                <a:solidFill>
                  <a:srgbClr val="14202E"/>
                </a:solidFill>
                <a:latin typeface="Cambria"/>
              </a:rPr>
              <a:t> = Σ</a:t>
            </a:r>
            <a:r>
              <a:rPr sz="1600" b="0" i="1">
                <a:solidFill>
                  <a:srgbClr val="14202E"/>
                </a:solidFill>
                <a:latin typeface="Cambria"/>
              </a:rPr>
              <a:t>z</a:t>
            </a:r>
            <a:r>
              <a:rPr sz="1600" b="0" i="1" baseline="-25000">
                <a:solidFill>
                  <a:srgbClr val="14202E"/>
                </a:solidFill>
                <a:latin typeface="Cambria"/>
              </a:rPr>
              <a:t>i</a:t>
            </a:r>
            <a:r>
              <a:rPr sz="1600" b="0" i="0">
                <a:solidFill>
                  <a:srgbClr val="14202E"/>
                </a:solidFill>
                <a:latin typeface="Calibri"/>
              </a:rPr>
              <a:t>,  </a:t>
            </a:r>
            <a:r>
              <a:rPr sz="1600" b="0" i="1">
                <a:solidFill>
                  <a:srgbClr val="14202E"/>
                </a:solidFill>
                <a:latin typeface="Cambria"/>
              </a:rPr>
              <a:t>δ</a:t>
            </a:r>
            <a:r>
              <a:rPr sz="1600" b="0" i="0">
                <a:solidFill>
                  <a:srgbClr val="14202E"/>
                </a:solidFill>
                <a:latin typeface="Cambria"/>
              </a:rPr>
              <a:t> = (</a:t>
            </a:r>
            <a:r>
              <a:rPr sz="1600" b="0" i="1">
                <a:solidFill>
                  <a:srgbClr val="14202E"/>
                </a:solidFill>
                <a:latin typeface="Cambria"/>
              </a:rPr>
              <a:t>T</a:t>
            </a:r>
            <a:r>
              <a:rPr sz="1600" b="0" i="0">
                <a:solidFill>
                  <a:srgbClr val="14202E"/>
                </a:solidFill>
                <a:latin typeface="Cambria"/>
              </a:rPr>
              <a:t>, </a:t>
            </a:r>
            <a:r>
              <a:rPr sz="1600" b="0" i="1">
                <a:solidFill>
                  <a:srgbClr val="14202E"/>
                </a:solidFill>
                <a:latin typeface="Cambria"/>
              </a:rPr>
              <a:t>z</a:t>
            </a:r>
            <a:r>
              <a:rPr sz="1600" b="0" i="0">
                <a:solidFill>
                  <a:srgbClr val="14202E"/>
                </a:solidFill>
                <a:latin typeface="Cambria"/>
              </a:rPr>
              <a:t>)</a:t>
            </a:r>
            <a:r>
              <a:rPr sz="1600" b="0" i="0">
                <a:solidFill>
                  <a:srgbClr val="14202E"/>
                </a:solidFill>
                <a:latin typeface="Calibri"/>
              </a:rPr>
              <a:t> with </a:t>
            </a:r>
            <a:r>
              <a:rPr sz="1600" b="0" i="1">
                <a:solidFill>
                  <a:srgbClr val="14202E"/>
                </a:solidFill>
                <a:latin typeface="Cambria"/>
              </a:rPr>
              <a:t>T</a:t>
            </a:r>
            <a:r>
              <a:rPr sz="1600" b="0" i="0">
                <a:solidFill>
                  <a:srgbClr val="14202E"/>
                </a:solidFill>
                <a:latin typeface="Cambria"/>
              </a:rPr>
              <a:t> = (</a:t>
            </a:r>
            <a:r>
              <a:rPr sz="1600" b="0" i="1">
                <a:solidFill>
                  <a:srgbClr val="14202E"/>
                </a:solidFill>
                <a:latin typeface="Cambria"/>
              </a:rPr>
              <a:t>T</a:t>
            </a:r>
            <a:r>
              <a:rPr sz="1600" b="0" i="0" baseline="-25000">
                <a:solidFill>
                  <a:srgbClr val="14202E"/>
                </a:solidFill>
                <a:latin typeface="Cambria"/>
              </a:rPr>
              <a:t>1</a:t>
            </a:r>
            <a:r>
              <a:rPr sz="1600" b="0" i="0">
                <a:solidFill>
                  <a:srgbClr val="14202E"/>
                </a:solidFill>
                <a:latin typeface="Cambria"/>
              </a:rPr>
              <a:t>, …, </a:t>
            </a:r>
            <a:r>
              <a:rPr sz="1600" b="0" i="1">
                <a:solidFill>
                  <a:srgbClr val="14202E"/>
                </a:solidFill>
                <a:latin typeface="Cambria"/>
              </a:rPr>
              <a:t>T</a:t>
            </a:r>
            <a:r>
              <a:rPr sz="1600" b="0" i="1" baseline="-25000">
                <a:solidFill>
                  <a:srgbClr val="14202E"/>
                </a:solidFill>
                <a:latin typeface="Cambria"/>
              </a:rPr>
              <a:t>n</a:t>
            </a:r>
            <a:r>
              <a:rPr sz="1600" b="0" i="0">
                <a:solidFill>
                  <a:srgbClr val="14202E"/>
                </a:solidFill>
                <a:latin typeface="Cambria"/>
              </a:rPr>
              <a:t>)</a:t>
            </a:r>
          </a:p>
        </p:txBody>
      </p:sp>
      <p:cxnSp>
        <p:nvCxnSpPr>
          <p:cNvPr id="27" name="Connector 26"/>
          <p:cNvCxnSpPr/>
          <p:nvPr/>
        </p:nvCxnSpPr>
        <p:spPr>
          <a:xfrm>
            <a:off x="548640" y="4992623"/>
            <a:ext cx="11091672" cy="0"/>
          </a:xfrm>
          <a:prstGeom prst="line">
            <a:avLst/>
          </a:prstGeom>
          <a:ln w="12700">
            <a:solidFill>
              <a:srgbClr val="D3D9E1"/>
            </a:solidFill>
          </a:ln>
        </p:spPr>
      </p:cxnSp>
      <p:sp>
        <p:nvSpPr>
          <p:cNvPr id="28" name="TextBox 27"/>
          <p:cNvSpPr txBox="1"/>
          <p:nvPr/>
        </p:nvSpPr>
        <p:spPr>
          <a:xfrm>
            <a:off x="640080" y="4992623"/>
            <a:ext cx="1417320" cy="777240"/>
          </a:xfrm>
          <a:prstGeom prst="rect">
            <a:avLst/>
          </a:prstGeom>
          <a:noFill/>
        </p:spPr>
        <p:txBody>
          <a:bodyPr wrap="square" lIns="0" rIns="0" tIns="0" bIns="0" anchor="ctr">
            <a:spAutoFit/>
          </a:bodyPr>
          <a:lstStyle/>
          <a:p>
            <a:pPr algn="l">
              <a:spcBef>
                <a:spcPts val="0"/>
              </a:spcBef>
              <a:spcAft>
                <a:spcPts val="0"/>
              </a:spcAft>
            </a:pPr>
            <a:r>
              <a:rPr sz="1600" b="1" i="0">
                <a:solidFill>
                  <a:srgbClr val="14202E"/>
                </a:solidFill>
                <a:latin typeface="Calibri"/>
              </a:rPr>
              <a:t>AggVerify</a:t>
            </a:r>
          </a:p>
        </p:txBody>
      </p:sp>
      <p:sp>
        <p:nvSpPr>
          <p:cNvPr id="29" name="TextBox 28"/>
          <p:cNvSpPr txBox="1"/>
          <p:nvPr/>
        </p:nvSpPr>
        <p:spPr>
          <a:xfrm>
            <a:off x="2240280" y="4992623"/>
            <a:ext cx="9308592" cy="777240"/>
          </a:xfrm>
          <a:prstGeom prst="rect">
            <a:avLst/>
          </a:prstGeom>
          <a:noFill/>
        </p:spPr>
        <p:txBody>
          <a:bodyPr wrap="square" lIns="0" rIns="0" tIns="0" bIns="0" anchor="ctr">
            <a:spAutoFit/>
          </a:bodyPr>
          <a:lstStyle/>
          <a:p>
            <a:pPr algn="l">
              <a:spcBef>
                <a:spcPts val="0"/>
              </a:spcBef>
              <a:spcAft>
                <a:spcPts val="0"/>
              </a:spcAft>
            </a:pPr>
            <a:r>
              <a:rPr sz="1600" b="0" i="1">
                <a:solidFill>
                  <a:srgbClr val="14202E"/>
                </a:solidFill>
                <a:latin typeface="Cambria"/>
              </a:rPr>
              <a:t>h</a:t>
            </a:r>
            <a:r>
              <a:rPr sz="1600" b="0" i="1" baseline="30000">
                <a:solidFill>
                  <a:srgbClr val="14202E"/>
                </a:solidFill>
                <a:latin typeface="Cambria"/>
              </a:rPr>
              <a:t>i</a:t>
            </a:r>
            <a:r>
              <a:rPr sz="1600" b="0" i="0" baseline="-25000">
                <a:solidFill>
                  <a:srgbClr val="14202E"/>
                </a:solidFill>
                <a:latin typeface="Cambria"/>
              </a:rPr>
              <a:t>0</a:t>
            </a:r>
            <a:r>
              <a:rPr sz="1600" b="0" i="0">
                <a:solidFill>
                  <a:srgbClr val="14202E"/>
                </a:solidFill>
                <a:latin typeface="Cambria"/>
              </a:rPr>
              <a:t> = </a:t>
            </a:r>
            <a:r>
              <a:rPr sz="1600" b="0" i="1">
                <a:solidFill>
                  <a:srgbClr val="14202E"/>
                </a:solidFill>
                <a:latin typeface="Cambria"/>
              </a:rPr>
              <a:t>H</a:t>
            </a:r>
            <a:r>
              <a:rPr sz="1600" b="0" i="0" baseline="-25000">
                <a:solidFill>
                  <a:srgbClr val="14202E"/>
                </a:solidFill>
                <a:latin typeface="Cambria"/>
              </a:rPr>
              <a:t>0</a:t>
            </a:r>
            <a:r>
              <a:rPr sz="1600" b="0" i="0">
                <a:solidFill>
                  <a:srgbClr val="14202E"/>
                </a:solidFill>
                <a:latin typeface="Cambria"/>
              </a:rPr>
              <a:t>(</a:t>
            </a:r>
            <a:r>
              <a:rPr sz="1600" b="0" i="1">
                <a:solidFill>
                  <a:srgbClr val="14202E"/>
                </a:solidFill>
                <a:latin typeface="Cambria"/>
              </a:rPr>
              <a:t>id</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pk</a:t>
            </a:r>
            <a:r>
              <a:rPr sz="1600" b="0" i="1" baseline="-25000">
                <a:solidFill>
                  <a:srgbClr val="14202E"/>
                </a:solidFill>
                <a:latin typeface="Cambria"/>
              </a:rPr>
              <a:t>i</a:t>
            </a:r>
            <a:r>
              <a:rPr sz="1600" b="0" i="0">
                <a:solidFill>
                  <a:srgbClr val="14202E"/>
                </a:solidFill>
                <a:latin typeface="Cambria"/>
              </a:rPr>
              <a:t>‖</a:t>
            </a: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mbria"/>
              </a:rPr>
              <a:t>)</a:t>
            </a:r>
            <a:r>
              <a:rPr sz="1600" b="0" i="0">
                <a:solidFill>
                  <a:srgbClr val="14202E"/>
                </a:solidFill>
                <a:latin typeface="Calibri"/>
              </a:rPr>
              <a:t>,  </a:t>
            </a:r>
            <a:r>
              <a:rPr sz="1600" b="0" i="1">
                <a:solidFill>
                  <a:srgbClr val="14202E"/>
                </a:solidFill>
                <a:latin typeface="Cambria"/>
              </a:rPr>
              <a:t>v</a:t>
            </a:r>
            <a:r>
              <a:rPr sz="1600" b="0" i="1" baseline="-25000">
                <a:solidFill>
                  <a:srgbClr val="14202E"/>
                </a:solidFill>
                <a:latin typeface="Cambria"/>
              </a:rPr>
              <a:t>i</a:t>
            </a:r>
            <a:r>
              <a:rPr sz="1600" b="0" i="0">
                <a:solidFill>
                  <a:srgbClr val="14202E"/>
                </a:solidFill>
                <a:latin typeface="Calibri"/>
              </a:rPr>
              <a:t>, </a:t>
            </a:r>
            <a:r>
              <a:rPr sz="1600" b="0" i="1">
                <a:solidFill>
                  <a:srgbClr val="14202E"/>
                </a:solidFill>
                <a:latin typeface="Cambria"/>
              </a:rPr>
              <a:t>u</a:t>
            </a:r>
            <a:r>
              <a:rPr sz="1600" b="0" i="1" baseline="-25000">
                <a:solidFill>
                  <a:srgbClr val="14202E"/>
                </a:solidFill>
                <a:latin typeface="Cambria"/>
              </a:rPr>
              <a:t>i</a:t>
            </a:r>
            <a:r>
              <a:rPr sz="1600" b="0" i="0">
                <a:solidFill>
                  <a:srgbClr val="14202E"/>
                </a:solidFill>
                <a:latin typeface="Calibri"/>
              </a:rPr>
              <a:t> recomputed as in Sign</a:t>
            </a:r>
          </a:p>
          <a:p>
            <a:pPr algn="l">
              <a:spcBef>
                <a:spcPts val="0"/>
              </a:spcBef>
              <a:spcAft>
                <a:spcPts val="0"/>
              </a:spcAft>
            </a:pPr>
            <a:r>
              <a:rPr sz="1600" b="0" i="0">
                <a:solidFill>
                  <a:srgbClr val="14202E"/>
                </a:solidFill>
                <a:latin typeface="Calibri"/>
              </a:rPr>
              <a:t>accept iff  </a:t>
            </a:r>
            <a:r>
              <a:rPr sz="1600" b="0" i="1">
                <a:solidFill>
                  <a:srgbClr val="14202E"/>
                </a:solidFill>
                <a:latin typeface="Cambria"/>
              </a:rPr>
              <a:t>zP</a:t>
            </a:r>
            <a:r>
              <a:rPr sz="1600" b="0" i="0">
                <a:solidFill>
                  <a:srgbClr val="14202E"/>
                </a:solidFill>
                <a:latin typeface="Cambria"/>
              </a:rPr>
              <a:t> = Σ</a:t>
            </a:r>
            <a:r>
              <a:rPr sz="1600" b="0" i="1">
                <a:solidFill>
                  <a:srgbClr val="14202E"/>
                </a:solidFill>
                <a:latin typeface="Cambria"/>
              </a:rPr>
              <a:t>T</a:t>
            </a:r>
            <a:r>
              <a:rPr sz="1600" b="0" i="1" baseline="-25000">
                <a:solidFill>
                  <a:srgbClr val="14202E"/>
                </a:solidFill>
                <a:latin typeface="Cambria"/>
              </a:rPr>
              <a:t>i</a:t>
            </a:r>
            <a:r>
              <a:rPr sz="1600" b="0" i="0">
                <a:solidFill>
                  <a:srgbClr val="14202E"/>
                </a:solidFill>
                <a:latin typeface="Cambria"/>
              </a:rPr>
              <a:t> + Σ</a:t>
            </a:r>
            <a:r>
              <a:rPr sz="1600" b="0" i="1">
                <a:solidFill>
                  <a:srgbClr val="14202E"/>
                </a:solidFill>
                <a:latin typeface="Cambria"/>
              </a:rPr>
              <a:t>u</a:t>
            </a:r>
            <a:r>
              <a:rPr sz="1600" b="0" i="1" baseline="-25000">
                <a:solidFill>
                  <a:srgbClr val="14202E"/>
                </a:solidFill>
                <a:latin typeface="Cambria"/>
              </a:rPr>
              <a:t>i</a:t>
            </a: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mbria"/>
              </a:rPr>
              <a:t> + (Σ</a:t>
            </a:r>
            <a:r>
              <a:rPr sz="1600" b="0" i="1">
                <a:solidFill>
                  <a:srgbClr val="14202E"/>
                </a:solidFill>
                <a:latin typeface="Cambria"/>
              </a:rPr>
              <a:t>u</a:t>
            </a:r>
            <a:r>
              <a:rPr sz="1600" b="0" i="1" baseline="-25000">
                <a:solidFill>
                  <a:srgbClr val="14202E"/>
                </a:solidFill>
                <a:latin typeface="Cambria"/>
              </a:rPr>
              <a:t>i</a:t>
            </a:r>
            <a:r>
              <a:rPr sz="1600" b="0" i="1">
                <a:solidFill>
                  <a:srgbClr val="14202E"/>
                </a:solidFill>
                <a:latin typeface="Cambria"/>
              </a:rPr>
              <a:t>h</a:t>
            </a:r>
            <a:r>
              <a:rPr sz="1600" b="0" i="1" baseline="30000">
                <a:solidFill>
                  <a:srgbClr val="14202E"/>
                </a:solidFill>
                <a:latin typeface="Cambria"/>
              </a:rPr>
              <a:t>i</a:t>
            </a:r>
            <a:r>
              <a:rPr sz="1600" b="0" i="0" baseline="-25000">
                <a:solidFill>
                  <a:srgbClr val="14202E"/>
                </a:solidFill>
                <a:latin typeface="Cambria"/>
              </a:rPr>
              <a:t>0</a:t>
            </a:r>
            <a:r>
              <a:rPr sz="1600" b="0" i="0">
                <a:solidFill>
                  <a:srgbClr val="14202E"/>
                </a:solidFill>
                <a:latin typeface="Cambria"/>
              </a:rPr>
              <a:t>)</a:t>
            </a:r>
            <a:r>
              <a:rPr sz="1600" b="0" i="1">
                <a:solidFill>
                  <a:srgbClr val="14202E"/>
                </a:solidFill>
                <a:latin typeface="Cambria"/>
              </a:rPr>
              <a:t>P</a:t>
            </a:r>
            <a:r>
              <a:rPr sz="1600" b="0" i="1" baseline="30000">
                <a:solidFill>
                  <a:srgbClr val="14202E"/>
                </a:solidFill>
                <a:latin typeface="Cambria"/>
              </a:rPr>
              <a:t>k</a:t>
            </a:r>
            <a:r>
              <a:rPr sz="1600" b="0" i="1" baseline="-25000">
                <a:solidFill>
                  <a:srgbClr val="14202E"/>
                </a:solidFill>
                <a:latin typeface="Cambria"/>
              </a:rPr>
              <a:t>TA</a:t>
            </a:r>
            <a:r>
              <a:rPr sz="1600" b="0" i="0">
                <a:solidFill>
                  <a:srgbClr val="14202E"/>
                </a:solidFill>
                <a:latin typeface="Cambria"/>
              </a:rPr>
              <a:t> + Σ</a:t>
            </a:r>
            <a:r>
              <a:rPr sz="1600" b="0" i="1">
                <a:solidFill>
                  <a:srgbClr val="14202E"/>
                </a:solidFill>
                <a:latin typeface="Cambria"/>
              </a:rPr>
              <a:t>v</a:t>
            </a:r>
            <a:r>
              <a:rPr sz="1600" b="0" i="1" baseline="-25000">
                <a:solidFill>
                  <a:srgbClr val="14202E"/>
                </a:solidFill>
                <a:latin typeface="Cambria"/>
              </a:rPr>
              <a:t>i</a:t>
            </a:r>
            <a:r>
              <a:rPr sz="1600" b="0" i="1">
                <a:solidFill>
                  <a:srgbClr val="14202E"/>
                </a:solidFill>
                <a:latin typeface="Cambria"/>
              </a:rPr>
              <a:t>pk</a:t>
            </a:r>
            <a:r>
              <a:rPr sz="1600" b="0" i="1" baseline="-25000">
                <a:solidFill>
                  <a:srgbClr val="14202E"/>
                </a:solidFill>
                <a:latin typeface="Cambria"/>
              </a:rPr>
              <a:t>i</a:t>
            </a:r>
          </a:p>
        </p:txBody>
      </p:sp>
      <p:cxnSp>
        <p:nvCxnSpPr>
          <p:cNvPr id="30" name="Connector 29"/>
          <p:cNvCxnSpPr/>
          <p:nvPr/>
        </p:nvCxnSpPr>
        <p:spPr>
          <a:xfrm>
            <a:off x="548640" y="5769863"/>
            <a:ext cx="11091672" cy="0"/>
          </a:xfrm>
          <a:prstGeom prst="line">
            <a:avLst/>
          </a:prstGeom>
          <a:ln w="12700">
            <a:solidFill>
              <a:srgbClr val="D3D9E1"/>
            </a:solidFill>
          </a:ln>
        </p:spPr>
      </p:cxnSp>
      <p:sp>
        <p:nvSpPr>
          <p:cNvPr id="31" name="TextBox 30"/>
          <p:cNvSpPr txBox="1"/>
          <p:nvPr/>
        </p:nvSpPr>
        <p:spPr>
          <a:xfrm>
            <a:off x="548640" y="5852160"/>
            <a:ext cx="11064240" cy="502920"/>
          </a:xfrm>
          <a:prstGeom prst="rect">
            <a:avLst/>
          </a:prstGeom>
          <a:noFill/>
        </p:spPr>
        <p:txBody>
          <a:bodyPr wrap="square" lIns="0" rIns="0" tIns="0" bIns="0" anchor="t">
            <a:spAutoFit/>
          </a:bodyPr>
          <a:lstStyle/>
          <a:p>
            <a:pPr algn="l">
              <a:lnSpc>
                <a:spcPct val="95000"/>
              </a:lnSpc>
              <a:spcBef>
                <a:spcPts val="0"/>
              </a:spcBef>
              <a:spcAft>
                <a:spcPts val="0"/>
              </a:spcAft>
            </a:pPr>
            <a:r>
              <a:rPr sz="1200" b="0" i="0">
                <a:solidFill>
                  <a:srgbClr val="5B6675"/>
                </a:solidFill>
                <a:latin typeface="Calibri"/>
              </a:rPr>
              <a:t>Printed typos corrected in our code: KeyGen prints </a:t>
            </a:r>
            <a:r>
              <a:rPr sz="1200" b="0" i="1">
                <a:solidFill>
                  <a:srgbClr val="5B6675"/>
                </a:solidFill>
                <a:latin typeface="Cambria"/>
              </a:rPr>
              <a:t>pk</a:t>
            </a:r>
            <a:r>
              <a:rPr sz="1200" b="0" i="1" baseline="-25000">
                <a:solidFill>
                  <a:srgbClr val="5B6675"/>
                </a:solidFill>
                <a:latin typeface="Cambria"/>
              </a:rPr>
              <a:t>i</a:t>
            </a:r>
            <a:r>
              <a:rPr sz="1200" b="0" i="0">
                <a:solidFill>
                  <a:srgbClr val="5B6675"/>
                </a:solidFill>
                <a:latin typeface="Cambria"/>
              </a:rPr>
              <a:t> = </a:t>
            </a:r>
            <a:r>
              <a:rPr sz="1200" b="0" i="1">
                <a:solidFill>
                  <a:srgbClr val="5B6675"/>
                </a:solidFill>
                <a:latin typeface="Cambria"/>
              </a:rPr>
              <a:t>s</a:t>
            </a:r>
            <a:r>
              <a:rPr sz="1200" b="0" i="1" baseline="-25000">
                <a:solidFill>
                  <a:srgbClr val="5B6675"/>
                </a:solidFill>
                <a:latin typeface="Cambria"/>
              </a:rPr>
              <a:t>i</a:t>
            </a:r>
            <a:r>
              <a:rPr sz="1200" b="0" i="0">
                <a:solidFill>
                  <a:srgbClr val="5B6675"/>
                </a:solidFill>
                <a:latin typeface="Calibri"/>
              </a:rPr>
              <a:t> (we use </a:t>
            </a:r>
            <a:r>
              <a:rPr sz="1200" b="0" i="1">
                <a:solidFill>
                  <a:srgbClr val="5B6675"/>
                </a:solidFill>
                <a:latin typeface="Cambria"/>
              </a:rPr>
              <a:t>s</a:t>
            </a:r>
            <a:r>
              <a:rPr sz="1200" b="0" i="1" baseline="-25000">
                <a:solidFill>
                  <a:srgbClr val="5B6675"/>
                </a:solidFill>
                <a:latin typeface="Cambria"/>
              </a:rPr>
              <a:t>i</a:t>
            </a:r>
            <a:r>
              <a:rPr sz="1200" b="0" i="1">
                <a:solidFill>
                  <a:srgbClr val="5B6675"/>
                </a:solidFill>
                <a:latin typeface="Cambria"/>
              </a:rPr>
              <a:t>P</a:t>
            </a:r>
            <a:r>
              <a:rPr sz="1200" b="0" i="0">
                <a:solidFill>
                  <a:srgbClr val="5B6675"/>
                </a:solidFill>
                <a:latin typeface="Calibri"/>
              </a:rPr>
              <a:t>); the certificate check prints </a:t>
            </a:r>
            <a:r>
              <a:rPr sz="1200" b="0" i="1">
                <a:solidFill>
                  <a:srgbClr val="5B6675"/>
                </a:solidFill>
                <a:latin typeface="Cambria"/>
              </a:rPr>
              <a:t>R</a:t>
            </a:r>
            <a:r>
              <a:rPr sz="1200" b="0" i="0" baseline="-25000">
                <a:solidFill>
                  <a:srgbClr val="5B6675"/>
                </a:solidFill>
                <a:latin typeface="Cambria"/>
              </a:rPr>
              <a:t>1</a:t>
            </a:r>
            <a:r>
              <a:rPr sz="1200" b="0" i="1" baseline="-25000">
                <a:solidFill>
                  <a:srgbClr val="5B6675"/>
                </a:solidFill>
                <a:latin typeface="Cambria"/>
              </a:rPr>
              <a:t>i</a:t>
            </a:r>
            <a:r>
              <a:rPr sz="1200" b="0" i="0">
                <a:solidFill>
                  <a:srgbClr val="5B6675"/>
                </a:solidFill>
                <a:latin typeface="Calibri"/>
              </a:rPr>
              <a:t> (we use </a:t>
            </a:r>
            <a:r>
              <a:rPr sz="1200" b="0" i="1">
                <a:solidFill>
                  <a:srgbClr val="5B6675"/>
                </a:solidFill>
                <a:latin typeface="Cambria"/>
              </a:rPr>
              <a:t>R</a:t>
            </a:r>
            <a:r>
              <a:rPr sz="1200" b="0" i="1" baseline="-25000">
                <a:solidFill>
                  <a:srgbClr val="5B6675"/>
                </a:solidFill>
                <a:latin typeface="Cambria"/>
              </a:rPr>
              <a:t>i</a:t>
            </a:r>
            <a:r>
              <a:rPr sz="1200" b="0" i="0">
                <a:solidFill>
                  <a:srgbClr val="5B6675"/>
                </a:solidFill>
                <a:latin typeface="Calibri"/>
              </a:rPr>
              <a:t>).  Notation → code: </a:t>
            </a:r>
            <a:r>
              <a:rPr sz="1200" b="0" i="1">
                <a:solidFill>
                  <a:srgbClr val="5B6675"/>
                </a:solidFill>
                <a:latin typeface="Cambria"/>
              </a:rPr>
              <a:t>s</a:t>
            </a:r>
            <a:r>
              <a:rPr sz="1200" b="0" i="1" baseline="30000">
                <a:solidFill>
                  <a:srgbClr val="5B6675"/>
                </a:solidFill>
                <a:latin typeface="Cambria"/>
              </a:rPr>
              <a:t>k</a:t>
            </a:r>
            <a:r>
              <a:rPr sz="1200" b="0" i="1" baseline="-25000">
                <a:solidFill>
                  <a:srgbClr val="5B6675"/>
                </a:solidFill>
                <a:latin typeface="Cambria"/>
              </a:rPr>
              <a:t>TA</a:t>
            </a:r>
            <a:r>
              <a:rPr sz="1200" b="0" i="0">
                <a:solidFill>
                  <a:srgbClr val="5B6675"/>
                </a:solidFill>
                <a:latin typeface="Calibri"/>
              </a:rPr>
              <a:t> → s · </a:t>
            </a:r>
            <a:r>
              <a:rPr sz="1200" b="0" i="1">
                <a:solidFill>
                  <a:srgbClr val="5B6675"/>
                </a:solidFill>
                <a:latin typeface="Cambria"/>
              </a:rPr>
              <a:t>P</a:t>
            </a:r>
            <a:r>
              <a:rPr sz="1200" b="0" i="1" baseline="30000">
                <a:solidFill>
                  <a:srgbClr val="5B6675"/>
                </a:solidFill>
                <a:latin typeface="Cambria"/>
              </a:rPr>
              <a:t>k</a:t>
            </a:r>
            <a:r>
              <a:rPr sz="1200" b="0" i="1" baseline="-25000">
                <a:solidFill>
                  <a:srgbClr val="5B6675"/>
                </a:solidFill>
                <a:latin typeface="Cambria"/>
              </a:rPr>
              <a:t>TA</a:t>
            </a:r>
            <a:r>
              <a:rPr sz="1200" b="0" i="0">
                <a:solidFill>
                  <a:srgbClr val="5B6675"/>
                </a:solidFill>
                <a:latin typeface="Calibri"/>
              </a:rPr>
              <a:t> → pk_ta · </a:t>
            </a:r>
            <a:r>
              <a:rPr sz="1200" b="0" i="1">
                <a:solidFill>
                  <a:srgbClr val="5B6675"/>
                </a:solidFill>
                <a:latin typeface="Cambria"/>
              </a:rPr>
              <a:t>h</a:t>
            </a:r>
            <a:r>
              <a:rPr sz="1200" b="0" i="1" baseline="30000">
                <a:solidFill>
                  <a:srgbClr val="5B6675"/>
                </a:solidFill>
                <a:latin typeface="Cambria"/>
              </a:rPr>
              <a:t>i</a:t>
            </a:r>
            <a:r>
              <a:rPr sz="1200" b="0" i="0" baseline="-25000">
                <a:solidFill>
                  <a:srgbClr val="5B6675"/>
                </a:solidFill>
                <a:latin typeface="Cambria"/>
              </a:rPr>
              <a:t>0</a:t>
            </a:r>
            <a:r>
              <a:rPr sz="1200" b="0" i="0">
                <a:solidFill>
                  <a:srgbClr val="5B6675"/>
                </a:solidFill>
                <a:latin typeface="Calibri"/>
              </a:rPr>
              <a:t> → h0 · </a:t>
            </a:r>
            <a:r>
              <a:rPr sz="1200" b="0" i="0">
                <a:solidFill>
                  <a:srgbClr val="5B6675"/>
                </a:solidFill>
                <a:latin typeface="Cambria"/>
              </a:rPr>
              <a:t>Δ</a:t>
            </a:r>
            <a:r>
              <a:rPr sz="1200" b="0" i="0">
                <a:solidFill>
                  <a:srgbClr val="5B6675"/>
                </a:solidFill>
                <a:latin typeface="Calibri"/>
              </a:rPr>
              <a:t> → delta · “Very” → agg_verify.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9AA5B1"/>
          </a:solidFill>
          <a:ln>
            <a:noFill/>
          </a:ln>
          <a:effectLst/>
        </p:spPr>
        <p:txBody>
          <a:bodyPr rtlCol="0" anchor="ctr" wrap="square" lIns="73152" rIns="73152" tIns="36576" bIns="36576"/>
          <a:lstStyle/>
          <a:p>
            <a:pPr algn="ctr"/>
          </a:p>
        </p:txBody>
      </p:sp>
      <p:sp>
        <p:nvSpPr>
          <p:cNvPr id="3" name="TextBox 2"/>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BACKUP · THE ATTACK</a:t>
            </a:r>
          </a:p>
        </p:txBody>
      </p:sp>
      <p:sp>
        <p:nvSpPr>
          <p:cNvPr id="4" name="TextBox 3"/>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B3 · The full malicious-KGC derivation</a:t>
            </a:r>
          </a:p>
        </p:txBody>
      </p:sp>
      <p:sp>
        <p:nvSpPr>
          <p:cNvPr id="5" name="Rounded Rectangle 4"/>
          <p:cNvSpPr/>
          <p:nvPr/>
        </p:nvSpPr>
        <p:spPr>
          <a:xfrm>
            <a:off x="10652760" y="274320"/>
            <a:ext cx="987551" cy="246888"/>
          </a:xfrm>
          <a:prstGeom prst="roundRect">
            <a:avLst>
              <a:gd name="adj" fmla="val 50000"/>
            </a:avLst>
          </a:prstGeom>
          <a:solidFill>
            <a:srgbClr val="0E7C86"/>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REPRODUCED</a:t>
            </a:r>
          </a:p>
        </p:txBody>
      </p:sp>
      <p:sp>
        <p:nvSpPr>
          <p:cNvPr id="6" name="Rounded Rectangle 5"/>
          <p:cNvSpPr/>
          <p:nvPr/>
        </p:nvSpPr>
        <p:spPr>
          <a:xfrm>
            <a:off x="10012680"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7" name="Connector 6"/>
          <p:cNvCxnSpPr/>
          <p:nvPr/>
        </p:nvCxnSpPr>
        <p:spPr>
          <a:xfrm>
            <a:off x="548640" y="6419088"/>
            <a:ext cx="11091672" cy="0"/>
          </a:xfrm>
          <a:prstGeom prst="line">
            <a:avLst/>
          </a:prstGeom>
          <a:ln w="12700">
            <a:solidFill>
              <a:srgbClr val="D3D9E1"/>
            </a:solidFill>
          </a:ln>
        </p:spPr>
      </p:cxnSp>
      <p:sp>
        <p:nvSpPr>
          <p:cNvPr id="8" name="TextBox 7"/>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9" name="TextBox 8"/>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Backup B3</a:t>
            </a:r>
          </a:p>
        </p:txBody>
      </p:sp>
      <p:sp>
        <p:nvSpPr>
          <p:cNvPr id="10" name="TextBox 9"/>
          <p:cNvSpPr txBox="1"/>
          <p:nvPr/>
        </p:nvSpPr>
        <p:spPr>
          <a:xfrm>
            <a:off x="548640" y="1481328"/>
            <a:ext cx="630936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STEPS (2a)–(2d), PAPER §IV-B</a:t>
            </a:r>
          </a:p>
        </p:txBody>
      </p:sp>
      <p:sp>
        <p:nvSpPr>
          <p:cNvPr id="11" name="TextBox 10"/>
          <p:cNvSpPr txBox="1"/>
          <p:nvPr/>
        </p:nvSpPr>
        <p:spPr>
          <a:xfrm>
            <a:off x="548640" y="1783080"/>
            <a:ext cx="6355080" cy="3931920"/>
          </a:xfrm>
          <a:prstGeom prst="rect">
            <a:avLst/>
          </a:prstGeom>
          <a:noFill/>
        </p:spPr>
        <p:txBody>
          <a:bodyPr wrap="square" lIns="0" rIns="0" tIns="0" bIns="0" anchor="t">
            <a:spAutoFit/>
          </a:bodyPr>
          <a:lstStyle/>
          <a:p>
            <a:pPr algn="l">
              <a:spcBef>
                <a:spcPts val="0"/>
              </a:spcBef>
              <a:spcAft>
                <a:spcPts val="900"/>
              </a:spcAft>
            </a:pPr>
            <a:r>
              <a:rPr sz="1750" b="0" i="0">
                <a:solidFill>
                  <a:srgbClr val="14202E"/>
                </a:solidFill>
                <a:latin typeface="Calibri"/>
              </a:rPr>
              <a:t>(a)  </a:t>
            </a:r>
            <a:r>
              <a:rPr sz="1750" b="0" i="1">
                <a:solidFill>
                  <a:srgbClr val="14202E"/>
                </a:solidFill>
                <a:latin typeface="Cambria"/>
              </a:rPr>
              <a:t>r</a:t>
            </a:r>
            <a:r>
              <a:rPr sz="1750" b="0" i="0" baseline="-25000">
                <a:solidFill>
                  <a:srgbClr val="14202E"/>
                </a:solidFill>
                <a:latin typeface="Cambria"/>
              </a:rPr>
              <a:t>2</a:t>
            </a:r>
            <a:r>
              <a:rPr sz="1750" b="0" i="1" baseline="-25000">
                <a:solidFill>
                  <a:srgbClr val="14202E"/>
                </a:solidFill>
                <a:latin typeface="Cambria"/>
              </a:rPr>
              <a:t>i</a:t>
            </a:r>
            <a:r>
              <a:rPr sz="1750" b="0" i="1">
                <a:solidFill>
                  <a:srgbClr val="14202E"/>
                </a:solidFill>
                <a:latin typeface="Cambria"/>
              </a:rPr>
              <a:t>P</a:t>
            </a:r>
            <a:r>
              <a:rPr sz="1750" b="0" i="0">
                <a:solidFill>
                  <a:srgbClr val="14202E"/>
                </a:solidFill>
                <a:latin typeface="Cambria"/>
              </a:rPr>
              <a:t> = </a:t>
            </a:r>
            <a:r>
              <a:rPr sz="1750" b="0" i="1">
                <a:solidFill>
                  <a:srgbClr val="14202E"/>
                </a:solidFill>
                <a:latin typeface="Cambria"/>
              </a:rPr>
              <a:t>R</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R</a:t>
            </a:r>
            <a:r>
              <a:rPr sz="1750" b="0" i="0" baseline="-25000">
                <a:solidFill>
                  <a:srgbClr val="14202E"/>
                </a:solidFill>
                <a:latin typeface="Cambria"/>
              </a:rPr>
              <a:t>1</a:t>
            </a:r>
            <a:r>
              <a:rPr sz="1750" b="0" i="1" baseline="-25000">
                <a:solidFill>
                  <a:srgbClr val="14202E"/>
                </a:solidFill>
                <a:latin typeface="Cambria"/>
              </a:rPr>
              <a:t>i</a:t>
            </a:r>
            <a:r>
              <a:rPr sz="1750" b="0" i="0">
                <a:solidFill>
                  <a:srgbClr val="14202E"/>
                </a:solidFill>
                <a:latin typeface="Calibri"/>
              </a:rPr>
              <a:t>,    </a:t>
            </a:r>
            <a:r>
              <a:rPr sz="1750" b="0" i="1">
                <a:solidFill>
                  <a:srgbClr val="14202E"/>
                </a:solidFill>
                <a:latin typeface="Cambria"/>
              </a:rPr>
              <a:t>r</a:t>
            </a:r>
            <a:r>
              <a:rPr sz="1750" b="0" i="0" baseline="-25000">
                <a:solidFill>
                  <a:srgbClr val="14202E"/>
                </a:solidFill>
                <a:latin typeface="Cambria"/>
              </a:rPr>
              <a:t>2</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sk</a:t>
            </a:r>
            <a:r>
              <a:rPr sz="1750" b="0" i="1" baseline="-25000">
                <a:solidFill>
                  <a:srgbClr val="14202E"/>
                </a:solidFill>
                <a:latin typeface="Cambria"/>
              </a:rPr>
              <a:t>i</a:t>
            </a:r>
            <a:r>
              <a:rPr sz="1750" b="0" i="1">
                <a:solidFill>
                  <a:srgbClr val="14202E"/>
                </a:solidFill>
                <a:latin typeface="Cambria"/>
              </a:rPr>
              <a:t>v</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z</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c</a:t>
            </a:r>
            <a:r>
              <a:rPr sz="1750" b="0" i="1" baseline="-25000">
                <a:solidFill>
                  <a:srgbClr val="14202E"/>
                </a:solidFill>
                <a:latin typeface="Cambria"/>
              </a:rPr>
              <a:t>i</a:t>
            </a:r>
          </a:p>
          <a:p>
            <a:pPr algn="l">
              <a:spcBef>
                <a:spcPts val="0"/>
              </a:spcBef>
              <a:spcAft>
                <a:spcPts val="200"/>
              </a:spcAft>
            </a:pPr>
            <a:r>
              <a:rPr sz="1750" b="0" i="0">
                <a:solidFill>
                  <a:srgbClr val="14202E"/>
                </a:solidFill>
                <a:latin typeface="Calibri"/>
              </a:rPr>
              <a:t>(b)  </a:t>
            </a:r>
            <a:r>
              <a:rPr sz="1750" b="0" i="1">
                <a:solidFill>
                  <a:srgbClr val="14202E"/>
                </a:solidFill>
                <a:latin typeface="Cambria"/>
              </a:rPr>
              <a:t>α</a:t>
            </a:r>
            <a:r>
              <a:rPr sz="1750" b="0" i="0">
                <a:solidFill>
                  <a:srgbClr val="14202E"/>
                </a:solidFill>
                <a:latin typeface="Cambria"/>
              </a:rPr>
              <a:t> = (1/</a:t>
            </a:r>
            <a:r>
              <a:rPr sz="1750" b="0" i="1">
                <a:solidFill>
                  <a:srgbClr val="14202E"/>
                </a:solidFill>
                <a:latin typeface="Cambria"/>
              </a:rPr>
              <a:t>v</a:t>
            </a:r>
            <a:r>
              <a:rPr sz="1750" b="0" i="1" baseline="-25000">
                <a:solidFill>
                  <a:srgbClr val="14202E"/>
                </a:solidFill>
                <a:latin typeface="Cambria"/>
              </a:rPr>
              <a:t>i</a:t>
            </a:r>
            <a:r>
              <a:rPr sz="1750" b="0" i="0">
                <a:solidFill>
                  <a:srgbClr val="14202E"/>
                </a:solidFill>
                <a:latin typeface="Cambria"/>
              </a:rPr>
              <a:t>)(</a:t>
            </a:r>
            <a:r>
              <a:rPr sz="1750" b="0" i="1">
                <a:solidFill>
                  <a:srgbClr val="14202E"/>
                </a:solidFill>
                <a:latin typeface="Cambria"/>
              </a:rPr>
              <a:t>z</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c</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r</a:t>
            </a:r>
            <a:r>
              <a:rPr sz="1750" b="0" i="0" baseline="-25000">
                <a:solidFill>
                  <a:srgbClr val="14202E"/>
                </a:solidFill>
                <a:latin typeface="Cambria"/>
              </a:rPr>
              <a:t>2</a:t>
            </a:r>
            <a:r>
              <a:rPr sz="1750" b="0" i="1" baseline="-25000">
                <a:solidFill>
                  <a:srgbClr val="14202E"/>
                </a:solidFill>
                <a:latin typeface="Cambria"/>
              </a:rPr>
              <a:t>i</a:t>
            </a:r>
            <a:r>
              <a:rPr sz="1750" b="0" i="0">
                <a:solidFill>
                  <a:srgbClr val="14202E"/>
                </a:solidFill>
                <a:latin typeface="Cambria"/>
              </a:rPr>
              <a:t>/</a:t>
            </a:r>
            <a:r>
              <a:rPr sz="1750" b="0" i="1">
                <a:solidFill>
                  <a:srgbClr val="14202E"/>
                </a:solidFill>
                <a:latin typeface="Cambria"/>
              </a:rPr>
              <a:t>v</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sk</a:t>
            </a:r>
            <a:r>
              <a:rPr sz="1750" b="0" i="1" baseline="-25000">
                <a:solidFill>
                  <a:srgbClr val="14202E"/>
                </a:solidFill>
                <a:latin typeface="Cambria"/>
              </a:rPr>
              <a:t>i</a:t>
            </a:r>
          </a:p>
          <a:p>
            <a:pPr algn="l">
              <a:spcBef>
                <a:spcPts val="0"/>
              </a:spcBef>
              <a:spcAft>
                <a:spcPts val="900"/>
              </a:spcAft>
            </a:pPr>
            <a:r>
              <a:rPr sz="1750" b="0" i="0">
                <a:solidFill>
                  <a:srgbClr val="14202E"/>
                </a:solidFill>
                <a:latin typeface="Calibri"/>
              </a:rPr>
              <a:t>      </a:t>
            </a:r>
            <a:r>
              <a:rPr sz="1750" b="0" i="1">
                <a:solidFill>
                  <a:srgbClr val="14202E"/>
                </a:solidFill>
                <a:latin typeface="Cambria"/>
              </a:rPr>
              <a:t>A</a:t>
            </a:r>
            <a:r>
              <a:rPr sz="1750" b="0" i="0">
                <a:solidFill>
                  <a:srgbClr val="14202E"/>
                </a:solidFill>
                <a:latin typeface="Cambria"/>
              </a:rPr>
              <a:t> = (1/</a:t>
            </a:r>
            <a:r>
              <a:rPr sz="1750" b="0" i="1">
                <a:solidFill>
                  <a:srgbClr val="14202E"/>
                </a:solidFill>
                <a:latin typeface="Cambria"/>
              </a:rPr>
              <a:t>v</a:t>
            </a:r>
            <a:r>
              <a:rPr sz="1750" b="0" i="1" baseline="-25000">
                <a:solidFill>
                  <a:srgbClr val="14202E"/>
                </a:solidFill>
                <a:latin typeface="Cambria"/>
              </a:rPr>
              <a:t>i</a:t>
            </a:r>
            <a:r>
              <a:rPr sz="1750" b="0" i="0">
                <a:solidFill>
                  <a:srgbClr val="14202E"/>
                </a:solidFill>
                <a:latin typeface="Cambria"/>
              </a:rPr>
              <a:t>)(</a:t>
            </a:r>
            <a:r>
              <a:rPr sz="1750" b="0" i="1">
                <a:solidFill>
                  <a:srgbClr val="14202E"/>
                </a:solidFill>
                <a:latin typeface="Cambria"/>
              </a:rPr>
              <a:t>R</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R</a:t>
            </a:r>
            <a:r>
              <a:rPr sz="1750" b="0" i="0" baseline="-25000">
                <a:solidFill>
                  <a:srgbClr val="14202E"/>
                </a:solidFill>
                <a:latin typeface="Cambria"/>
              </a:rPr>
              <a:t>1</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r</a:t>
            </a:r>
            <a:r>
              <a:rPr sz="1750" b="0" i="0" baseline="-25000">
                <a:solidFill>
                  <a:srgbClr val="14202E"/>
                </a:solidFill>
                <a:latin typeface="Cambria"/>
              </a:rPr>
              <a:t>2</a:t>
            </a:r>
            <a:r>
              <a:rPr sz="1750" b="0" i="1" baseline="-25000">
                <a:solidFill>
                  <a:srgbClr val="14202E"/>
                </a:solidFill>
                <a:latin typeface="Cambria"/>
              </a:rPr>
              <a:t>i</a:t>
            </a:r>
            <a:r>
              <a:rPr sz="1750" b="0" i="0">
                <a:solidFill>
                  <a:srgbClr val="14202E"/>
                </a:solidFill>
                <a:latin typeface="Cambria"/>
              </a:rPr>
              <a:t>/</a:t>
            </a:r>
            <a:r>
              <a:rPr sz="1750" b="0" i="1">
                <a:solidFill>
                  <a:srgbClr val="14202E"/>
                </a:solidFill>
                <a:latin typeface="Cambria"/>
              </a:rPr>
              <a:t>v</a:t>
            </a:r>
            <a:r>
              <a:rPr sz="1750" b="0" i="1" baseline="-25000">
                <a:solidFill>
                  <a:srgbClr val="14202E"/>
                </a:solidFill>
                <a:latin typeface="Cambria"/>
              </a:rPr>
              <a:t>i</a:t>
            </a:r>
            <a:r>
              <a:rPr sz="1750" b="0" i="0">
                <a:solidFill>
                  <a:srgbClr val="14202E"/>
                </a:solidFill>
                <a:latin typeface="Cambria"/>
              </a:rPr>
              <a:t>)</a:t>
            </a:r>
            <a:r>
              <a:rPr sz="1750" b="0" i="1">
                <a:solidFill>
                  <a:srgbClr val="14202E"/>
                </a:solidFill>
                <a:latin typeface="Cambria"/>
              </a:rPr>
              <a:t>P</a:t>
            </a:r>
          </a:p>
          <a:p>
            <a:pPr algn="l">
              <a:spcBef>
                <a:spcPts val="0"/>
              </a:spcBef>
              <a:spcAft>
                <a:spcPts val="200"/>
              </a:spcAft>
            </a:pPr>
            <a:r>
              <a:rPr sz="1750" b="0" i="0">
                <a:solidFill>
                  <a:srgbClr val="14202E"/>
                </a:solidFill>
                <a:latin typeface="Calibri"/>
              </a:rPr>
              <a:t>(c)  </a:t>
            </a:r>
            <a:r>
              <a:rPr sz="1750" b="0" i="1">
                <a:solidFill>
                  <a:srgbClr val="14202E"/>
                </a:solidFill>
                <a:latin typeface="Cambria"/>
              </a:rPr>
              <a:t>v</a:t>
            </a:r>
            <a:r>
              <a:rPr sz="1750" b="0" i="0">
                <a:solidFill>
                  <a:srgbClr val="14202E"/>
                </a:solidFill>
                <a:latin typeface="Cambria"/>
              </a:rPr>
              <a:t>′</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H</a:t>
            </a:r>
            <a:r>
              <a:rPr sz="1750" b="0" i="0" baseline="-25000">
                <a:solidFill>
                  <a:srgbClr val="14202E"/>
                </a:solidFill>
                <a:latin typeface="Cambria"/>
              </a:rPr>
              <a:t>1</a:t>
            </a:r>
            <a:r>
              <a:rPr sz="1750" b="0" i="0">
                <a:solidFill>
                  <a:srgbClr val="14202E"/>
                </a:solidFill>
                <a:latin typeface="Cambria"/>
              </a:rPr>
              <a:t>(</a:t>
            </a:r>
            <a:r>
              <a:rPr sz="1750" b="0" i="1">
                <a:solidFill>
                  <a:srgbClr val="14202E"/>
                </a:solidFill>
                <a:latin typeface="Cambria"/>
              </a:rPr>
              <a:t>m</a:t>
            </a:r>
            <a:r>
              <a:rPr sz="1750" b="0" i="0">
                <a:solidFill>
                  <a:srgbClr val="14202E"/>
                </a:solidFill>
                <a:latin typeface="Cambria"/>
              </a:rPr>
              <a:t>′</a:t>
            </a:r>
            <a:r>
              <a:rPr sz="1750" b="0" i="1" baseline="-25000">
                <a:solidFill>
                  <a:srgbClr val="14202E"/>
                </a:solidFill>
                <a:latin typeface="Cambria"/>
              </a:rPr>
              <a:t>i</a:t>
            </a:r>
            <a:r>
              <a:rPr sz="1750" b="0" i="0">
                <a:solidFill>
                  <a:srgbClr val="14202E"/>
                </a:solidFill>
                <a:latin typeface="Cambria"/>
              </a:rPr>
              <a:t>‖</a:t>
            </a:r>
            <a:r>
              <a:rPr sz="1750" b="0" i="1">
                <a:solidFill>
                  <a:srgbClr val="14202E"/>
                </a:solidFill>
                <a:latin typeface="Cambria"/>
              </a:rPr>
              <a:t>pk</a:t>
            </a:r>
            <a:r>
              <a:rPr sz="1750" b="0" i="1" baseline="-25000">
                <a:solidFill>
                  <a:srgbClr val="14202E"/>
                </a:solidFill>
                <a:latin typeface="Cambria"/>
              </a:rPr>
              <a:t>i</a:t>
            </a:r>
            <a:r>
              <a:rPr sz="1750" b="0" i="0">
                <a:solidFill>
                  <a:srgbClr val="14202E"/>
                </a:solidFill>
                <a:latin typeface="Cambria"/>
              </a:rPr>
              <a:t>‖</a:t>
            </a:r>
            <a:r>
              <a:rPr sz="1750" b="0" i="1">
                <a:solidFill>
                  <a:srgbClr val="14202E"/>
                </a:solidFill>
                <a:latin typeface="Cambria"/>
              </a:rPr>
              <a:t>id</a:t>
            </a:r>
            <a:r>
              <a:rPr sz="1750" b="0" i="1" baseline="-25000">
                <a:solidFill>
                  <a:srgbClr val="14202E"/>
                </a:solidFill>
                <a:latin typeface="Cambria"/>
              </a:rPr>
              <a:t>i</a:t>
            </a:r>
            <a:r>
              <a:rPr sz="1750" b="0" i="0">
                <a:solidFill>
                  <a:srgbClr val="14202E"/>
                </a:solidFill>
                <a:latin typeface="Cambria"/>
              </a:rPr>
              <a:t>‖Δ)</a:t>
            </a:r>
          </a:p>
          <a:p>
            <a:pPr algn="l">
              <a:spcBef>
                <a:spcPts val="0"/>
              </a:spcBef>
              <a:spcAft>
                <a:spcPts val="200"/>
              </a:spcAft>
            </a:pPr>
            <a:r>
              <a:rPr sz="1750" b="0" i="0">
                <a:solidFill>
                  <a:srgbClr val="14202E"/>
                </a:solidFill>
                <a:latin typeface="Calibri"/>
              </a:rPr>
              <a:t>      </a:t>
            </a:r>
            <a:r>
              <a:rPr sz="1750" b="0" i="1">
                <a:solidFill>
                  <a:srgbClr val="14202E"/>
                </a:solidFill>
                <a:latin typeface="Cambria"/>
              </a:rPr>
              <a:t>R</a:t>
            </a:r>
            <a:r>
              <a:rPr sz="1750" b="0" i="0">
                <a:solidFill>
                  <a:srgbClr val="14202E"/>
                </a:solidFill>
                <a:latin typeface="Cambria"/>
              </a:rPr>
              <a:t>′</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R</a:t>
            </a:r>
            <a:r>
              <a:rPr sz="1750" b="0" i="0" baseline="-25000">
                <a:solidFill>
                  <a:srgbClr val="14202E"/>
                </a:solidFill>
                <a:latin typeface="Cambria"/>
              </a:rPr>
              <a:t>1</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v</a:t>
            </a:r>
            <a:r>
              <a:rPr sz="1750" b="0" i="0">
                <a:solidFill>
                  <a:srgbClr val="14202E"/>
                </a:solidFill>
                <a:latin typeface="Cambria"/>
              </a:rPr>
              <a:t>′</a:t>
            </a:r>
            <a:r>
              <a:rPr sz="1750" b="0" i="1" baseline="-25000">
                <a:solidFill>
                  <a:srgbClr val="14202E"/>
                </a:solidFill>
                <a:latin typeface="Cambria"/>
              </a:rPr>
              <a:t>i</a:t>
            </a:r>
            <a:r>
              <a:rPr sz="1750" b="0" i="1">
                <a:solidFill>
                  <a:srgbClr val="14202E"/>
                </a:solidFill>
                <a:latin typeface="Cambria"/>
              </a:rPr>
              <a:t>A</a:t>
            </a:r>
            <a:r>
              <a:rPr sz="1750" b="0" i="0">
                <a:solidFill>
                  <a:srgbClr val="14202E"/>
                </a:solidFill>
                <a:latin typeface="Cambria"/>
              </a:rPr>
              <a:t> = </a:t>
            </a:r>
            <a:r>
              <a:rPr sz="1750" b="0" i="1">
                <a:solidFill>
                  <a:srgbClr val="14202E"/>
                </a:solidFill>
                <a:latin typeface="Cambria"/>
              </a:rPr>
              <a:t>R</a:t>
            </a:r>
            <a:r>
              <a:rPr sz="1750" b="0" i="0" baseline="-25000">
                <a:solidFill>
                  <a:srgbClr val="14202E"/>
                </a:solidFill>
                <a:latin typeface="Cambria"/>
              </a:rPr>
              <a:t>1</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v</a:t>
            </a:r>
            <a:r>
              <a:rPr sz="1750" b="0" i="0">
                <a:solidFill>
                  <a:srgbClr val="14202E"/>
                </a:solidFill>
                <a:latin typeface="Cambria"/>
              </a:rPr>
              <a:t>′</a:t>
            </a:r>
            <a:r>
              <a:rPr sz="1750" b="0" i="1" baseline="-25000">
                <a:solidFill>
                  <a:srgbClr val="14202E"/>
                </a:solidFill>
                <a:latin typeface="Cambria"/>
              </a:rPr>
              <a:t>i</a:t>
            </a:r>
            <a:r>
              <a:rPr sz="1750" b="0" i="1">
                <a:solidFill>
                  <a:srgbClr val="14202E"/>
                </a:solidFill>
                <a:latin typeface="Cambria"/>
              </a:rPr>
              <a:t>r</a:t>
            </a:r>
            <a:r>
              <a:rPr sz="1750" b="0" i="0" baseline="-25000">
                <a:solidFill>
                  <a:srgbClr val="14202E"/>
                </a:solidFill>
                <a:latin typeface="Cambria"/>
              </a:rPr>
              <a:t>2</a:t>
            </a:r>
            <a:r>
              <a:rPr sz="1750" b="0" i="1" baseline="-25000">
                <a:solidFill>
                  <a:srgbClr val="14202E"/>
                </a:solidFill>
                <a:latin typeface="Cambria"/>
              </a:rPr>
              <a:t>i</a:t>
            </a:r>
            <a:r>
              <a:rPr sz="1750" b="0" i="0">
                <a:solidFill>
                  <a:srgbClr val="14202E"/>
                </a:solidFill>
                <a:latin typeface="Cambria"/>
              </a:rPr>
              <a:t>/</a:t>
            </a:r>
            <a:r>
              <a:rPr sz="1750" b="0" i="1">
                <a:solidFill>
                  <a:srgbClr val="14202E"/>
                </a:solidFill>
                <a:latin typeface="Cambria"/>
              </a:rPr>
              <a:t>v</a:t>
            </a:r>
            <a:r>
              <a:rPr sz="1750" b="0" i="1" baseline="-25000">
                <a:solidFill>
                  <a:srgbClr val="14202E"/>
                </a:solidFill>
                <a:latin typeface="Cambria"/>
              </a:rPr>
              <a:t>i</a:t>
            </a:r>
            <a:r>
              <a:rPr sz="1750" b="0" i="0">
                <a:solidFill>
                  <a:srgbClr val="14202E"/>
                </a:solidFill>
                <a:latin typeface="Cambria"/>
              </a:rPr>
              <a:t>)</a:t>
            </a:r>
            <a:r>
              <a:rPr sz="1750" b="0" i="1">
                <a:solidFill>
                  <a:srgbClr val="14202E"/>
                </a:solidFill>
                <a:latin typeface="Cambria"/>
              </a:rPr>
              <a:t>P</a:t>
            </a:r>
          </a:p>
          <a:p>
            <a:pPr algn="l">
              <a:spcBef>
                <a:spcPts val="0"/>
              </a:spcBef>
              <a:spcAft>
                <a:spcPts val="900"/>
              </a:spcAft>
            </a:pPr>
            <a:r>
              <a:rPr sz="1750" b="0" i="0">
                <a:solidFill>
                  <a:srgbClr val="14202E"/>
                </a:solidFill>
                <a:latin typeface="Calibri"/>
              </a:rPr>
              <a:t>      </a:t>
            </a:r>
            <a:r>
              <a:rPr sz="1750" b="0" i="1">
                <a:solidFill>
                  <a:srgbClr val="14202E"/>
                </a:solidFill>
                <a:latin typeface="Cambria"/>
              </a:rPr>
              <a:t>z</a:t>
            </a:r>
            <a:r>
              <a:rPr sz="1750" b="0" i="0">
                <a:solidFill>
                  <a:srgbClr val="14202E"/>
                </a:solidFill>
                <a:latin typeface="Cambria"/>
              </a:rPr>
              <a:t>′</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v</a:t>
            </a:r>
            <a:r>
              <a:rPr sz="1750" b="0" i="0">
                <a:solidFill>
                  <a:srgbClr val="14202E"/>
                </a:solidFill>
                <a:latin typeface="Cambria"/>
              </a:rPr>
              <a:t>′</a:t>
            </a:r>
            <a:r>
              <a:rPr sz="1750" b="0" i="1" baseline="-25000">
                <a:solidFill>
                  <a:srgbClr val="14202E"/>
                </a:solidFill>
                <a:latin typeface="Cambria"/>
              </a:rPr>
              <a:t>i</a:t>
            </a:r>
            <a:r>
              <a:rPr sz="1750" b="0" i="1">
                <a:solidFill>
                  <a:srgbClr val="14202E"/>
                </a:solidFill>
                <a:latin typeface="Cambria"/>
              </a:rPr>
              <a:t>α</a:t>
            </a:r>
            <a:r>
              <a:rPr sz="1750" b="0" i="0">
                <a:solidFill>
                  <a:srgbClr val="14202E"/>
                </a:solidFill>
                <a:latin typeface="Cambria"/>
              </a:rPr>
              <a:t> + </a:t>
            </a:r>
            <a:r>
              <a:rPr sz="1750" b="0" i="1">
                <a:solidFill>
                  <a:srgbClr val="14202E"/>
                </a:solidFill>
                <a:latin typeface="Cambria"/>
              </a:rPr>
              <a:t>c</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v</a:t>
            </a:r>
            <a:r>
              <a:rPr sz="1750" b="0" i="0">
                <a:solidFill>
                  <a:srgbClr val="14202E"/>
                </a:solidFill>
                <a:latin typeface="Cambria"/>
              </a:rPr>
              <a:t>′</a:t>
            </a:r>
            <a:r>
              <a:rPr sz="1750" b="0" i="1" baseline="-25000">
                <a:solidFill>
                  <a:srgbClr val="14202E"/>
                </a:solidFill>
                <a:latin typeface="Cambria"/>
              </a:rPr>
              <a:t>i</a:t>
            </a:r>
            <a:r>
              <a:rPr sz="1750" b="0" i="1">
                <a:solidFill>
                  <a:srgbClr val="14202E"/>
                </a:solidFill>
                <a:latin typeface="Cambria"/>
              </a:rPr>
              <a:t>r</a:t>
            </a:r>
            <a:r>
              <a:rPr sz="1750" b="0" i="0" baseline="-25000">
                <a:solidFill>
                  <a:srgbClr val="14202E"/>
                </a:solidFill>
                <a:latin typeface="Cambria"/>
              </a:rPr>
              <a:t>2</a:t>
            </a:r>
            <a:r>
              <a:rPr sz="1750" b="0" i="1" baseline="-25000">
                <a:solidFill>
                  <a:srgbClr val="14202E"/>
                </a:solidFill>
                <a:latin typeface="Cambria"/>
              </a:rPr>
              <a:t>i</a:t>
            </a:r>
            <a:r>
              <a:rPr sz="1750" b="0" i="0">
                <a:solidFill>
                  <a:srgbClr val="14202E"/>
                </a:solidFill>
                <a:latin typeface="Cambria"/>
              </a:rPr>
              <a:t>/</a:t>
            </a:r>
            <a:r>
              <a:rPr sz="1750" b="0" i="1">
                <a:solidFill>
                  <a:srgbClr val="14202E"/>
                </a:solidFill>
                <a:latin typeface="Cambria"/>
              </a:rPr>
              <a:t>v</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c</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sk</a:t>
            </a:r>
            <a:r>
              <a:rPr sz="1750" b="0" i="1" baseline="-25000">
                <a:solidFill>
                  <a:srgbClr val="14202E"/>
                </a:solidFill>
                <a:latin typeface="Cambria"/>
              </a:rPr>
              <a:t>i</a:t>
            </a:r>
            <a:r>
              <a:rPr sz="1750" b="0" i="1">
                <a:solidFill>
                  <a:srgbClr val="14202E"/>
                </a:solidFill>
                <a:latin typeface="Cambria"/>
              </a:rPr>
              <a:t>v</a:t>
            </a:r>
            <a:r>
              <a:rPr sz="1750" b="0" i="0">
                <a:solidFill>
                  <a:srgbClr val="14202E"/>
                </a:solidFill>
                <a:latin typeface="Cambria"/>
              </a:rPr>
              <a:t>′</a:t>
            </a:r>
            <a:r>
              <a:rPr sz="1750" b="0" i="1" baseline="-25000">
                <a:solidFill>
                  <a:srgbClr val="14202E"/>
                </a:solidFill>
                <a:latin typeface="Cambria"/>
              </a:rPr>
              <a:t>i</a:t>
            </a:r>
          </a:p>
          <a:p>
            <a:pPr algn="l">
              <a:spcBef>
                <a:spcPts val="0"/>
              </a:spcBef>
              <a:spcAft>
                <a:spcPts val="0"/>
              </a:spcAft>
            </a:pPr>
            <a:r>
              <a:rPr sz="1750" b="0" i="0">
                <a:solidFill>
                  <a:srgbClr val="14202E"/>
                </a:solidFill>
                <a:latin typeface="Calibri"/>
              </a:rPr>
              <a:t>(d)  output </a:t>
            </a:r>
            <a:r>
              <a:rPr sz="1750" b="0" i="1">
                <a:solidFill>
                  <a:srgbClr val="14202E"/>
                </a:solidFill>
                <a:latin typeface="Cambria"/>
              </a:rPr>
              <a:t>δ</a:t>
            </a:r>
            <a:r>
              <a:rPr sz="1750" b="0" i="0">
                <a:solidFill>
                  <a:srgbClr val="14202E"/>
                </a:solidFill>
                <a:latin typeface="Cambria"/>
              </a:rPr>
              <a:t>′</a:t>
            </a:r>
            <a:r>
              <a:rPr sz="1750" b="0" i="1" baseline="-25000">
                <a:solidFill>
                  <a:srgbClr val="14202E"/>
                </a:solidFill>
                <a:latin typeface="Cambria"/>
              </a:rPr>
              <a:t>i</a:t>
            </a:r>
            <a:r>
              <a:rPr sz="1750" b="0" i="0">
                <a:solidFill>
                  <a:srgbClr val="14202E"/>
                </a:solidFill>
                <a:latin typeface="Cambria"/>
              </a:rPr>
              <a:t> = (</a:t>
            </a:r>
            <a:r>
              <a:rPr sz="1750" b="0" i="1">
                <a:solidFill>
                  <a:srgbClr val="14202E"/>
                </a:solidFill>
                <a:latin typeface="Cambria"/>
              </a:rPr>
              <a:t>R</a:t>
            </a:r>
            <a:r>
              <a:rPr sz="1750" b="0" i="0">
                <a:solidFill>
                  <a:srgbClr val="14202E"/>
                </a:solidFill>
                <a:latin typeface="Cambria"/>
              </a:rPr>
              <a:t>′</a:t>
            </a:r>
            <a:r>
              <a:rPr sz="1750" b="0" i="1" baseline="-25000">
                <a:solidFill>
                  <a:srgbClr val="14202E"/>
                </a:solidFill>
                <a:latin typeface="Cambria"/>
              </a:rPr>
              <a:t>i</a:t>
            </a:r>
            <a:r>
              <a:rPr sz="1750" b="0" i="0">
                <a:solidFill>
                  <a:srgbClr val="14202E"/>
                </a:solidFill>
                <a:latin typeface="Cambria"/>
              </a:rPr>
              <a:t>, </a:t>
            </a:r>
            <a:r>
              <a:rPr sz="1750" b="0" i="1">
                <a:solidFill>
                  <a:srgbClr val="14202E"/>
                </a:solidFill>
                <a:latin typeface="Cambria"/>
              </a:rPr>
              <a:t>z</a:t>
            </a:r>
            <a:r>
              <a:rPr sz="1750" b="0" i="0">
                <a:solidFill>
                  <a:srgbClr val="14202E"/>
                </a:solidFill>
                <a:latin typeface="Cambria"/>
              </a:rPr>
              <a:t>′</a:t>
            </a:r>
            <a:r>
              <a:rPr sz="1750" b="0" i="1" baseline="-25000">
                <a:solidFill>
                  <a:srgbClr val="14202E"/>
                </a:solidFill>
                <a:latin typeface="Cambria"/>
              </a:rPr>
              <a:t>i</a:t>
            </a:r>
            <a:r>
              <a:rPr sz="1750" b="0" i="0">
                <a:solidFill>
                  <a:srgbClr val="14202E"/>
                </a:solidFill>
                <a:latin typeface="Cambria"/>
              </a:rPr>
              <a:t>)</a:t>
            </a:r>
          </a:p>
        </p:txBody>
      </p:sp>
      <p:sp>
        <p:nvSpPr>
          <p:cNvPr id="12" name="TextBox 11"/>
          <p:cNvSpPr txBox="1"/>
          <p:nvPr/>
        </p:nvSpPr>
        <p:spPr>
          <a:xfrm>
            <a:off x="7223760" y="1481328"/>
            <a:ext cx="438912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(3) IT VERIFIES</a:t>
            </a:r>
          </a:p>
        </p:txBody>
      </p:sp>
      <p:sp>
        <p:nvSpPr>
          <p:cNvPr id="13" name="TextBox 12"/>
          <p:cNvSpPr txBox="1"/>
          <p:nvPr/>
        </p:nvSpPr>
        <p:spPr>
          <a:xfrm>
            <a:off x="7223760" y="1783080"/>
            <a:ext cx="4434840" cy="2011680"/>
          </a:xfrm>
          <a:prstGeom prst="rect">
            <a:avLst/>
          </a:prstGeom>
          <a:noFill/>
        </p:spPr>
        <p:txBody>
          <a:bodyPr wrap="square" lIns="0" rIns="0" tIns="0" bIns="0" anchor="t">
            <a:spAutoFit/>
          </a:bodyPr>
          <a:lstStyle/>
          <a:p>
            <a:pPr algn="l">
              <a:lnSpc>
                <a:spcPct val="97000"/>
              </a:lnSpc>
              <a:spcBef>
                <a:spcPts val="0"/>
              </a:spcBef>
              <a:spcAft>
                <a:spcPts val="400"/>
              </a:spcAft>
            </a:pPr>
            <a:r>
              <a:rPr sz="1450" b="0" i="1">
                <a:solidFill>
                  <a:srgbClr val="14202E"/>
                </a:solidFill>
                <a:latin typeface="Cambria"/>
              </a:rPr>
              <a:t>z</a:t>
            </a:r>
            <a:r>
              <a:rPr sz="1450" b="0" i="0">
                <a:solidFill>
                  <a:srgbClr val="14202E"/>
                </a:solidFill>
                <a:latin typeface="Cambria"/>
              </a:rPr>
              <a:t>′</a:t>
            </a:r>
            <a:r>
              <a:rPr sz="1450" b="0" i="1" baseline="-25000">
                <a:solidFill>
                  <a:srgbClr val="14202E"/>
                </a:solidFill>
                <a:latin typeface="Cambria"/>
              </a:rPr>
              <a:t>i</a:t>
            </a:r>
            <a:r>
              <a:rPr sz="1450" b="0" i="1">
                <a:solidFill>
                  <a:srgbClr val="14202E"/>
                </a:solidFill>
                <a:latin typeface="Cambria"/>
              </a:rPr>
              <a:t>P</a:t>
            </a:r>
            <a:r>
              <a:rPr sz="1450" b="0" i="0">
                <a:solidFill>
                  <a:srgbClr val="14202E"/>
                </a:solidFill>
                <a:latin typeface="Cambria"/>
              </a:rPr>
              <a:t> = (</a:t>
            </a:r>
            <a:r>
              <a:rPr sz="1450" b="0" i="1">
                <a:solidFill>
                  <a:srgbClr val="14202E"/>
                </a:solidFill>
                <a:latin typeface="Cambria"/>
              </a:rPr>
              <a:t>v</a:t>
            </a:r>
            <a:r>
              <a:rPr sz="1450" b="0" i="0">
                <a:solidFill>
                  <a:srgbClr val="14202E"/>
                </a:solidFill>
                <a:latin typeface="Cambria"/>
              </a:rPr>
              <a:t>′</a:t>
            </a:r>
            <a:r>
              <a:rPr sz="1450" b="0" i="1" baseline="-25000">
                <a:solidFill>
                  <a:srgbClr val="14202E"/>
                </a:solidFill>
                <a:latin typeface="Cambria"/>
              </a:rPr>
              <a:t>i</a:t>
            </a:r>
            <a:r>
              <a:rPr sz="1450" b="0" i="1">
                <a:solidFill>
                  <a:srgbClr val="14202E"/>
                </a:solidFill>
                <a:latin typeface="Cambria"/>
              </a:rPr>
              <a:t>r</a:t>
            </a:r>
            <a:r>
              <a:rPr sz="1450" b="0" i="0" baseline="-25000">
                <a:solidFill>
                  <a:srgbClr val="14202E"/>
                </a:solidFill>
                <a:latin typeface="Cambria"/>
              </a:rPr>
              <a:t>2</a:t>
            </a:r>
            <a:r>
              <a:rPr sz="1450" b="0" i="1" baseline="-25000">
                <a:solidFill>
                  <a:srgbClr val="14202E"/>
                </a:solidFill>
                <a:latin typeface="Cambria"/>
              </a:rPr>
              <a:t>i</a:t>
            </a:r>
            <a:r>
              <a:rPr sz="1450" b="0" i="0">
                <a:solidFill>
                  <a:srgbClr val="14202E"/>
                </a:solidFill>
                <a:latin typeface="Cambria"/>
              </a:rPr>
              <a:t>/</a:t>
            </a:r>
            <a:r>
              <a:rPr sz="1450" b="0" i="1">
                <a:solidFill>
                  <a:srgbClr val="14202E"/>
                </a:solidFill>
                <a:latin typeface="Cambria"/>
              </a:rPr>
              <a:t>v</a:t>
            </a:r>
            <a:r>
              <a:rPr sz="1450" b="0" i="1" baseline="-25000">
                <a:solidFill>
                  <a:srgbClr val="14202E"/>
                </a:solidFill>
                <a:latin typeface="Cambria"/>
              </a:rPr>
              <a:t>i</a:t>
            </a:r>
            <a:r>
              <a:rPr sz="1450" b="0" i="0">
                <a:solidFill>
                  <a:srgbClr val="14202E"/>
                </a:solidFill>
                <a:latin typeface="Cambria"/>
              </a:rPr>
              <a:t>)</a:t>
            </a:r>
            <a:r>
              <a:rPr sz="1450" b="0" i="1">
                <a:solidFill>
                  <a:srgbClr val="14202E"/>
                </a:solidFill>
                <a:latin typeface="Cambria"/>
              </a:rPr>
              <a:t>P</a:t>
            </a:r>
            <a:r>
              <a:rPr sz="1450" b="0" i="0">
                <a:solidFill>
                  <a:srgbClr val="14202E"/>
                </a:solidFill>
                <a:latin typeface="Cambria"/>
              </a:rPr>
              <a:t> + </a:t>
            </a:r>
            <a:r>
              <a:rPr sz="1450" b="0" i="1">
                <a:solidFill>
                  <a:srgbClr val="14202E"/>
                </a:solidFill>
                <a:latin typeface="Cambria"/>
              </a:rPr>
              <a:t>c</a:t>
            </a:r>
            <a:r>
              <a:rPr sz="1450" b="0" i="1" baseline="-25000">
                <a:solidFill>
                  <a:srgbClr val="14202E"/>
                </a:solidFill>
                <a:latin typeface="Cambria"/>
              </a:rPr>
              <a:t>i</a:t>
            </a:r>
            <a:r>
              <a:rPr sz="1450" b="0" i="1">
                <a:solidFill>
                  <a:srgbClr val="14202E"/>
                </a:solidFill>
                <a:latin typeface="Cambria"/>
              </a:rPr>
              <a:t>P</a:t>
            </a:r>
            <a:r>
              <a:rPr sz="1450" b="0" i="0">
                <a:solidFill>
                  <a:srgbClr val="14202E"/>
                </a:solidFill>
                <a:latin typeface="Cambria"/>
              </a:rPr>
              <a:t> + </a:t>
            </a:r>
            <a:r>
              <a:rPr sz="1450" b="0" i="1">
                <a:solidFill>
                  <a:srgbClr val="14202E"/>
                </a:solidFill>
                <a:latin typeface="Cambria"/>
              </a:rPr>
              <a:t>sk</a:t>
            </a:r>
            <a:r>
              <a:rPr sz="1450" b="0" i="1" baseline="-25000">
                <a:solidFill>
                  <a:srgbClr val="14202E"/>
                </a:solidFill>
                <a:latin typeface="Cambria"/>
              </a:rPr>
              <a:t>i</a:t>
            </a:r>
            <a:r>
              <a:rPr sz="1450" b="0" i="1">
                <a:solidFill>
                  <a:srgbClr val="14202E"/>
                </a:solidFill>
                <a:latin typeface="Cambria"/>
              </a:rPr>
              <a:t>v</a:t>
            </a:r>
            <a:r>
              <a:rPr sz="1450" b="0" i="0">
                <a:solidFill>
                  <a:srgbClr val="14202E"/>
                </a:solidFill>
                <a:latin typeface="Cambria"/>
              </a:rPr>
              <a:t>′</a:t>
            </a:r>
            <a:r>
              <a:rPr sz="1450" b="0" i="1" baseline="-25000">
                <a:solidFill>
                  <a:srgbClr val="14202E"/>
                </a:solidFill>
                <a:latin typeface="Cambria"/>
              </a:rPr>
              <a:t>i</a:t>
            </a:r>
            <a:r>
              <a:rPr sz="1450" b="0" i="1">
                <a:solidFill>
                  <a:srgbClr val="14202E"/>
                </a:solidFill>
                <a:latin typeface="Cambria"/>
              </a:rPr>
              <a:t>P</a:t>
            </a:r>
          </a:p>
          <a:p>
            <a:pPr algn="l">
              <a:lnSpc>
                <a:spcPct val="97000"/>
              </a:lnSpc>
              <a:spcBef>
                <a:spcPts val="0"/>
              </a:spcBef>
              <a:spcAft>
                <a:spcPts val="400"/>
              </a:spcAft>
            </a:pPr>
            <a:r>
              <a:rPr sz="1450" b="0" i="0">
                <a:solidFill>
                  <a:srgbClr val="14202E"/>
                </a:solidFill>
                <a:latin typeface="Cambria"/>
              </a:rPr>
              <a:t>= (</a:t>
            </a:r>
            <a:r>
              <a:rPr sz="1450" b="0" i="1">
                <a:solidFill>
                  <a:srgbClr val="14202E"/>
                </a:solidFill>
                <a:latin typeface="Cambria"/>
              </a:rPr>
              <a:t>v</a:t>
            </a:r>
            <a:r>
              <a:rPr sz="1450" b="0" i="0">
                <a:solidFill>
                  <a:srgbClr val="14202E"/>
                </a:solidFill>
                <a:latin typeface="Cambria"/>
              </a:rPr>
              <a:t>′</a:t>
            </a:r>
            <a:r>
              <a:rPr sz="1450" b="0" i="1" baseline="-25000">
                <a:solidFill>
                  <a:srgbClr val="14202E"/>
                </a:solidFill>
                <a:latin typeface="Cambria"/>
              </a:rPr>
              <a:t>i</a:t>
            </a:r>
            <a:r>
              <a:rPr sz="1450" b="0" i="1">
                <a:solidFill>
                  <a:srgbClr val="14202E"/>
                </a:solidFill>
                <a:latin typeface="Cambria"/>
              </a:rPr>
              <a:t>r</a:t>
            </a:r>
            <a:r>
              <a:rPr sz="1450" b="0" i="0" baseline="-25000">
                <a:solidFill>
                  <a:srgbClr val="14202E"/>
                </a:solidFill>
                <a:latin typeface="Cambria"/>
              </a:rPr>
              <a:t>2</a:t>
            </a:r>
            <a:r>
              <a:rPr sz="1450" b="0" i="1" baseline="-25000">
                <a:solidFill>
                  <a:srgbClr val="14202E"/>
                </a:solidFill>
                <a:latin typeface="Cambria"/>
              </a:rPr>
              <a:t>i</a:t>
            </a:r>
            <a:r>
              <a:rPr sz="1450" b="0" i="0">
                <a:solidFill>
                  <a:srgbClr val="14202E"/>
                </a:solidFill>
                <a:latin typeface="Cambria"/>
              </a:rPr>
              <a:t>/</a:t>
            </a:r>
            <a:r>
              <a:rPr sz="1450" b="0" i="1">
                <a:solidFill>
                  <a:srgbClr val="14202E"/>
                </a:solidFill>
                <a:latin typeface="Cambria"/>
              </a:rPr>
              <a:t>v</a:t>
            </a:r>
            <a:r>
              <a:rPr sz="1450" b="0" i="1" baseline="-25000">
                <a:solidFill>
                  <a:srgbClr val="14202E"/>
                </a:solidFill>
                <a:latin typeface="Cambria"/>
              </a:rPr>
              <a:t>i</a:t>
            </a:r>
            <a:r>
              <a:rPr sz="1450" b="0" i="0">
                <a:solidFill>
                  <a:srgbClr val="14202E"/>
                </a:solidFill>
                <a:latin typeface="Cambria"/>
              </a:rPr>
              <a:t>)</a:t>
            </a:r>
            <a:r>
              <a:rPr sz="1450" b="0" i="1">
                <a:solidFill>
                  <a:srgbClr val="14202E"/>
                </a:solidFill>
                <a:latin typeface="Cambria"/>
              </a:rPr>
              <a:t>P</a:t>
            </a:r>
            <a:r>
              <a:rPr sz="1450" b="0" i="0">
                <a:solidFill>
                  <a:srgbClr val="14202E"/>
                </a:solidFill>
                <a:latin typeface="Cambria"/>
              </a:rPr>
              <a:t> + </a:t>
            </a:r>
            <a:r>
              <a:rPr sz="1450" b="0" i="1">
                <a:solidFill>
                  <a:srgbClr val="14202E"/>
                </a:solidFill>
                <a:latin typeface="Cambria"/>
              </a:rPr>
              <a:t>R</a:t>
            </a:r>
            <a:r>
              <a:rPr sz="1450" b="0" i="0" baseline="-25000">
                <a:solidFill>
                  <a:srgbClr val="14202E"/>
                </a:solidFill>
                <a:latin typeface="Cambria"/>
              </a:rPr>
              <a:t>1</a:t>
            </a:r>
            <a:r>
              <a:rPr sz="1450" b="0" i="1" baseline="-25000">
                <a:solidFill>
                  <a:srgbClr val="14202E"/>
                </a:solidFill>
                <a:latin typeface="Cambria"/>
              </a:rPr>
              <a:t>i</a:t>
            </a:r>
            <a:r>
              <a:rPr sz="1450" b="0" i="0">
                <a:solidFill>
                  <a:srgbClr val="14202E"/>
                </a:solidFill>
                <a:latin typeface="Cambria"/>
              </a:rPr>
              <a:t> + </a:t>
            </a:r>
            <a:r>
              <a:rPr sz="1450" b="0" i="1">
                <a:solidFill>
                  <a:srgbClr val="14202E"/>
                </a:solidFill>
                <a:latin typeface="Cambria"/>
              </a:rPr>
              <a:t>H</a:t>
            </a:r>
            <a:r>
              <a:rPr sz="1450" b="0" i="0" baseline="-25000">
                <a:solidFill>
                  <a:srgbClr val="14202E"/>
                </a:solidFill>
                <a:latin typeface="Cambria"/>
              </a:rPr>
              <a:t>0</a:t>
            </a:r>
            <a:r>
              <a:rPr sz="1450" b="0" i="0">
                <a:solidFill>
                  <a:srgbClr val="14202E"/>
                </a:solidFill>
                <a:latin typeface="Cambria"/>
              </a:rPr>
              <a:t>(</a:t>
            </a:r>
            <a:r>
              <a:rPr sz="1450" b="0" i="1">
                <a:solidFill>
                  <a:srgbClr val="14202E"/>
                </a:solidFill>
                <a:latin typeface="Cambria"/>
              </a:rPr>
              <a:t>id</a:t>
            </a:r>
            <a:r>
              <a:rPr sz="1450" b="0" i="1" baseline="-25000">
                <a:solidFill>
                  <a:srgbClr val="14202E"/>
                </a:solidFill>
                <a:latin typeface="Cambria"/>
              </a:rPr>
              <a:t>i</a:t>
            </a:r>
            <a:r>
              <a:rPr sz="1450" b="0" i="0">
                <a:solidFill>
                  <a:srgbClr val="14202E"/>
                </a:solidFill>
                <a:latin typeface="Cambria"/>
              </a:rPr>
              <a:t>‖</a:t>
            </a:r>
            <a:r>
              <a:rPr sz="1450" b="0" i="1">
                <a:solidFill>
                  <a:srgbClr val="14202E"/>
                </a:solidFill>
                <a:latin typeface="Cambria"/>
              </a:rPr>
              <a:t>pk</a:t>
            </a:r>
            <a:r>
              <a:rPr sz="1450" b="0" i="1" baseline="-25000">
                <a:solidFill>
                  <a:srgbClr val="14202E"/>
                </a:solidFill>
                <a:latin typeface="Cambria"/>
              </a:rPr>
              <a:t>i</a:t>
            </a:r>
            <a:r>
              <a:rPr sz="1450" b="0" i="0">
                <a:solidFill>
                  <a:srgbClr val="14202E"/>
                </a:solidFill>
                <a:latin typeface="Cambria"/>
              </a:rPr>
              <a:t>)</a:t>
            </a:r>
            <a:r>
              <a:rPr sz="1450" b="0" i="1">
                <a:solidFill>
                  <a:srgbClr val="14202E"/>
                </a:solidFill>
                <a:latin typeface="Cambria"/>
              </a:rPr>
              <a:t>P</a:t>
            </a:r>
            <a:r>
              <a:rPr sz="1450" b="0" i="1" baseline="30000">
                <a:solidFill>
                  <a:srgbClr val="14202E"/>
                </a:solidFill>
                <a:latin typeface="Cambria"/>
              </a:rPr>
              <a:t>k</a:t>
            </a:r>
            <a:r>
              <a:rPr sz="1450" b="0" i="1" baseline="-25000">
                <a:solidFill>
                  <a:srgbClr val="14202E"/>
                </a:solidFill>
                <a:latin typeface="Cambria"/>
              </a:rPr>
              <a:t>TA</a:t>
            </a:r>
            <a:r>
              <a:rPr sz="1450" b="0" i="0">
                <a:solidFill>
                  <a:srgbClr val="14202E"/>
                </a:solidFill>
                <a:latin typeface="Cambria"/>
              </a:rPr>
              <a:t> + </a:t>
            </a:r>
            <a:r>
              <a:rPr sz="1450" b="0" i="1">
                <a:solidFill>
                  <a:srgbClr val="14202E"/>
                </a:solidFill>
                <a:latin typeface="Cambria"/>
              </a:rPr>
              <a:t>v</a:t>
            </a:r>
            <a:r>
              <a:rPr sz="1450" b="0" i="0">
                <a:solidFill>
                  <a:srgbClr val="14202E"/>
                </a:solidFill>
                <a:latin typeface="Cambria"/>
              </a:rPr>
              <a:t>′</a:t>
            </a:r>
            <a:r>
              <a:rPr sz="1450" b="0" i="1" baseline="-25000">
                <a:solidFill>
                  <a:srgbClr val="14202E"/>
                </a:solidFill>
                <a:latin typeface="Cambria"/>
              </a:rPr>
              <a:t>i</a:t>
            </a:r>
            <a:r>
              <a:rPr sz="1450" b="0" i="1">
                <a:solidFill>
                  <a:srgbClr val="14202E"/>
                </a:solidFill>
                <a:latin typeface="Cambria"/>
              </a:rPr>
              <a:t>pk</a:t>
            </a:r>
            <a:r>
              <a:rPr sz="1450" b="0" i="1" baseline="-25000">
                <a:solidFill>
                  <a:srgbClr val="14202E"/>
                </a:solidFill>
                <a:latin typeface="Cambria"/>
              </a:rPr>
              <a:t>i</a:t>
            </a:r>
          </a:p>
          <a:p>
            <a:pPr algn="l">
              <a:lnSpc>
                <a:spcPct val="97000"/>
              </a:lnSpc>
              <a:spcBef>
                <a:spcPts val="0"/>
              </a:spcBef>
              <a:spcAft>
                <a:spcPts val="0"/>
              </a:spcAft>
            </a:pPr>
            <a:r>
              <a:rPr sz="1450" b="0" i="0">
                <a:solidFill>
                  <a:srgbClr val="14202E"/>
                </a:solidFill>
                <a:latin typeface="Cambria"/>
              </a:rPr>
              <a:t>= </a:t>
            </a:r>
            <a:r>
              <a:rPr sz="1450" b="0" i="1">
                <a:solidFill>
                  <a:srgbClr val="14202E"/>
                </a:solidFill>
                <a:latin typeface="Cambria"/>
              </a:rPr>
              <a:t>R</a:t>
            </a:r>
            <a:r>
              <a:rPr sz="1450" b="0" i="0">
                <a:solidFill>
                  <a:srgbClr val="14202E"/>
                </a:solidFill>
                <a:latin typeface="Cambria"/>
              </a:rPr>
              <a:t>′</a:t>
            </a:r>
            <a:r>
              <a:rPr sz="1450" b="0" i="1" baseline="-25000">
                <a:solidFill>
                  <a:srgbClr val="14202E"/>
                </a:solidFill>
                <a:latin typeface="Cambria"/>
              </a:rPr>
              <a:t>i</a:t>
            </a:r>
            <a:r>
              <a:rPr sz="1450" b="0" i="0">
                <a:solidFill>
                  <a:srgbClr val="14202E"/>
                </a:solidFill>
                <a:latin typeface="Cambria"/>
              </a:rPr>
              <a:t> + </a:t>
            </a:r>
            <a:r>
              <a:rPr sz="1450" b="0" i="1">
                <a:solidFill>
                  <a:srgbClr val="14202E"/>
                </a:solidFill>
                <a:latin typeface="Cambria"/>
              </a:rPr>
              <a:t>H</a:t>
            </a:r>
            <a:r>
              <a:rPr sz="1450" b="0" i="0" baseline="-25000">
                <a:solidFill>
                  <a:srgbClr val="14202E"/>
                </a:solidFill>
                <a:latin typeface="Cambria"/>
              </a:rPr>
              <a:t>0</a:t>
            </a:r>
            <a:r>
              <a:rPr sz="1450" b="0" i="0">
                <a:solidFill>
                  <a:srgbClr val="14202E"/>
                </a:solidFill>
                <a:latin typeface="Cambria"/>
              </a:rPr>
              <a:t>(</a:t>
            </a:r>
            <a:r>
              <a:rPr sz="1450" b="0" i="1">
                <a:solidFill>
                  <a:srgbClr val="14202E"/>
                </a:solidFill>
                <a:latin typeface="Cambria"/>
              </a:rPr>
              <a:t>id</a:t>
            </a:r>
            <a:r>
              <a:rPr sz="1450" b="0" i="1" baseline="-25000">
                <a:solidFill>
                  <a:srgbClr val="14202E"/>
                </a:solidFill>
                <a:latin typeface="Cambria"/>
              </a:rPr>
              <a:t>i</a:t>
            </a:r>
            <a:r>
              <a:rPr sz="1450" b="0" i="0">
                <a:solidFill>
                  <a:srgbClr val="14202E"/>
                </a:solidFill>
                <a:latin typeface="Cambria"/>
              </a:rPr>
              <a:t>‖</a:t>
            </a:r>
            <a:r>
              <a:rPr sz="1450" b="0" i="1">
                <a:solidFill>
                  <a:srgbClr val="14202E"/>
                </a:solidFill>
                <a:latin typeface="Cambria"/>
              </a:rPr>
              <a:t>pk</a:t>
            </a:r>
            <a:r>
              <a:rPr sz="1450" b="0" i="1" baseline="-25000">
                <a:solidFill>
                  <a:srgbClr val="14202E"/>
                </a:solidFill>
                <a:latin typeface="Cambria"/>
              </a:rPr>
              <a:t>i</a:t>
            </a:r>
            <a:r>
              <a:rPr sz="1450" b="0" i="0">
                <a:solidFill>
                  <a:srgbClr val="14202E"/>
                </a:solidFill>
                <a:latin typeface="Cambria"/>
              </a:rPr>
              <a:t>)</a:t>
            </a:r>
            <a:r>
              <a:rPr sz="1450" b="0" i="1">
                <a:solidFill>
                  <a:srgbClr val="14202E"/>
                </a:solidFill>
                <a:latin typeface="Cambria"/>
              </a:rPr>
              <a:t>P</a:t>
            </a:r>
            <a:r>
              <a:rPr sz="1450" b="0" i="1" baseline="30000">
                <a:solidFill>
                  <a:srgbClr val="14202E"/>
                </a:solidFill>
                <a:latin typeface="Cambria"/>
              </a:rPr>
              <a:t>k</a:t>
            </a:r>
            <a:r>
              <a:rPr sz="1450" b="0" i="1" baseline="-25000">
                <a:solidFill>
                  <a:srgbClr val="14202E"/>
                </a:solidFill>
                <a:latin typeface="Cambria"/>
              </a:rPr>
              <a:t>TA</a:t>
            </a:r>
            <a:r>
              <a:rPr sz="1450" b="0" i="0">
                <a:solidFill>
                  <a:srgbClr val="14202E"/>
                </a:solidFill>
                <a:latin typeface="Cambria"/>
              </a:rPr>
              <a:t> + </a:t>
            </a:r>
            <a:r>
              <a:rPr sz="1450" b="0" i="1">
                <a:solidFill>
                  <a:srgbClr val="14202E"/>
                </a:solidFill>
                <a:latin typeface="Cambria"/>
              </a:rPr>
              <a:t>v</a:t>
            </a:r>
            <a:r>
              <a:rPr sz="1450" b="0" i="0">
                <a:solidFill>
                  <a:srgbClr val="14202E"/>
                </a:solidFill>
                <a:latin typeface="Cambria"/>
              </a:rPr>
              <a:t>′</a:t>
            </a:r>
            <a:r>
              <a:rPr sz="1450" b="0" i="1" baseline="-25000">
                <a:solidFill>
                  <a:srgbClr val="14202E"/>
                </a:solidFill>
                <a:latin typeface="Cambria"/>
              </a:rPr>
              <a:t>i</a:t>
            </a:r>
            <a:r>
              <a:rPr sz="1450" b="0" i="1">
                <a:solidFill>
                  <a:srgbClr val="14202E"/>
                </a:solidFill>
                <a:latin typeface="Cambria"/>
              </a:rPr>
              <a:t>pk</a:t>
            </a:r>
            <a:r>
              <a:rPr sz="1450" b="0" i="1" baseline="-25000">
                <a:solidFill>
                  <a:srgbClr val="14202E"/>
                </a:solidFill>
                <a:latin typeface="Cambria"/>
              </a:rPr>
              <a:t>i</a:t>
            </a:r>
          </a:p>
        </p:txBody>
      </p:sp>
      <p:sp>
        <p:nvSpPr>
          <p:cNvPr id="14" name="Rounded Rectangle 13"/>
          <p:cNvSpPr/>
          <p:nvPr/>
        </p:nvSpPr>
        <p:spPr>
          <a:xfrm>
            <a:off x="7223760" y="3657600"/>
            <a:ext cx="4416552" cy="1143000"/>
          </a:xfrm>
          <a:prstGeom prst="roundRect">
            <a:avLst>
              <a:gd name="adj" fmla="val 6400"/>
            </a:avLst>
          </a:prstGeom>
          <a:solidFill>
            <a:srgbClr val="FCE9E7"/>
          </a:solidFill>
          <a:ln w="19050">
            <a:solidFill>
              <a:srgbClr val="B3261E"/>
            </a:solidFill>
          </a:ln>
          <a:effectLst/>
        </p:spPr>
        <p:txBody>
          <a:bodyPr rtlCol="0" anchor="ctr" wrap="square" lIns="73152" rIns="73152" tIns="36576" bIns="36576"/>
          <a:lstStyle/>
          <a:p>
            <a:pPr algn="ctr"/>
          </a:p>
        </p:txBody>
      </p:sp>
      <p:sp>
        <p:nvSpPr>
          <p:cNvPr id="15" name="TextBox 14"/>
          <p:cNvSpPr txBox="1"/>
          <p:nvPr/>
        </p:nvSpPr>
        <p:spPr>
          <a:xfrm>
            <a:off x="7360920" y="3703320"/>
            <a:ext cx="4160520" cy="1051560"/>
          </a:xfrm>
          <a:prstGeom prst="rect">
            <a:avLst/>
          </a:prstGeom>
          <a:noFill/>
        </p:spPr>
        <p:txBody>
          <a:bodyPr wrap="square" lIns="0" rIns="0" tIns="0" bIns="0" anchor="t">
            <a:spAutoFit/>
          </a:bodyPr>
          <a:lstStyle/>
          <a:p>
            <a:pPr algn="l">
              <a:lnSpc>
                <a:spcPct val="97000"/>
              </a:lnSpc>
              <a:spcBef>
                <a:spcPts val="0"/>
              </a:spcBef>
              <a:spcAft>
                <a:spcPts val="300"/>
              </a:spcAft>
            </a:pPr>
            <a:r>
              <a:rPr sz="1300" b="1" i="0">
                <a:solidFill>
                  <a:srgbClr val="14202E"/>
                </a:solidFill>
                <a:latin typeface="Calibri"/>
              </a:rPr>
              <a:t>The same attack in one line, </a:t>
            </a:r>
            <a:r>
              <a:rPr sz="1300" b="1" i="1">
                <a:solidFill>
                  <a:srgbClr val="14202E"/>
                </a:solidFill>
                <a:latin typeface="Cambria"/>
              </a:rPr>
              <a:t>λ</a:t>
            </a:r>
            <a:r>
              <a:rPr sz="1300" b="1" i="0">
                <a:solidFill>
                  <a:srgbClr val="14202E"/>
                </a:solidFill>
                <a:latin typeface="Cambria"/>
              </a:rPr>
              <a:t> = </a:t>
            </a:r>
            <a:r>
              <a:rPr sz="1300" b="1" i="1">
                <a:solidFill>
                  <a:srgbClr val="14202E"/>
                </a:solidFill>
                <a:latin typeface="Cambria"/>
              </a:rPr>
              <a:t>v</a:t>
            </a:r>
            <a:r>
              <a:rPr sz="1300" b="1" i="0">
                <a:solidFill>
                  <a:srgbClr val="14202E"/>
                </a:solidFill>
                <a:latin typeface="Cambria"/>
              </a:rPr>
              <a:t>′</a:t>
            </a:r>
            <a:r>
              <a:rPr sz="1300" b="1" i="1" baseline="-25000">
                <a:solidFill>
                  <a:srgbClr val="14202E"/>
                </a:solidFill>
                <a:latin typeface="Cambria"/>
              </a:rPr>
              <a:t>i</a:t>
            </a:r>
            <a:r>
              <a:rPr sz="1300" b="1" i="0">
                <a:solidFill>
                  <a:srgbClr val="14202E"/>
                </a:solidFill>
                <a:latin typeface="Cambria"/>
              </a:rPr>
              <a:t>/</a:t>
            </a:r>
            <a:r>
              <a:rPr sz="1300" b="1" i="1">
                <a:solidFill>
                  <a:srgbClr val="14202E"/>
                </a:solidFill>
                <a:latin typeface="Cambria"/>
              </a:rPr>
              <a:t>v</a:t>
            </a:r>
            <a:r>
              <a:rPr sz="1300" b="1" i="1" baseline="-25000">
                <a:solidFill>
                  <a:srgbClr val="14202E"/>
                </a:solidFill>
                <a:latin typeface="Cambria"/>
              </a:rPr>
              <a:t>i</a:t>
            </a:r>
            <a:r>
              <a:rPr sz="1300" b="1" i="0">
                <a:solidFill>
                  <a:srgbClr val="14202E"/>
                </a:solidFill>
                <a:latin typeface="Calibri"/>
              </a:rPr>
              <a:t>  (our rewriting)</a:t>
            </a:r>
          </a:p>
          <a:p>
            <a:pPr algn="l">
              <a:lnSpc>
                <a:spcPct val="97000"/>
              </a:lnSpc>
              <a:spcBef>
                <a:spcPts val="0"/>
              </a:spcBef>
              <a:spcAft>
                <a:spcPts val="100"/>
              </a:spcAft>
            </a:pPr>
            <a:r>
              <a:rPr sz="1600" b="0" i="1">
                <a:solidFill>
                  <a:srgbClr val="14202E"/>
                </a:solidFill>
                <a:latin typeface="Cambria"/>
              </a:rPr>
              <a:t>R</a:t>
            </a:r>
            <a:r>
              <a:rPr sz="1600" b="0" i="0">
                <a:solidFill>
                  <a:srgbClr val="14202E"/>
                </a:solidFill>
                <a:latin typeface="Cambria"/>
              </a:rPr>
              <a:t>′</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R</a:t>
            </a:r>
            <a:r>
              <a:rPr sz="1600" b="0" i="0" baseline="-25000">
                <a:solidFill>
                  <a:srgbClr val="14202E"/>
                </a:solidFill>
                <a:latin typeface="Cambria"/>
              </a:rPr>
              <a:t>1</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λ</a:t>
            </a:r>
            <a:r>
              <a:rPr sz="1600" b="0" i="0">
                <a:solidFill>
                  <a:srgbClr val="14202E"/>
                </a:solidFill>
                <a:latin typeface="Cambria"/>
              </a:rPr>
              <a:t>(</a:t>
            </a:r>
            <a:r>
              <a:rPr sz="1600" b="0" i="1">
                <a:solidFill>
                  <a:srgbClr val="14202E"/>
                </a:solidFill>
                <a:latin typeface="Cambria"/>
              </a:rPr>
              <a:t>R</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R</a:t>
            </a:r>
            <a:r>
              <a:rPr sz="1600" b="0" i="0" baseline="-25000">
                <a:solidFill>
                  <a:srgbClr val="14202E"/>
                </a:solidFill>
                <a:latin typeface="Cambria"/>
              </a:rPr>
              <a:t>1</a:t>
            </a:r>
            <a:r>
              <a:rPr sz="1600" b="0" i="1" baseline="-25000">
                <a:solidFill>
                  <a:srgbClr val="14202E"/>
                </a:solidFill>
                <a:latin typeface="Cambria"/>
              </a:rPr>
              <a:t>i</a:t>
            </a:r>
            <a:r>
              <a:rPr sz="1600" b="0" i="0">
                <a:solidFill>
                  <a:srgbClr val="14202E"/>
                </a:solidFill>
                <a:latin typeface="Cambria"/>
              </a:rPr>
              <a:t>)</a:t>
            </a:r>
          </a:p>
          <a:p>
            <a:pPr algn="l">
              <a:lnSpc>
                <a:spcPct val="97000"/>
              </a:lnSpc>
              <a:spcBef>
                <a:spcPts val="0"/>
              </a:spcBef>
              <a:spcAft>
                <a:spcPts val="0"/>
              </a:spcAft>
            </a:pPr>
            <a:r>
              <a:rPr sz="1600" b="0" i="1">
                <a:solidFill>
                  <a:srgbClr val="14202E"/>
                </a:solidFill>
                <a:latin typeface="Cambria"/>
              </a:rPr>
              <a:t>z</a:t>
            </a:r>
            <a:r>
              <a:rPr sz="1600" b="0" i="0">
                <a:solidFill>
                  <a:srgbClr val="14202E"/>
                </a:solidFill>
                <a:latin typeface="Cambria"/>
              </a:rPr>
              <a:t>′</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c</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λ</a:t>
            </a:r>
            <a:r>
              <a:rPr sz="1600" b="0" i="0">
                <a:solidFill>
                  <a:srgbClr val="14202E"/>
                </a:solidFill>
                <a:latin typeface="Cambria"/>
              </a:rPr>
              <a:t>(</a:t>
            </a:r>
            <a:r>
              <a:rPr sz="1600" b="0" i="1">
                <a:solidFill>
                  <a:srgbClr val="14202E"/>
                </a:solidFill>
                <a:latin typeface="Cambria"/>
              </a:rPr>
              <a:t>z</a:t>
            </a:r>
            <a:r>
              <a:rPr sz="1600" b="0" i="1" baseline="-25000">
                <a:solidFill>
                  <a:srgbClr val="14202E"/>
                </a:solidFill>
                <a:latin typeface="Cambria"/>
              </a:rPr>
              <a:t>i</a:t>
            </a:r>
            <a:r>
              <a:rPr sz="1600" b="0" i="0">
                <a:solidFill>
                  <a:srgbClr val="14202E"/>
                </a:solidFill>
                <a:latin typeface="Cambria"/>
              </a:rPr>
              <a:t> − </a:t>
            </a:r>
            <a:r>
              <a:rPr sz="1600" b="0" i="1">
                <a:solidFill>
                  <a:srgbClr val="14202E"/>
                </a:solidFill>
                <a:latin typeface="Cambria"/>
              </a:rPr>
              <a:t>c</a:t>
            </a:r>
            <a:r>
              <a:rPr sz="1600" b="0" i="1" baseline="-25000">
                <a:solidFill>
                  <a:srgbClr val="14202E"/>
                </a:solidFill>
                <a:latin typeface="Cambria"/>
              </a:rPr>
              <a:t>i</a:t>
            </a:r>
            <a:r>
              <a:rPr sz="1600" b="0" i="0">
                <a:solidFill>
                  <a:srgbClr val="14202E"/>
                </a:solidFill>
                <a:latin typeface="Cambria"/>
              </a:rPr>
              <a:t>)</a:t>
            </a:r>
          </a:p>
        </p:txBody>
      </p:sp>
      <p:sp>
        <p:nvSpPr>
          <p:cNvPr id="16" name="Rectangle 15"/>
          <p:cNvSpPr/>
          <p:nvPr/>
        </p:nvSpPr>
        <p:spPr>
          <a:xfrm>
            <a:off x="548640" y="4572000"/>
            <a:ext cx="4846320" cy="320040"/>
          </a:xfrm>
          <a:prstGeom prst="rect">
            <a:avLst/>
          </a:prstGeom>
          <a:solidFill>
            <a:srgbClr val="F2F5F8"/>
          </a:solidFill>
          <a:ln>
            <a:noFill/>
          </a:ln>
          <a:effectLst/>
        </p:spPr>
        <p:txBody>
          <a:bodyPr rtlCol="0" anchor="ctr" wrap="square" lIns="73152" rIns="73152" tIns="36576" bIns="36576"/>
          <a:lstStyle/>
          <a:p>
            <a:pPr algn="ctr"/>
          </a:p>
        </p:txBody>
      </p:sp>
      <p:sp>
        <p:nvSpPr>
          <p:cNvPr id="17" name="TextBox 16"/>
          <p:cNvSpPr txBox="1"/>
          <p:nvPr/>
        </p:nvSpPr>
        <p:spPr>
          <a:xfrm>
            <a:off x="640080" y="4572000"/>
            <a:ext cx="2286000" cy="320040"/>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PAPER STEP</a:t>
            </a:r>
          </a:p>
        </p:txBody>
      </p:sp>
      <p:sp>
        <p:nvSpPr>
          <p:cNvPr id="18" name="TextBox 17"/>
          <p:cNvSpPr txBox="1"/>
          <p:nvPr/>
        </p:nvSpPr>
        <p:spPr>
          <a:xfrm>
            <a:off x="3108960" y="4572000"/>
            <a:ext cx="2194560" cy="320040"/>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attack.py · forge_verma</a:t>
            </a:r>
          </a:p>
        </p:txBody>
      </p:sp>
      <p:cxnSp>
        <p:nvCxnSpPr>
          <p:cNvPr id="19" name="Connector 18"/>
          <p:cNvCxnSpPr/>
          <p:nvPr/>
        </p:nvCxnSpPr>
        <p:spPr>
          <a:xfrm>
            <a:off x="548640" y="4892040"/>
            <a:ext cx="4846320" cy="0"/>
          </a:xfrm>
          <a:prstGeom prst="line">
            <a:avLst/>
          </a:prstGeom>
          <a:ln w="15875">
            <a:solidFill>
              <a:srgbClr val="5B6675"/>
            </a:solidFill>
          </a:ln>
        </p:spPr>
      </p:cxnSp>
      <p:sp>
        <p:nvSpPr>
          <p:cNvPr id="20" name="TextBox 19"/>
          <p:cNvSpPr txBox="1"/>
          <p:nvPr/>
        </p:nvSpPr>
        <p:spPr>
          <a:xfrm>
            <a:off x="640080" y="4892040"/>
            <a:ext cx="2286000" cy="329184"/>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libri"/>
              </a:rPr>
              <a:t>(a) </a:t>
            </a:r>
            <a:r>
              <a:rPr sz="1350" b="0" i="1">
                <a:solidFill>
                  <a:srgbClr val="14202E"/>
                </a:solidFill>
                <a:latin typeface="Cambria"/>
              </a:rPr>
              <a:t>v</a:t>
            </a:r>
            <a:r>
              <a:rPr sz="1350" b="0" i="1" baseline="-25000">
                <a:solidFill>
                  <a:srgbClr val="14202E"/>
                </a:solidFill>
                <a:latin typeface="Cambria"/>
              </a:rPr>
              <a:t>i</a:t>
            </a:r>
            <a:r>
              <a:rPr sz="1350" b="0" i="0">
                <a:solidFill>
                  <a:srgbClr val="14202E"/>
                </a:solidFill>
                <a:latin typeface="Calibri"/>
              </a:rPr>
              <a:t> and </a:t>
            </a:r>
            <a:r>
              <a:rPr sz="1350" b="0" i="0">
                <a:solidFill>
                  <a:srgbClr val="14202E"/>
                </a:solidFill>
                <a:latin typeface="Cambria"/>
              </a:rPr>
              <a:t>1/</a:t>
            </a:r>
            <a:r>
              <a:rPr sz="1350" b="0" i="1">
                <a:solidFill>
                  <a:srgbClr val="14202E"/>
                </a:solidFill>
                <a:latin typeface="Cambria"/>
              </a:rPr>
              <a:t>v</a:t>
            </a:r>
            <a:r>
              <a:rPr sz="1350" b="0" i="1" baseline="-25000">
                <a:solidFill>
                  <a:srgbClr val="14202E"/>
                </a:solidFill>
                <a:latin typeface="Cambria"/>
              </a:rPr>
              <a:t>i</a:t>
            </a:r>
          </a:p>
        </p:txBody>
      </p:sp>
      <p:sp>
        <p:nvSpPr>
          <p:cNvPr id="21" name="TextBox 20"/>
          <p:cNvSpPr txBox="1"/>
          <p:nvPr/>
        </p:nvSpPr>
        <p:spPr>
          <a:xfrm>
            <a:off x="3108960" y="4892040"/>
            <a:ext cx="2194560" cy="329184"/>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libri"/>
              </a:rPr>
              <a:t>lines 73–74</a:t>
            </a:r>
          </a:p>
        </p:txBody>
      </p:sp>
      <p:cxnSp>
        <p:nvCxnSpPr>
          <p:cNvPr id="22" name="Connector 21"/>
          <p:cNvCxnSpPr/>
          <p:nvPr/>
        </p:nvCxnSpPr>
        <p:spPr>
          <a:xfrm>
            <a:off x="548640" y="5221224"/>
            <a:ext cx="4846320" cy="0"/>
          </a:xfrm>
          <a:prstGeom prst="line">
            <a:avLst/>
          </a:prstGeom>
          <a:ln w="12700">
            <a:solidFill>
              <a:srgbClr val="D3D9E1"/>
            </a:solidFill>
          </a:ln>
        </p:spPr>
      </p:cxnSp>
      <p:sp>
        <p:nvSpPr>
          <p:cNvPr id="23" name="TextBox 22"/>
          <p:cNvSpPr txBox="1"/>
          <p:nvPr/>
        </p:nvSpPr>
        <p:spPr>
          <a:xfrm>
            <a:off x="640080" y="5221224"/>
            <a:ext cx="2286000" cy="329184"/>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libri"/>
              </a:rPr>
              <a:t>(b) </a:t>
            </a:r>
            <a:r>
              <a:rPr sz="1350" b="0" i="1">
                <a:solidFill>
                  <a:srgbClr val="14202E"/>
                </a:solidFill>
                <a:latin typeface="Cambria"/>
              </a:rPr>
              <a:t>α</a:t>
            </a:r>
            <a:r>
              <a:rPr sz="1350" b="0" i="0">
                <a:solidFill>
                  <a:srgbClr val="14202E"/>
                </a:solidFill>
                <a:latin typeface="Calibri"/>
              </a:rPr>
              <a:t>, </a:t>
            </a:r>
            <a:r>
              <a:rPr sz="1350" b="0" i="1">
                <a:solidFill>
                  <a:srgbClr val="14202E"/>
                </a:solidFill>
                <a:latin typeface="Cambria"/>
              </a:rPr>
              <a:t>A</a:t>
            </a:r>
          </a:p>
        </p:txBody>
      </p:sp>
      <p:sp>
        <p:nvSpPr>
          <p:cNvPr id="24" name="TextBox 23"/>
          <p:cNvSpPr txBox="1"/>
          <p:nvPr/>
        </p:nvSpPr>
        <p:spPr>
          <a:xfrm>
            <a:off x="3108960" y="5221224"/>
            <a:ext cx="2194560" cy="329184"/>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libri"/>
              </a:rPr>
              <a:t>lines 77–78</a:t>
            </a:r>
          </a:p>
        </p:txBody>
      </p:sp>
      <p:cxnSp>
        <p:nvCxnSpPr>
          <p:cNvPr id="25" name="Connector 24"/>
          <p:cNvCxnSpPr/>
          <p:nvPr/>
        </p:nvCxnSpPr>
        <p:spPr>
          <a:xfrm>
            <a:off x="548640" y="5550408"/>
            <a:ext cx="4846320" cy="0"/>
          </a:xfrm>
          <a:prstGeom prst="line">
            <a:avLst/>
          </a:prstGeom>
          <a:ln w="12700">
            <a:solidFill>
              <a:srgbClr val="D3D9E1"/>
            </a:solidFill>
          </a:ln>
        </p:spPr>
      </p:cxnSp>
      <p:sp>
        <p:nvSpPr>
          <p:cNvPr id="26" name="TextBox 25"/>
          <p:cNvSpPr txBox="1"/>
          <p:nvPr/>
        </p:nvSpPr>
        <p:spPr>
          <a:xfrm>
            <a:off x="640080" y="5550408"/>
            <a:ext cx="2286000" cy="329184"/>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libri"/>
              </a:rPr>
              <a:t>(c) </a:t>
            </a:r>
            <a:r>
              <a:rPr sz="1350" b="0" i="1">
                <a:solidFill>
                  <a:srgbClr val="14202E"/>
                </a:solidFill>
                <a:latin typeface="Cambria"/>
              </a:rPr>
              <a:t>v</a:t>
            </a:r>
            <a:r>
              <a:rPr sz="1350" b="0" i="0">
                <a:solidFill>
                  <a:srgbClr val="14202E"/>
                </a:solidFill>
                <a:latin typeface="Cambria"/>
              </a:rPr>
              <a:t>′</a:t>
            </a:r>
            <a:r>
              <a:rPr sz="1350" b="0" i="1" baseline="-25000">
                <a:solidFill>
                  <a:srgbClr val="14202E"/>
                </a:solidFill>
                <a:latin typeface="Cambria"/>
              </a:rPr>
              <a:t>i</a:t>
            </a:r>
            <a:r>
              <a:rPr sz="1350" b="0" i="0">
                <a:solidFill>
                  <a:srgbClr val="14202E"/>
                </a:solidFill>
                <a:latin typeface="Calibri"/>
              </a:rPr>
              <a:t>, </a:t>
            </a:r>
            <a:r>
              <a:rPr sz="1350" b="0" i="1">
                <a:solidFill>
                  <a:srgbClr val="14202E"/>
                </a:solidFill>
                <a:latin typeface="Cambria"/>
              </a:rPr>
              <a:t>R</a:t>
            </a:r>
            <a:r>
              <a:rPr sz="1350" b="0" i="0">
                <a:solidFill>
                  <a:srgbClr val="14202E"/>
                </a:solidFill>
                <a:latin typeface="Cambria"/>
              </a:rPr>
              <a:t>′</a:t>
            </a:r>
            <a:r>
              <a:rPr sz="1350" b="0" i="1" baseline="-25000">
                <a:solidFill>
                  <a:srgbClr val="14202E"/>
                </a:solidFill>
                <a:latin typeface="Cambria"/>
              </a:rPr>
              <a:t>i</a:t>
            </a:r>
            <a:r>
              <a:rPr sz="1350" b="0" i="0">
                <a:solidFill>
                  <a:srgbClr val="14202E"/>
                </a:solidFill>
                <a:latin typeface="Calibri"/>
              </a:rPr>
              <a:t>, </a:t>
            </a:r>
            <a:r>
              <a:rPr sz="1350" b="0" i="1">
                <a:solidFill>
                  <a:srgbClr val="14202E"/>
                </a:solidFill>
                <a:latin typeface="Cambria"/>
              </a:rPr>
              <a:t>z</a:t>
            </a:r>
            <a:r>
              <a:rPr sz="1350" b="0" i="0">
                <a:solidFill>
                  <a:srgbClr val="14202E"/>
                </a:solidFill>
                <a:latin typeface="Cambria"/>
              </a:rPr>
              <a:t>′</a:t>
            </a:r>
            <a:r>
              <a:rPr sz="1350" b="0" i="1" baseline="-25000">
                <a:solidFill>
                  <a:srgbClr val="14202E"/>
                </a:solidFill>
                <a:latin typeface="Cambria"/>
              </a:rPr>
              <a:t>i</a:t>
            </a:r>
          </a:p>
        </p:txBody>
      </p:sp>
      <p:sp>
        <p:nvSpPr>
          <p:cNvPr id="27" name="TextBox 26"/>
          <p:cNvSpPr txBox="1"/>
          <p:nvPr/>
        </p:nvSpPr>
        <p:spPr>
          <a:xfrm>
            <a:off x="3108960" y="5550408"/>
            <a:ext cx="2194560" cy="329184"/>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libri"/>
              </a:rPr>
              <a:t>lines 81–83</a:t>
            </a:r>
          </a:p>
        </p:txBody>
      </p:sp>
      <p:cxnSp>
        <p:nvCxnSpPr>
          <p:cNvPr id="28" name="Connector 27"/>
          <p:cNvCxnSpPr/>
          <p:nvPr/>
        </p:nvCxnSpPr>
        <p:spPr>
          <a:xfrm>
            <a:off x="548640" y="5879592"/>
            <a:ext cx="4846320" cy="0"/>
          </a:xfrm>
          <a:prstGeom prst="line">
            <a:avLst/>
          </a:prstGeom>
          <a:ln w="12700">
            <a:solidFill>
              <a:srgbClr val="D3D9E1"/>
            </a:solidFill>
          </a:ln>
        </p:spPr>
      </p:cxnSp>
      <p:sp>
        <p:nvSpPr>
          <p:cNvPr id="29" name="TextBox 28"/>
          <p:cNvSpPr txBox="1"/>
          <p:nvPr/>
        </p:nvSpPr>
        <p:spPr>
          <a:xfrm>
            <a:off x="7223760" y="4937760"/>
            <a:ext cx="4389120" cy="548640"/>
          </a:xfrm>
          <a:prstGeom prst="rect">
            <a:avLst/>
          </a:prstGeom>
          <a:noFill/>
        </p:spPr>
        <p:txBody>
          <a:bodyPr wrap="square" lIns="0" rIns="0" tIns="0" bIns="0" anchor="t">
            <a:spAutoFit/>
          </a:bodyPr>
          <a:lstStyle/>
          <a:p>
            <a:pPr algn="l">
              <a:spcBef>
                <a:spcPts val="0"/>
              </a:spcBef>
              <a:spcAft>
                <a:spcPts val="0"/>
              </a:spcAft>
            </a:pPr>
            <a:r>
              <a:rPr sz="1300" b="0" i="0">
                <a:solidFill>
                  <a:srgbClr val="5B6675"/>
                </a:solidFill>
                <a:latin typeface="Calibri"/>
              </a:rPr>
              <a:t>The function takes no secret key; a test checks its signature.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9AA5B1"/>
          </a:solidFill>
          <a:ln>
            <a:noFill/>
          </a:ln>
          <a:effectLst/>
        </p:spPr>
        <p:txBody>
          <a:bodyPr rtlCol="0" anchor="ctr" wrap="square" lIns="73152" rIns="73152" tIns="36576" bIns="36576"/>
          <a:lstStyle/>
          <a:p>
            <a:pPr algn="ctr"/>
          </a:p>
        </p:txBody>
      </p:sp>
      <p:sp>
        <p:nvSpPr>
          <p:cNvPr id="3" name="TextBox 2"/>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BACKUP · CORRECTNESS</a:t>
            </a:r>
          </a:p>
        </p:txBody>
      </p:sp>
      <p:sp>
        <p:nvSpPr>
          <p:cNvPr id="4" name="TextBox 3"/>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B4 · Why aggregate verification accepts honest signatures</a:t>
            </a:r>
          </a:p>
        </p:txBody>
      </p:sp>
      <p:sp>
        <p:nvSpPr>
          <p:cNvPr id="5" name="Rounded Rectangle 4"/>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Backup B4</a:t>
            </a:r>
          </a:p>
        </p:txBody>
      </p:sp>
      <p:sp>
        <p:nvSpPr>
          <p:cNvPr id="9" name="TextBox 8"/>
          <p:cNvSpPr txBox="1"/>
          <p:nvPr/>
        </p:nvSpPr>
        <p:spPr>
          <a:xfrm>
            <a:off x="548640" y="1508760"/>
            <a:ext cx="5486400" cy="274320"/>
          </a:xfrm>
          <a:prstGeom prst="rect">
            <a:avLst/>
          </a:prstGeom>
          <a:noFill/>
        </p:spPr>
        <p:txBody>
          <a:bodyPr wrap="square" lIns="0" rIns="0" tIns="0" bIns="0" anchor="t">
            <a:spAutoFit/>
          </a:bodyPr>
          <a:lstStyle/>
          <a:p>
            <a:pPr algn="l">
              <a:spcBef>
                <a:spcPts val="0"/>
              </a:spcBef>
              <a:spcAft>
                <a:spcPts val="0"/>
              </a:spcAft>
            </a:pPr>
            <a:r>
              <a:rPr sz="1200" b="1" i="0" spc="100">
                <a:solidFill>
                  <a:srgbClr val="1E7B4F"/>
                </a:solidFill>
                <a:latin typeface="Calibri"/>
              </a:rPr>
              <a:t>QIAO ET AL.</a:t>
            </a:r>
          </a:p>
        </p:txBody>
      </p:sp>
      <p:sp>
        <p:nvSpPr>
          <p:cNvPr id="10" name="TextBox 9"/>
          <p:cNvSpPr txBox="1"/>
          <p:nvPr/>
        </p:nvSpPr>
        <p:spPr>
          <a:xfrm>
            <a:off x="548640" y="1828800"/>
            <a:ext cx="11064240" cy="1920240"/>
          </a:xfrm>
          <a:prstGeom prst="rect">
            <a:avLst/>
          </a:prstGeom>
          <a:noFill/>
        </p:spPr>
        <p:txBody>
          <a:bodyPr wrap="square" lIns="0" rIns="0" tIns="0" bIns="0" anchor="t">
            <a:spAutoFit/>
          </a:bodyPr>
          <a:lstStyle/>
          <a:p>
            <a:pPr algn="l">
              <a:spcBef>
                <a:spcPts val="0"/>
              </a:spcBef>
              <a:spcAft>
                <a:spcPts val="500"/>
              </a:spcAft>
            </a:pPr>
            <a:r>
              <a:rPr sz="2200" b="0" i="1">
                <a:solidFill>
                  <a:srgbClr val="14202E"/>
                </a:solidFill>
                <a:latin typeface="Cambria"/>
              </a:rPr>
              <a:t>zP</a:t>
            </a:r>
            <a:r>
              <a:rPr sz="2200" b="0" i="0">
                <a:solidFill>
                  <a:srgbClr val="14202E"/>
                </a:solidFill>
                <a:latin typeface="Cambria"/>
              </a:rPr>
              <a:t> = Σ(</a:t>
            </a:r>
            <a:r>
              <a:rPr sz="2200" b="0" i="1">
                <a:solidFill>
                  <a:srgbClr val="14202E"/>
                </a:solidFill>
                <a:latin typeface="Cambria"/>
              </a:rPr>
              <a:t>t</a:t>
            </a:r>
            <a:r>
              <a:rPr sz="2200" b="0" i="1" baseline="-25000">
                <a:solidFill>
                  <a:srgbClr val="14202E"/>
                </a:solidFill>
                <a:latin typeface="Cambria"/>
              </a:rPr>
              <a:t>i</a:t>
            </a:r>
            <a:r>
              <a:rPr sz="2200" b="0" i="0">
                <a:solidFill>
                  <a:srgbClr val="14202E"/>
                </a:solidFill>
                <a:latin typeface="Cambria"/>
              </a:rPr>
              <a:t> + </a:t>
            </a:r>
            <a:r>
              <a:rPr sz="2200" b="0" i="1">
                <a:solidFill>
                  <a:srgbClr val="14202E"/>
                </a:solidFill>
                <a:latin typeface="Cambria"/>
              </a:rPr>
              <a:t>c</a:t>
            </a:r>
            <a:r>
              <a:rPr sz="2200" b="0" i="1" baseline="-25000">
                <a:solidFill>
                  <a:srgbClr val="14202E"/>
                </a:solidFill>
                <a:latin typeface="Cambria"/>
              </a:rPr>
              <a:t>i</a:t>
            </a:r>
            <a:r>
              <a:rPr sz="2200" b="0" i="1">
                <a:solidFill>
                  <a:srgbClr val="14202E"/>
                </a:solidFill>
                <a:latin typeface="Cambria"/>
              </a:rPr>
              <a:t>u</a:t>
            </a:r>
            <a:r>
              <a:rPr sz="2200" b="0" i="1" baseline="-25000">
                <a:solidFill>
                  <a:srgbClr val="14202E"/>
                </a:solidFill>
                <a:latin typeface="Cambria"/>
              </a:rPr>
              <a:t>i</a:t>
            </a:r>
            <a:r>
              <a:rPr sz="2200" b="0" i="0">
                <a:solidFill>
                  <a:srgbClr val="14202E"/>
                </a:solidFill>
                <a:latin typeface="Cambria"/>
              </a:rPr>
              <a:t> + </a:t>
            </a:r>
            <a:r>
              <a:rPr sz="2200" b="0" i="1">
                <a:solidFill>
                  <a:srgbClr val="14202E"/>
                </a:solidFill>
                <a:latin typeface="Cambria"/>
              </a:rPr>
              <a:t>sk</a:t>
            </a:r>
            <a:r>
              <a:rPr sz="2200" b="0" i="1" baseline="-25000">
                <a:solidFill>
                  <a:srgbClr val="14202E"/>
                </a:solidFill>
                <a:latin typeface="Cambria"/>
              </a:rPr>
              <a:t>i</a:t>
            </a:r>
            <a:r>
              <a:rPr sz="2200" b="0" i="1">
                <a:solidFill>
                  <a:srgbClr val="14202E"/>
                </a:solidFill>
                <a:latin typeface="Cambria"/>
              </a:rPr>
              <a:t>v</a:t>
            </a:r>
            <a:r>
              <a:rPr sz="2200" b="0" i="1" baseline="-25000">
                <a:solidFill>
                  <a:srgbClr val="14202E"/>
                </a:solidFill>
                <a:latin typeface="Cambria"/>
              </a:rPr>
              <a:t>i</a:t>
            </a:r>
            <a:r>
              <a:rPr sz="2200" b="0" i="0">
                <a:solidFill>
                  <a:srgbClr val="14202E"/>
                </a:solidFill>
                <a:latin typeface="Cambria"/>
              </a:rPr>
              <a:t>)</a:t>
            </a:r>
            <a:r>
              <a:rPr sz="2200" b="0" i="1">
                <a:solidFill>
                  <a:srgbClr val="14202E"/>
                </a:solidFill>
                <a:latin typeface="Cambria"/>
              </a:rPr>
              <a:t>P</a:t>
            </a:r>
          </a:p>
          <a:p>
            <a:pPr algn="l">
              <a:spcBef>
                <a:spcPts val="0"/>
              </a:spcBef>
              <a:spcAft>
                <a:spcPts val="500"/>
              </a:spcAft>
            </a:pPr>
            <a:r>
              <a:rPr sz="2200" b="0" i="0">
                <a:solidFill>
                  <a:srgbClr val="14202E"/>
                </a:solidFill>
                <a:latin typeface="Cambria"/>
              </a:rPr>
              <a:t>= Σ</a:t>
            </a:r>
            <a:r>
              <a:rPr sz="2200" b="0" i="1">
                <a:solidFill>
                  <a:srgbClr val="14202E"/>
                </a:solidFill>
                <a:latin typeface="Cambria"/>
              </a:rPr>
              <a:t>t</a:t>
            </a:r>
            <a:r>
              <a:rPr sz="2200" b="0" i="1" baseline="-25000">
                <a:solidFill>
                  <a:srgbClr val="14202E"/>
                </a:solidFill>
                <a:latin typeface="Cambria"/>
              </a:rPr>
              <a:t>i</a:t>
            </a:r>
            <a:r>
              <a:rPr sz="2200" b="0" i="1">
                <a:solidFill>
                  <a:srgbClr val="14202E"/>
                </a:solidFill>
                <a:latin typeface="Cambria"/>
              </a:rPr>
              <a:t>P</a:t>
            </a:r>
            <a:r>
              <a:rPr sz="2200" b="0" i="0">
                <a:solidFill>
                  <a:srgbClr val="14202E"/>
                </a:solidFill>
                <a:latin typeface="Cambria"/>
              </a:rPr>
              <a:t> + Σ</a:t>
            </a:r>
            <a:r>
              <a:rPr sz="2200" b="0" i="1">
                <a:solidFill>
                  <a:srgbClr val="14202E"/>
                </a:solidFill>
                <a:latin typeface="Cambria"/>
              </a:rPr>
              <a:t>u</a:t>
            </a:r>
            <a:r>
              <a:rPr sz="2200" b="0" i="1" baseline="-25000">
                <a:solidFill>
                  <a:srgbClr val="14202E"/>
                </a:solidFill>
                <a:latin typeface="Cambria"/>
              </a:rPr>
              <a:t>i</a:t>
            </a:r>
            <a:r>
              <a:rPr sz="2200" b="0" i="0">
                <a:solidFill>
                  <a:srgbClr val="14202E"/>
                </a:solidFill>
                <a:latin typeface="Cambria"/>
              </a:rPr>
              <a:t>(</a:t>
            </a:r>
            <a:r>
              <a:rPr sz="2200" b="0" i="1">
                <a:solidFill>
                  <a:srgbClr val="14202E"/>
                </a:solidFill>
                <a:latin typeface="Cambria"/>
              </a:rPr>
              <a:t>r</a:t>
            </a:r>
            <a:r>
              <a:rPr sz="2200" b="0" i="1" baseline="-25000">
                <a:solidFill>
                  <a:srgbClr val="14202E"/>
                </a:solidFill>
                <a:latin typeface="Cambria"/>
              </a:rPr>
              <a:t>i</a:t>
            </a:r>
            <a:r>
              <a:rPr sz="2200" b="0" i="0">
                <a:solidFill>
                  <a:srgbClr val="14202E"/>
                </a:solidFill>
                <a:latin typeface="Cambria"/>
              </a:rPr>
              <a:t> + </a:t>
            </a:r>
            <a:r>
              <a:rPr sz="2200" b="0" i="1">
                <a:solidFill>
                  <a:srgbClr val="14202E"/>
                </a:solidFill>
                <a:latin typeface="Cambria"/>
              </a:rPr>
              <a:t>s</a:t>
            </a:r>
            <a:r>
              <a:rPr sz="2200" b="0" i="1" baseline="30000">
                <a:solidFill>
                  <a:srgbClr val="14202E"/>
                </a:solidFill>
                <a:latin typeface="Cambria"/>
              </a:rPr>
              <a:t>k</a:t>
            </a:r>
            <a:r>
              <a:rPr sz="2200" b="0" i="1" baseline="-25000">
                <a:solidFill>
                  <a:srgbClr val="14202E"/>
                </a:solidFill>
                <a:latin typeface="Cambria"/>
              </a:rPr>
              <a:t>TA</a:t>
            </a:r>
            <a:r>
              <a:rPr sz="2200" b="0" i="1">
                <a:solidFill>
                  <a:srgbClr val="14202E"/>
                </a:solidFill>
                <a:latin typeface="Cambria"/>
              </a:rPr>
              <a:t>h</a:t>
            </a:r>
            <a:r>
              <a:rPr sz="2200" b="0" i="1" baseline="30000">
                <a:solidFill>
                  <a:srgbClr val="14202E"/>
                </a:solidFill>
                <a:latin typeface="Cambria"/>
              </a:rPr>
              <a:t>i</a:t>
            </a:r>
            <a:r>
              <a:rPr sz="2200" b="0" i="0" baseline="-25000">
                <a:solidFill>
                  <a:srgbClr val="14202E"/>
                </a:solidFill>
                <a:latin typeface="Cambria"/>
              </a:rPr>
              <a:t>0</a:t>
            </a:r>
            <a:r>
              <a:rPr sz="2200" b="0" i="0">
                <a:solidFill>
                  <a:srgbClr val="14202E"/>
                </a:solidFill>
                <a:latin typeface="Cambria"/>
              </a:rPr>
              <a:t>)</a:t>
            </a:r>
            <a:r>
              <a:rPr sz="2200" b="0" i="1">
                <a:solidFill>
                  <a:srgbClr val="14202E"/>
                </a:solidFill>
                <a:latin typeface="Cambria"/>
              </a:rPr>
              <a:t>P</a:t>
            </a:r>
            <a:r>
              <a:rPr sz="2200" b="0" i="0">
                <a:solidFill>
                  <a:srgbClr val="14202E"/>
                </a:solidFill>
                <a:latin typeface="Cambria"/>
              </a:rPr>
              <a:t> + Σ</a:t>
            </a:r>
            <a:r>
              <a:rPr sz="2200" b="0" i="1">
                <a:solidFill>
                  <a:srgbClr val="14202E"/>
                </a:solidFill>
                <a:latin typeface="Cambria"/>
              </a:rPr>
              <a:t>sk</a:t>
            </a:r>
            <a:r>
              <a:rPr sz="2200" b="0" i="1" baseline="-25000">
                <a:solidFill>
                  <a:srgbClr val="14202E"/>
                </a:solidFill>
                <a:latin typeface="Cambria"/>
              </a:rPr>
              <a:t>i</a:t>
            </a:r>
            <a:r>
              <a:rPr sz="2200" b="0" i="1">
                <a:solidFill>
                  <a:srgbClr val="14202E"/>
                </a:solidFill>
                <a:latin typeface="Cambria"/>
              </a:rPr>
              <a:t>v</a:t>
            </a:r>
            <a:r>
              <a:rPr sz="2200" b="0" i="1" baseline="-25000">
                <a:solidFill>
                  <a:srgbClr val="14202E"/>
                </a:solidFill>
                <a:latin typeface="Cambria"/>
              </a:rPr>
              <a:t>i</a:t>
            </a:r>
            <a:r>
              <a:rPr sz="2200" b="0" i="1">
                <a:solidFill>
                  <a:srgbClr val="14202E"/>
                </a:solidFill>
                <a:latin typeface="Cambria"/>
              </a:rPr>
              <a:t>P</a:t>
            </a:r>
          </a:p>
          <a:p>
            <a:pPr algn="l">
              <a:spcBef>
                <a:spcPts val="0"/>
              </a:spcBef>
              <a:spcAft>
                <a:spcPts val="0"/>
              </a:spcAft>
            </a:pPr>
            <a:r>
              <a:rPr sz="2200" b="0" i="0">
                <a:solidFill>
                  <a:srgbClr val="14202E"/>
                </a:solidFill>
                <a:latin typeface="Cambria"/>
              </a:rPr>
              <a:t>= Σ</a:t>
            </a:r>
            <a:r>
              <a:rPr sz="2200" b="0" i="1">
                <a:solidFill>
                  <a:srgbClr val="14202E"/>
                </a:solidFill>
                <a:latin typeface="Cambria"/>
              </a:rPr>
              <a:t>T</a:t>
            </a:r>
            <a:r>
              <a:rPr sz="2200" b="0" i="1" baseline="-25000">
                <a:solidFill>
                  <a:srgbClr val="14202E"/>
                </a:solidFill>
                <a:latin typeface="Cambria"/>
              </a:rPr>
              <a:t>i</a:t>
            </a:r>
            <a:r>
              <a:rPr sz="2200" b="0" i="0">
                <a:solidFill>
                  <a:srgbClr val="14202E"/>
                </a:solidFill>
                <a:latin typeface="Cambria"/>
              </a:rPr>
              <a:t> + Σ</a:t>
            </a:r>
            <a:r>
              <a:rPr sz="2200" b="0" i="1">
                <a:solidFill>
                  <a:srgbClr val="14202E"/>
                </a:solidFill>
                <a:latin typeface="Cambria"/>
              </a:rPr>
              <a:t>u</a:t>
            </a:r>
            <a:r>
              <a:rPr sz="2200" b="0" i="1" baseline="-25000">
                <a:solidFill>
                  <a:srgbClr val="14202E"/>
                </a:solidFill>
                <a:latin typeface="Cambria"/>
              </a:rPr>
              <a:t>i</a:t>
            </a:r>
            <a:r>
              <a:rPr sz="2200" b="0" i="1">
                <a:solidFill>
                  <a:srgbClr val="14202E"/>
                </a:solidFill>
                <a:latin typeface="Cambria"/>
              </a:rPr>
              <a:t>R</a:t>
            </a:r>
            <a:r>
              <a:rPr sz="2200" b="0" i="1" baseline="-25000">
                <a:solidFill>
                  <a:srgbClr val="14202E"/>
                </a:solidFill>
                <a:latin typeface="Cambria"/>
              </a:rPr>
              <a:t>i</a:t>
            </a:r>
            <a:r>
              <a:rPr sz="2200" b="0" i="0">
                <a:solidFill>
                  <a:srgbClr val="14202E"/>
                </a:solidFill>
                <a:latin typeface="Cambria"/>
              </a:rPr>
              <a:t> + (Σ</a:t>
            </a:r>
            <a:r>
              <a:rPr sz="2200" b="0" i="1">
                <a:solidFill>
                  <a:srgbClr val="14202E"/>
                </a:solidFill>
                <a:latin typeface="Cambria"/>
              </a:rPr>
              <a:t>u</a:t>
            </a:r>
            <a:r>
              <a:rPr sz="2200" b="0" i="1" baseline="-25000">
                <a:solidFill>
                  <a:srgbClr val="14202E"/>
                </a:solidFill>
                <a:latin typeface="Cambria"/>
              </a:rPr>
              <a:t>i</a:t>
            </a:r>
            <a:r>
              <a:rPr sz="2200" b="0" i="1">
                <a:solidFill>
                  <a:srgbClr val="14202E"/>
                </a:solidFill>
                <a:latin typeface="Cambria"/>
              </a:rPr>
              <a:t>h</a:t>
            </a:r>
            <a:r>
              <a:rPr sz="2200" b="0" i="1" baseline="30000">
                <a:solidFill>
                  <a:srgbClr val="14202E"/>
                </a:solidFill>
                <a:latin typeface="Cambria"/>
              </a:rPr>
              <a:t>i</a:t>
            </a:r>
            <a:r>
              <a:rPr sz="2200" b="0" i="0" baseline="-25000">
                <a:solidFill>
                  <a:srgbClr val="14202E"/>
                </a:solidFill>
                <a:latin typeface="Cambria"/>
              </a:rPr>
              <a:t>0</a:t>
            </a:r>
            <a:r>
              <a:rPr sz="2200" b="0" i="0">
                <a:solidFill>
                  <a:srgbClr val="14202E"/>
                </a:solidFill>
                <a:latin typeface="Cambria"/>
              </a:rPr>
              <a:t>)</a:t>
            </a:r>
            <a:r>
              <a:rPr sz="2200" b="0" i="1">
                <a:solidFill>
                  <a:srgbClr val="14202E"/>
                </a:solidFill>
                <a:latin typeface="Cambria"/>
              </a:rPr>
              <a:t>P</a:t>
            </a:r>
            <a:r>
              <a:rPr sz="2200" b="0" i="1" baseline="30000">
                <a:solidFill>
                  <a:srgbClr val="14202E"/>
                </a:solidFill>
                <a:latin typeface="Cambria"/>
              </a:rPr>
              <a:t>k</a:t>
            </a:r>
            <a:r>
              <a:rPr sz="2200" b="0" i="1" baseline="-25000">
                <a:solidFill>
                  <a:srgbClr val="14202E"/>
                </a:solidFill>
                <a:latin typeface="Cambria"/>
              </a:rPr>
              <a:t>TA</a:t>
            </a:r>
            <a:r>
              <a:rPr sz="2200" b="0" i="0">
                <a:solidFill>
                  <a:srgbClr val="14202E"/>
                </a:solidFill>
                <a:latin typeface="Cambria"/>
              </a:rPr>
              <a:t> + Σ</a:t>
            </a:r>
            <a:r>
              <a:rPr sz="2200" b="0" i="1">
                <a:solidFill>
                  <a:srgbClr val="14202E"/>
                </a:solidFill>
                <a:latin typeface="Cambria"/>
              </a:rPr>
              <a:t>v</a:t>
            </a:r>
            <a:r>
              <a:rPr sz="2200" b="0" i="1" baseline="-25000">
                <a:solidFill>
                  <a:srgbClr val="14202E"/>
                </a:solidFill>
                <a:latin typeface="Cambria"/>
              </a:rPr>
              <a:t>i</a:t>
            </a:r>
            <a:r>
              <a:rPr sz="2200" b="0" i="1">
                <a:solidFill>
                  <a:srgbClr val="14202E"/>
                </a:solidFill>
                <a:latin typeface="Cambria"/>
              </a:rPr>
              <a:t>pk</a:t>
            </a:r>
            <a:r>
              <a:rPr sz="2200" b="0" i="1" baseline="-25000">
                <a:solidFill>
                  <a:srgbClr val="14202E"/>
                </a:solidFill>
                <a:latin typeface="Cambria"/>
              </a:rPr>
              <a:t>i</a:t>
            </a:r>
          </a:p>
        </p:txBody>
      </p:sp>
      <p:sp>
        <p:nvSpPr>
          <p:cNvPr id="11" name="TextBox 10"/>
          <p:cNvSpPr txBox="1"/>
          <p:nvPr/>
        </p:nvSpPr>
        <p:spPr>
          <a:xfrm>
            <a:off x="548640" y="3840480"/>
            <a:ext cx="5486400" cy="274320"/>
          </a:xfrm>
          <a:prstGeom prst="rect">
            <a:avLst/>
          </a:prstGeom>
          <a:noFill/>
        </p:spPr>
        <p:txBody>
          <a:bodyPr wrap="square" lIns="0" rIns="0" tIns="0" bIns="0" anchor="t">
            <a:spAutoFit/>
          </a:bodyPr>
          <a:lstStyle/>
          <a:p>
            <a:pPr algn="l">
              <a:spcBef>
                <a:spcPts val="0"/>
              </a:spcBef>
              <a:spcAft>
                <a:spcPts val="0"/>
              </a:spcAft>
            </a:pPr>
            <a:r>
              <a:rPr sz="1200" b="1" i="0" spc="100">
                <a:solidFill>
                  <a:srgbClr val="B3261E"/>
                </a:solidFill>
                <a:latin typeface="Calibri"/>
              </a:rPr>
              <a:t>VERMA ET AL.</a:t>
            </a:r>
          </a:p>
        </p:txBody>
      </p:sp>
      <p:sp>
        <p:nvSpPr>
          <p:cNvPr id="12" name="TextBox 11"/>
          <p:cNvSpPr txBox="1"/>
          <p:nvPr/>
        </p:nvSpPr>
        <p:spPr>
          <a:xfrm>
            <a:off x="548640" y="4160520"/>
            <a:ext cx="11064240" cy="1737360"/>
          </a:xfrm>
          <a:prstGeom prst="rect">
            <a:avLst/>
          </a:prstGeom>
          <a:noFill/>
        </p:spPr>
        <p:txBody>
          <a:bodyPr wrap="square" lIns="0" rIns="0" tIns="0" bIns="0" anchor="t">
            <a:spAutoFit/>
          </a:bodyPr>
          <a:lstStyle/>
          <a:p>
            <a:pPr algn="l">
              <a:spcBef>
                <a:spcPts val="0"/>
              </a:spcBef>
              <a:spcAft>
                <a:spcPts val="500"/>
              </a:spcAft>
            </a:pPr>
            <a:r>
              <a:rPr sz="2000" b="0" i="1">
                <a:solidFill>
                  <a:srgbClr val="14202E"/>
                </a:solidFill>
                <a:latin typeface="Cambria"/>
              </a:rPr>
              <a:t>zP</a:t>
            </a:r>
            <a:r>
              <a:rPr sz="2000" b="0" i="0">
                <a:solidFill>
                  <a:srgbClr val="14202E"/>
                </a:solidFill>
                <a:latin typeface="Cambria"/>
              </a:rPr>
              <a:t> = Σ(</a:t>
            </a:r>
            <a:r>
              <a:rPr sz="2000" b="0" i="1">
                <a:solidFill>
                  <a:srgbClr val="14202E"/>
                </a:solidFill>
                <a:latin typeface="Cambria"/>
              </a:rPr>
              <a:t>r</a:t>
            </a:r>
            <a:r>
              <a:rPr sz="2000" b="0" i="0" baseline="-25000">
                <a:solidFill>
                  <a:srgbClr val="14202E"/>
                </a:solidFill>
                <a:latin typeface="Cambria"/>
              </a:rPr>
              <a:t>2</a:t>
            </a:r>
            <a:r>
              <a:rPr sz="2000" b="0" i="1" baseline="-25000">
                <a:solidFill>
                  <a:srgbClr val="14202E"/>
                </a:solidFill>
                <a:latin typeface="Cambria"/>
              </a:rPr>
              <a:t>i</a:t>
            </a:r>
            <a:r>
              <a:rPr sz="2000" b="0" i="1">
                <a:solidFill>
                  <a:srgbClr val="14202E"/>
                </a:solidFill>
                <a:latin typeface="Cambria"/>
              </a:rPr>
              <a:t>P</a:t>
            </a:r>
            <a:r>
              <a:rPr sz="2000" b="0" i="0">
                <a:solidFill>
                  <a:srgbClr val="14202E"/>
                </a:solidFill>
                <a:latin typeface="Cambria"/>
              </a:rPr>
              <a:t> + </a:t>
            </a:r>
            <a:r>
              <a:rPr sz="2000" b="0" i="1">
                <a:solidFill>
                  <a:srgbClr val="14202E"/>
                </a:solidFill>
                <a:latin typeface="Cambria"/>
              </a:rPr>
              <a:t>c</a:t>
            </a:r>
            <a:r>
              <a:rPr sz="2000" b="0" i="1" baseline="-25000">
                <a:solidFill>
                  <a:srgbClr val="14202E"/>
                </a:solidFill>
                <a:latin typeface="Cambria"/>
              </a:rPr>
              <a:t>i</a:t>
            </a:r>
            <a:r>
              <a:rPr sz="2000" b="0" i="1">
                <a:solidFill>
                  <a:srgbClr val="14202E"/>
                </a:solidFill>
                <a:latin typeface="Cambria"/>
              </a:rPr>
              <a:t>P</a:t>
            </a:r>
            <a:r>
              <a:rPr sz="2000" b="0" i="0">
                <a:solidFill>
                  <a:srgbClr val="14202E"/>
                </a:solidFill>
                <a:latin typeface="Cambria"/>
              </a:rPr>
              <a:t> + </a:t>
            </a:r>
            <a:r>
              <a:rPr sz="2000" b="0" i="1">
                <a:solidFill>
                  <a:srgbClr val="14202E"/>
                </a:solidFill>
                <a:latin typeface="Cambria"/>
              </a:rPr>
              <a:t>v</a:t>
            </a:r>
            <a:r>
              <a:rPr sz="2000" b="0" i="1" baseline="-25000">
                <a:solidFill>
                  <a:srgbClr val="14202E"/>
                </a:solidFill>
                <a:latin typeface="Cambria"/>
              </a:rPr>
              <a:t>i</a:t>
            </a:r>
            <a:r>
              <a:rPr sz="2000" b="0" i="1">
                <a:solidFill>
                  <a:srgbClr val="14202E"/>
                </a:solidFill>
                <a:latin typeface="Cambria"/>
              </a:rPr>
              <a:t>pk</a:t>
            </a:r>
            <a:r>
              <a:rPr sz="2000" b="0" i="1" baseline="-25000">
                <a:solidFill>
                  <a:srgbClr val="14202E"/>
                </a:solidFill>
                <a:latin typeface="Cambria"/>
              </a:rPr>
              <a:t>i</a:t>
            </a:r>
            <a:r>
              <a:rPr sz="2000" b="0" i="0">
                <a:solidFill>
                  <a:srgbClr val="14202E"/>
                </a:solidFill>
                <a:latin typeface="Cambria"/>
              </a:rPr>
              <a:t>)</a:t>
            </a:r>
            <a:r>
              <a:rPr sz="2000" b="0" i="0">
                <a:solidFill>
                  <a:srgbClr val="14202E"/>
                </a:solidFill>
                <a:latin typeface="Calibri"/>
              </a:rPr>
              <a:t>,    with </a:t>
            </a:r>
            <a:r>
              <a:rPr sz="2000" b="0" i="1">
                <a:solidFill>
                  <a:srgbClr val="14202E"/>
                </a:solidFill>
                <a:latin typeface="Cambria"/>
              </a:rPr>
              <a:t>c</a:t>
            </a:r>
            <a:r>
              <a:rPr sz="2000" b="0" i="1" baseline="-25000">
                <a:solidFill>
                  <a:srgbClr val="14202E"/>
                </a:solidFill>
                <a:latin typeface="Cambria"/>
              </a:rPr>
              <a:t>i</a:t>
            </a:r>
            <a:r>
              <a:rPr sz="2000" b="0" i="1">
                <a:solidFill>
                  <a:srgbClr val="14202E"/>
                </a:solidFill>
                <a:latin typeface="Cambria"/>
              </a:rPr>
              <a:t>P</a:t>
            </a:r>
            <a:r>
              <a:rPr sz="2000" b="0" i="0">
                <a:solidFill>
                  <a:srgbClr val="14202E"/>
                </a:solidFill>
                <a:latin typeface="Cambria"/>
              </a:rPr>
              <a:t> = </a:t>
            </a:r>
            <a:r>
              <a:rPr sz="2000" b="0" i="1">
                <a:solidFill>
                  <a:srgbClr val="14202E"/>
                </a:solidFill>
                <a:latin typeface="Cambria"/>
              </a:rPr>
              <a:t>R</a:t>
            </a:r>
            <a:r>
              <a:rPr sz="2000" b="0" i="0" baseline="-25000">
                <a:solidFill>
                  <a:srgbClr val="14202E"/>
                </a:solidFill>
                <a:latin typeface="Cambria"/>
              </a:rPr>
              <a:t>1</a:t>
            </a:r>
            <a:r>
              <a:rPr sz="2000" b="0" i="1" baseline="-25000">
                <a:solidFill>
                  <a:srgbClr val="14202E"/>
                </a:solidFill>
                <a:latin typeface="Cambria"/>
              </a:rPr>
              <a:t>i</a:t>
            </a:r>
            <a:r>
              <a:rPr sz="2000" b="0" i="0">
                <a:solidFill>
                  <a:srgbClr val="14202E"/>
                </a:solidFill>
                <a:latin typeface="Cambria"/>
              </a:rPr>
              <a:t> + </a:t>
            </a:r>
            <a:r>
              <a:rPr sz="2000" b="0" i="1">
                <a:solidFill>
                  <a:srgbClr val="14202E"/>
                </a:solidFill>
                <a:latin typeface="Cambria"/>
              </a:rPr>
              <a:t>h</a:t>
            </a:r>
            <a:r>
              <a:rPr sz="2000" b="0" i="1" baseline="30000">
                <a:solidFill>
                  <a:srgbClr val="14202E"/>
                </a:solidFill>
                <a:latin typeface="Cambria"/>
              </a:rPr>
              <a:t>i</a:t>
            </a:r>
            <a:r>
              <a:rPr sz="2000" b="0" i="0" baseline="-25000">
                <a:solidFill>
                  <a:srgbClr val="14202E"/>
                </a:solidFill>
                <a:latin typeface="Cambria"/>
              </a:rPr>
              <a:t>0</a:t>
            </a:r>
            <a:r>
              <a:rPr sz="2000" b="0" i="1">
                <a:solidFill>
                  <a:srgbClr val="14202E"/>
                </a:solidFill>
                <a:latin typeface="Cambria"/>
              </a:rPr>
              <a:t>P</a:t>
            </a:r>
            <a:r>
              <a:rPr sz="2000" b="0" i="1" baseline="30000">
                <a:solidFill>
                  <a:srgbClr val="14202E"/>
                </a:solidFill>
                <a:latin typeface="Cambria"/>
              </a:rPr>
              <a:t>k</a:t>
            </a:r>
            <a:r>
              <a:rPr sz="2000" b="0" i="1" baseline="-25000">
                <a:solidFill>
                  <a:srgbClr val="14202E"/>
                </a:solidFill>
                <a:latin typeface="Cambria"/>
              </a:rPr>
              <a:t>TA</a:t>
            </a:r>
            <a:r>
              <a:rPr sz="2000" b="0" i="0">
                <a:solidFill>
                  <a:srgbClr val="14202E"/>
                </a:solidFill>
                <a:latin typeface="Calibri"/>
              </a:rPr>
              <a:t> and </a:t>
            </a:r>
            <a:r>
              <a:rPr sz="2000" b="0" i="1">
                <a:solidFill>
                  <a:srgbClr val="14202E"/>
                </a:solidFill>
                <a:latin typeface="Cambria"/>
              </a:rPr>
              <a:t>R</a:t>
            </a:r>
            <a:r>
              <a:rPr sz="2000" b="0" i="1" baseline="-25000">
                <a:solidFill>
                  <a:srgbClr val="14202E"/>
                </a:solidFill>
                <a:latin typeface="Cambria"/>
              </a:rPr>
              <a:t>i</a:t>
            </a:r>
            <a:r>
              <a:rPr sz="2000" b="0" i="0">
                <a:solidFill>
                  <a:srgbClr val="14202E"/>
                </a:solidFill>
                <a:latin typeface="Cambria"/>
              </a:rPr>
              <a:t> = </a:t>
            </a:r>
            <a:r>
              <a:rPr sz="2000" b="0" i="1">
                <a:solidFill>
                  <a:srgbClr val="14202E"/>
                </a:solidFill>
                <a:latin typeface="Cambria"/>
              </a:rPr>
              <a:t>R</a:t>
            </a:r>
            <a:r>
              <a:rPr sz="2000" b="0" i="0" baseline="-25000">
                <a:solidFill>
                  <a:srgbClr val="14202E"/>
                </a:solidFill>
                <a:latin typeface="Cambria"/>
              </a:rPr>
              <a:t>1</a:t>
            </a:r>
            <a:r>
              <a:rPr sz="2000" b="0" i="1" baseline="-25000">
                <a:solidFill>
                  <a:srgbClr val="14202E"/>
                </a:solidFill>
                <a:latin typeface="Cambria"/>
              </a:rPr>
              <a:t>i</a:t>
            </a:r>
            <a:r>
              <a:rPr sz="2000" b="0" i="0">
                <a:solidFill>
                  <a:srgbClr val="14202E"/>
                </a:solidFill>
                <a:latin typeface="Cambria"/>
              </a:rPr>
              <a:t> + </a:t>
            </a:r>
            <a:r>
              <a:rPr sz="2000" b="0" i="1">
                <a:solidFill>
                  <a:srgbClr val="14202E"/>
                </a:solidFill>
                <a:latin typeface="Cambria"/>
              </a:rPr>
              <a:t>r</a:t>
            </a:r>
            <a:r>
              <a:rPr sz="2000" b="0" i="0" baseline="-25000">
                <a:solidFill>
                  <a:srgbClr val="14202E"/>
                </a:solidFill>
                <a:latin typeface="Cambria"/>
              </a:rPr>
              <a:t>2</a:t>
            </a:r>
            <a:r>
              <a:rPr sz="2000" b="0" i="1" baseline="-25000">
                <a:solidFill>
                  <a:srgbClr val="14202E"/>
                </a:solidFill>
                <a:latin typeface="Cambria"/>
              </a:rPr>
              <a:t>i</a:t>
            </a:r>
            <a:r>
              <a:rPr sz="2000" b="0" i="1">
                <a:solidFill>
                  <a:srgbClr val="14202E"/>
                </a:solidFill>
                <a:latin typeface="Cambria"/>
              </a:rPr>
              <a:t>P</a:t>
            </a:r>
          </a:p>
          <a:p>
            <a:pPr algn="l">
              <a:spcBef>
                <a:spcPts val="0"/>
              </a:spcBef>
              <a:spcAft>
                <a:spcPts val="0"/>
              </a:spcAft>
            </a:pPr>
            <a:r>
              <a:rPr sz="2000" b="0" i="0">
                <a:solidFill>
                  <a:srgbClr val="14202E"/>
                </a:solidFill>
                <a:latin typeface="Cambria"/>
              </a:rPr>
              <a:t>= Σ(</a:t>
            </a:r>
            <a:r>
              <a:rPr sz="2000" b="0" i="1">
                <a:solidFill>
                  <a:srgbClr val="14202E"/>
                </a:solidFill>
                <a:latin typeface="Cambria"/>
              </a:rPr>
              <a:t>R</a:t>
            </a:r>
            <a:r>
              <a:rPr sz="2000" b="0" i="1" baseline="-25000">
                <a:solidFill>
                  <a:srgbClr val="14202E"/>
                </a:solidFill>
                <a:latin typeface="Cambria"/>
              </a:rPr>
              <a:t>i</a:t>
            </a:r>
            <a:r>
              <a:rPr sz="2000" b="0" i="0">
                <a:solidFill>
                  <a:srgbClr val="14202E"/>
                </a:solidFill>
                <a:latin typeface="Cambria"/>
              </a:rPr>
              <a:t> + </a:t>
            </a:r>
            <a:r>
              <a:rPr sz="2000" b="0" i="1">
                <a:solidFill>
                  <a:srgbClr val="14202E"/>
                </a:solidFill>
                <a:latin typeface="Cambria"/>
              </a:rPr>
              <a:t>h</a:t>
            </a:r>
            <a:r>
              <a:rPr sz="2000" b="0" i="1" baseline="30000">
                <a:solidFill>
                  <a:srgbClr val="14202E"/>
                </a:solidFill>
                <a:latin typeface="Cambria"/>
              </a:rPr>
              <a:t>i</a:t>
            </a:r>
            <a:r>
              <a:rPr sz="2000" b="0" i="0" baseline="-25000">
                <a:solidFill>
                  <a:srgbClr val="14202E"/>
                </a:solidFill>
                <a:latin typeface="Cambria"/>
              </a:rPr>
              <a:t>0</a:t>
            </a:r>
            <a:r>
              <a:rPr sz="2000" b="0" i="1">
                <a:solidFill>
                  <a:srgbClr val="14202E"/>
                </a:solidFill>
                <a:latin typeface="Cambria"/>
              </a:rPr>
              <a:t>P</a:t>
            </a:r>
            <a:r>
              <a:rPr sz="2000" b="0" i="1" baseline="30000">
                <a:solidFill>
                  <a:srgbClr val="14202E"/>
                </a:solidFill>
                <a:latin typeface="Cambria"/>
              </a:rPr>
              <a:t>k</a:t>
            </a:r>
            <a:r>
              <a:rPr sz="2000" b="0" i="1" baseline="-25000">
                <a:solidFill>
                  <a:srgbClr val="14202E"/>
                </a:solidFill>
                <a:latin typeface="Cambria"/>
              </a:rPr>
              <a:t>TA</a:t>
            </a:r>
            <a:r>
              <a:rPr sz="2000" b="0" i="0">
                <a:solidFill>
                  <a:srgbClr val="14202E"/>
                </a:solidFill>
                <a:latin typeface="Cambria"/>
              </a:rPr>
              <a:t> + </a:t>
            </a:r>
            <a:r>
              <a:rPr sz="2000" b="0" i="1">
                <a:solidFill>
                  <a:srgbClr val="14202E"/>
                </a:solidFill>
                <a:latin typeface="Cambria"/>
              </a:rPr>
              <a:t>v</a:t>
            </a:r>
            <a:r>
              <a:rPr sz="2000" b="0" i="1" baseline="-25000">
                <a:solidFill>
                  <a:srgbClr val="14202E"/>
                </a:solidFill>
                <a:latin typeface="Cambria"/>
              </a:rPr>
              <a:t>i</a:t>
            </a:r>
            <a:r>
              <a:rPr sz="2000" b="0" i="1">
                <a:solidFill>
                  <a:srgbClr val="14202E"/>
                </a:solidFill>
                <a:latin typeface="Cambria"/>
              </a:rPr>
              <a:t>pk</a:t>
            </a:r>
            <a:r>
              <a:rPr sz="2000" b="0" i="1" baseline="-25000">
                <a:solidFill>
                  <a:srgbClr val="14202E"/>
                </a:solidFill>
                <a:latin typeface="Cambria"/>
              </a:rPr>
              <a:t>i</a:t>
            </a:r>
            <a:r>
              <a:rPr sz="2000" b="0" i="0">
                <a:solidFill>
                  <a:srgbClr val="14202E"/>
                </a:solidFill>
                <a:latin typeface="Cambria"/>
              </a:rPr>
              <a:t>) = </a:t>
            </a:r>
            <a:r>
              <a:rPr sz="2000" b="0" i="1">
                <a:solidFill>
                  <a:srgbClr val="14202E"/>
                </a:solidFill>
                <a:latin typeface="Cambria"/>
              </a:rPr>
              <a:t>R</a:t>
            </a:r>
            <a:r>
              <a:rPr sz="2000" b="0" i="0">
                <a:solidFill>
                  <a:srgbClr val="14202E"/>
                </a:solidFill>
                <a:latin typeface="Cambria"/>
              </a:rPr>
              <a:t> + (Σ</a:t>
            </a:r>
            <a:r>
              <a:rPr sz="2000" b="0" i="1">
                <a:solidFill>
                  <a:srgbClr val="14202E"/>
                </a:solidFill>
                <a:latin typeface="Cambria"/>
              </a:rPr>
              <a:t>h</a:t>
            </a:r>
            <a:r>
              <a:rPr sz="2000" b="0" i="1" baseline="30000">
                <a:solidFill>
                  <a:srgbClr val="14202E"/>
                </a:solidFill>
                <a:latin typeface="Cambria"/>
              </a:rPr>
              <a:t>i</a:t>
            </a:r>
            <a:r>
              <a:rPr sz="2000" b="0" i="0" baseline="-25000">
                <a:solidFill>
                  <a:srgbClr val="14202E"/>
                </a:solidFill>
                <a:latin typeface="Cambria"/>
              </a:rPr>
              <a:t>0</a:t>
            </a:r>
            <a:r>
              <a:rPr sz="2000" b="0" i="0">
                <a:solidFill>
                  <a:srgbClr val="14202E"/>
                </a:solidFill>
                <a:latin typeface="Cambria"/>
              </a:rPr>
              <a:t>)</a:t>
            </a:r>
            <a:r>
              <a:rPr sz="2000" b="0" i="1">
                <a:solidFill>
                  <a:srgbClr val="14202E"/>
                </a:solidFill>
                <a:latin typeface="Cambria"/>
              </a:rPr>
              <a:t>P</a:t>
            </a:r>
            <a:r>
              <a:rPr sz="2000" b="0" i="1" baseline="30000">
                <a:solidFill>
                  <a:srgbClr val="14202E"/>
                </a:solidFill>
                <a:latin typeface="Cambria"/>
              </a:rPr>
              <a:t>k</a:t>
            </a:r>
            <a:r>
              <a:rPr sz="2000" b="0" i="1" baseline="-25000">
                <a:solidFill>
                  <a:srgbClr val="14202E"/>
                </a:solidFill>
                <a:latin typeface="Cambria"/>
              </a:rPr>
              <a:t>TA</a:t>
            </a:r>
            <a:r>
              <a:rPr sz="2000" b="0" i="0">
                <a:solidFill>
                  <a:srgbClr val="14202E"/>
                </a:solidFill>
                <a:latin typeface="Cambria"/>
              </a:rPr>
              <a:t> + Σ</a:t>
            </a:r>
            <a:r>
              <a:rPr sz="2000" b="0" i="1">
                <a:solidFill>
                  <a:srgbClr val="14202E"/>
                </a:solidFill>
                <a:latin typeface="Cambria"/>
              </a:rPr>
              <a:t>v</a:t>
            </a:r>
            <a:r>
              <a:rPr sz="2000" b="0" i="1" baseline="-25000">
                <a:solidFill>
                  <a:srgbClr val="14202E"/>
                </a:solidFill>
                <a:latin typeface="Cambria"/>
              </a:rPr>
              <a:t>i</a:t>
            </a:r>
            <a:r>
              <a:rPr sz="2000" b="0" i="1">
                <a:solidFill>
                  <a:srgbClr val="14202E"/>
                </a:solidFill>
                <a:latin typeface="Cambria"/>
              </a:rPr>
              <a:t>pk</a:t>
            </a:r>
            <a:r>
              <a:rPr sz="2000" b="0" i="1" baseline="-25000">
                <a:solidFill>
                  <a:srgbClr val="14202E"/>
                </a:solidFill>
                <a:latin typeface="Cambria"/>
              </a:rPr>
              <a:t>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9AA5B1"/>
          </a:solidFill>
          <a:ln>
            <a:noFill/>
          </a:ln>
          <a:effectLst/>
        </p:spPr>
        <p:txBody>
          <a:bodyPr rtlCol="0" anchor="ctr" wrap="square" lIns="73152" rIns="73152" tIns="36576" bIns="36576"/>
          <a:lstStyle/>
          <a:p>
            <a:pPr algn="ctr"/>
          </a:p>
        </p:txBody>
      </p:sp>
      <p:sp>
        <p:nvSpPr>
          <p:cNvPr id="3" name="TextBox 2"/>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BACKUP · SECURITY MODELS</a:t>
            </a:r>
          </a:p>
        </p:txBody>
      </p:sp>
      <p:sp>
        <p:nvSpPr>
          <p:cNvPr id="4" name="TextBox 3"/>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B5 · The two adversaries and the paper's proof</a:t>
            </a:r>
          </a:p>
        </p:txBody>
      </p:sp>
      <p:sp>
        <p:nvSpPr>
          <p:cNvPr id="5" name="Rounded Rectangle 4"/>
          <p:cNvSpPr/>
          <p:nvPr/>
        </p:nvSpPr>
        <p:spPr>
          <a:xfrm>
            <a:off x="1107338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Backup B5</a:t>
            </a:r>
          </a:p>
        </p:txBody>
      </p:sp>
      <p:sp>
        <p:nvSpPr>
          <p:cNvPr id="9" name="Rectangle 8"/>
          <p:cNvSpPr/>
          <p:nvPr/>
        </p:nvSpPr>
        <p:spPr>
          <a:xfrm>
            <a:off x="548640" y="1508760"/>
            <a:ext cx="11091672" cy="365760"/>
          </a:xfrm>
          <a:prstGeom prst="rect">
            <a:avLst/>
          </a:prstGeom>
          <a:solidFill>
            <a:srgbClr val="F2F5F8"/>
          </a:solidFill>
          <a:ln>
            <a:noFill/>
          </a:ln>
          <a:effectLst/>
        </p:spPr>
        <p:txBody>
          <a:bodyPr rtlCol="0" anchor="ctr" wrap="square" lIns="73152" rIns="73152" tIns="36576" bIns="36576"/>
          <a:lstStyle/>
          <a:p>
            <a:pPr algn="ctr"/>
          </a:p>
        </p:txBody>
      </p:sp>
      <p:sp>
        <p:nvSpPr>
          <p:cNvPr id="10" name="TextBox 9"/>
          <p:cNvSpPr txBox="1"/>
          <p:nvPr/>
        </p:nvSpPr>
        <p:spPr>
          <a:xfrm>
            <a:off x="640080" y="1508760"/>
            <a:ext cx="2148839" cy="36576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ADVERSARY</a:t>
            </a:r>
          </a:p>
        </p:txBody>
      </p:sp>
      <p:sp>
        <p:nvSpPr>
          <p:cNvPr id="11" name="TextBox 10"/>
          <p:cNvSpPr txBox="1"/>
          <p:nvPr/>
        </p:nvSpPr>
        <p:spPr>
          <a:xfrm>
            <a:off x="2971800" y="1508760"/>
            <a:ext cx="4251959" cy="36576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CAN</a:t>
            </a:r>
          </a:p>
        </p:txBody>
      </p:sp>
      <p:sp>
        <p:nvSpPr>
          <p:cNvPr id="12" name="TextBox 11"/>
          <p:cNvSpPr txBox="1"/>
          <p:nvPr/>
        </p:nvSpPr>
        <p:spPr>
          <a:xfrm>
            <a:off x="7406640" y="1508760"/>
            <a:ext cx="4142232" cy="36576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CANNOT</a:t>
            </a:r>
          </a:p>
        </p:txBody>
      </p:sp>
      <p:cxnSp>
        <p:nvCxnSpPr>
          <p:cNvPr id="13" name="Connector 12"/>
          <p:cNvCxnSpPr/>
          <p:nvPr/>
        </p:nvCxnSpPr>
        <p:spPr>
          <a:xfrm>
            <a:off x="548640" y="1874519"/>
            <a:ext cx="11091671" cy="0"/>
          </a:xfrm>
          <a:prstGeom prst="line">
            <a:avLst/>
          </a:prstGeom>
          <a:ln w="15875">
            <a:solidFill>
              <a:srgbClr val="5B6675"/>
            </a:solidFill>
          </a:ln>
        </p:spPr>
      </p:cxnSp>
      <p:sp>
        <p:nvSpPr>
          <p:cNvPr id="14" name="TextBox 13"/>
          <p:cNvSpPr txBox="1"/>
          <p:nvPr/>
        </p:nvSpPr>
        <p:spPr>
          <a:xfrm>
            <a:off x="640080" y="1874519"/>
            <a:ext cx="2148839" cy="777240"/>
          </a:xfrm>
          <a:prstGeom prst="rect">
            <a:avLst/>
          </a:prstGeom>
          <a:noFill/>
        </p:spPr>
        <p:txBody>
          <a:bodyPr wrap="square" lIns="0" rIns="0" tIns="0" bIns="0" anchor="ctr">
            <a:spAutoFit/>
          </a:bodyPr>
          <a:lstStyle/>
          <a:p>
            <a:pPr algn="l">
              <a:spcBef>
                <a:spcPts val="0"/>
              </a:spcBef>
              <a:spcAft>
                <a:spcPts val="0"/>
              </a:spcAft>
            </a:pPr>
            <a:r>
              <a:rPr sz="1450" b="1" i="1">
                <a:solidFill>
                  <a:srgbClr val="14202E"/>
                </a:solidFill>
                <a:latin typeface="Cambria"/>
              </a:rPr>
              <a:t>F</a:t>
            </a:r>
            <a:r>
              <a:rPr sz="1450" b="1" i="0" baseline="-25000">
                <a:solidFill>
                  <a:srgbClr val="14202E"/>
                </a:solidFill>
                <a:latin typeface="Cambria"/>
              </a:rPr>
              <a:t>1</a:t>
            </a:r>
            <a:r>
              <a:rPr sz="1450" b="1" i="0">
                <a:solidFill>
                  <a:srgbClr val="14202E"/>
                </a:solidFill>
                <a:latin typeface="Calibri"/>
              </a:rPr>
              <a:t>  malicious user</a:t>
            </a:r>
          </a:p>
        </p:txBody>
      </p:sp>
      <p:sp>
        <p:nvSpPr>
          <p:cNvPr id="15" name="TextBox 14"/>
          <p:cNvSpPr txBox="1"/>
          <p:nvPr/>
        </p:nvSpPr>
        <p:spPr>
          <a:xfrm>
            <a:off x="2971800" y="1874519"/>
            <a:ext cx="4251959" cy="777240"/>
          </a:xfrm>
          <a:prstGeom prst="rect">
            <a:avLst/>
          </a:prstGeom>
          <a:noFill/>
        </p:spPr>
        <p:txBody>
          <a:bodyPr wrap="square" lIns="0" rIns="0" tIns="0" bIns="0" anchor="ctr">
            <a:spAutoFit/>
          </a:bodyPr>
          <a:lstStyle/>
          <a:p>
            <a:pPr algn="l">
              <a:spcBef>
                <a:spcPts val="0"/>
              </a:spcBef>
              <a:spcAft>
                <a:spcPts val="0"/>
              </a:spcAft>
            </a:pPr>
            <a:r>
              <a:rPr sz="1450" b="0" i="0">
                <a:solidFill>
                  <a:srgbClr val="14202E"/>
                </a:solidFill>
                <a:latin typeface="Calibri"/>
              </a:rPr>
              <a:t>replace the public key of any user; ask for keys, certificates and signatures</a:t>
            </a:r>
          </a:p>
        </p:txBody>
      </p:sp>
      <p:sp>
        <p:nvSpPr>
          <p:cNvPr id="16" name="TextBox 15"/>
          <p:cNvSpPr txBox="1"/>
          <p:nvPr/>
        </p:nvSpPr>
        <p:spPr>
          <a:xfrm>
            <a:off x="7406640" y="1874519"/>
            <a:ext cx="4142232" cy="777240"/>
          </a:xfrm>
          <a:prstGeom prst="rect">
            <a:avLst/>
          </a:prstGeom>
          <a:noFill/>
        </p:spPr>
        <p:txBody>
          <a:bodyPr wrap="square" lIns="0" rIns="0" tIns="0" bIns="0" anchor="ctr">
            <a:spAutoFit/>
          </a:bodyPr>
          <a:lstStyle/>
          <a:p>
            <a:pPr algn="l">
              <a:spcBef>
                <a:spcPts val="0"/>
              </a:spcBef>
              <a:spcAft>
                <a:spcPts val="0"/>
              </a:spcAft>
            </a:pPr>
            <a:r>
              <a:rPr sz="1450" b="0" i="0">
                <a:solidFill>
                  <a:srgbClr val="14202E"/>
                </a:solidFill>
                <a:latin typeface="Calibri"/>
              </a:rPr>
              <a:t>know the master key; replace </a:t>
            </a:r>
            <a:r>
              <a:rPr sz="1450" b="0" i="1">
                <a:solidFill>
                  <a:srgbClr val="14202E"/>
                </a:solidFill>
                <a:latin typeface="Cambria"/>
              </a:rPr>
              <a:t>pk</a:t>
            </a:r>
            <a:r>
              <a:rPr sz="1450" b="0" i="0" baseline="30000">
                <a:solidFill>
                  <a:srgbClr val="14202E"/>
                </a:solidFill>
                <a:latin typeface="Cambria"/>
              </a:rPr>
              <a:t>*</a:t>
            </a:r>
            <a:r>
              <a:rPr sz="1450" b="0" i="0">
                <a:solidFill>
                  <a:srgbClr val="14202E"/>
                </a:solidFill>
                <a:latin typeface="Calibri"/>
              </a:rPr>
              <a:t> of the challenge identity; ask for </a:t>
            </a:r>
            <a:r>
              <a:rPr sz="1450" b="0" i="1">
                <a:solidFill>
                  <a:srgbClr val="14202E"/>
                </a:solidFill>
                <a:latin typeface="Cambria"/>
              </a:rPr>
              <a:t>Cert</a:t>
            </a:r>
            <a:r>
              <a:rPr sz="1450" b="0" i="0" baseline="30000">
                <a:solidFill>
                  <a:srgbClr val="14202E"/>
                </a:solidFill>
                <a:latin typeface="Cambria"/>
              </a:rPr>
              <a:t>*</a:t>
            </a:r>
          </a:p>
        </p:txBody>
      </p:sp>
      <p:cxnSp>
        <p:nvCxnSpPr>
          <p:cNvPr id="17" name="Connector 16"/>
          <p:cNvCxnSpPr/>
          <p:nvPr/>
        </p:nvCxnSpPr>
        <p:spPr>
          <a:xfrm>
            <a:off x="548640" y="2651760"/>
            <a:ext cx="11091671" cy="0"/>
          </a:xfrm>
          <a:prstGeom prst="line">
            <a:avLst/>
          </a:prstGeom>
          <a:ln w="12700">
            <a:solidFill>
              <a:srgbClr val="D3D9E1"/>
            </a:solidFill>
          </a:ln>
        </p:spPr>
      </p:cxnSp>
      <p:sp>
        <p:nvSpPr>
          <p:cNvPr id="18" name="TextBox 17"/>
          <p:cNvSpPr txBox="1"/>
          <p:nvPr/>
        </p:nvSpPr>
        <p:spPr>
          <a:xfrm>
            <a:off x="640080" y="2651760"/>
            <a:ext cx="2148839" cy="777240"/>
          </a:xfrm>
          <a:prstGeom prst="rect">
            <a:avLst/>
          </a:prstGeom>
          <a:noFill/>
        </p:spPr>
        <p:txBody>
          <a:bodyPr wrap="square" lIns="0" rIns="0" tIns="0" bIns="0" anchor="ctr">
            <a:spAutoFit/>
          </a:bodyPr>
          <a:lstStyle/>
          <a:p>
            <a:pPr algn="l">
              <a:spcBef>
                <a:spcPts val="0"/>
              </a:spcBef>
              <a:spcAft>
                <a:spcPts val="0"/>
              </a:spcAft>
            </a:pPr>
            <a:r>
              <a:rPr sz="1450" b="1" i="1">
                <a:solidFill>
                  <a:srgbClr val="14202E"/>
                </a:solidFill>
                <a:latin typeface="Cambria"/>
              </a:rPr>
              <a:t>F</a:t>
            </a:r>
            <a:r>
              <a:rPr sz="1450" b="1" i="0" baseline="-25000">
                <a:solidFill>
                  <a:srgbClr val="14202E"/>
                </a:solidFill>
                <a:latin typeface="Cambria"/>
              </a:rPr>
              <a:t>2</a:t>
            </a:r>
            <a:r>
              <a:rPr sz="1450" b="1" i="0">
                <a:solidFill>
                  <a:srgbClr val="14202E"/>
                </a:solidFill>
                <a:latin typeface="Calibri"/>
              </a:rPr>
              <a:t>  malicious KGC</a:t>
            </a:r>
          </a:p>
        </p:txBody>
      </p:sp>
      <p:sp>
        <p:nvSpPr>
          <p:cNvPr id="19" name="TextBox 18"/>
          <p:cNvSpPr txBox="1"/>
          <p:nvPr/>
        </p:nvSpPr>
        <p:spPr>
          <a:xfrm>
            <a:off x="2971800" y="2651760"/>
            <a:ext cx="4251959" cy="777240"/>
          </a:xfrm>
          <a:prstGeom prst="rect">
            <a:avLst/>
          </a:prstGeom>
          <a:noFill/>
        </p:spPr>
        <p:txBody>
          <a:bodyPr wrap="square" lIns="0" rIns="0" tIns="0" bIns="0" anchor="ctr">
            <a:spAutoFit/>
          </a:bodyPr>
          <a:lstStyle/>
          <a:p>
            <a:pPr algn="l">
              <a:spcBef>
                <a:spcPts val="0"/>
              </a:spcBef>
              <a:spcAft>
                <a:spcPts val="0"/>
              </a:spcAft>
            </a:pPr>
            <a:r>
              <a:rPr sz="1450" b="0" i="0">
                <a:solidFill>
                  <a:srgbClr val="14202E"/>
                </a:solidFill>
                <a:latin typeface="Calibri"/>
              </a:rPr>
              <a:t>know the master key, so every certificate; ask for keys and signatures</a:t>
            </a:r>
          </a:p>
        </p:txBody>
      </p:sp>
      <p:sp>
        <p:nvSpPr>
          <p:cNvPr id="20" name="TextBox 19"/>
          <p:cNvSpPr txBox="1"/>
          <p:nvPr/>
        </p:nvSpPr>
        <p:spPr>
          <a:xfrm>
            <a:off x="7406640" y="2651760"/>
            <a:ext cx="4142232" cy="777240"/>
          </a:xfrm>
          <a:prstGeom prst="rect">
            <a:avLst/>
          </a:prstGeom>
          <a:noFill/>
        </p:spPr>
        <p:txBody>
          <a:bodyPr wrap="square" lIns="0" rIns="0" tIns="0" bIns="0" anchor="ctr">
            <a:spAutoFit/>
          </a:bodyPr>
          <a:lstStyle/>
          <a:p>
            <a:pPr algn="l">
              <a:spcBef>
                <a:spcPts val="0"/>
              </a:spcBef>
              <a:spcAft>
                <a:spcPts val="0"/>
              </a:spcAft>
            </a:pPr>
            <a:r>
              <a:rPr sz="1450" b="0" i="0">
                <a:solidFill>
                  <a:srgbClr val="14202E"/>
                </a:solidFill>
                <a:latin typeface="Calibri"/>
              </a:rPr>
              <a:t>replace public keys; ask for the secret key </a:t>
            </a:r>
            <a:r>
              <a:rPr sz="1450" b="0" i="1">
                <a:solidFill>
                  <a:srgbClr val="14202E"/>
                </a:solidFill>
                <a:latin typeface="Cambria"/>
              </a:rPr>
              <a:t>sk</a:t>
            </a:r>
            <a:r>
              <a:rPr sz="1450" b="0" i="0" baseline="30000">
                <a:solidFill>
                  <a:srgbClr val="14202E"/>
                </a:solidFill>
                <a:latin typeface="Cambria"/>
              </a:rPr>
              <a:t>*</a:t>
            </a:r>
            <a:r>
              <a:rPr sz="1450" b="0" i="0">
                <a:solidFill>
                  <a:srgbClr val="14202E"/>
                </a:solidFill>
                <a:latin typeface="Calibri"/>
              </a:rPr>
              <a:t> of the challenge identity</a:t>
            </a:r>
          </a:p>
        </p:txBody>
      </p:sp>
      <p:cxnSp>
        <p:nvCxnSpPr>
          <p:cNvPr id="21" name="Connector 20"/>
          <p:cNvCxnSpPr/>
          <p:nvPr/>
        </p:nvCxnSpPr>
        <p:spPr>
          <a:xfrm>
            <a:off x="548640" y="3429000"/>
            <a:ext cx="11091671" cy="0"/>
          </a:xfrm>
          <a:prstGeom prst="line">
            <a:avLst/>
          </a:prstGeom>
          <a:ln w="12700">
            <a:solidFill>
              <a:srgbClr val="D3D9E1"/>
            </a:solidFill>
          </a:ln>
        </p:spPr>
      </p:cxnSp>
      <p:sp>
        <p:nvSpPr>
          <p:cNvPr id="22" name="Rounded Rectangle 21"/>
          <p:cNvSpPr/>
          <p:nvPr/>
        </p:nvSpPr>
        <p:spPr>
          <a:xfrm>
            <a:off x="548640" y="3611880"/>
            <a:ext cx="11091672" cy="2194560"/>
          </a:xfrm>
          <a:prstGeom prst="roundRect">
            <a:avLst>
              <a:gd name="adj" fmla="val 4166"/>
            </a:avLst>
          </a:prstGeom>
          <a:solidFill>
            <a:srgbClr val="F2F5F8"/>
          </a:solidFill>
          <a:ln>
            <a:noFill/>
          </a:ln>
          <a:effectLst/>
        </p:spPr>
        <p:txBody>
          <a:bodyPr rtlCol="0" anchor="ctr" wrap="square" lIns="73152" rIns="73152" tIns="36576" bIns="36576"/>
          <a:lstStyle/>
          <a:p>
            <a:pPr algn="ctr"/>
          </a:p>
        </p:txBody>
      </p:sp>
      <p:sp>
        <p:nvSpPr>
          <p:cNvPr id="23" name="Rounded Rectangle 22"/>
          <p:cNvSpPr/>
          <p:nvPr/>
        </p:nvSpPr>
        <p:spPr>
          <a:xfrm>
            <a:off x="777240" y="3721608"/>
            <a:ext cx="822960" cy="237744"/>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00" b="1" i="0">
                <a:solidFill>
                  <a:srgbClr val="FFFFFF"/>
                </a:solidFill>
                <a:latin typeface="Calibri"/>
              </a:rPr>
              <a:t>PAPER</a:t>
            </a:r>
          </a:p>
        </p:txBody>
      </p:sp>
      <p:sp>
        <p:nvSpPr>
          <p:cNvPr id="24" name="TextBox 23"/>
          <p:cNvSpPr txBox="1"/>
          <p:nvPr/>
        </p:nvSpPr>
        <p:spPr>
          <a:xfrm>
            <a:off x="1737360" y="3694176"/>
            <a:ext cx="9601200" cy="274320"/>
          </a:xfrm>
          <a:prstGeom prst="rect">
            <a:avLst/>
          </a:prstGeom>
          <a:noFill/>
        </p:spPr>
        <p:txBody>
          <a:bodyPr wrap="square" lIns="0" rIns="0" tIns="0" bIns="0" anchor="t">
            <a:spAutoFit/>
          </a:bodyPr>
          <a:lstStyle/>
          <a:p>
            <a:pPr algn="l">
              <a:spcBef>
                <a:spcPts val="0"/>
              </a:spcBef>
              <a:spcAft>
                <a:spcPts val="0"/>
              </a:spcAft>
            </a:pPr>
            <a:r>
              <a:rPr sz="1450" b="1" i="0">
                <a:solidFill>
                  <a:srgbClr val="14202E"/>
                </a:solidFill>
                <a:latin typeface="Calibri"/>
              </a:rPr>
              <a:t>Theorem 1: if the discrete logarithm problem is hard, the CBAS construction is EUF-CMA secure (random-oracle model).</a:t>
            </a:r>
          </a:p>
        </p:txBody>
      </p:sp>
      <p:sp>
        <p:nvSpPr>
          <p:cNvPr id="25" name="TextBox 24"/>
          <p:cNvSpPr txBox="1"/>
          <p:nvPr/>
        </p:nvSpPr>
        <p:spPr>
          <a:xfrm>
            <a:off x="777240" y="4114800"/>
            <a:ext cx="10698480" cy="1645920"/>
          </a:xfrm>
          <a:prstGeom prst="rect">
            <a:avLst/>
          </a:prstGeom>
          <a:noFill/>
        </p:spPr>
        <p:txBody>
          <a:bodyPr wrap="square" lIns="0" rIns="0" tIns="0" bIns="0" anchor="t">
            <a:spAutoFit/>
          </a:bodyPr>
          <a:lstStyle/>
          <a:p>
            <a:pPr algn="l">
              <a:lnSpc>
                <a:spcPct val="97000"/>
              </a:lnSpc>
              <a:spcBef>
                <a:spcPts val="0"/>
              </a:spcBef>
              <a:spcAft>
                <a:spcPts val="400"/>
              </a:spcAft>
            </a:pPr>
            <a:r>
              <a:rPr sz="1450" b="0" i="0">
                <a:solidFill>
                  <a:srgbClr val="14202E"/>
                </a:solidFill>
                <a:latin typeface="Calibri"/>
              </a:rPr>
              <a:t>Lemma 2 (</a:t>
            </a:r>
            <a:r>
              <a:rPr sz="1450" b="0" i="1">
                <a:solidFill>
                  <a:srgbClr val="14202E"/>
                </a:solidFill>
                <a:latin typeface="Cambria"/>
              </a:rPr>
              <a:t>F</a:t>
            </a:r>
            <a:r>
              <a:rPr sz="1450" b="0" i="0" baseline="-25000">
                <a:solidFill>
                  <a:srgbClr val="14202E"/>
                </a:solidFill>
                <a:latin typeface="Cambria"/>
              </a:rPr>
              <a:t>1</a:t>
            </a:r>
            <a:r>
              <a:rPr sz="1450" b="0" i="0">
                <a:solidFill>
                  <a:srgbClr val="14202E"/>
                </a:solidFill>
                <a:latin typeface="Calibri"/>
              </a:rPr>
              <a:t>): fork on </a:t>
            </a:r>
            <a:r>
              <a:rPr sz="1450" b="0" i="1">
                <a:solidFill>
                  <a:srgbClr val="14202E"/>
                </a:solidFill>
                <a:latin typeface="Cambria"/>
              </a:rPr>
              <a:t>H</a:t>
            </a:r>
            <a:r>
              <a:rPr sz="1450" b="0" i="0" baseline="-25000">
                <a:solidFill>
                  <a:srgbClr val="14202E"/>
                </a:solidFill>
                <a:latin typeface="Cambria"/>
              </a:rPr>
              <a:t>0</a:t>
            </a:r>
            <a:r>
              <a:rPr sz="1450" b="0" i="0">
                <a:solidFill>
                  <a:srgbClr val="14202E"/>
                </a:solidFill>
                <a:latin typeface="Calibri"/>
              </a:rPr>
              <a:t>.   Advantage </a:t>
            </a:r>
            <a:r>
              <a:rPr sz="1450" b="0" i="0">
                <a:solidFill>
                  <a:srgbClr val="14202E"/>
                </a:solidFill>
                <a:latin typeface="Cambria"/>
              </a:rPr>
              <a:t>≥ (1 − 1/</a:t>
            </a:r>
            <a:r>
              <a:rPr sz="1450" b="0" i="1">
                <a:solidFill>
                  <a:srgbClr val="14202E"/>
                </a:solidFill>
                <a:latin typeface="Cambria"/>
              </a:rPr>
              <a:t>e</a:t>
            </a:r>
            <a:r>
              <a:rPr sz="1450" b="0" i="0">
                <a:solidFill>
                  <a:srgbClr val="14202E"/>
                </a:solidFill>
                <a:latin typeface="Cambria"/>
              </a:rPr>
              <a:t>)·</a:t>
            </a:r>
            <a:r>
              <a:rPr sz="1450" b="0" i="1">
                <a:solidFill>
                  <a:srgbClr val="14202E"/>
                </a:solidFill>
                <a:latin typeface="Cambria"/>
              </a:rPr>
              <a:t>ε</a:t>
            </a:r>
            <a:r>
              <a:rPr sz="1450" b="0" i="0" baseline="-25000">
                <a:solidFill>
                  <a:srgbClr val="14202E"/>
                </a:solidFill>
                <a:latin typeface="Cambria"/>
              </a:rPr>
              <a:t>1</a:t>
            </a:r>
            <a:r>
              <a:rPr sz="1450" b="0" i="0">
                <a:solidFill>
                  <a:srgbClr val="14202E"/>
                </a:solidFill>
                <a:latin typeface="Cambria"/>
              </a:rPr>
              <a:t> / (</a:t>
            </a:r>
            <a:r>
              <a:rPr sz="1450" b="0" i="1">
                <a:solidFill>
                  <a:srgbClr val="14202E"/>
                </a:solidFill>
                <a:latin typeface="Cambria"/>
              </a:rPr>
              <a:t>e</a:t>
            </a:r>
            <a:r>
              <a:rPr sz="1450" b="0" i="0">
                <a:solidFill>
                  <a:srgbClr val="14202E"/>
                </a:solidFill>
                <a:latin typeface="Cambria"/>
              </a:rPr>
              <a:t>·</a:t>
            </a:r>
            <a:r>
              <a:rPr sz="1450" b="0" i="1">
                <a:solidFill>
                  <a:srgbClr val="14202E"/>
                </a:solidFill>
                <a:latin typeface="Cambria"/>
              </a:rPr>
              <a:t>q</a:t>
            </a:r>
            <a:r>
              <a:rPr sz="1450" b="0" i="0" baseline="-25000">
                <a:solidFill>
                  <a:srgbClr val="14202E"/>
                </a:solidFill>
                <a:latin typeface="Cambria"/>
              </a:rPr>
              <a:t>0</a:t>
            </a:r>
            <a:r>
              <a:rPr sz="1450" b="0" i="0">
                <a:solidFill>
                  <a:srgbClr val="14202E"/>
                </a:solidFill>
                <a:latin typeface="Cambria"/>
              </a:rPr>
              <a:t>(</a:t>
            </a:r>
            <a:r>
              <a:rPr sz="1450" b="0" i="1">
                <a:solidFill>
                  <a:srgbClr val="14202E"/>
                </a:solidFill>
                <a:latin typeface="Cambria"/>
              </a:rPr>
              <a:t>x</a:t>
            </a:r>
            <a:r>
              <a:rPr sz="1450" b="0" i="0" baseline="-25000">
                <a:solidFill>
                  <a:srgbClr val="14202E"/>
                </a:solidFill>
                <a:latin typeface="Cambria"/>
              </a:rPr>
              <a:t>1</a:t>
            </a:r>
            <a:r>
              <a:rPr sz="1450" b="0" i="0">
                <a:solidFill>
                  <a:srgbClr val="14202E"/>
                </a:solidFill>
                <a:latin typeface="Cambria"/>
              </a:rPr>
              <a:t> + </a:t>
            </a:r>
            <a:r>
              <a:rPr sz="1450" b="0" i="1">
                <a:solidFill>
                  <a:srgbClr val="14202E"/>
                </a:solidFill>
                <a:latin typeface="Cambria"/>
              </a:rPr>
              <a:t>x</a:t>
            </a:r>
            <a:r>
              <a:rPr sz="1450" b="0" i="0" baseline="-25000">
                <a:solidFill>
                  <a:srgbClr val="14202E"/>
                </a:solidFill>
                <a:latin typeface="Cambria"/>
              </a:rPr>
              <a:t>2</a:t>
            </a:r>
            <a:r>
              <a:rPr sz="1450" b="0" i="0">
                <a:solidFill>
                  <a:srgbClr val="14202E"/>
                </a:solidFill>
                <a:latin typeface="Cambria"/>
              </a:rPr>
              <a:t> + 1))</a:t>
            </a:r>
          </a:p>
          <a:p>
            <a:pPr algn="l">
              <a:lnSpc>
                <a:spcPct val="97000"/>
              </a:lnSpc>
              <a:spcBef>
                <a:spcPts val="0"/>
              </a:spcBef>
              <a:spcAft>
                <a:spcPts val="400"/>
              </a:spcAft>
            </a:pPr>
            <a:r>
              <a:rPr sz="1450" b="0" i="0">
                <a:solidFill>
                  <a:srgbClr val="14202E"/>
                </a:solidFill>
                <a:latin typeface="Calibri"/>
              </a:rPr>
              <a:t>Lemma 3 (</a:t>
            </a:r>
            <a:r>
              <a:rPr sz="1450" b="0" i="1">
                <a:solidFill>
                  <a:srgbClr val="14202E"/>
                </a:solidFill>
                <a:latin typeface="Cambria"/>
              </a:rPr>
              <a:t>F</a:t>
            </a:r>
            <a:r>
              <a:rPr sz="1450" b="0" i="0" baseline="-25000">
                <a:solidFill>
                  <a:srgbClr val="14202E"/>
                </a:solidFill>
                <a:latin typeface="Cambria"/>
              </a:rPr>
              <a:t>2</a:t>
            </a:r>
            <a:r>
              <a:rPr sz="1450" b="0" i="0">
                <a:solidFill>
                  <a:srgbClr val="14202E"/>
                </a:solidFill>
                <a:latin typeface="Calibri"/>
              </a:rPr>
              <a:t>): fork on </a:t>
            </a:r>
            <a:r>
              <a:rPr sz="1450" b="0" i="1">
                <a:solidFill>
                  <a:srgbClr val="14202E"/>
                </a:solidFill>
                <a:latin typeface="Cambria"/>
              </a:rPr>
              <a:t>H</a:t>
            </a:r>
            <a:r>
              <a:rPr sz="1450" b="0" i="0" baseline="-25000">
                <a:solidFill>
                  <a:srgbClr val="14202E"/>
                </a:solidFill>
                <a:latin typeface="Cambria"/>
              </a:rPr>
              <a:t>1</a:t>
            </a:r>
            <a:r>
              <a:rPr sz="1450" b="0" i="0">
                <a:solidFill>
                  <a:srgbClr val="14202E"/>
                </a:solidFill>
                <a:latin typeface="Calibri"/>
              </a:rPr>
              <a:t>.   Advantage </a:t>
            </a:r>
            <a:r>
              <a:rPr sz="1450" b="0" i="0">
                <a:solidFill>
                  <a:srgbClr val="14202E"/>
                </a:solidFill>
                <a:latin typeface="Cambria"/>
              </a:rPr>
              <a:t>≥ (1 − 1/</a:t>
            </a:r>
            <a:r>
              <a:rPr sz="1450" b="0" i="1">
                <a:solidFill>
                  <a:srgbClr val="14202E"/>
                </a:solidFill>
                <a:latin typeface="Cambria"/>
              </a:rPr>
              <a:t>e</a:t>
            </a:r>
            <a:r>
              <a:rPr sz="1450" b="0" i="0">
                <a:solidFill>
                  <a:srgbClr val="14202E"/>
                </a:solidFill>
                <a:latin typeface="Cambria"/>
              </a:rPr>
              <a:t>)·</a:t>
            </a:r>
            <a:r>
              <a:rPr sz="1450" b="0" i="1">
                <a:solidFill>
                  <a:srgbClr val="14202E"/>
                </a:solidFill>
                <a:latin typeface="Cambria"/>
              </a:rPr>
              <a:t>ε</a:t>
            </a:r>
            <a:r>
              <a:rPr sz="1450" b="0" i="0" baseline="-25000">
                <a:solidFill>
                  <a:srgbClr val="14202E"/>
                </a:solidFill>
                <a:latin typeface="Cambria"/>
              </a:rPr>
              <a:t>2</a:t>
            </a:r>
            <a:r>
              <a:rPr sz="1450" b="0" i="0">
                <a:solidFill>
                  <a:srgbClr val="14202E"/>
                </a:solidFill>
                <a:latin typeface="Cambria"/>
              </a:rPr>
              <a:t> / (</a:t>
            </a:r>
            <a:r>
              <a:rPr sz="1450" b="0" i="1">
                <a:solidFill>
                  <a:srgbClr val="14202E"/>
                </a:solidFill>
                <a:latin typeface="Cambria"/>
              </a:rPr>
              <a:t>e</a:t>
            </a:r>
            <a:r>
              <a:rPr sz="1450" b="0" i="0">
                <a:solidFill>
                  <a:srgbClr val="14202E"/>
                </a:solidFill>
                <a:latin typeface="Cambria"/>
              </a:rPr>
              <a:t>·</a:t>
            </a:r>
            <a:r>
              <a:rPr sz="1450" b="0" i="1">
                <a:solidFill>
                  <a:srgbClr val="14202E"/>
                </a:solidFill>
                <a:latin typeface="Cambria"/>
              </a:rPr>
              <a:t>q</a:t>
            </a:r>
            <a:r>
              <a:rPr sz="1450" b="0" i="1" baseline="-25000">
                <a:solidFill>
                  <a:srgbClr val="14202E"/>
                </a:solidFill>
                <a:latin typeface="Cambria"/>
              </a:rPr>
              <a:t>h</a:t>
            </a:r>
            <a:r>
              <a:rPr sz="1450" b="0" i="0">
                <a:solidFill>
                  <a:srgbClr val="14202E"/>
                </a:solidFill>
                <a:latin typeface="Cambria"/>
              </a:rPr>
              <a:t>(</a:t>
            </a:r>
            <a:r>
              <a:rPr sz="1450" b="0" i="1">
                <a:solidFill>
                  <a:srgbClr val="14202E"/>
                </a:solidFill>
                <a:latin typeface="Cambria"/>
              </a:rPr>
              <a:t>x</a:t>
            </a:r>
            <a:r>
              <a:rPr sz="1450" b="0" i="0" baseline="-25000">
                <a:solidFill>
                  <a:srgbClr val="14202E"/>
                </a:solidFill>
                <a:latin typeface="Cambria"/>
              </a:rPr>
              <a:t>1</a:t>
            </a:r>
            <a:r>
              <a:rPr sz="1450" b="0" i="0">
                <a:solidFill>
                  <a:srgbClr val="14202E"/>
                </a:solidFill>
                <a:latin typeface="Cambria"/>
              </a:rPr>
              <a:t> + </a:t>
            </a:r>
            <a:r>
              <a:rPr sz="1450" b="0" i="1">
                <a:solidFill>
                  <a:srgbClr val="14202E"/>
                </a:solidFill>
                <a:latin typeface="Cambria"/>
              </a:rPr>
              <a:t>x</a:t>
            </a:r>
            <a:r>
              <a:rPr sz="1450" b="0" i="0" baseline="-25000">
                <a:solidFill>
                  <a:srgbClr val="14202E"/>
                </a:solidFill>
                <a:latin typeface="Cambria"/>
              </a:rPr>
              <a:t>3</a:t>
            </a:r>
            <a:r>
              <a:rPr sz="1450" b="0" i="0">
                <a:solidFill>
                  <a:srgbClr val="14202E"/>
                </a:solidFill>
                <a:latin typeface="Cambria"/>
              </a:rPr>
              <a:t> + 1))</a:t>
            </a:r>
          </a:p>
          <a:p>
            <a:pPr algn="l">
              <a:lnSpc>
                <a:spcPct val="97000"/>
              </a:lnSpc>
              <a:spcBef>
                <a:spcPts val="0"/>
              </a:spcBef>
              <a:spcAft>
                <a:spcPts val="0"/>
              </a:spcAft>
            </a:pPr>
            <a:r>
              <a:rPr sz="1450" b="0" i="0">
                <a:solidFill>
                  <a:srgbClr val="14202E"/>
                </a:solidFill>
                <a:latin typeface="Calibri"/>
              </a:rPr>
              <a:t>Aggregate security follows because AggSign uses no secret material.</a:t>
            </a:r>
          </a:p>
          <a:p>
            <a:pPr algn="l">
              <a:lnSpc>
                <a:spcPct val="97000"/>
              </a:lnSpc>
              <a:spcBef>
                <a:spcPts val="600"/>
              </a:spcBef>
              <a:spcAft>
                <a:spcPts val="0"/>
              </a:spcAft>
            </a:pPr>
            <a:r>
              <a:rPr sz="1450" b="0" i="0">
                <a:solidFill>
                  <a:srgbClr val="B3261E"/>
                </a:solidFill>
                <a:latin typeface="Calibri"/>
              </a:rPr>
              <a:t>We did not audit these proofs, and noticed inconsistencies in the lemma texts (for example, Lemma 3's </a:t>
            </a:r>
            <a:r>
              <a:rPr sz="1450" b="0" i="1">
                <a:solidFill>
                  <a:srgbClr val="B3261E"/>
                </a:solidFill>
                <a:latin typeface="Cambria"/>
              </a:rPr>
              <a:t>H</a:t>
            </a:r>
            <a:r>
              <a:rPr sz="1450" b="0" i="0" baseline="-25000">
                <a:solidFill>
                  <a:srgbClr val="B3261E"/>
                </a:solidFill>
                <a:latin typeface="Cambria"/>
              </a:rPr>
              <a:t>1</a:t>
            </a:r>
            <a:r>
              <a:rPr sz="1450" b="0" i="0">
                <a:solidFill>
                  <a:srgbClr val="B3261E"/>
                </a:solidFill>
                <a:latin typeface="Calibri"/>
              </a:rPr>
              <a:t> table omits </a:t>
            </a:r>
            <a:r>
              <a:rPr sz="1450" b="0" i="1">
                <a:solidFill>
                  <a:srgbClr val="B3261E"/>
                </a:solidFill>
                <a:latin typeface="Cambria"/>
              </a:rPr>
              <a:t>T</a:t>
            </a:r>
            <a:r>
              <a:rPr sz="1450" b="0" i="1" baseline="-25000">
                <a:solidFill>
                  <a:srgbClr val="B3261E"/>
                </a:solidFill>
                <a:latin typeface="Cambria"/>
              </a:rPr>
              <a:t>i</a:t>
            </a:r>
            <a:r>
              <a:rPr sz="1450" b="0" i="0">
                <a:solidFill>
                  <a:srgbClr val="B3261E"/>
                </a:solidFill>
                <a:latin typeface="Calibri"/>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9AA5B1"/>
          </a:solidFill>
          <a:ln>
            <a:noFill/>
          </a:ln>
          <a:effectLst/>
        </p:spPr>
        <p:txBody>
          <a:bodyPr rtlCol="0" anchor="ctr" wrap="square" lIns="73152" rIns="73152" tIns="36576" bIns="36576"/>
          <a:lstStyle/>
          <a:p>
            <a:pPr algn="ctr"/>
          </a:p>
        </p:txBody>
      </p:sp>
      <p:sp>
        <p:nvSpPr>
          <p:cNvPr id="3" name="TextBox 2"/>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BACKUP · OUR AUDIT</a:t>
            </a:r>
          </a:p>
        </p:txBody>
      </p:sp>
      <p:sp>
        <p:nvSpPr>
          <p:cNvPr id="4" name="TextBox 3"/>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B6 · Why </a:t>
            </a:r>
            <a:r>
              <a:rPr sz="2800" b="1" i="1">
                <a:solidFill>
                  <a:srgbClr val="14202E"/>
                </a:solidFill>
                <a:latin typeface="Cambria"/>
              </a:rPr>
              <a:t>T</a:t>
            </a:r>
            <a:r>
              <a:rPr sz="2800" b="1" i="1" baseline="-25000">
                <a:solidFill>
                  <a:srgbClr val="14202E"/>
                </a:solidFill>
                <a:latin typeface="Cambria"/>
              </a:rPr>
              <a:t>i</a:t>
            </a:r>
            <a:r>
              <a:rPr sz="2800" b="1" i="0">
                <a:solidFill>
                  <a:srgbClr val="14202E"/>
                </a:solidFill>
                <a:latin typeface="Cambria"/>
              </a:rPr>
              <a:t> appears in both hashes</a:t>
            </a:r>
          </a:p>
        </p:txBody>
      </p:sp>
      <p:sp>
        <p:nvSpPr>
          <p:cNvPr id="5" name="Rounded Rectangle 4"/>
          <p:cNvSpPr/>
          <p:nvPr/>
        </p:nvSpPr>
        <p:spPr>
          <a:xfrm>
            <a:off x="10736884" y="274320"/>
            <a:ext cx="903427" cy="246888"/>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OUR AUDIT</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Backup B6</a:t>
            </a:r>
          </a:p>
        </p:txBody>
      </p:sp>
      <p:sp>
        <p:nvSpPr>
          <p:cNvPr id="9" name="Rectangle 8"/>
          <p:cNvSpPr/>
          <p:nvPr/>
        </p:nvSpPr>
        <p:spPr>
          <a:xfrm>
            <a:off x="548640" y="1508760"/>
            <a:ext cx="11091672" cy="411480"/>
          </a:xfrm>
          <a:prstGeom prst="rect">
            <a:avLst/>
          </a:prstGeom>
          <a:solidFill>
            <a:srgbClr val="F2F5F8"/>
          </a:solidFill>
          <a:ln>
            <a:noFill/>
          </a:ln>
          <a:effectLst/>
        </p:spPr>
        <p:txBody>
          <a:bodyPr rtlCol="0" anchor="ctr" wrap="square" lIns="73152" rIns="73152" tIns="36576" bIns="36576"/>
          <a:lstStyle/>
          <a:p>
            <a:pPr algn="ctr"/>
          </a:p>
        </p:txBody>
      </p:sp>
      <p:sp>
        <p:nvSpPr>
          <p:cNvPr id="10" name="TextBox 9"/>
          <p:cNvSpPr txBox="1"/>
          <p:nvPr/>
        </p:nvSpPr>
        <p:spPr>
          <a:xfrm>
            <a:off x="640080" y="1508760"/>
            <a:ext cx="2834639" cy="41148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WHERE </a:t>
            </a:r>
            <a:r>
              <a:rPr sz="1150" b="1" i="1" spc="60">
                <a:solidFill>
                  <a:srgbClr val="5B6675"/>
                </a:solidFill>
                <a:latin typeface="Cambria"/>
              </a:rPr>
              <a:t>T</a:t>
            </a:r>
            <a:r>
              <a:rPr sz="1150" b="1" i="1" baseline="-25000" spc="60">
                <a:solidFill>
                  <a:srgbClr val="5B6675"/>
                </a:solidFill>
                <a:latin typeface="Cambria"/>
              </a:rPr>
              <a:t>i</a:t>
            </a:r>
            <a:r>
              <a:rPr sz="1150" b="1" i="0" spc="60">
                <a:solidFill>
                  <a:srgbClr val="5B6675"/>
                </a:solidFill>
                <a:latin typeface="Calibri"/>
              </a:rPr>
              <a:t> IS HASHED</a:t>
            </a:r>
          </a:p>
        </p:txBody>
      </p:sp>
      <p:sp>
        <p:nvSpPr>
          <p:cNvPr id="11" name="TextBox 10"/>
          <p:cNvSpPr txBox="1"/>
          <p:nvPr/>
        </p:nvSpPr>
        <p:spPr>
          <a:xfrm>
            <a:off x="3657600" y="1508760"/>
            <a:ext cx="3291839" cy="41148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KGC RESCALING ATTACK</a:t>
            </a:r>
          </a:p>
        </p:txBody>
      </p:sp>
      <p:sp>
        <p:nvSpPr>
          <p:cNvPr id="12" name="TextBox 11"/>
          <p:cNvSpPr txBox="1"/>
          <p:nvPr/>
        </p:nvSpPr>
        <p:spPr>
          <a:xfrm>
            <a:off x="7132319" y="1508760"/>
            <a:ext cx="4416552" cy="411480"/>
          </a:xfrm>
          <a:prstGeom prst="rect">
            <a:avLst/>
          </a:prstGeom>
          <a:noFill/>
        </p:spPr>
        <p:txBody>
          <a:bodyPr wrap="square" lIns="0" rIns="0" tIns="0" bIns="0" anchor="ctr">
            <a:spAutoFit/>
          </a:bodyPr>
          <a:lstStyle/>
          <a:p>
            <a:pPr algn="l">
              <a:spcBef>
                <a:spcPts val="0"/>
              </a:spcBef>
              <a:spcAft>
                <a:spcPts val="0"/>
              </a:spcAft>
            </a:pPr>
            <a:r>
              <a:rPr sz="1150" b="1" i="0" spc="60">
                <a:solidFill>
                  <a:srgbClr val="5B6675"/>
                </a:solidFill>
                <a:latin typeface="Calibri"/>
              </a:rPr>
              <a:t>MIRROR ATTACK BY A MALICIOUS USER</a:t>
            </a:r>
          </a:p>
        </p:txBody>
      </p:sp>
      <p:cxnSp>
        <p:nvCxnSpPr>
          <p:cNvPr id="13" name="Connector 12"/>
          <p:cNvCxnSpPr/>
          <p:nvPr/>
        </p:nvCxnSpPr>
        <p:spPr>
          <a:xfrm>
            <a:off x="548640" y="1920240"/>
            <a:ext cx="11091671" cy="0"/>
          </a:xfrm>
          <a:prstGeom prst="line">
            <a:avLst/>
          </a:prstGeom>
          <a:ln w="15875">
            <a:solidFill>
              <a:srgbClr val="5B6675"/>
            </a:solidFill>
          </a:ln>
        </p:spPr>
      </p:cxnSp>
      <p:sp>
        <p:nvSpPr>
          <p:cNvPr id="14" name="TextBox 13"/>
          <p:cNvSpPr txBox="1"/>
          <p:nvPr/>
        </p:nvSpPr>
        <p:spPr>
          <a:xfrm>
            <a:off x="640080" y="1920240"/>
            <a:ext cx="2834639" cy="530352"/>
          </a:xfrm>
          <a:prstGeom prst="rect">
            <a:avLst/>
          </a:prstGeom>
          <a:noFill/>
        </p:spPr>
        <p:txBody>
          <a:bodyPr wrap="square" lIns="0" rIns="0" tIns="0" bIns="0" anchor="ctr">
            <a:spAutoFit/>
          </a:bodyPr>
          <a:lstStyle/>
          <a:p>
            <a:pPr algn="l">
              <a:spcBef>
                <a:spcPts val="0"/>
              </a:spcBef>
              <a:spcAft>
                <a:spcPts val="0"/>
              </a:spcAft>
            </a:pPr>
            <a:r>
              <a:rPr sz="1700" b="1" i="1">
                <a:solidFill>
                  <a:srgbClr val="14202E"/>
                </a:solidFill>
                <a:latin typeface="Cambria"/>
              </a:rPr>
              <a:t>H</a:t>
            </a:r>
            <a:r>
              <a:rPr sz="1700" b="1" i="0" baseline="-25000">
                <a:solidFill>
                  <a:srgbClr val="14202E"/>
                </a:solidFill>
                <a:latin typeface="Cambria"/>
              </a:rPr>
              <a:t>1</a:t>
            </a:r>
            <a:r>
              <a:rPr sz="1700" b="1" i="0">
                <a:solidFill>
                  <a:srgbClr val="14202E"/>
                </a:solidFill>
                <a:latin typeface="Calibri"/>
              </a:rPr>
              <a:t> only</a:t>
            </a:r>
          </a:p>
        </p:txBody>
      </p:sp>
      <p:sp>
        <p:nvSpPr>
          <p:cNvPr id="15" name="TextBox 14"/>
          <p:cNvSpPr txBox="1"/>
          <p:nvPr/>
        </p:nvSpPr>
        <p:spPr>
          <a:xfrm>
            <a:off x="3657600" y="1920240"/>
            <a:ext cx="3291839" cy="530352"/>
          </a:xfrm>
          <a:prstGeom prst="rect">
            <a:avLst/>
          </a:prstGeom>
          <a:noFill/>
        </p:spPr>
        <p:txBody>
          <a:bodyPr wrap="square" lIns="0" rIns="0" tIns="0" bIns="0" anchor="ctr">
            <a:spAutoFit/>
          </a:bodyPr>
          <a:lstStyle/>
          <a:p>
            <a:pPr algn="l">
              <a:spcBef>
                <a:spcPts val="0"/>
              </a:spcBef>
              <a:spcAft>
                <a:spcPts val="0"/>
              </a:spcAft>
            </a:pPr>
            <a:r>
              <a:rPr sz="1700" b="1" i="0">
                <a:solidFill>
                  <a:srgbClr val="1E7B4F"/>
                </a:solidFill>
                <a:latin typeface="Calibri"/>
              </a:rPr>
              <a:t>blocked</a:t>
            </a:r>
          </a:p>
        </p:txBody>
      </p:sp>
      <p:sp>
        <p:nvSpPr>
          <p:cNvPr id="16" name="TextBox 15"/>
          <p:cNvSpPr txBox="1"/>
          <p:nvPr/>
        </p:nvSpPr>
        <p:spPr>
          <a:xfrm>
            <a:off x="7132319" y="1920240"/>
            <a:ext cx="4416552" cy="530352"/>
          </a:xfrm>
          <a:prstGeom prst="rect">
            <a:avLst/>
          </a:prstGeom>
          <a:noFill/>
        </p:spPr>
        <p:txBody>
          <a:bodyPr wrap="square" lIns="0" rIns="0" tIns="0" bIns="0" anchor="ctr">
            <a:spAutoFit/>
          </a:bodyPr>
          <a:lstStyle/>
          <a:p>
            <a:pPr algn="l">
              <a:spcBef>
                <a:spcPts val="0"/>
              </a:spcBef>
              <a:spcAft>
                <a:spcPts val="0"/>
              </a:spcAft>
            </a:pPr>
            <a:r>
              <a:rPr sz="1700" b="1" i="0">
                <a:solidFill>
                  <a:srgbClr val="B3261E"/>
                </a:solidFill>
                <a:latin typeface="Calibri"/>
              </a:rPr>
              <a:t>forges</a:t>
            </a:r>
          </a:p>
        </p:txBody>
      </p:sp>
      <p:cxnSp>
        <p:nvCxnSpPr>
          <p:cNvPr id="17" name="Connector 16"/>
          <p:cNvCxnSpPr/>
          <p:nvPr/>
        </p:nvCxnSpPr>
        <p:spPr>
          <a:xfrm>
            <a:off x="548640" y="2450592"/>
            <a:ext cx="11091671" cy="0"/>
          </a:xfrm>
          <a:prstGeom prst="line">
            <a:avLst/>
          </a:prstGeom>
          <a:ln w="12700">
            <a:solidFill>
              <a:srgbClr val="D3D9E1"/>
            </a:solidFill>
          </a:ln>
        </p:spPr>
      </p:cxnSp>
      <p:sp>
        <p:nvSpPr>
          <p:cNvPr id="18" name="TextBox 17"/>
          <p:cNvSpPr txBox="1"/>
          <p:nvPr/>
        </p:nvSpPr>
        <p:spPr>
          <a:xfrm>
            <a:off x="640080" y="2450592"/>
            <a:ext cx="2834639" cy="530352"/>
          </a:xfrm>
          <a:prstGeom prst="rect">
            <a:avLst/>
          </a:prstGeom>
          <a:noFill/>
        </p:spPr>
        <p:txBody>
          <a:bodyPr wrap="square" lIns="0" rIns="0" tIns="0" bIns="0" anchor="ctr">
            <a:spAutoFit/>
          </a:bodyPr>
          <a:lstStyle/>
          <a:p>
            <a:pPr algn="l">
              <a:spcBef>
                <a:spcPts val="0"/>
              </a:spcBef>
              <a:spcAft>
                <a:spcPts val="0"/>
              </a:spcAft>
            </a:pPr>
            <a:r>
              <a:rPr sz="1700" b="1" i="1">
                <a:solidFill>
                  <a:srgbClr val="14202E"/>
                </a:solidFill>
                <a:latin typeface="Cambria"/>
              </a:rPr>
              <a:t>H</a:t>
            </a:r>
            <a:r>
              <a:rPr sz="1700" b="1" i="0" baseline="-25000">
                <a:solidFill>
                  <a:srgbClr val="14202E"/>
                </a:solidFill>
                <a:latin typeface="Cambria"/>
              </a:rPr>
              <a:t>2</a:t>
            </a:r>
            <a:r>
              <a:rPr sz="1700" b="1" i="0">
                <a:solidFill>
                  <a:srgbClr val="14202E"/>
                </a:solidFill>
                <a:latin typeface="Calibri"/>
              </a:rPr>
              <a:t> only</a:t>
            </a:r>
          </a:p>
        </p:txBody>
      </p:sp>
      <p:sp>
        <p:nvSpPr>
          <p:cNvPr id="19" name="TextBox 18"/>
          <p:cNvSpPr txBox="1"/>
          <p:nvPr/>
        </p:nvSpPr>
        <p:spPr>
          <a:xfrm>
            <a:off x="3657600" y="2450592"/>
            <a:ext cx="3291839" cy="530352"/>
          </a:xfrm>
          <a:prstGeom prst="rect">
            <a:avLst/>
          </a:prstGeom>
          <a:noFill/>
        </p:spPr>
        <p:txBody>
          <a:bodyPr wrap="square" lIns="0" rIns="0" tIns="0" bIns="0" anchor="ctr">
            <a:spAutoFit/>
          </a:bodyPr>
          <a:lstStyle/>
          <a:p>
            <a:pPr algn="l">
              <a:spcBef>
                <a:spcPts val="0"/>
              </a:spcBef>
              <a:spcAft>
                <a:spcPts val="0"/>
              </a:spcAft>
            </a:pPr>
            <a:r>
              <a:rPr sz="1700" b="1" i="0">
                <a:solidFill>
                  <a:srgbClr val="B3261E"/>
                </a:solidFill>
                <a:latin typeface="Calibri"/>
              </a:rPr>
              <a:t>forges</a:t>
            </a:r>
          </a:p>
        </p:txBody>
      </p:sp>
      <p:sp>
        <p:nvSpPr>
          <p:cNvPr id="20" name="TextBox 19"/>
          <p:cNvSpPr txBox="1"/>
          <p:nvPr/>
        </p:nvSpPr>
        <p:spPr>
          <a:xfrm>
            <a:off x="7132319" y="2450592"/>
            <a:ext cx="4416552" cy="530352"/>
          </a:xfrm>
          <a:prstGeom prst="rect">
            <a:avLst/>
          </a:prstGeom>
          <a:noFill/>
        </p:spPr>
        <p:txBody>
          <a:bodyPr wrap="square" lIns="0" rIns="0" tIns="0" bIns="0" anchor="ctr">
            <a:spAutoFit/>
          </a:bodyPr>
          <a:lstStyle/>
          <a:p>
            <a:pPr algn="l">
              <a:spcBef>
                <a:spcPts val="0"/>
              </a:spcBef>
              <a:spcAft>
                <a:spcPts val="0"/>
              </a:spcAft>
            </a:pPr>
            <a:r>
              <a:rPr sz="1700" b="1" i="0">
                <a:solidFill>
                  <a:srgbClr val="1E7B4F"/>
                </a:solidFill>
                <a:latin typeface="Calibri"/>
              </a:rPr>
              <a:t>blocked</a:t>
            </a:r>
          </a:p>
        </p:txBody>
      </p:sp>
      <p:cxnSp>
        <p:nvCxnSpPr>
          <p:cNvPr id="21" name="Connector 20"/>
          <p:cNvCxnSpPr/>
          <p:nvPr/>
        </p:nvCxnSpPr>
        <p:spPr>
          <a:xfrm>
            <a:off x="548640" y="2980944"/>
            <a:ext cx="11091671" cy="0"/>
          </a:xfrm>
          <a:prstGeom prst="line">
            <a:avLst/>
          </a:prstGeom>
          <a:ln w="12700">
            <a:solidFill>
              <a:srgbClr val="D3D9E1"/>
            </a:solidFill>
          </a:ln>
        </p:spPr>
      </p:cxnSp>
      <p:sp>
        <p:nvSpPr>
          <p:cNvPr id="22" name="TextBox 21"/>
          <p:cNvSpPr txBox="1"/>
          <p:nvPr/>
        </p:nvSpPr>
        <p:spPr>
          <a:xfrm>
            <a:off x="640080" y="2980944"/>
            <a:ext cx="2834639" cy="530352"/>
          </a:xfrm>
          <a:prstGeom prst="rect">
            <a:avLst/>
          </a:prstGeom>
          <a:noFill/>
        </p:spPr>
        <p:txBody>
          <a:bodyPr wrap="square" lIns="0" rIns="0" tIns="0" bIns="0" anchor="ctr">
            <a:spAutoFit/>
          </a:bodyPr>
          <a:lstStyle/>
          <a:p>
            <a:pPr algn="l">
              <a:spcBef>
                <a:spcPts val="0"/>
              </a:spcBef>
              <a:spcAft>
                <a:spcPts val="0"/>
              </a:spcAft>
            </a:pPr>
            <a:r>
              <a:rPr sz="1700" b="1" i="0">
                <a:solidFill>
                  <a:srgbClr val="14202E"/>
                </a:solidFill>
                <a:latin typeface="Calibri"/>
              </a:rPr>
              <a:t>both: Qiao et al.</a:t>
            </a:r>
          </a:p>
        </p:txBody>
      </p:sp>
      <p:sp>
        <p:nvSpPr>
          <p:cNvPr id="23" name="TextBox 22"/>
          <p:cNvSpPr txBox="1"/>
          <p:nvPr/>
        </p:nvSpPr>
        <p:spPr>
          <a:xfrm>
            <a:off x="3657600" y="2980944"/>
            <a:ext cx="3291839" cy="530352"/>
          </a:xfrm>
          <a:prstGeom prst="rect">
            <a:avLst/>
          </a:prstGeom>
          <a:noFill/>
        </p:spPr>
        <p:txBody>
          <a:bodyPr wrap="square" lIns="0" rIns="0" tIns="0" bIns="0" anchor="ctr">
            <a:spAutoFit/>
          </a:bodyPr>
          <a:lstStyle/>
          <a:p>
            <a:pPr algn="l">
              <a:spcBef>
                <a:spcPts val="0"/>
              </a:spcBef>
              <a:spcAft>
                <a:spcPts val="0"/>
              </a:spcAft>
            </a:pPr>
            <a:r>
              <a:rPr sz="1700" b="1" i="0">
                <a:solidFill>
                  <a:srgbClr val="1E7B4F"/>
                </a:solidFill>
                <a:latin typeface="Calibri"/>
              </a:rPr>
              <a:t>blocked</a:t>
            </a:r>
          </a:p>
        </p:txBody>
      </p:sp>
      <p:sp>
        <p:nvSpPr>
          <p:cNvPr id="24" name="TextBox 23"/>
          <p:cNvSpPr txBox="1"/>
          <p:nvPr/>
        </p:nvSpPr>
        <p:spPr>
          <a:xfrm>
            <a:off x="7132319" y="2980944"/>
            <a:ext cx="4416552" cy="530352"/>
          </a:xfrm>
          <a:prstGeom prst="rect">
            <a:avLst/>
          </a:prstGeom>
          <a:noFill/>
        </p:spPr>
        <p:txBody>
          <a:bodyPr wrap="square" lIns="0" rIns="0" tIns="0" bIns="0" anchor="ctr">
            <a:spAutoFit/>
          </a:bodyPr>
          <a:lstStyle/>
          <a:p>
            <a:pPr algn="l">
              <a:spcBef>
                <a:spcPts val="0"/>
              </a:spcBef>
              <a:spcAft>
                <a:spcPts val="0"/>
              </a:spcAft>
            </a:pPr>
            <a:r>
              <a:rPr sz="1700" b="1" i="0">
                <a:solidFill>
                  <a:srgbClr val="1E7B4F"/>
                </a:solidFill>
                <a:latin typeface="Calibri"/>
              </a:rPr>
              <a:t>blocked</a:t>
            </a:r>
          </a:p>
        </p:txBody>
      </p:sp>
      <p:cxnSp>
        <p:nvCxnSpPr>
          <p:cNvPr id="25" name="Connector 24"/>
          <p:cNvCxnSpPr/>
          <p:nvPr/>
        </p:nvCxnSpPr>
        <p:spPr>
          <a:xfrm>
            <a:off x="548640" y="3511296"/>
            <a:ext cx="11091671" cy="0"/>
          </a:xfrm>
          <a:prstGeom prst="line">
            <a:avLst/>
          </a:prstGeom>
          <a:ln w="12700">
            <a:solidFill>
              <a:srgbClr val="D3D9E1"/>
            </a:solidFill>
          </a:ln>
        </p:spPr>
      </p:cxnSp>
      <p:sp>
        <p:nvSpPr>
          <p:cNvPr id="26" name="TextBox 25"/>
          <p:cNvSpPr txBox="1"/>
          <p:nvPr/>
        </p:nvSpPr>
        <p:spPr>
          <a:xfrm>
            <a:off x="640080" y="3511296"/>
            <a:ext cx="2834639" cy="530352"/>
          </a:xfrm>
          <a:prstGeom prst="rect">
            <a:avLst/>
          </a:prstGeom>
          <a:noFill/>
        </p:spPr>
        <p:txBody>
          <a:bodyPr wrap="square" lIns="0" rIns="0" tIns="0" bIns="0" anchor="ctr">
            <a:spAutoFit/>
          </a:bodyPr>
          <a:lstStyle/>
          <a:p>
            <a:pPr algn="l">
              <a:spcBef>
                <a:spcPts val="0"/>
              </a:spcBef>
              <a:spcAft>
                <a:spcPts val="0"/>
              </a:spcAft>
            </a:pPr>
            <a:r>
              <a:rPr sz="1700" b="1" i="0">
                <a:solidFill>
                  <a:srgbClr val="14202E"/>
                </a:solidFill>
                <a:latin typeface="Calibri"/>
              </a:rPr>
              <a:t>neither: the ablation</a:t>
            </a:r>
          </a:p>
        </p:txBody>
      </p:sp>
      <p:sp>
        <p:nvSpPr>
          <p:cNvPr id="27" name="TextBox 26"/>
          <p:cNvSpPr txBox="1"/>
          <p:nvPr/>
        </p:nvSpPr>
        <p:spPr>
          <a:xfrm>
            <a:off x="3657600" y="3511296"/>
            <a:ext cx="3291839" cy="530352"/>
          </a:xfrm>
          <a:prstGeom prst="rect">
            <a:avLst/>
          </a:prstGeom>
          <a:noFill/>
        </p:spPr>
        <p:txBody>
          <a:bodyPr wrap="square" lIns="0" rIns="0" tIns="0" bIns="0" anchor="ctr">
            <a:spAutoFit/>
          </a:bodyPr>
          <a:lstStyle/>
          <a:p>
            <a:pPr algn="l">
              <a:spcBef>
                <a:spcPts val="0"/>
              </a:spcBef>
              <a:spcAft>
                <a:spcPts val="0"/>
              </a:spcAft>
            </a:pPr>
            <a:r>
              <a:rPr sz="1700" b="1" i="0">
                <a:solidFill>
                  <a:srgbClr val="B3261E"/>
                </a:solidFill>
                <a:latin typeface="Calibri"/>
              </a:rPr>
              <a:t>forges</a:t>
            </a:r>
          </a:p>
        </p:txBody>
      </p:sp>
      <p:sp>
        <p:nvSpPr>
          <p:cNvPr id="28" name="TextBox 27"/>
          <p:cNvSpPr txBox="1"/>
          <p:nvPr/>
        </p:nvSpPr>
        <p:spPr>
          <a:xfrm>
            <a:off x="7132319" y="3511296"/>
            <a:ext cx="4416552" cy="530352"/>
          </a:xfrm>
          <a:prstGeom prst="rect">
            <a:avLst/>
          </a:prstGeom>
          <a:noFill/>
        </p:spPr>
        <p:txBody>
          <a:bodyPr wrap="square" lIns="0" rIns="0" tIns="0" bIns="0" anchor="ctr">
            <a:spAutoFit/>
          </a:bodyPr>
          <a:lstStyle/>
          <a:p>
            <a:pPr algn="l">
              <a:spcBef>
                <a:spcPts val="0"/>
              </a:spcBef>
              <a:spcAft>
                <a:spcPts val="0"/>
              </a:spcAft>
            </a:pPr>
            <a:r>
              <a:rPr sz="1700" b="1" i="0">
                <a:solidFill>
                  <a:srgbClr val="B3261E"/>
                </a:solidFill>
                <a:latin typeface="Calibri"/>
              </a:rPr>
              <a:t>forges</a:t>
            </a:r>
          </a:p>
        </p:txBody>
      </p:sp>
      <p:cxnSp>
        <p:nvCxnSpPr>
          <p:cNvPr id="29" name="Connector 28"/>
          <p:cNvCxnSpPr/>
          <p:nvPr/>
        </p:nvCxnSpPr>
        <p:spPr>
          <a:xfrm>
            <a:off x="548640" y="4041648"/>
            <a:ext cx="11091671" cy="0"/>
          </a:xfrm>
          <a:prstGeom prst="line">
            <a:avLst/>
          </a:prstGeom>
          <a:ln w="12700">
            <a:solidFill>
              <a:srgbClr val="D3D9E1"/>
            </a:solidFill>
          </a:ln>
        </p:spPr>
      </p:cxnSp>
      <p:sp>
        <p:nvSpPr>
          <p:cNvPr id="30" name="TextBox 29"/>
          <p:cNvSpPr txBox="1"/>
          <p:nvPr/>
        </p:nvSpPr>
        <p:spPr>
          <a:xfrm>
            <a:off x="548640" y="4206240"/>
            <a:ext cx="11064240" cy="1645920"/>
          </a:xfrm>
          <a:prstGeom prst="rect">
            <a:avLst/>
          </a:prstGeom>
          <a:noFill/>
        </p:spPr>
        <p:txBody>
          <a:bodyPr wrap="square" lIns="0" rIns="0" tIns="0" bIns="0" anchor="t">
            <a:spAutoFit/>
          </a:bodyPr>
          <a:lstStyle/>
          <a:p>
            <a:pPr algn="l" marL="256032" indent="-256032">
              <a:spcBef>
                <a:spcPts val="0"/>
              </a:spcBef>
              <a:spcAft>
                <a:spcPts val="500"/>
              </a:spcAft>
              <a:buFont typeface="Arial"/>
              <a:buChar char="•"/>
            </a:pPr>
            <a:r>
              <a:rPr sz="1500" b="0" i="0">
                <a:solidFill>
                  <a:srgbClr val="14202E"/>
                </a:solidFill>
                <a:latin typeface="Calibri"/>
              </a:rPr>
              <a:t>The KGC attack scales the term </a:t>
            </a:r>
            <a:r>
              <a:rPr sz="1500" b="0" i="1">
                <a:solidFill>
                  <a:srgbClr val="14202E"/>
                </a:solidFill>
                <a:latin typeface="Cambria"/>
              </a:rPr>
              <a:t>sk</a:t>
            </a:r>
            <a:r>
              <a:rPr sz="1500" b="0" i="1" baseline="-25000">
                <a:solidFill>
                  <a:srgbClr val="14202E"/>
                </a:solidFill>
                <a:latin typeface="Cambria"/>
              </a:rPr>
              <a:t>i</a:t>
            </a:r>
            <a:r>
              <a:rPr sz="1500" b="0" i="1">
                <a:solidFill>
                  <a:srgbClr val="14202E"/>
                </a:solidFill>
                <a:latin typeface="Cambria"/>
              </a:rPr>
              <a:t>v</a:t>
            </a:r>
            <a:r>
              <a:rPr sz="1500" b="0" i="1" baseline="-25000">
                <a:solidFill>
                  <a:srgbClr val="14202E"/>
                </a:solidFill>
                <a:latin typeface="Cambria"/>
              </a:rPr>
              <a:t>i</a:t>
            </a:r>
            <a:r>
              <a:rPr sz="1500" b="0" i="0">
                <a:solidFill>
                  <a:srgbClr val="14202E"/>
                </a:solidFill>
                <a:latin typeface="Calibri"/>
              </a:rPr>
              <a:t>, so it needs </a:t>
            </a:r>
            <a:r>
              <a:rPr sz="1500" b="0" i="1">
                <a:solidFill>
                  <a:srgbClr val="14202E"/>
                </a:solidFill>
                <a:latin typeface="Cambria"/>
              </a:rPr>
              <a:t>v</a:t>
            </a:r>
            <a:r>
              <a:rPr sz="1500" b="0" i="0">
                <a:solidFill>
                  <a:srgbClr val="14202E"/>
                </a:solidFill>
                <a:latin typeface="Cambria"/>
              </a:rPr>
              <a:t>′</a:t>
            </a:r>
            <a:r>
              <a:rPr sz="1500" b="0" i="1" baseline="-25000">
                <a:solidFill>
                  <a:srgbClr val="14202E"/>
                </a:solidFill>
                <a:latin typeface="Cambria"/>
              </a:rPr>
              <a:t>i</a:t>
            </a:r>
            <a:r>
              <a:rPr sz="1500" b="0" i="0">
                <a:solidFill>
                  <a:srgbClr val="14202E"/>
                </a:solidFill>
                <a:latin typeface="Calibri"/>
              </a:rPr>
              <a:t> before </a:t>
            </a:r>
            <a:r>
              <a:rPr sz="1500" b="0" i="1">
                <a:solidFill>
                  <a:srgbClr val="14202E"/>
                </a:solidFill>
                <a:latin typeface="Cambria"/>
              </a:rPr>
              <a:t>T</a:t>
            </a:r>
            <a:r>
              <a:rPr sz="1500" b="0" i="0">
                <a:solidFill>
                  <a:srgbClr val="14202E"/>
                </a:solidFill>
                <a:latin typeface="Cambria"/>
              </a:rPr>
              <a:t>′</a:t>
            </a:r>
            <a:r>
              <a:rPr sz="1500" b="0" i="1" baseline="-25000">
                <a:solidFill>
                  <a:srgbClr val="14202E"/>
                </a:solidFill>
                <a:latin typeface="Cambria"/>
              </a:rPr>
              <a:t>i</a:t>
            </a:r>
            <a:r>
              <a:rPr sz="1500" b="0" i="0">
                <a:solidFill>
                  <a:srgbClr val="14202E"/>
                </a:solidFill>
                <a:latin typeface="Calibri"/>
              </a:rPr>
              <a:t>: it works unless </a:t>
            </a:r>
            <a:r>
              <a:rPr sz="1500" b="0" i="1">
                <a:solidFill>
                  <a:srgbClr val="14202E"/>
                </a:solidFill>
                <a:latin typeface="Cambria"/>
              </a:rPr>
              <a:t>T</a:t>
            </a:r>
            <a:r>
              <a:rPr sz="1500" b="0" i="1" baseline="-25000">
                <a:solidFill>
                  <a:srgbClr val="14202E"/>
                </a:solidFill>
                <a:latin typeface="Cambria"/>
              </a:rPr>
              <a:t>i</a:t>
            </a:r>
            <a:r>
              <a:rPr sz="1500" b="0" i="0">
                <a:solidFill>
                  <a:srgbClr val="14202E"/>
                </a:solidFill>
                <a:latin typeface="Calibri"/>
              </a:rPr>
              <a:t> is in </a:t>
            </a:r>
            <a:r>
              <a:rPr sz="1500" b="0" i="1">
                <a:solidFill>
                  <a:srgbClr val="14202E"/>
                </a:solidFill>
                <a:latin typeface="Cambria"/>
              </a:rPr>
              <a:t>H</a:t>
            </a:r>
            <a:r>
              <a:rPr sz="1500" b="0" i="0" baseline="-25000">
                <a:solidFill>
                  <a:srgbClr val="14202E"/>
                </a:solidFill>
                <a:latin typeface="Cambria"/>
              </a:rPr>
              <a:t>1</a:t>
            </a:r>
            <a:r>
              <a:rPr sz="1500" b="0" i="0">
                <a:solidFill>
                  <a:srgbClr val="14202E"/>
                </a:solidFill>
                <a:latin typeface="Calibri"/>
              </a:rPr>
              <a:t>.</a:t>
            </a:r>
          </a:p>
          <a:p>
            <a:pPr algn="l" marL="256032" indent="-256032">
              <a:spcBef>
                <a:spcPts val="0"/>
              </a:spcBef>
              <a:spcAft>
                <a:spcPts val="500"/>
              </a:spcAft>
              <a:buFont typeface="Arial"/>
              <a:buChar char="•"/>
            </a:pPr>
            <a:r>
              <a:rPr sz="1500" b="0" i="0">
                <a:solidFill>
                  <a:srgbClr val="14202E"/>
                </a:solidFill>
                <a:latin typeface="Calibri"/>
              </a:rPr>
              <a:t>The mirror attack (a user who knows </a:t>
            </a:r>
            <a:r>
              <a:rPr sz="1500" b="0" i="1">
                <a:solidFill>
                  <a:srgbClr val="14202E"/>
                </a:solidFill>
                <a:latin typeface="Cambria"/>
              </a:rPr>
              <a:t>sk</a:t>
            </a:r>
            <a:r>
              <a:rPr sz="1500" b="0" i="1" baseline="-25000">
                <a:solidFill>
                  <a:srgbClr val="14202E"/>
                </a:solidFill>
                <a:latin typeface="Cambria"/>
              </a:rPr>
              <a:t>i</a:t>
            </a:r>
            <a:r>
              <a:rPr sz="1500" b="0" i="0">
                <a:solidFill>
                  <a:srgbClr val="14202E"/>
                </a:solidFill>
                <a:latin typeface="Calibri"/>
              </a:rPr>
              <a:t> but not </a:t>
            </a:r>
            <a:r>
              <a:rPr sz="1500" b="0" i="1">
                <a:solidFill>
                  <a:srgbClr val="14202E"/>
                </a:solidFill>
                <a:latin typeface="Cambria"/>
              </a:rPr>
              <a:t>c</a:t>
            </a:r>
            <a:r>
              <a:rPr sz="1500" b="0" i="1" baseline="-25000">
                <a:solidFill>
                  <a:srgbClr val="14202E"/>
                </a:solidFill>
                <a:latin typeface="Cambria"/>
              </a:rPr>
              <a:t>i</a:t>
            </a:r>
            <a:r>
              <a:rPr sz="1500" b="0" i="0">
                <a:solidFill>
                  <a:srgbClr val="14202E"/>
                </a:solidFill>
                <a:latin typeface="Calibri"/>
              </a:rPr>
              <a:t>) scales </a:t>
            </a:r>
            <a:r>
              <a:rPr sz="1500" b="0" i="1">
                <a:solidFill>
                  <a:srgbClr val="14202E"/>
                </a:solidFill>
                <a:latin typeface="Cambria"/>
              </a:rPr>
              <a:t>c</a:t>
            </a:r>
            <a:r>
              <a:rPr sz="1500" b="0" i="1" baseline="-25000">
                <a:solidFill>
                  <a:srgbClr val="14202E"/>
                </a:solidFill>
                <a:latin typeface="Cambria"/>
              </a:rPr>
              <a:t>i</a:t>
            </a:r>
            <a:r>
              <a:rPr sz="1500" b="0" i="1">
                <a:solidFill>
                  <a:srgbClr val="14202E"/>
                </a:solidFill>
                <a:latin typeface="Cambria"/>
              </a:rPr>
              <a:t>u</a:t>
            </a:r>
            <a:r>
              <a:rPr sz="1500" b="0" i="1" baseline="-25000">
                <a:solidFill>
                  <a:srgbClr val="14202E"/>
                </a:solidFill>
                <a:latin typeface="Cambria"/>
              </a:rPr>
              <a:t>i</a:t>
            </a:r>
            <a:r>
              <a:rPr sz="1500" b="0" i="0">
                <a:solidFill>
                  <a:srgbClr val="14202E"/>
                </a:solidFill>
                <a:latin typeface="Calibri"/>
              </a:rPr>
              <a:t>: it works unless </a:t>
            </a:r>
            <a:r>
              <a:rPr sz="1500" b="0" i="1">
                <a:solidFill>
                  <a:srgbClr val="14202E"/>
                </a:solidFill>
                <a:latin typeface="Cambria"/>
              </a:rPr>
              <a:t>T</a:t>
            </a:r>
            <a:r>
              <a:rPr sz="1500" b="0" i="1" baseline="-25000">
                <a:solidFill>
                  <a:srgbClr val="14202E"/>
                </a:solidFill>
                <a:latin typeface="Cambria"/>
              </a:rPr>
              <a:t>i</a:t>
            </a:r>
            <a:r>
              <a:rPr sz="1500" b="0" i="0">
                <a:solidFill>
                  <a:srgbClr val="14202E"/>
                </a:solidFill>
                <a:latin typeface="Calibri"/>
              </a:rPr>
              <a:t> is in </a:t>
            </a:r>
            <a:r>
              <a:rPr sz="1500" b="0" i="1">
                <a:solidFill>
                  <a:srgbClr val="14202E"/>
                </a:solidFill>
                <a:latin typeface="Cambria"/>
              </a:rPr>
              <a:t>H</a:t>
            </a:r>
            <a:r>
              <a:rPr sz="1500" b="0" i="0" baseline="-25000">
                <a:solidFill>
                  <a:srgbClr val="14202E"/>
                </a:solidFill>
                <a:latin typeface="Cambria"/>
              </a:rPr>
              <a:t>2</a:t>
            </a:r>
            <a:r>
              <a:rPr sz="1500" b="0" i="0">
                <a:solidFill>
                  <a:srgbClr val="14202E"/>
                </a:solidFill>
                <a:latin typeface="Calibri"/>
              </a:rPr>
              <a:t>.</a:t>
            </a:r>
          </a:p>
          <a:p>
            <a:pPr algn="l" marL="256032" indent="-256032">
              <a:spcBef>
                <a:spcPts val="0"/>
              </a:spcBef>
              <a:spcAft>
                <a:spcPts val="500"/>
              </a:spcAft>
              <a:buFont typeface="Arial"/>
              <a:buChar char="•"/>
            </a:pPr>
            <a:r>
              <a:rPr sz="1500" b="0" i="0">
                <a:solidFill>
                  <a:srgbClr val="14202E"/>
                </a:solidFill>
                <a:latin typeface="Calibri"/>
              </a:rPr>
              <a:t>A variant with one hash for both coefficients, </a:t>
            </a:r>
            <a:r>
              <a:rPr sz="1500" b="0" i="1">
                <a:solidFill>
                  <a:srgbClr val="14202E"/>
                </a:solidFill>
                <a:latin typeface="Cambria"/>
              </a:rPr>
              <a:t>T</a:t>
            </a:r>
            <a:r>
              <a:rPr sz="1500" b="0" i="1" baseline="-25000">
                <a:solidFill>
                  <a:srgbClr val="14202E"/>
                </a:solidFill>
                <a:latin typeface="Cambria"/>
              </a:rPr>
              <a:t>i</a:t>
            </a:r>
            <a:r>
              <a:rPr sz="1500" b="0" i="0">
                <a:solidFill>
                  <a:srgbClr val="14202E"/>
                </a:solidFill>
                <a:latin typeface="Calibri"/>
              </a:rPr>
              <a:t> bound, still blocked the KGC attack, so we do not claim the split is needed against it.</a:t>
            </a:r>
          </a:p>
          <a:p>
            <a:pPr algn="l" marL="256032" indent="-256032">
              <a:spcBef>
                <a:spcPts val="0"/>
              </a:spcBef>
              <a:spcAft>
                <a:spcPts val="0"/>
              </a:spcAft>
              <a:buFont typeface="Arial"/>
              <a:buChar char="•"/>
            </a:pPr>
            <a:r>
              <a:rPr sz="1500" b="0" i="0">
                <a:solidFill>
                  <a:srgbClr val="14202E"/>
                </a:solidFill>
                <a:latin typeface="Calibri"/>
              </a:rPr>
              <a:t>With </a:t>
            </a:r>
            <a:r>
              <a:rPr sz="1500" b="0" i="1">
                <a:solidFill>
                  <a:srgbClr val="14202E"/>
                </a:solidFill>
                <a:latin typeface="Cambria"/>
              </a:rPr>
              <a:t>T</a:t>
            </a:r>
            <a:r>
              <a:rPr sz="1500" b="0" i="1" baseline="-25000">
                <a:solidFill>
                  <a:srgbClr val="14202E"/>
                </a:solidFill>
                <a:latin typeface="Cambria"/>
              </a:rPr>
              <a:t>i</a:t>
            </a:r>
            <a:r>
              <a:rPr sz="1500" b="0" i="0">
                <a:solidFill>
                  <a:srgbClr val="14202E"/>
                </a:solidFill>
                <a:latin typeface="Calibri"/>
              </a:rPr>
              <a:t> in </a:t>
            </a:r>
            <a:r>
              <a:rPr sz="1500" b="0" i="1">
                <a:solidFill>
                  <a:srgbClr val="14202E"/>
                </a:solidFill>
                <a:latin typeface="Cambria"/>
              </a:rPr>
              <a:t>H</a:t>
            </a:r>
            <a:r>
              <a:rPr sz="1500" b="0" i="0" baseline="-25000">
                <a:solidFill>
                  <a:srgbClr val="14202E"/>
                </a:solidFill>
                <a:latin typeface="Cambria"/>
              </a:rPr>
              <a:t>1</a:t>
            </a:r>
            <a:r>
              <a:rPr sz="1500" b="0" i="0">
                <a:solidFill>
                  <a:srgbClr val="14202E"/>
                </a:solidFill>
                <a:latin typeface="Calibri"/>
              </a:rPr>
              <a:t>, rescaling </a:t>
            </a:r>
            <a:r>
              <a:rPr sz="1500" b="0" i="1">
                <a:solidFill>
                  <a:srgbClr val="14202E"/>
                </a:solidFill>
                <a:latin typeface="Cambria"/>
              </a:rPr>
              <a:t>T</a:t>
            </a:r>
            <a:r>
              <a:rPr sz="1500" b="0" i="0">
                <a:solidFill>
                  <a:srgbClr val="14202E"/>
                </a:solidFill>
                <a:latin typeface="Cambria"/>
              </a:rPr>
              <a:t>′</a:t>
            </a:r>
            <a:r>
              <a:rPr sz="1500" b="0" i="1" baseline="-25000">
                <a:solidFill>
                  <a:srgbClr val="14202E"/>
                </a:solidFill>
                <a:latin typeface="Cambria"/>
              </a:rPr>
              <a:t>i</a:t>
            </a:r>
            <a:r>
              <a:rPr sz="1500" b="0" i="0">
                <a:solidFill>
                  <a:srgbClr val="14202E"/>
                </a:solidFill>
                <a:latin typeface="Cambria"/>
              </a:rPr>
              <a:t> = </a:t>
            </a:r>
            <a:r>
              <a:rPr sz="1500" b="0" i="1">
                <a:solidFill>
                  <a:srgbClr val="14202E"/>
                </a:solidFill>
                <a:latin typeface="Cambria"/>
              </a:rPr>
              <a:t>λT</a:t>
            </a:r>
            <a:r>
              <a:rPr sz="1500" b="0" i="1" baseline="-25000">
                <a:solidFill>
                  <a:srgbClr val="14202E"/>
                </a:solidFill>
                <a:latin typeface="Cambria"/>
              </a:rPr>
              <a:t>i</a:t>
            </a:r>
            <a:r>
              <a:rPr sz="1500" b="0" i="0">
                <a:solidFill>
                  <a:srgbClr val="14202E"/>
                </a:solidFill>
                <a:latin typeface="Calibri"/>
              </a:rPr>
              <a:t> needs </a:t>
            </a:r>
            <a:r>
              <a:rPr sz="1500" b="0" i="1">
                <a:solidFill>
                  <a:srgbClr val="14202E"/>
                </a:solidFill>
                <a:latin typeface="Cambria"/>
              </a:rPr>
              <a:t>H</a:t>
            </a:r>
            <a:r>
              <a:rPr sz="1500" b="0" i="0" baseline="-25000">
                <a:solidFill>
                  <a:srgbClr val="14202E"/>
                </a:solidFill>
                <a:latin typeface="Cambria"/>
              </a:rPr>
              <a:t>1</a:t>
            </a:r>
            <a:r>
              <a:rPr sz="1500" b="0" i="0">
                <a:solidFill>
                  <a:srgbClr val="14202E"/>
                </a:solidFill>
                <a:latin typeface="Cambria"/>
              </a:rPr>
              <a:t>(</a:t>
            </a:r>
            <a:r>
              <a:rPr sz="1500" b="0" i="1">
                <a:solidFill>
                  <a:srgbClr val="14202E"/>
                </a:solidFill>
                <a:latin typeface="Cambria"/>
              </a:rPr>
              <a:t>m</a:t>
            </a:r>
            <a:r>
              <a:rPr sz="1500" b="0" i="0">
                <a:solidFill>
                  <a:srgbClr val="14202E"/>
                </a:solidFill>
                <a:latin typeface="Cambria"/>
              </a:rPr>
              <a:t>′</a:t>
            </a:r>
            <a:r>
              <a:rPr sz="1500" b="0" i="1" baseline="-25000">
                <a:solidFill>
                  <a:srgbClr val="14202E"/>
                </a:solidFill>
                <a:latin typeface="Cambria"/>
              </a:rPr>
              <a:t>i</a:t>
            </a:r>
            <a:r>
              <a:rPr sz="1500" b="0" i="0">
                <a:solidFill>
                  <a:srgbClr val="14202E"/>
                </a:solidFill>
                <a:latin typeface="Cambria"/>
              </a:rPr>
              <a:t>‖</a:t>
            </a:r>
            <a:r>
              <a:rPr sz="1500" b="0" i="1">
                <a:solidFill>
                  <a:srgbClr val="14202E"/>
                </a:solidFill>
                <a:latin typeface="Cambria"/>
              </a:rPr>
              <a:t>pk</a:t>
            </a:r>
            <a:r>
              <a:rPr sz="1500" b="0" i="1" baseline="-25000">
                <a:solidFill>
                  <a:srgbClr val="14202E"/>
                </a:solidFill>
                <a:latin typeface="Cambria"/>
              </a:rPr>
              <a:t>i</a:t>
            </a:r>
            <a:r>
              <a:rPr sz="1500" b="0" i="0">
                <a:solidFill>
                  <a:srgbClr val="14202E"/>
                </a:solidFill>
                <a:latin typeface="Cambria"/>
              </a:rPr>
              <a:t>‖</a:t>
            </a:r>
            <a:r>
              <a:rPr sz="1500" b="0" i="1">
                <a:solidFill>
                  <a:srgbClr val="14202E"/>
                </a:solidFill>
                <a:latin typeface="Cambria"/>
              </a:rPr>
              <a:t>R</a:t>
            </a:r>
            <a:r>
              <a:rPr sz="1500" b="0" i="1" baseline="-25000">
                <a:solidFill>
                  <a:srgbClr val="14202E"/>
                </a:solidFill>
                <a:latin typeface="Cambria"/>
              </a:rPr>
              <a:t>i</a:t>
            </a:r>
            <a:r>
              <a:rPr sz="1500" b="0" i="0">
                <a:solidFill>
                  <a:srgbClr val="14202E"/>
                </a:solidFill>
                <a:latin typeface="Cambria"/>
              </a:rPr>
              <a:t>‖</a:t>
            </a:r>
            <a:r>
              <a:rPr sz="1500" b="0" i="1">
                <a:solidFill>
                  <a:srgbClr val="14202E"/>
                </a:solidFill>
                <a:latin typeface="Cambria"/>
              </a:rPr>
              <a:t>id</a:t>
            </a:r>
            <a:r>
              <a:rPr sz="1500" b="0" i="1" baseline="-25000">
                <a:solidFill>
                  <a:srgbClr val="14202E"/>
                </a:solidFill>
                <a:latin typeface="Cambria"/>
              </a:rPr>
              <a:t>i</a:t>
            </a:r>
            <a:r>
              <a:rPr sz="1500" b="0" i="0">
                <a:solidFill>
                  <a:srgbClr val="14202E"/>
                </a:solidFill>
                <a:latin typeface="Cambria"/>
              </a:rPr>
              <a:t>‖</a:t>
            </a:r>
            <a:r>
              <a:rPr sz="1500" b="0" i="1">
                <a:solidFill>
                  <a:srgbClr val="14202E"/>
                </a:solidFill>
                <a:latin typeface="Cambria"/>
              </a:rPr>
              <a:t>λT</a:t>
            </a:r>
            <a:r>
              <a:rPr sz="1500" b="0" i="1" baseline="-25000">
                <a:solidFill>
                  <a:srgbClr val="14202E"/>
                </a:solidFill>
                <a:latin typeface="Cambria"/>
              </a:rPr>
              <a:t>i</a:t>
            </a:r>
            <a:r>
              <a:rPr sz="1500" b="0" i="0">
                <a:solidFill>
                  <a:srgbClr val="14202E"/>
                </a:solidFill>
                <a:latin typeface="Cambria"/>
              </a:rPr>
              <a:t>‖Δ) = </a:t>
            </a:r>
            <a:r>
              <a:rPr sz="1500" b="0" i="1">
                <a:solidFill>
                  <a:srgbClr val="14202E"/>
                </a:solidFill>
                <a:latin typeface="Cambria"/>
              </a:rPr>
              <a:t>λ</a:t>
            </a:r>
            <a:r>
              <a:rPr sz="1500" b="0" i="0">
                <a:solidFill>
                  <a:srgbClr val="14202E"/>
                </a:solidFill>
                <a:latin typeface="Cambria"/>
              </a:rPr>
              <a:t>·</a:t>
            </a:r>
            <a:r>
              <a:rPr sz="1500" b="0" i="1">
                <a:solidFill>
                  <a:srgbClr val="14202E"/>
                </a:solidFill>
                <a:latin typeface="Cambria"/>
              </a:rPr>
              <a:t>v</a:t>
            </a:r>
            <a:r>
              <a:rPr sz="1500" b="0" i="1" baseline="-25000">
                <a:solidFill>
                  <a:srgbClr val="14202E"/>
                </a:solidFill>
                <a:latin typeface="Cambria"/>
              </a:rPr>
              <a:t>i</a:t>
            </a:r>
            <a:r>
              <a:rPr sz="1500" b="0" i="0">
                <a:solidFill>
                  <a:srgbClr val="14202E"/>
                </a:solidFill>
                <a:latin typeface="Calibri"/>
              </a:rPr>
              <a:t>: a search over hash outputs.</a:t>
            </a:r>
          </a:p>
        </p:txBody>
      </p:sp>
      <p:sp>
        <p:nvSpPr>
          <p:cNvPr id="31" name="TextBox 30"/>
          <p:cNvSpPr txBox="1"/>
          <p:nvPr/>
        </p:nvSpPr>
        <p:spPr>
          <a:xfrm>
            <a:off x="548640" y="5852160"/>
            <a:ext cx="11064240" cy="457200"/>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Source: presentation/audit/dagger_checks.py, both backends; not in the repository's test-suite.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9AA5B1"/>
          </a:solidFill>
          <a:ln>
            <a:noFill/>
          </a:ln>
          <a:effectLst/>
        </p:spPr>
        <p:txBody>
          <a:bodyPr rtlCol="0" anchor="ctr" wrap="square" lIns="73152" rIns="73152" tIns="36576" bIns="36576"/>
          <a:lstStyle/>
          <a:p>
            <a:pPr algn="ctr"/>
          </a:p>
        </p:txBody>
      </p:sp>
      <p:sp>
        <p:nvSpPr>
          <p:cNvPr id="3" name="TextBox 2"/>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BACKUP · COUNTS</a:t>
            </a:r>
          </a:p>
        </p:txBody>
      </p:sp>
      <p:sp>
        <p:nvSpPr>
          <p:cNvPr id="4" name="TextBox 3"/>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B7 · The complete operation-count table</a:t>
            </a:r>
          </a:p>
        </p:txBody>
      </p:sp>
      <p:sp>
        <p:nvSpPr>
          <p:cNvPr id="5" name="Rounded Rectangle 4"/>
          <p:cNvSpPr/>
          <p:nvPr/>
        </p:nvSpPr>
        <p:spPr>
          <a:xfrm>
            <a:off x="10736884" y="274320"/>
            <a:ext cx="903427" cy="246888"/>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OUR AUDIT</a:t>
            </a:r>
          </a:p>
        </p:txBody>
      </p:sp>
      <p:sp>
        <p:nvSpPr>
          <p:cNvPr id="6" name="Rounded Rectangle 5"/>
          <p:cNvSpPr/>
          <p:nvPr/>
        </p:nvSpPr>
        <p:spPr>
          <a:xfrm>
            <a:off x="10096804" y="274320"/>
            <a:ext cx="566928" cy="246888"/>
          </a:xfrm>
          <a:prstGeom prst="roundRect">
            <a:avLst>
              <a:gd name="adj" fmla="val 50000"/>
            </a:avLst>
          </a:prstGeom>
          <a:solidFill>
            <a:srgbClr val="52606F"/>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PAPER</a:t>
            </a:r>
          </a:p>
        </p:txBody>
      </p:sp>
      <p:cxnSp>
        <p:nvCxnSpPr>
          <p:cNvPr id="7" name="Connector 6"/>
          <p:cNvCxnSpPr/>
          <p:nvPr/>
        </p:nvCxnSpPr>
        <p:spPr>
          <a:xfrm>
            <a:off x="548640" y="6419088"/>
            <a:ext cx="11091672" cy="0"/>
          </a:xfrm>
          <a:prstGeom prst="line">
            <a:avLst/>
          </a:prstGeom>
          <a:ln w="12700">
            <a:solidFill>
              <a:srgbClr val="D3D9E1"/>
            </a:solidFill>
          </a:ln>
        </p:spPr>
      </p:cxnSp>
      <p:sp>
        <p:nvSpPr>
          <p:cNvPr id="8" name="TextBox 7"/>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9" name="TextBox 8"/>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Backup B7</a:t>
            </a:r>
          </a:p>
        </p:txBody>
      </p:sp>
      <p:sp>
        <p:nvSpPr>
          <p:cNvPr id="10" name="Rectangle 9"/>
          <p:cNvSpPr/>
          <p:nvPr/>
        </p:nvSpPr>
        <p:spPr>
          <a:xfrm>
            <a:off x="548640" y="1463040"/>
            <a:ext cx="6400800" cy="329184"/>
          </a:xfrm>
          <a:prstGeom prst="rect">
            <a:avLst/>
          </a:prstGeom>
          <a:solidFill>
            <a:srgbClr val="F2F5F8"/>
          </a:solidFill>
          <a:ln>
            <a:noFill/>
          </a:ln>
          <a:effectLst/>
        </p:spPr>
        <p:txBody>
          <a:bodyPr rtlCol="0" anchor="ctr" wrap="square" lIns="73152" rIns="73152" tIns="36576" bIns="36576"/>
          <a:lstStyle/>
          <a:p>
            <a:pPr algn="ctr"/>
          </a:p>
        </p:txBody>
      </p:sp>
      <p:sp>
        <p:nvSpPr>
          <p:cNvPr id="11" name="TextBox 10"/>
          <p:cNvSpPr txBox="1"/>
          <p:nvPr/>
        </p:nvSpPr>
        <p:spPr>
          <a:xfrm>
            <a:off x="640080" y="1463040"/>
            <a:ext cx="960120" cy="329184"/>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QIAO ET AL.</a:t>
            </a:r>
          </a:p>
        </p:txBody>
      </p:sp>
      <p:sp>
        <p:nvSpPr>
          <p:cNvPr id="12" name="TextBox 11"/>
          <p:cNvSpPr txBox="1"/>
          <p:nvPr/>
        </p:nvSpPr>
        <p:spPr>
          <a:xfrm>
            <a:off x="1783080" y="1463040"/>
            <a:ext cx="2423160" cy="329184"/>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PAPER</a:t>
            </a:r>
          </a:p>
        </p:txBody>
      </p:sp>
      <p:sp>
        <p:nvSpPr>
          <p:cNvPr id="13" name="TextBox 12"/>
          <p:cNvSpPr txBox="1"/>
          <p:nvPr/>
        </p:nvSpPr>
        <p:spPr>
          <a:xfrm>
            <a:off x="4389120" y="1463040"/>
            <a:ext cx="2468879" cy="329184"/>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COUNTED</a:t>
            </a:r>
          </a:p>
        </p:txBody>
      </p:sp>
      <p:cxnSp>
        <p:nvCxnSpPr>
          <p:cNvPr id="14" name="Connector 13"/>
          <p:cNvCxnSpPr/>
          <p:nvPr/>
        </p:nvCxnSpPr>
        <p:spPr>
          <a:xfrm>
            <a:off x="548640" y="1792224"/>
            <a:ext cx="6400800" cy="0"/>
          </a:xfrm>
          <a:prstGeom prst="line">
            <a:avLst/>
          </a:prstGeom>
          <a:ln w="15875">
            <a:solidFill>
              <a:srgbClr val="5B6675"/>
            </a:solidFill>
          </a:ln>
        </p:spPr>
      </p:cxnSp>
      <p:sp>
        <p:nvSpPr>
          <p:cNvPr id="15" name="TextBox 14"/>
          <p:cNvSpPr txBox="1"/>
          <p:nvPr/>
        </p:nvSpPr>
        <p:spPr>
          <a:xfrm>
            <a:off x="640080" y="1792224"/>
            <a:ext cx="960120" cy="365760"/>
          </a:xfrm>
          <a:prstGeom prst="rect">
            <a:avLst/>
          </a:prstGeom>
          <a:noFill/>
        </p:spPr>
        <p:txBody>
          <a:bodyPr wrap="square" lIns="0" rIns="0" tIns="0" bIns="0" anchor="ctr">
            <a:spAutoFit/>
          </a:bodyPr>
          <a:lstStyle/>
          <a:p>
            <a:pPr algn="l">
              <a:spcBef>
                <a:spcPts val="0"/>
              </a:spcBef>
              <a:spcAft>
                <a:spcPts val="0"/>
              </a:spcAft>
            </a:pPr>
            <a:r>
              <a:rPr sz="1350" b="1" i="0">
                <a:solidFill>
                  <a:srgbClr val="14202E"/>
                </a:solidFill>
                <a:latin typeface="Calibri"/>
              </a:rPr>
              <a:t>Sign</a:t>
            </a:r>
          </a:p>
        </p:txBody>
      </p:sp>
      <p:sp>
        <p:nvSpPr>
          <p:cNvPr id="16" name="TextBox 15"/>
          <p:cNvSpPr txBox="1"/>
          <p:nvPr/>
        </p:nvSpPr>
        <p:spPr>
          <a:xfrm>
            <a:off x="1783080" y="1792224"/>
            <a:ext cx="2423160" cy="365760"/>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mbria"/>
              </a:rPr>
              <a:t>1</a:t>
            </a:r>
            <a:r>
              <a:rPr sz="1350" b="0" i="1">
                <a:solidFill>
                  <a:srgbClr val="14202E"/>
                </a:solidFill>
                <a:latin typeface="Cambria"/>
              </a:rPr>
              <a:t>T</a:t>
            </a:r>
            <a:r>
              <a:rPr sz="1350" b="0" i="1" baseline="-25000">
                <a:solidFill>
                  <a:srgbClr val="14202E"/>
                </a:solidFill>
                <a:latin typeface="Cambria"/>
              </a:rPr>
              <a:t>e</a:t>
            </a:r>
            <a:r>
              <a:rPr sz="1350" b="0" i="0">
                <a:solidFill>
                  <a:srgbClr val="14202E"/>
                </a:solidFill>
                <a:latin typeface="Cambria"/>
              </a:rPr>
              <a:t> + 1</a:t>
            </a:r>
            <a:r>
              <a:rPr sz="1350" b="0" i="1">
                <a:solidFill>
                  <a:srgbClr val="14202E"/>
                </a:solidFill>
                <a:latin typeface="Cambria"/>
              </a:rPr>
              <a:t>T</a:t>
            </a:r>
            <a:r>
              <a:rPr sz="1350" b="0" i="1" baseline="-25000">
                <a:solidFill>
                  <a:srgbClr val="14202E"/>
                </a:solidFill>
                <a:latin typeface="Cambria"/>
              </a:rPr>
              <a:t>h</a:t>
            </a:r>
          </a:p>
        </p:txBody>
      </p:sp>
      <p:sp>
        <p:nvSpPr>
          <p:cNvPr id="17" name="TextBox 16"/>
          <p:cNvSpPr txBox="1"/>
          <p:nvPr/>
        </p:nvSpPr>
        <p:spPr>
          <a:xfrm>
            <a:off x="4389120" y="1792224"/>
            <a:ext cx="2468879" cy="365760"/>
          </a:xfrm>
          <a:prstGeom prst="rect">
            <a:avLst/>
          </a:prstGeom>
          <a:noFill/>
        </p:spPr>
        <p:txBody>
          <a:bodyPr wrap="square" lIns="0" rIns="0" tIns="0" bIns="0" anchor="ctr">
            <a:spAutoFit/>
          </a:bodyPr>
          <a:lstStyle/>
          <a:p>
            <a:pPr algn="l">
              <a:spcBef>
                <a:spcPts val="0"/>
              </a:spcBef>
              <a:spcAft>
                <a:spcPts val="0"/>
              </a:spcAft>
            </a:pPr>
            <a:r>
              <a:rPr sz="1350" b="1" i="0">
                <a:solidFill>
                  <a:srgbClr val="B3261E"/>
                </a:solidFill>
                <a:latin typeface="Cambria"/>
              </a:rPr>
              <a:t>1</a:t>
            </a:r>
            <a:r>
              <a:rPr sz="1350" b="1" i="1">
                <a:solidFill>
                  <a:srgbClr val="B3261E"/>
                </a:solidFill>
                <a:latin typeface="Cambria"/>
              </a:rPr>
              <a:t>T</a:t>
            </a:r>
            <a:r>
              <a:rPr sz="1350" b="1" i="1" baseline="-25000">
                <a:solidFill>
                  <a:srgbClr val="B3261E"/>
                </a:solidFill>
                <a:latin typeface="Cambria"/>
              </a:rPr>
              <a:t>e</a:t>
            </a:r>
            <a:r>
              <a:rPr sz="1350" b="1" i="0">
                <a:solidFill>
                  <a:srgbClr val="B3261E"/>
                </a:solidFill>
                <a:latin typeface="Cambria"/>
              </a:rPr>
              <a:t> + 2</a:t>
            </a:r>
            <a:r>
              <a:rPr sz="1350" b="1" i="1">
                <a:solidFill>
                  <a:srgbClr val="B3261E"/>
                </a:solidFill>
                <a:latin typeface="Cambria"/>
              </a:rPr>
              <a:t>T</a:t>
            </a:r>
            <a:r>
              <a:rPr sz="1350" b="1" i="1" baseline="-25000">
                <a:solidFill>
                  <a:srgbClr val="B3261E"/>
                </a:solidFill>
                <a:latin typeface="Cambria"/>
              </a:rPr>
              <a:t>h</a:t>
            </a:r>
          </a:p>
        </p:txBody>
      </p:sp>
      <p:cxnSp>
        <p:nvCxnSpPr>
          <p:cNvPr id="18" name="Connector 17"/>
          <p:cNvCxnSpPr/>
          <p:nvPr/>
        </p:nvCxnSpPr>
        <p:spPr>
          <a:xfrm>
            <a:off x="548640" y="2157984"/>
            <a:ext cx="6400800" cy="0"/>
          </a:xfrm>
          <a:prstGeom prst="line">
            <a:avLst/>
          </a:prstGeom>
          <a:ln w="12700">
            <a:solidFill>
              <a:srgbClr val="D3D9E1"/>
            </a:solidFill>
          </a:ln>
        </p:spPr>
      </p:cxnSp>
      <p:sp>
        <p:nvSpPr>
          <p:cNvPr id="19" name="TextBox 18"/>
          <p:cNvSpPr txBox="1"/>
          <p:nvPr/>
        </p:nvSpPr>
        <p:spPr>
          <a:xfrm>
            <a:off x="640080" y="2157984"/>
            <a:ext cx="960120" cy="365760"/>
          </a:xfrm>
          <a:prstGeom prst="rect">
            <a:avLst/>
          </a:prstGeom>
          <a:noFill/>
        </p:spPr>
        <p:txBody>
          <a:bodyPr wrap="square" lIns="0" rIns="0" tIns="0" bIns="0" anchor="ctr">
            <a:spAutoFit/>
          </a:bodyPr>
          <a:lstStyle/>
          <a:p>
            <a:pPr algn="l">
              <a:spcBef>
                <a:spcPts val="0"/>
              </a:spcBef>
              <a:spcAft>
                <a:spcPts val="0"/>
              </a:spcAft>
            </a:pPr>
            <a:r>
              <a:rPr sz="1350" b="1" i="0">
                <a:solidFill>
                  <a:srgbClr val="14202E"/>
                </a:solidFill>
                <a:latin typeface="Calibri"/>
              </a:rPr>
              <a:t>Verify</a:t>
            </a:r>
          </a:p>
        </p:txBody>
      </p:sp>
      <p:sp>
        <p:nvSpPr>
          <p:cNvPr id="20" name="TextBox 19"/>
          <p:cNvSpPr txBox="1"/>
          <p:nvPr/>
        </p:nvSpPr>
        <p:spPr>
          <a:xfrm>
            <a:off x="1783080" y="2157984"/>
            <a:ext cx="2423160" cy="365760"/>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mbria"/>
              </a:rPr>
              <a:t>3</a:t>
            </a:r>
            <a:r>
              <a:rPr sz="1350" b="0" i="1">
                <a:solidFill>
                  <a:srgbClr val="14202E"/>
                </a:solidFill>
                <a:latin typeface="Cambria"/>
              </a:rPr>
              <a:t>T</a:t>
            </a:r>
            <a:r>
              <a:rPr sz="1350" b="0" i="1" baseline="-25000">
                <a:solidFill>
                  <a:srgbClr val="14202E"/>
                </a:solidFill>
                <a:latin typeface="Cambria"/>
              </a:rPr>
              <a:t>e</a:t>
            </a:r>
            <a:r>
              <a:rPr sz="1350" b="0" i="0">
                <a:solidFill>
                  <a:srgbClr val="14202E"/>
                </a:solidFill>
                <a:latin typeface="Cambria"/>
              </a:rPr>
              <a:t> + 2</a:t>
            </a:r>
            <a:r>
              <a:rPr sz="1350" b="0" i="1">
                <a:solidFill>
                  <a:srgbClr val="14202E"/>
                </a:solidFill>
                <a:latin typeface="Cambria"/>
              </a:rPr>
              <a:t>T</a:t>
            </a:r>
            <a:r>
              <a:rPr sz="1350" b="0" i="1" baseline="-25000">
                <a:solidFill>
                  <a:srgbClr val="14202E"/>
                </a:solidFill>
                <a:latin typeface="Cambria"/>
              </a:rPr>
              <a:t>a</a:t>
            </a:r>
            <a:r>
              <a:rPr sz="1350" b="0" i="0">
                <a:solidFill>
                  <a:srgbClr val="14202E"/>
                </a:solidFill>
                <a:latin typeface="Cambria"/>
              </a:rPr>
              <a:t> + 2</a:t>
            </a:r>
            <a:r>
              <a:rPr sz="1350" b="0" i="1">
                <a:solidFill>
                  <a:srgbClr val="14202E"/>
                </a:solidFill>
                <a:latin typeface="Cambria"/>
              </a:rPr>
              <a:t>T</a:t>
            </a:r>
            <a:r>
              <a:rPr sz="1350" b="0" i="1" baseline="-25000">
                <a:solidFill>
                  <a:srgbClr val="14202E"/>
                </a:solidFill>
                <a:latin typeface="Cambria"/>
              </a:rPr>
              <a:t>h</a:t>
            </a:r>
          </a:p>
        </p:txBody>
      </p:sp>
      <p:sp>
        <p:nvSpPr>
          <p:cNvPr id="21" name="TextBox 20"/>
          <p:cNvSpPr txBox="1"/>
          <p:nvPr/>
        </p:nvSpPr>
        <p:spPr>
          <a:xfrm>
            <a:off x="4389120" y="2157984"/>
            <a:ext cx="2468879" cy="365760"/>
          </a:xfrm>
          <a:prstGeom prst="rect">
            <a:avLst/>
          </a:prstGeom>
          <a:noFill/>
        </p:spPr>
        <p:txBody>
          <a:bodyPr wrap="square" lIns="0" rIns="0" tIns="0" bIns="0" anchor="ctr">
            <a:spAutoFit/>
          </a:bodyPr>
          <a:lstStyle/>
          <a:p>
            <a:pPr algn="l">
              <a:spcBef>
                <a:spcPts val="0"/>
              </a:spcBef>
              <a:spcAft>
                <a:spcPts val="0"/>
              </a:spcAft>
            </a:pPr>
            <a:r>
              <a:rPr sz="1350" b="1" i="0">
                <a:solidFill>
                  <a:srgbClr val="B3261E"/>
                </a:solidFill>
                <a:latin typeface="Cambria"/>
              </a:rPr>
              <a:t>4</a:t>
            </a:r>
            <a:r>
              <a:rPr sz="1350" b="1" i="1">
                <a:solidFill>
                  <a:srgbClr val="B3261E"/>
                </a:solidFill>
                <a:latin typeface="Cambria"/>
              </a:rPr>
              <a:t>T</a:t>
            </a:r>
            <a:r>
              <a:rPr sz="1350" b="1" i="1" baseline="-25000">
                <a:solidFill>
                  <a:srgbClr val="B3261E"/>
                </a:solidFill>
                <a:latin typeface="Cambria"/>
              </a:rPr>
              <a:t>e</a:t>
            </a:r>
            <a:r>
              <a:rPr sz="1350" b="1" i="0">
                <a:solidFill>
                  <a:srgbClr val="B3261E"/>
                </a:solidFill>
                <a:latin typeface="Cambria"/>
              </a:rPr>
              <a:t> + 3</a:t>
            </a:r>
            <a:r>
              <a:rPr sz="1350" b="1" i="1">
                <a:solidFill>
                  <a:srgbClr val="B3261E"/>
                </a:solidFill>
                <a:latin typeface="Cambria"/>
              </a:rPr>
              <a:t>T</a:t>
            </a:r>
            <a:r>
              <a:rPr sz="1350" b="1" i="1" baseline="-25000">
                <a:solidFill>
                  <a:srgbClr val="B3261E"/>
                </a:solidFill>
                <a:latin typeface="Cambria"/>
              </a:rPr>
              <a:t>a</a:t>
            </a:r>
            <a:r>
              <a:rPr sz="1350" b="1" i="0">
                <a:solidFill>
                  <a:srgbClr val="B3261E"/>
                </a:solidFill>
                <a:latin typeface="Cambria"/>
              </a:rPr>
              <a:t> + 3</a:t>
            </a:r>
            <a:r>
              <a:rPr sz="1350" b="1" i="1">
                <a:solidFill>
                  <a:srgbClr val="B3261E"/>
                </a:solidFill>
                <a:latin typeface="Cambria"/>
              </a:rPr>
              <a:t>T</a:t>
            </a:r>
            <a:r>
              <a:rPr sz="1350" b="1" i="1" baseline="-25000">
                <a:solidFill>
                  <a:srgbClr val="B3261E"/>
                </a:solidFill>
                <a:latin typeface="Cambria"/>
              </a:rPr>
              <a:t>h</a:t>
            </a:r>
          </a:p>
        </p:txBody>
      </p:sp>
      <p:cxnSp>
        <p:nvCxnSpPr>
          <p:cNvPr id="22" name="Connector 21"/>
          <p:cNvCxnSpPr/>
          <p:nvPr/>
        </p:nvCxnSpPr>
        <p:spPr>
          <a:xfrm>
            <a:off x="548640" y="2523744"/>
            <a:ext cx="6400800" cy="0"/>
          </a:xfrm>
          <a:prstGeom prst="line">
            <a:avLst/>
          </a:prstGeom>
          <a:ln w="12700">
            <a:solidFill>
              <a:srgbClr val="D3D9E1"/>
            </a:solidFill>
          </a:ln>
        </p:spPr>
      </p:cxnSp>
      <p:sp>
        <p:nvSpPr>
          <p:cNvPr id="23" name="TextBox 22"/>
          <p:cNvSpPr txBox="1"/>
          <p:nvPr/>
        </p:nvSpPr>
        <p:spPr>
          <a:xfrm>
            <a:off x="640080" y="2523744"/>
            <a:ext cx="960120" cy="365760"/>
          </a:xfrm>
          <a:prstGeom prst="rect">
            <a:avLst/>
          </a:prstGeom>
          <a:noFill/>
        </p:spPr>
        <p:txBody>
          <a:bodyPr wrap="square" lIns="0" rIns="0" tIns="0" bIns="0" anchor="ctr">
            <a:spAutoFit/>
          </a:bodyPr>
          <a:lstStyle/>
          <a:p>
            <a:pPr algn="l">
              <a:spcBef>
                <a:spcPts val="0"/>
              </a:spcBef>
              <a:spcAft>
                <a:spcPts val="0"/>
              </a:spcAft>
            </a:pPr>
            <a:r>
              <a:rPr sz="1350" b="1" i="0">
                <a:solidFill>
                  <a:srgbClr val="14202E"/>
                </a:solidFill>
                <a:latin typeface="Calibri"/>
              </a:rPr>
              <a:t>AggSign</a:t>
            </a:r>
          </a:p>
        </p:txBody>
      </p:sp>
      <p:sp>
        <p:nvSpPr>
          <p:cNvPr id="24" name="TextBox 23"/>
          <p:cNvSpPr txBox="1"/>
          <p:nvPr/>
        </p:nvSpPr>
        <p:spPr>
          <a:xfrm>
            <a:off x="1783080" y="2523744"/>
            <a:ext cx="2423160" cy="365760"/>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mbria"/>
              </a:rPr>
              <a:t>(</a:t>
            </a:r>
            <a:r>
              <a:rPr sz="1350" b="0" i="1">
                <a:solidFill>
                  <a:srgbClr val="14202E"/>
                </a:solidFill>
                <a:latin typeface="Cambria"/>
              </a:rPr>
              <a:t>n</a:t>
            </a:r>
            <a:r>
              <a:rPr sz="1350" b="0" i="0">
                <a:solidFill>
                  <a:srgbClr val="14202E"/>
                </a:solidFill>
                <a:latin typeface="Cambria"/>
              </a:rPr>
              <a:t>−1)</a:t>
            </a:r>
            <a:r>
              <a:rPr sz="1350" b="0" i="1">
                <a:solidFill>
                  <a:srgbClr val="14202E"/>
                </a:solidFill>
                <a:latin typeface="Cambria"/>
              </a:rPr>
              <a:t>T</a:t>
            </a:r>
            <a:r>
              <a:rPr sz="1350" b="0" i="1" baseline="-25000">
                <a:solidFill>
                  <a:srgbClr val="14202E"/>
                </a:solidFill>
                <a:latin typeface="Cambria"/>
              </a:rPr>
              <a:t>a</a:t>
            </a:r>
          </a:p>
        </p:txBody>
      </p:sp>
      <p:sp>
        <p:nvSpPr>
          <p:cNvPr id="25" name="TextBox 24"/>
          <p:cNvSpPr txBox="1"/>
          <p:nvPr/>
        </p:nvSpPr>
        <p:spPr>
          <a:xfrm>
            <a:off x="4389120" y="2523744"/>
            <a:ext cx="2468879" cy="365760"/>
          </a:xfrm>
          <a:prstGeom prst="rect">
            <a:avLst/>
          </a:prstGeom>
          <a:noFill/>
        </p:spPr>
        <p:txBody>
          <a:bodyPr wrap="square" lIns="0" rIns="0" tIns="0" bIns="0" anchor="ctr">
            <a:spAutoFit/>
          </a:bodyPr>
          <a:lstStyle/>
          <a:p>
            <a:pPr algn="l">
              <a:spcBef>
                <a:spcPts val="0"/>
              </a:spcBef>
              <a:spcAft>
                <a:spcPts val="0"/>
              </a:spcAft>
            </a:pPr>
            <a:r>
              <a:rPr sz="1350" b="1" i="0">
                <a:solidFill>
                  <a:srgbClr val="1E7B4F"/>
                </a:solidFill>
                <a:latin typeface="Calibri"/>
              </a:rPr>
              <a:t>0 group ops</a:t>
            </a:r>
          </a:p>
        </p:txBody>
      </p:sp>
      <p:cxnSp>
        <p:nvCxnSpPr>
          <p:cNvPr id="26" name="Connector 25"/>
          <p:cNvCxnSpPr/>
          <p:nvPr/>
        </p:nvCxnSpPr>
        <p:spPr>
          <a:xfrm>
            <a:off x="548640" y="2889503"/>
            <a:ext cx="6400800" cy="0"/>
          </a:xfrm>
          <a:prstGeom prst="line">
            <a:avLst/>
          </a:prstGeom>
          <a:ln w="12700">
            <a:solidFill>
              <a:srgbClr val="D3D9E1"/>
            </a:solidFill>
          </a:ln>
        </p:spPr>
      </p:cxnSp>
      <p:sp>
        <p:nvSpPr>
          <p:cNvPr id="27" name="TextBox 26"/>
          <p:cNvSpPr txBox="1"/>
          <p:nvPr/>
        </p:nvSpPr>
        <p:spPr>
          <a:xfrm>
            <a:off x="640080" y="2889503"/>
            <a:ext cx="960120" cy="548640"/>
          </a:xfrm>
          <a:prstGeom prst="rect">
            <a:avLst/>
          </a:prstGeom>
          <a:noFill/>
        </p:spPr>
        <p:txBody>
          <a:bodyPr wrap="square" lIns="0" rIns="0" tIns="0" bIns="0" anchor="ctr">
            <a:spAutoFit/>
          </a:bodyPr>
          <a:lstStyle/>
          <a:p>
            <a:pPr algn="l">
              <a:spcBef>
                <a:spcPts val="0"/>
              </a:spcBef>
              <a:spcAft>
                <a:spcPts val="0"/>
              </a:spcAft>
            </a:pPr>
            <a:r>
              <a:rPr sz="1350" b="1" i="0">
                <a:solidFill>
                  <a:srgbClr val="14202E"/>
                </a:solidFill>
                <a:latin typeface="Calibri"/>
              </a:rPr>
              <a:t>AggVerify</a:t>
            </a:r>
          </a:p>
        </p:txBody>
      </p:sp>
      <p:sp>
        <p:nvSpPr>
          <p:cNvPr id="28" name="TextBox 27"/>
          <p:cNvSpPr txBox="1"/>
          <p:nvPr/>
        </p:nvSpPr>
        <p:spPr>
          <a:xfrm>
            <a:off x="1783080" y="2889503"/>
            <a:ext cx="2423160" cy="548640"/>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mbria"/>
              </a:rPr>
              <a:t>(</a:t>
            </a:r>
            <a:r>
              <a:rPr sz="1350" b="0" i="1">
                <a:solidFill>
                  <a:srgbClr val="14202E"/>
                </a:solidFill>
                <a:latin typeface="Cambria"/>
              </a:rPr>
              <a:t>n</a:t>
            </a:r>
            <a:r>
              <a:rPr sz="1350" b="0" i="0">
                <a:solidFill>
                  <a:srgbClr val="14202E"/>
                </a:solidFill>
                <a:latin typeface="Cambria"/>
              </a:rPr>
              <a:t>+2)</a:t>
            </a:r>
            <a:r>
              <a:rPr sz="1350" b="0" i="1">
                <a:solidFill>
                  <a:srgbClr val="14202E"/>
                </a:solidFill>
                <a:latin typeface="Cambria"/>
              </a:rPr>
              <a:t>T</a:t>
            </a:r>
            <a:r>
              <a:rPr sz="1350" b="0" i="1" baseline="-25000">
                <a:solidFill>
                  <a:srgbClr val="14202E"/>
                </a:solidFill>
                <a:latin typeface="Cambria"/>
              </a:rPr>
              <a:t>e</a:t>
            </a:r>
            <a:r>
              <a:rPr sz="1350" b="0" i="0">
                <a:solidFill>
                  <a:srgbClr val="14202E"/>
                </a:solidFill>
                <a:latin typeface="Cambria"/>
              </a:rPr>
              <a:t> + (</a:t>
            </a:r>
            <a:r>
              <a:rPr sz="1350" b="0" i="1">
                <a:solidFill>
                  <a:srgbClr val="14202E"/>
                </a:solidFill>
                <a:latin typeface="Cambria"/>
              </a:rPr>
              <a:t>n</a:t>
            </a:r>
            <a:r>
              <a:rPr sz="1350" b="0" i="0">
                <a:solidFill>
                  <a:srgbClr val="14202E"/>
                </a:solidFill>
                <a:latin typeface="Cambria"/>
              </a:rPr>
              <a:t>+1)</a:t>
            </a:r>
            <a:r>
              <a:rPr sz="1350" b="0" i="1">
                <a:solidFill>
                  <a:srgbClr val="14202E"/>
                </a:solidFill>
                <a:latin typeface="Cambria"/>
              </a:rPr>
              <a:t>T</a:t>
            </a:r>
            <a:r>
              <a:rPr sz="1350" b="0" i="1" baseline="-25000">
                <a:solidFill>
                  <a:srgbClr val="14202E"/>
                </a:solidFill>
                <a:latin typeface="Cambria"/>
              </a:rPr>
              <a:t>a</a:t>
            </a:r>
            <a:r>
              <a:rPr sz="1350" b="0" i="0">
                <a:solidFill>
                  <a:srgbClr val="14202E"/>
                </a:solidFill>
                <a:latin typeface="Cambria"/>
              </a:rPr>
              <a:t> + 2</a:t>
            </a:r>
            <a:r>
              <a:rPr sz="1350" b="0" i="1">
                <a:solidFill>
                  <a:srgbClr val="14202E"/>
                </a:solidFill>
                <a:latin typeface="Cambria"/>
              </a:rPr>
              <a:t>nT</a:t>
            </a:r>
            <a:r>
              <a:rPr sz="1350" b="0" i="1" baseline="-25000">
                <a:solidFill>
                  <a:srgbClr val="14202E"/>
                </a:solidFill>
                <a:latin typeface="Cambria"/>
              </a:rPr>
              <a:t>h</a:t>
            </a:r>
          </a:p>
        </p:txBody>
      </p:sp>
      <p:sp>
        <p:nvSpPr>
          <p:cNvPr id="29" name="TextBox 28"/>
          <p:cNvSpPr txBox="1"/>
          <p:nvPr/>
        </p:nvSpPr>
        <p:spPr>
          <a:xfrm>
            <a:off x="4389120" y="2889503"/>
            <a:ext cx="2468879" cy="548640"/>
          </a:xfrm>
          <a:prstGeom prst="rect">
            <a:avLst/>
          </a:prstGeom>
          <a:noFill/>
        </p:spPr>
        <p:txBody>
          <a:bodyPr wrap="square" lIns="0" rIns="0" tIns="0" bIns="0" anchor="ctr">
            <a:spAutoFit/>
          </a:bodyPr>
          <a:lstStyle/>
          <a:p>
            <a:pPr algn="l">
              <a:spcBef>
                <a:spcPts val="0"/>
              </a:spcBef>
              <a:spcAft>
                <a:spcPts val="0"/>
              </a:spcAft>
            </a:pPr>
            <a:r>
              <a:rPr sz="1350" b="1" i="0">
                <a:solidFill>
                  <a:srgbClr val="B3261E"/>
                </a:solidFill>
                <a:latin typeface="Cambria"/>
              </a:rPr>
              <a:t>(2</a:t>
            </a:r>
            <a:r>
              <a:rPr sz="1350" b="1" i="1">
                <a:solidFill>
                  <a:srgbClr val="B3261E"/>
                </a:solidFill>
                <a:latin typeface="Cambria"/>
              </a:rPr>
              <a:t>n</a:t>
            </a:r>
            <a:r>
              <a:rPr sz="1350" b="1" i="0">
                <a:solidFill>
                  <a:srgbClr val="B3261E"/>
                </a:solidFill>
                <a:latin typeface="Cambria"/>
              </a:rPr>
              <a:t>+2)</a:t>
            </a:r>
            <a:r>
              <a:rPr sz="1350" b="1" i="1">
                <a:solidFill>
                  <a:srgbClr val="B3261E"/>
                </a:solidFill>
                <a:latin typeface="Cambria"/>
              </a:rPr>
              <a:t>T</a:t>
            </a:r>
            <a:r>
              <a:rPr sz="1350" b="1" i="1" baseline="-25000">
                <a:solidFill>
                  <a:srgbClr val="B3261E"/>
                </a:solidFill>
                <a:latin typeface="Cambria"/>
              </a:rPr>
              <a:t>e</a:t>
            </a:r>
            <a:r>
              <a:rPr sz="1350" b="1" i="0">
                <a:solidFill>
                  <a:srgbClr val="B3261E"/>
                </a:solidFill>
                <a:latin typeface="Cambria"/>
              </a:rPr>
              <a:t> + 3</a:t>
            </a:r>
            <a:r>
              <a:rPr sz="1350" b="1" i="1">
                <a:solidFill>
                  <a:srgbClr val="B3261E"/>
                </a:solidFill>
                <a:latin typeface="Cambria"/>
              </a:rPr>
              <a:t>nT</a:t>
            </a:r>
            <a:r>
              <a:rPr sz="1350" b="1" i="1" baseline="-25000">
                <a:solidFill>
                  <a:srgbClr val="B3261E"/>
                </a:solidFill>
                <a:latin typeface="Cambria"/>
              </a:rPr>
              <a:t>a</a:t>
            </a:r>
            <a:r>
              <a:rPr sz="1350" b="1" i="0">
                <a:solidFill>
                  <a:srgbClr val="B3261E"/>
                </a:solidFill>
                <a:latin typeface="Cambria"/>
              </a:rPr>
              <a:t> + 3</a:t>
            </a:r>
            <a:r>
              <a:rPr sz="1350" b="1" i="1">
                <a:solidFill>
                  <a:srgbClr val="B3261E"/>
                </a:solidFill>
                <a:latin typeface="Cambria"/>
              </a:rPr>
              <a:t>nT</a:t>
            </a:r>
            <a:r>
              <a:rPr sz="1350" b="1" i="1" baseline="-25000">
                <a:solidFill>
                  <a:srgbClr val="B3261E"/>
                </a:solidFill>
                <a:latin typeface="Cambria"/>
              </a:rPr>
              <a:t>h</a:t>
            </a:r>
          </a:p>
        </p:txBody>
      </p:sp>
      <p:cxnSp>
        <p:nvCxnSpPr>
          <p:cNvPr id="30" name="Connector 29"/>
          <p:cNvCxnSpPr/>
          <p:nvPr/>
        </p:nvCxnSpPr>
        <p:spPr>
          <a:xfrm>
            <a:off x="548640" y="3438144"/>
            <a:ext cx="6400800" cy="0"/>
          </a:xfrm>
          <a:prstGeom prst="line">
            <a:avLst/>
          </a:prstGeom>
          <a:ln w="12700">
            <a:solidFill>
              <a:srgbClr val="D3D9E1"/>
            </a:solidFill>
          </a:ln>
        </p:spPr>
      </p:cxnSp>
      <p:sp>
        <p:nvSpPr>
          <p:cNvPr id="31" name="Rectangle 30"/>
          <p:cNvSpPr/>
          <p:nvPr/>
        </p:nvSpPr>
        <p:spPr>
          <a:xfrm>
            <a:off x="548640" y="3611880"/>
            <a:ext cx="6400800" cy="329184"/>
          </a:xfrm>
          <a:prstGeom prst="rect">
            <a:avLst/>
          </a:prstGeom>
          <a:solidFill>
            <a:srgbClr val="F2F5F8"/>
          </a:solidFill>
          <a:ln>
            <a:noFill/>
          </a:ln>
          <a:effectLst/>
        </p:spPr>
        <p:txBody>
          <a:bodyPr rtlCol="0" anchor="ctr" wrap="square" lIns="73152" rIns="73152" tIns="36576" bIns="36576"/>
          <a:lstStyle/>
          <a:p>
            <a:pPr algn="ctr"/>
          </a:p>
        </p:txBody>
      </p:sp>
      <p:sp>
        <p:nvSpPr>
          <p:cNvPr id="32" name="TextBox 31"/>
          <p:cNvSpPr txBox="1"/>
          <p:nvPr/>
        </p:nvSpPr>
        <p:spPr>
          <a:xfrm>
            <a:off x="640080" y="3611880"/>
            <a:ext cx="960120" cy="329184"/>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VERMA ET AL.</a:t>
            </a:r>
          </a:p>
        </p:txBody>
      </p:sp>
      <p:sp>
        <p:nvSpPr>
          <p:cNvPr id="33" name="TextBox 32"/>
          <p:cNvSpPr txBox="1"/>
          <p:nvPr/>
        </p:nvSpPr>
        <p:spPr>
          <a:xfrm>
            <a:off x="1783080" y="3611880"/>
            <a:ext cx="2423160" cy="329184"/>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PAPER</a:t>
            </a:r>
          </a:p>
        </p:txBody>
      </p:sp>
      <p:sp>
        <p:nvSpPr>
          <p:cNvPr id="34" name="TextBox 33"/>
          <p:cNvSpPr txBox="1"/>
          <p:nvPr/>
        </p:nvSpPr>
        <p:spPr>
          <a:xfrm>
            <a:off x="4389120" y="3611880"/>
            <a:ext cx="2468879" cy="329184"/>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COUNTED</a:t>
            </a:r>
          </a:p>
        </p:txBody>
      </p:sp>
      <p:cxnSp>
        <p:nvCxnSpPr>
          <p:cNvPr id="35" name="Connector 34"/>
          <p:cNvCxnSpPr/>
          <p:nvPr/>
        </p:nvCxnSpPr>
        <p:spPr>
          <a:xfrm>
            <a:off x="548640" y="3941064"/>
            <a:ext cx="6400800" cy="0"/>
          </a:xfrm>
          <a:prstGeom prst="line">
            <a:avLst/>
          </a:prstGeom>
          <a:ln w="15875">
            <a:solidFill>
              <a:srgbClr val="5B6675"/>
            </a:solidFill>
          </a:ln>
        </p:spPr>
      </p:cxnSp>
      <p:sp>
        <p:nvSpPr>
          <p:cNvPr id="36" name="TextBox 35"/>
          <p:cNvSpPr txBox="1"/>
          <p:nvPr/>
        </p:nvSpPr>
        <p:spPr>
          <a:xfrm>
            <a:off x="640080" y="3941064"/>
            <a:ext cx="960120" cy="365760"/>
          </a:xfrm>
          <a:prstGeom prst="rect">
            <a:avLst/>
          </a:prstGeom>
          <a:noFill/>
        </p:spPr>
        <p:txBody>
          <a:bodyPr wrap="square" lIns="0" rIns="0" tIns="0" bIns="0" anchor="ctr">
            <a:spAutoFit/>
          </a:bodyPr>
          <a:lstStyle/>
          <a:p>
            <a:pPr algn="l">
              <a:spcBef>
                <a:spcPts val="0"/>
              </a:spcBef>
              <a:spcAft>
                <a:spcPts val="0"/>
              </a:spcAft>
            </a:pPr>
            <a:r>
              <a:rPr sz="1350" b="1" i="0">
                <a:solidFill>
                  <a:srgbClr val="14202E"/>
                </a:solidFill>
                <a:latin typeface="Calibri"/>
              </a:rPr>
              <a:t>Sign</a:t>
            </a:r>
          </a:p>
        </p:txBody>
      </p:sp>
      <p:sp>
        <p:nvSpPr>
          <p:cNvPr id="37" name="TextBox 36"/>
          <p:cNvSpPr txBox="1"/>
          <p:nvPr/>
        </p:nvSpPr>
        <p:spPr>
          <a:xfrm>
            <a:off x="1783080" y="3941064"/>
            <a:ext cx="2423160" cy="365760"/>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mbria"/>
              </a:rPr>
              <a:t>1</a:t>
            </a:r>
            <a:r>
              <a:rPr sz="1350" b="0" i="1">
                <a:solidFill>
                  <a:srgbClr val="14202E"/>
                </a:solidFill>
                <a:latin typeface="Cambria"/>
              </a:rPr>
              <a:t>T</a:t>
            </a:r>
            <a:r>
              <a:rPr sz="1350" b="0" i="1" baseline="-25000">
                <a:solidFill>
                  <a:srgbClr val="14202E"/>
                </a:solidFill>
                <a:latin typeface="Cambria"/>
              </a:rPr>
              <a:t>e</a:t>
            </a:r>
            <a:r>
              <a:rPr sz="1350" b="0" i="0">
                <a:solidFill>
                  <a:srgbClr val="14202E"/>
                </a:solidFill>
                <a:latin typeface="Cambria"/>
              </a:rPr>
              <a:t> + 1</a:t>
            </a:r>
            <a:r>
              <a:rPr sz="1350" b="0" i="1">
                <a:solidFill>
                  <a:srgbClr val="14202E"/>
                </a:solidFill>
                <a:latin typeface="Cambria"/>
              </a:rPr>
              <a:t>T</a:t>
            </a:r>
            <a:r>
              <a:rPr sz="1350" b="0" i="1" baseline="-25000">
                <a:solidFill>
                  <a:srgbClr val="14202E"/>
                </a:solidFill>
                <a:latin typeface="Cambria"/>
              </a:rPr>
              <a:t>h</a:t>
            </a:r>
          </a:p>
        </p:txBody>
      </p:sp>
      <p:sp>
        <p:nvSpPr>
          <p:cNvPr id="38" name="TextBox 37"/>
          <p:cNvSpPr txBox="1"/>
          <p:nvPr/>
        </p:nvSpPr>
        <p:spPr>
          <a:xfrm>
            <a:off x="4389120" y="3941064"/>
            <a:ext cx="2468879" cy="365760"/>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mbria"/>
              </a:rPr>
              <a:t>1</a:t>
            </a:r>
            <a:r>
              <a:rPr sz="1350" b="0" i="1">
                <a:solidFill>
                  <a:srgbClr val="14202E"/>
                </a:solidFill>
                <a:latin typeface="Cambria"/>
              </a:rPr>
              <a:t>T</a:t>
            </a:r>
            <a:r>
              <a:rPr sz="1350" b="0" i="1" baseline="-25000">
                <a:solidFill>
                  <a:srgbClr val="14202E"/>
                </a:solidFill>
                <a:latin typeface="Cambria"/>
              </a:rPr>
              <a:t>e</a:t>
            </a:r>
            <a:r>
              <a:rPr sz="1350" b="0" i="0">
                <a:solidFill>
                  <a:srgbClr val="14202E"/>
                </a:solidFill>
                <a:latin typeface="Cambria"/>
              </a:rPr>
              <a:t> + 1</a:t>
            </a:r>
            <a:r>
              <a:rPr sz="1350" b="0" i="1">
                <a:solidFill>
                  <a:srgbClr val="14202E"/>
                </a:solidFill>
                <a:latin typeface="Cambria"/>
              </a:rPr>
              <a:t>T</a:t>
            </a:r>
            <a:r>
              <a:rPr sz="1350" b="0" i="1" baseline="-25000">
                <a:solidFill>
                  <a:srgbClr val="14202E"/>
                </a:solidFill>
                <a:latin typeface="Cambria"/>
              </a:rPr>
              <a:t>a</a:t>
            </a:r>
            <a:r>
              <a:rPr sz="1350" b="0" i="0">
                <a:solidFill>
                  <a:srgbClr val="14202E"/>
                </a:solidFill>
                <a:latin typeface="Cambria"/>
              </a:rPr>
              <a:t> + 1</a:t>
            </a:r>
            <a:r>
              <a:rPr sz="1350" b="0" i="1">
                <a:solidFill>
                  <a:srgbClr val="14202E"/>
                </a:solidFill>
                <a:latin typeface="Cambria"/>
              </a:rPr>
              <a:t>T</a:t>
            </a:r>
            <a:r>
              <a:rPr sz="1350" b="0" i="1" baseline="-25000">
                <a:solidFill>
                  <a:srgbClr val="14202E"/>
                </a:solidFill>
                <a:latin typeface="Cambria"/>
              </a:rPr>
              <a:t>h</a:t>
            </a:r>
          </a:p>
        </p:txBody>
      </p:sp>
      <p:cxnSp>
        <p:nvCxnSpPr>
          <p:cNvPr id="39" name="Connector 38"/>
          <p:cNvCxnSpPr/>
          <p:nvPr/>
        </p:nvCxnSpPr>
        <p:spPr>
          <a:xfrm>
            <a:off x="548640" y="4306824"/>
            <a:ext cx="6400800" cy="0"/>
          </a:xfrm>
          <a:prstGeom prst="line">
            <a:avLst/>
          </a:prstGeom>
          <a:ln w="12700">
            <a:solidFill>
              <a:srgbClr val="D3D9E1"/>
            </a:solidFill>
          </a:ln>
        </p:spPr>
      </p:cxnSp>
      <p:sp>
        <p:nvSpPr>
          <p:cNvPr id="40" name="TextBox 39"/>
          <p:cNvSpPr txBox="1"/>
          <p:nvPr/>
        </p:nvSpPr>
        <p:spPr>
          <a:xfrm>
            <a:off x="640080" y="4306824"/>
            <a:ext cx="960120" cy="365760"/>
          </a:xfrm>
          <a:prstGeom prst="rect">
            <a:avLst/>
          </a:prstGeom>
          <a:noFill/>
        </p:spPr>
        <p:txBody>
          <a:bodyPr wrap="square" lIns="0" rIns="0" tIns="0" bIns="0" anchor="ctr">
            <a:spAutoFit/>
          </a:bodyPr>
          <a:lstStyle/>
          <a:p>
            <a:pPr algn="l">
              <a:spcBef>
                <a:spcPts val="0"/>
              </a:spcBef>
              <a:spcAft>
                <a:spcPts val="0"/>
              </a:spcAft>
            </a:pPr>
            <a:r>
              <a:rPr sz="1350" b="1" i="0">
                <a:solidFill>
                  <a:srgbClr val="14202E"/>
                </a:solidFill>
                <a:latin typeface="Calibri"/>
              </a:rPr>
              <a:t>Verify</a:t>
            </a:r>
          </a:p>
        </p:txBody>
      </p:sp>
      <p:sp>
        <p:nvSpPr>
          <p:cNvPr id="41" name="TextBox 40"/>
          <p:cNvSpPr txBox="1"/>
          <p:nvPr/>
        </p:nvSpPr>
        <p:spPr>
          <a:xfrm>
            <a:off x="1783080" y="4306824"/>
            <a:ext cx="2423160" cy="365760"/>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mbria"/>
              </a:rPr>
              <a:t>3</a:t>
            </a:r>
            <a:r>
              <a:rPr sz="1350" b="0" i="1">
                <a:solidFill>
                  <a:srgbClr val="14202E"/>
                </a:solidFill>
                <a:latin typeface="Cambria"/>
              </a:rPr>
              <a:t>T</a:t>
            </a:r>
            <a:r>
              <a:rPr sz="1350" b="0" i="1" baseline="-25000">
                <a:solidFill>
                  <a:srgbClr val="14202E"/>
                </a:solidFill>
                <a:latin typeface="Cambria"/>
              </a:rPr>
              <a:t>e</a:t>
            </a:r>
            <a:r>
              <a:rPr sz="1350" b="0" i="0">
                <a:solidFill>
                  <a:srgbClr val="14202E"/>
                </a:solidFill>
                <a:latin typeface="Cambria"/>
              </a:rPr>
              <a:t> + 2</a:t>
            </a:r>
            <a:r>
              <a:rPr sz="1350" b="0" i="1">
                <a:solidFill>
                  <a:srgbClr val="14202E"/>
                </a:solidFill>
                <a:latin typeface="Cambria"/>
              </a:rPr>
              <a:t>T</a:t>
            </a:r>
            <a:r>
              <a:rPr sz="1350" b="0" i="1" baseline="-25000">
                <a:solidFill>
                  <a:srgbClr val="14202E"/>
                </a:solidFill>
                <a:latin typeface="Cambria"/>
              </a:rPr>
              <a:t>a</a:t>
            </a:r>
            <a:r>
              <a:rPr sz="1350" b="0" i="0">
                <a:solidFill>
                  <a:srgbClr val="14202E"/>
                </a:solidFill>
                <a:latin typeface="Cambria"/>
              </a:rPr>
              <a:t> + 2</a:t>
            </a:r>
            <a:r>
              <a:rPr sz="1350" b="0" i="1">
                <a:solidFill>
                  <a:srgbClr val="14202E"/>
                </a:solidFill>
                <a:latin typeface="Cambria"/>
              </a:rPr>
              <a:t>T</a:t>
            </a:r>
            <a:r>
              <a:rPr sz="1350" b="0" i="1" baseline="-25000">
                <a:solidFill>
                  <a:srgbClr val="14202E"/>
                </a:solidFill>
                <a:latin typeface="Cambria"/>
              </a:rPr>
              <a:t>h</a:t>
            </a:r>
          </a:p>
        </p:txBody>
      </p:sp>
      <p:sp>
        <p:nvSpPr>
          <p:cNvPr id="42" name="TextBox 41"/>
          <p:cNvSpPr txBox="1"/>
          <p:nvPr/>
        </p:nvSpPr>
        <p:spPr>
          <a:xfrm>
            <a:off x="4389120" y="4306824"/>
            <a:ext cx="2468879" cy="365760"/>
          </a:xfrm>
          <a:prstGeom prst="rect">
            <a:avLst/>
          </a:prstGeom>
          <a:noFill/>
        </p:spPr>
        <p:txBody>
          <a:bodyPr wrap="square" lIns="0" rIns="0" tIns="0" bIns="0" anchor="ctr">
            <a:spAutoFit/>
          </a:bodyPr>
          <a:lstStyle/>
          <a:p>
            <a:pPr algn="l">
              <a:spcBef>
                <a:spcPts val="0"/>
              </a:spcBef>
              <a:spcAft>
                <a:spcPts val="0"/>
              </a:spcAft>
            </a:pPr>
            <a:r>
              <a:rPr sz="1350" b="1" i="0">
                <a:solidFill>
                  <a:srgbClr val="1E7B4F"/>
                </a:solidFill>
                <a:latin typeface="Calibri"/>
              </a:rPr>
              <a:t>same ✓</a:t>
            </a:r>
          </a:p>
        </p:txBody>
      </p:sp>
      <p:cxnSp>
        <p:nvCxnSpPr>
          <p:cNvPr id="43" name="Connector 42"/>
          <p:cNvCxnSpPr/>
          <p:nvPr/>
        </p:nvCxnSpPr>
        <p:spPr>
          <a:xfrm>
            <a:off x="548640" y="4672584"/>
            <a:ext cx="6400800" cy="0"/>
          </a:xfrm>
          <a:prstGeom prst="line">
            <a:avLst/>
          </a:prstGeom>
          <a:ln w="12700">
            <a:solidFill>
              <a:srgbClr val="D3D9E1"/>
            </a:solidFill>
          </a:ln>
        </p:spPr>
      </p:cxnSp>
      <p:sp>
        <p:nvSpPr>
          <p:cNvPr id="44" name="TextBox 43"/>
          <p:cNvSpPr txBox="1"/>
          <p:nvPr/>
        </p:nvSpPr>
        <p:spPr>
          <a:xfrm>
            <a:off x="640080" y="4672584"/>
            <a:ext cx="960120" cy="365760"/>
          </a:xfrm>
          <a:prstGeom prst="rect">
            <a:avLst/>
          </a:prstGeom>
          <a:noFill/>
        </p:spPr>
        <p:txBody>
          <a:bodyPr wrap="square" lIns="0" rIns="0" tIns="0" bIns="0" anchor="ctr">
            <a:spAutoFit/>
          </a:bodyPr>
          <a:lstStyle/>
          <a:p>
            <a:pPr algn="l">
              <a:spcBef>
                <a:spcPts val="0"/>
              </a:spcBef>
              <a:spcAft>
                <a:spcPts val="0"/>
              </a:spcAft>
            </a:pPr>
            <a:r>
              <a:rPr sz="1350" b="1" i="0">
                <a:solidFill>
                  <a:srgbClr val="14202E"/>
                </a:solidFill>
                <a:latin typeface="Calibri"/>
              </a:rPr>
              <a:t>AggSign</a:t>
            </a:r>
          </a:p>
        </p:txBody>
      </p:sp>
      <p:sp>
        <p:nvSpPr>
          <p:cNvPr id="45" name="TextBox 44"/>
          <p:cNvSpPr txBox="1"/>
          <p:nvPr/>
        </p:nvSpPr>
        <p:spPr>
          <a:xfrm>
            <a:off x="1783080" y="4672584"/>
            <a:ext cx="2423160" cy="365760"/>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mbria"/>
              </a:rPr>
              <a:t>(</a:t>
            </a:r>
            <a:r>
              <a:rPr sz="1350" b="0" i="1">
                <a:solidFill>
                  <a:srgbClr val="14202E"/>
                </a:solidFill>
                <a:latin typeface="Cambria"/>
              </a:rPr>
              <a:t>n</a:t>
            </a:r>
            <a:r>
              <a:rPr sz="1350" b="0" i="0">
                <a:solidFill>
                  <a:srgbClr val="14202E"/>
                </a:solidFill>
                <a:latin typeface="Cambria"/>
              </a:rPr>
              <a:t>−1)</a:t>
            </a:r>
            <a:r>
              <a:rPr sz="1350" b="0" i="1">
                <a:solidFill>
                  <a:srgbClr val="14202E"/>
                </a:solidFill>
                <a:latin typeface="Cambria"/>
              </a:rPr>
              <a:t>T</a:t>
            </a:r>
            <a:r>
              <a:rPr sz="1350" b="0" i="1" baseline="-25000">
                <a:solidFill>
                  <a:srgbClr val="14202E"/>
                </a:solidFill>
                <a:latin typeface="Cambria"/>
              </a:rPr>
              <a:t>a</a:t>
            </a:r>
          </a:p>
        </p:txBody>
      </p:sp>
      <p:sp>
        <p:nvSpPr>
          <p:cNvPr id="46" name="TextBox 45"/>
          <p:cNvSpPr txBox="1"/>
          <p:nvPr/>
        </p:nvSpPr>
        <p:spPr>
          <a:xfrm>
            <a:off x="4389120" y="4672584"/>
            <a:ext cx="2468879" cy="365760"/>
          </a:xfrm>
          <a:prstGeom prst="rect">
            <a:avLst/>
          </a:prstGeom>
          <a:noFill/>
        </p:spPr>
        <p:txBody>
          <a:bodyPr wrap="square" lIns="0" rIns="0" tIns="0" bIns="0" anchor="ctr">
            <a:spAutoFit/>
          </a:bodyPr>
          <a:lstStyle/>
          <a:p>
            <a:pPr algn="l">
              <a:spcBef>
                <a:spcPts val="0"/>
              </a:spcBef>
              <a:spcAft>
                <a:spcPts val="0"/>
              </a:spcAft>
            </a:pPr>
            <a:r>
              <a:rPr sz="1350" b="1" i="0">
                <a:solidFill>
                  <a:srgbClr val="1E7B4F"/>
                </a:solidFill>
                <a:latin typeface="Calibri"/>
              </a:rPr>
              <a:t>same ✓</a:t>
            </a:r>
          </a:p>
        </p:txBody>
      </p:sp>
      <p:cxnSp>
        <p:nvCxnSpPr>
          <p:cNvPr id="47" name="Connector 46"/>
          <p:cNvCxnSpPr/>
          <p:nvPr/>
        </p:nvCxnSpPr>
        <p:spPr>
          <a:xfrm>
            <a:off x="548640" y="5038344"/>
            <a:ext cx="6400800" cy="0"/>
          </a:xfrm>
          <a:prstGeom prst="line">
            <a:avLst/>
          </a:prstGeom>
          <a:ln w="12700">
            <a:solidFill>
              <a:srgbClr val="D3D9E1"/>
            </a:solidFill>
          </a:ln>
        </p:spPr>
      </p:cxnSp>
      <p:sp>
        <p:nvSpPr>
          <p:cNvPr id="48" name="TextBox 47"/>
          <p:cNvSpPr txBox="1"/>
          <p:nvPr/>
        </p:nvSpPr>
        <p:spPr>
          <a:xfrm>
            <a:off x="640080" y="5038344"/>
            <a:ext cx="960120" cy="548640"/>
          </a:xfrm>
          <a:prstGeom prst="rect">
            <a:avLst/>
          </a:prstGeom>
          <a:noFill/>
        </p:spPr>
        <p:txBody>
          <a:bodyPr wrap="square" lIns="0" rIns="0" tIns="0" bIns="0" anchor="ctr">
            <a:spAutoFit/>
          </a:bodyPr>
          <a:lstStyle/>
          <a:p>
            <a:pPr algn="l">
              <a:spcBef>
                <a:spcPts val="0"/>
              </a:spcBef>
              <a:spcAft>
                <a:spcPts val="0"/>
              </a:spcAft>
            </a:pPr>
            <a:r>
              <a:rPr sz="1350" b="1" i="0">
                <a:solidFill>
                  <a:srgbClr val="14202E"/>
                </a:solidFill>
                <a:latin typeface="Calibri"/>
              </a:rPr>
              <a:t>AggVerify</a:t>
            </a:r>
          </a:p>
        </p:txBody>
      </p:sp>
      <p:sp>
        <p:nvSpPr>
          <p:cNvPr id="49" name="TextBox 48"/>
          <p:cNvSpPr txBox="1"/>
          <p:nvPr/>
        </p:nvSpPr>
        <p:spPr>
          <a:xfrm>
            <a:off x="1783080" y="5038344"/>
            <a:ext cx="2423160" cy="548640"/>
          </a:xfrm>
          <a:prstGeom prst="rect">
            <a:avLst/>
          </a:prstGeom>
          <a:noFill/>
        </p:spPr>
        <p:txBody>
          <a:bodyPr wrap="square" lIns="0" rIns="0" tIns="0" bIns="0" anchor="ctr">
            <a:spAutoFit/>
          </a:bodyPr>
          <a:lstStyle/>
          <a:p>
            <a:pPr algn="l">
              <a:spcBef>
                <a:spcPts val="0"/>
              </a:spcBef>
              <a:spcAft>
                <a:spcPts val="0"/>
              </a:spcAft>
            </a:pPr>
            <a:r>
              <a:rPr sz="1350" b="0" i="0">
                <a:solidFill>
                  <a:srgbClr val="14202E"/>
                </a:solidFill>
                <a:latin typeface="Cambria"/>
              </a:rPr>
              <a:t>(</a:t>
            </a:r>
            <a:r>
              <a:rPr sz="1350" b="0" i="1">
                <a:solidFill>
                  <a:srgbClr val="14202E"/>
                </a:solidFill>
                <a:latin typeface="Cambria"/>
              </a:rPr>
              <a:t>n</a:t>
            </a:r>
            <a:r>
              <a:rPr sz="1350" b="0" i="0">
                <a:solidFill>
                  <a:srgbClr val="14202E"/>
                </a:solidFill>
                <a:latin typeface="Cambria"/>
              </a:rPr>
              <a:t>+2)</a:t>
            </a:r>
            <a:r>
              <a:rPr sz="1350" b="0" i="1">
                <a:solidFill>
                  <a:srgbClr val="14202E"/>
                </a:solidFill>
                <a:latin typeface="Cambria"/>
              </a:rPr>
              <a:t>T</a:t>
            </a:r>
            <a:r>
              <a:rPr sz="1350" b="0" i="1" baseline="-25000">
                <a:solidFill>
                  <a:srgbClr val="14202E"/>
                </a:solidFill>
                <a:latin typeface="Cambria"/>
              </a:rPr>
              <a:t>e</a:t>
            </a:r>
            <a:r>
              <a:rPr sz="1350" b="0" i="0">
                <a:solidFill>
                  <a:srgbClr val="14202E"/>
                </a:solidFill>
                <a:latin typeface="Cambria"/>
              </a:rPr>
              <a:t> + (</a:t>
            </a:r>
            <a:r>
              <a:rPr sz="1350" b="0" i="1">
                <a:solidFill>
                  <a:srgbClr val="14202E"/>
                </a:solidFill>
                <a:latin typeface="Cambria"/>
              </a:rPr>
              <a:t>n</a:t>
            </a:r>
            <a:r>
              <a:rPr sz="1350" b="0" i="0">
                <a:solidFill>
                  <a:srgbClr val="14202E"/>
                </a:solidFill>
                <a:latin typeface="Cambria"/>
              </a:rPr>
              <a:t>+1)</a:t>
            </a:r>
            <a:r>
              <a:rPr sz="1350" b="0" i="1">
                <a:solidFill>
                  <a:srgbClr val="14202E"/>
                </a:solidFill>
                <a:latin typeface="Cambria"/>
              </a:rPr>
              <a:t>T</a:t>
            </a:r>
            <a:r>
              <a:rPr sz="1350" b="0" i="1" baseline="-25000">
                <a:solidFill>
                  <a:srgbClr val="14202E"/>
                </a:solidFill>
                <a:latin typeface="Cambria"/>
              </a:rPr>
              <a:t>a</a:t>
            </a:r>
            <a:r>
              <a:rPr sz="1350" b="0" i="0">
                <a:solidFill>
                  <a:srgbClr val="14202E"/>
                </a:solidFill>
                <a:latin typeface="Cambria"/>
              </a:rPr>
              <a:t> + 2</a:t>
            </a:r>
            <a:r>
              <a:rPr sz="1350" b="0" i="1">
                <a:solidFill>
                  <a:srgbClr val="14202E"/>
                </a:solidFill>
                <a:latin typeface="Cambria"/>
              </a:rPr>
              <a:t>nT</a:t>
            </a:r>
            <a:r>
              <a:rPr sz="1350" b="0" i="1" baseline="-25000">
                <a:solidFill>
                  <a:srgbClr val="14202E"/>
                </a:solidFill>
                <a:latin typeface="Cambria"/>
              </a:rPr>
              <a:t>h</a:t>
            </a:r>
          </a:p>
        </p:txBody>
      </p:sp>
      <p:sp>
        <p:nvSpPr>
          <p:cNvPr id="50" name="TextBox 49"/>
          <p:cNvSpPr txBox="1"/>
          <p:nvPr/>
        </p:nvSpPr>
        <p:spPr>
          <a:xfrm>
            <a:off x="4389120" y="5038344"/>
            <a:ext cx="2468879" cy="548640"/>
          </a:xfrm>
          <a:prstGeom prst="rect">
            <a:avLst/>
          </a:prstGeom>
          <a:noFill/>
        </p:spPr>
        <p:txBody>
          <a:bodyPr wrap="square" lIns="0" rIns="0" tIns="0" bIns="0" anchor="ctr">
            <a:spAutoFit/>
          </a:bodyPr>
          <a:lstStyle/>
          <a:p>
            <a:pPr algn="l">
              <a:spcBef>
                <a:spcPts val="0"/>
              </a:spcBef>
              <a:spcAft>
                <a:spcPts val="0"/>
              </a:spcAft>
            </a:pPr>
            <a:r>
              <a:rPr sz="1350" b="1" i="0">
                <a:solidFill>
                  <a:srgbClr val="1E7B4F"/>
                </a:solidFill>
                <a:latin typeface="Calibri"/>
              </a:rPr>
              <a:t>same ✓</a:t>
            </a:r>
          </a:p>
        </p:txBody>
      </p:sp>
      <p:cxnSp>
        <p:nvCxnSpPr>
          <p:cNvPr id="51" name="Connector 50"/>
          <p:cNvCxnSpPr/>
          <p:nvPr/>
        </p:nvCxnSpPr>
        <p:spPr>
          <a:xfrm>
            <a:off x="548640" y="5586984"/>
            <a:ext cx="6400800" cy="0"/>
          </a:xfrm>
          <a:prstGeom prst="line">
            <a:avLst/>
          </a:prstGeom>
          <a:ln w="12700">
            <a:solidFill>
              <a:srgbClr val="D3D9E1"/>
            </a:solidFill>
          </a:ln>
        </p:spPr>
      </p:cxnSp>
      <p:pic>
        <p:nvPicPr>
          <p:cNvPr id="52" name="Picture 51" descr="fig_per_signer.png"/>
          <p:cNvPicPr>
            <a:picLocks noChangeAspect="1"/>
          </p:cNvPicPr>
          <p:nvPr/>
        </p:nvPicPr>
        <p:blipFill>
          <a:blip r:embed="rId3"/>
          <a:stretch>
            <a:fillRect/>
          </a:stretch>
        </p:blipFill>
        <p:spPr>
          <a:xfrm>
            <a:off x="6949440" y="1508760"/>
            <a:ext cx="4663440" cy="3664131"/>
          </a:xfrm>
          <a:prstGeom prst="rect">
            <a:avLst/>
          </a:prstGeom>
        </p:spPr>
      </p:pic>
      <p:sp>
        <p:nvSpPr>
          <p:cNvPr id="53" name="TextBox 52"/>
          <p:cNvSpPr txBox="1"/>
          <p:nvPr/>
        </p:nvSpPr>
        <p:spPr>
          <a:xfrm>
            <a:off x="548640" y="5852160"/>
            <a:ext cx="10972800" cy="274320"/>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Counted on both backends (identical); Verma's printed Sign omits one </a:t>
            </a:r>
            <a:r>
              <a:rPr sz="1250" b="0" i="1">
                <a:solidFill>
                  <a:srgbClr val="5B6675"/>
                </a:solidFill>
                <a:latin typeface="Cambria"/>
              </a:rPr>
              <a:t>T</a:t>
            </a:r>
            <a:r>
              <a:rPr sz="1250" b="0" i="1" baseline="-25000">
                <a:solidFill>
                  <a:srgbClr val="5B6675"/>
                </a:solidFill>
                <a:latin typeface="Cambria"/>
              </a:rPr>
              <a:t>a</a:t>
            </a:r>
            <a:r>
              <a:rPr sz="1250" b="0" i="0">
                <a:solidFill>
                  <a:srgbClr val="5B6675"/>
                </a:solidFill>
                <a:latin typeface="Calibri"/>
              </a:rPr>
              <a:t> (negligible).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9AA5B1"/>
          </a:solidFill>
          <a:ln>
            <a:noFill/>
          </a:ln>
          <a:effectLst/>
        </p:spPr>
        <p:txBody>
          <a:bodyPr rtlCol="0" anchor="ctr" wrap="square" lIns="73152" rIns="73152" tIns="36576" bIns="36576"/>
          <a:lstStyle/>
          <a:p>
            <a:pPr algn="ctr"/>
          </a:p>
        </p:txBody>
      </p:sp>
      <p:sp>
        <p:nvSpPr>
          <p:cNvPr id="3" name="TextBox 2"/>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BACKUP · CACHING</a:t>
            </a:r>
          </a:p>
        </p:txBody>
      </p:sp>
      <p:sp>
        <p:nvSpPr>
          <p:cNvPr id="4" name="TextBox 3"/>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B8 · Caching and precomputation, in full</a:t>
            </a:r>
          </a:p>
        </p:txBody>
      </p:sp>
      <p:sp>
        <p:nvSpPr>
          <p:cNvPr id="5" name="Rounded Rectangle 4"/>
          <p:cNvSpPr/>
          <p:nvPr/>
        </p:nvSpPr>
        <p:spPr>
          <a:xfrm>
            <a:off x="10736884" y="274320"/>
            <a:ext cx="903427" cy="246888"/>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OUR AUDIT</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Backup B8</a:t>
            </a:r>
          </a:p>
        </p:txBody>
      </p:sp>
      <p:sp>
        <p:nvSpPr>
          <p:cNvPr id="9" name="Rectangle 8"/>
          <p:cNvSpPr/>
          <p:nvPr/>
        </p:nvSpPr>
        <p:spPr>
          <a:xfrm>
            <a:off x="548640" y="1508760"/>
            <a:ext cx="11091672" cy="384048"/>
          </a:xfrm>
          <a:prstGeom prst="rect">
            <a:avLst/>
          </a:prstGeom>
          <a:solidFill>
            <a:srgbClr val="F2F5F8"/>
          </a:solidFill>
          <a:ln>
            <a:noFill/>
          </a:ln>
          <a:effectLst/>
        </p:spPr>
        <p:txBody>
          <a:bodyPr rtlCol="0" anchor="ctr" wrap="square" lIns="73152" rIns="73152" tIns="36576" bIns="36576"/>
          <a:lstStyle/>
          <a:p>
            <a:pPr algn="ctr"/>
          </a:p>
        </p:txBody>
      </p:sp>
      <p:sp>
        <p:nvSpPr>
          <p:cNvPr id="10" name="TextBox 9"/>
          <p:cNvSpPr txBox="1"/>
          <p:nvPr/>
        </p:nvSpPr>
        <p:spPr>
          <a:xfrm>
            <a:off x="640080" y="1508760"/>
            <a:ext cx="2926079" cy="384048"/>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CONVENTION</a:t>
            </a:r>
          </a:p>
        </p:txBody>
      </p:sp>
      <p:sp>
        <p:nvSpPr>
          <p:cNvPr id="11" name="TextBox 10"/>
          <p:cNvSpPr txBox="1"/>
          <p:nvPr/>
        </p:nvSpPr>
        <p:spPr>
          <a:xfrm>
            <a:off x="3749039" y="1508760"/>
            <a:ext cx="2331720" cy="384048"/>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QIAO · ONE VERIFY</a:t>
            </a:r>
          </a:p>
        </p:txBody>
      </p:sp>
      <p:sp>
        <p:nvSpPr>
          <p:cNvPr id="12" name="TextBox 11"/>
          <p:cNvSpPr txBox="1"/>
          <p:nvPr/>
        </p:nvSpPr>
        <p:spPr>
          <a:xfrm>
            <a:off x="6263640" y="1508760"/>
            <a:ext cx="2331720" cy="384048"/>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VERMA · ONE VERIFY</a:t>
            </a:r>
          </a:p>
        </p:txBody>
      </p:sp>
      <p:sp>
        <p:nvSpPr>
          <p:cNvPr id="13" name="TextBox 12"/>
          <p:cNvSpPr txBox="1"/>
          <p:nvPr/>
        </p:nvSpPr>
        <p:spPr>
          <a:xfrm>
            <a:off x="8778240" y="1508760"/>
            <a:ext cx="2770632" cy="384048"/>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QIAO · AGGVERIFY, n = 100</a:t>
            </a:r>
          </a:p>
        </p:txBody>
      </p:sp>
      <p:cxnSp>
        <p:nvCxnSpPr>
          <p:cNvPr id="14" name="Connector 13"/>
          <p:cNvCxnSpPr/>
          <p:nvPr/>
        </p:nvCxnSpPr>
        <p:spPr>
          <a:xfrm>
            <a:off x="548640" y="1892807"/>
            <a:ext cx="11091671" cy="0"/>
          </a:xfrm>
          <a:prstGeom prst="line">
            <a:avLst/>
          </a:prstGeom>
          <a:ln w="15875">
            <a:solidFill>
              <a:srgbClr val="5B6675"/>
            </a:solidFill>
          </a:ln>
        </p:spPr>
      </p:cxnSp>
      <p:sp>
        <p:nvSpPr>
          <p:cNvPr id="15" name="TextBox 14"/>
          <p:cNvSpPr txBox="1"/>
          <p:nvPr/>
        </p:nvSpPr>
        <p:spPr>
          <a:xfrm>
            <a:off x="640080" y="1892807"/>
            <a:ext cx="2926079" cy="566928"/>
          </a:xfrm>
          <a:prstGeom prst="rect">
            <a:avLst/>
          </a:prstGeom>
          <a:noFill/>
        </p:spPr>
        <p:txBody>
          <a:bodyPr wrap="square" lIns="0" rIns="0" tIns="0" bIns="0" anchor="ctr">
            <a:spAutoFit/>
          </a:bodyPr>
          <a:lstStyle/>
          <a:p>
            <a:pPr algn="l">
              <a:spcBef>
                <a:spcPts val="0"/>
              </a:spcBef>
              <a:spcAft>
                <a:spcPts val="0"/>
              </a:spcAft>
            </a:pPr>
            <a:r>
              <a:rPr sz="1500" b="1" i="0">
                <a:solidFill>
                  <a:srgbClr val="14202E"/>
                </a:solidFill>
                <a:latin typeface="Calibri"/>
              </a:rPr>
              <a:t>none</a:t>
            </a:r>
          </a:p>
        </p:txBody>
      </p:sp>
      <p:sp>
        <p:nvSpPr>
          <p:cNvPr id="16" name="TextBox 15"/>
          <p:cNvSpPr txBox="1"/>
          <p:nvPr/>
        </p:nvSpPr>
        <p:spPr>
          <a:xfrm>
            <a:off x="3749039" y="1892807"/>
            <a:ext cx="2331720" cy="566928"/>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4</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+ 3</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+ 3</a:t>
            </a:r>
            <a:r>
              <a:rPr sz="1500" b="0" i="1">
                <a:solidFill>
                  <a:srgbClr val="14202E"/>
                </a:solidFill>
                <a:latin typeface="Cambria"/>
              </a:rPr>
              <a:t>T</a:t>
            </a:r>
            <a:r>
              <a:rPr sz="1500" b="0" i="1" baseline="-25000">
                <a:solidFill>
                  <a:srgbClr val="14202E"/>
                </a:solidFill>
                <a:latin typeface="Cambria"/>
              </a:rPr>
              <a:t>h</a:t>
            </a:r>
          </a:p>
        </p:txBody>
      </p:sp>
      <p:sp>
        <p:nvSpPr>
          <p:cNvPr id="17" name="TextBox 16"/>
          <p:cNvSpPr txBox="1"/>
          <p:nvPr/>
        </p:nvSpPr>
        <p:spPr>
          <a:xfrm>
            <a:off x="6263640" y="1892807"/>
            <a:ext cx="2331720" cy="566928"/>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3</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h</a:t>
            </a:r>
          </a:p>
        </p:txBody>
      </p:sp>
      <p:sp>
        <p:nvSpPr>
          <p:cNvPr id="18" name="TextBox 17"/>
          <p:cNvSpPr txBox="1"/>
          <p:nvPr/>
        </p:nvSpPr>
        <p:spPr>
          <a:xfrm>
            <a:off x="8778240" y="1892807"/>
            <a:ext cx="2770632" cy="566928"/>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202</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+ 300</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+ 300</a:t>
            </a:r>
            <a:r>
              <a:rPr sz="1500" b="0" i="1">
                <a:solidFill>
                  <a:srgbClr val="14202E"/>
                </a:solidFill>
                <a:latin typeface="Cambria"/>
              </a:rPr>
              <a:t>T</a:t>
            </a:r>
            <a:r>
              <a:rPr sz="1500" b="0" i="1" baseline="-25000">
                <a:solidFill>
                  <a:srgbClr val="14202E"/>
                </a:solidFill>
                <a:latin typeface="Cambria"/>
              </a:rPr>
              <a:t>h</a:t>
            </a:r>
          </a:p>
        </p:txBody>
      </p:sp>
      <p:cxnSp>
        <p:nvCxnSpPr>
          <p:cNvPr id="19" name="Connector 18"/>
          <p:cNvCxnSpPr/>
          <p:nvPr/>
        </p:nvCxnSpPr>
        <p:spPr>
          <a:xfrm>
            <a:off x="548640" y="2459736"/>
            <a:ext cx="11091671" cy="0"/>
          </a:xfrm>
          <a:prstGeom prst="line">
            <a:avLst/>
          </a:prstGeom>
          <a:ln w="12700">
            <a:solidFill>
              <a:srgbClr val="D3D9E1"/>
            </a:solidFill>
          </a:ln>
        </p:spPr>
      </p:cxnSp>
      <p:sp>
        <p:nvSpPr>
          <p:cNvPr id="20" name="TextBox 19"/>
          <p:cNvSpPr txBox="1"/>
          <p:nvPr/>
        </p:nvSpPr>
        <p:spPr>
          <a:xfrm>
            <a:off x="640080" y="2459736"/>
            <a:ext cx="2926079" cy="566928"/>
          </a:xfrm>
          <a:prstGeom prst="rect">
            <a:avLst/>
          </a:prstGeom>
          <a:noFill/>
        </p:spPr>
        <p:txBody>
          <a:bodyPr wrap="square" lIns="0" rIns="0" tIns="0" bIns="0" anchor="ctr">
            <a:spAutoFit/>
          </a:bodyPr>
          <a:lstStyle/>
          <a:p>
            <a:pPr algn="l">
              <a:spcBef>
                <a:spcPts val="0"/>
              </a:spcBef>
              <a:spcAft>
                <a:spcPts val="0"/>
              </a:spcAft>
            </a:pPr>
            <a:r>
              <a:rPr sz="1500" b="1" i="0">
                <a:solidFill>
                  <a:srgbClr val="14202E"/>
                </a:solidFill>
                <a:latin typeface="Calibri"/>
              </a:rPr>
              <a:t>cache </a:t>
            </a:r>
            <a:r>
              <a:rPr sz="1500" b="1" i="1">
                <a:solidFill>
                  <a:srgbClr val="14202E"/>
                </a:solidFill>
                <a:latin typeface="Cambria"/>
              </a:rPr>
              <a:t>h</a:t>
            </a:r>
            <a:r>
              <a:rPr sz="1500" b="1" i="1" baseline="30000">
                <a:solidFill>
                  <a:srgbClr val="14202E"/>
                </a:solidFill>
                <a:latin typeface="Cambria"/>
              </a:rPr>
              <a:t>i</a:t>
            </a:r>
            <a:r>
              <a:rPr sz="1500" b="1" i="0" baseline="-25000">
                <a:solidFill>
                  <a:srgbClr val="14202E"/>
                </a:solidFill>
                <a:latin typeface="Cambria"/>
              </a:rPr>
              <a:t>0</a:t>
            </a:r>
            <a:r>
              <a:rPr sz="1500" b="1" i="0">
                <a:solidFill>
                  <a:srgbClr val="14202E"/>
                </a:solidFill>
                <a:latin typeface="Calibri"/>
              </a:rPr>
              <a:t> only (derived)</a:t>
            </a:r>
          </a:p>
        </p:txBody>
      </p:sp>
      <p:sp>
        <p:nvSpPr>
          <p:cNvPr id="21" name="TextBox 20"/>
          <p:cNvSpPr txBox="1"/>
          <p:nvPr/>
        </p:nvSpPr>
        <p:spPr>
          <a:xfrm>
            <a:off x="3749039" y="2459736"/>
            <a:ext cx="2331720" cy="566928"/>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4</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+ 3</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h</a:t>
            </a:r>
          </a:p>
        </p:txBody>
      </p:sp>
      <p:sp>
        <p:nvSpPr>
          <p:cNvPr id="22" name="TextBox 21"/>
          <p:cNvSpPr txBox="1"/>
          <p:nvPr/>
        </p:nvSpPr>
        <p:spPr>
          <a:xfrm>
            <a:off x="6263640" y="2459736"/>
            <a:ext cx="2331720" cy="566928"/>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3</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+ 1</a:t>
            </a:r>
            <a:r>
              <a:rPr sz="1500" b="0" i="1">
                <a:solidFill>
                  <a:srgbClr val="14202E"/>
                </a:solidFill>
                <a:latin typeface="Cambria"/>
              </a:rPr>
              <a:t>T</a:t>
            </a:r>
            <a:r>
              <a:rPr sz="1500" b="0" i="1" baseline="-25000">
                <a:solidFill>
                  <a:srgbClr val="14202E"/>
                </a:solidFill>
                <a:latin typeface="Cambria"/>
              </a:rPr>
              <a:t>h</a:t>
            </a:r>
          </a:p>
        </p:txBody>
      </p:sp>
      <p:sp>
        <p:nvSpPr>
          <p:cNvPr id="23" name="TextBox 22"/>
          <p:cNvSpPr txBox="1"/>
          <p:nvPr/>
        </p:nvSpPr>
        <p:spPr>
          <a:xfrm>
            <a:off x="8778240" y="2459736"/>
            <a:ext cx="2770632" cy="566928"/>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202</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+ 300</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+ 200</a:t>
            </a:r>
            <a:r>
              <a:rPr sz="1500" b="0" i="1">
                <a:solidFill>
                  <a:srgbClr val="14202E"/>
                </a:solidFill>
                <a:latin typeface="Cambria"/>
              </a:rPr>
              <a:t>T</a:t>
            </a:r>
            <a:r>
              <a:rPr sz="1500" b="0" i="1" baseline="-25000">
                <a:solidFill>
                  <a:srgbClr val="14202E"/>
                </a:solidFill>
                <a:latin typeface="Cambria"/>
              </a:rPr>
              <a:t>h</a:t>
            </a:r>
          </a:p>
        </p:txBody>
      </p:sp>
      <p:cxnSp>
        <p:nvCxnSpPr>
          <p:cNvPr id="24" name="Connector 23"/>
          <p:cNvCxnSpPr/>
          <p:nvPr/>
        </p:nvCxnSpPr>
        <p:spPr>
          <a:xfrm>
            <a:off x="548640" y="3026664"/>
            <a:ext cx="11091671" cy="0"/>
          </a:xfrm>
          <a:prstGeom prst="line">
            <a:avLst/>
          </a:prstGeom>
          <a:ln w="12700">
            <a:solidFill>
              <a:srgbClr val="D3D9E1"/>
            </a:solidFill>
          </a:ln>
        </p:spPr>
      </p:cxnSp>
      <p:sp>
        <p:nvSpPr>
          <p:cNvPr id="25" name="TextBox 24"/>
          <p:cNvSpPr txBox="1"/>
          <p:nvPr/>
        </p:nvSpPr>
        <p:spPr>
          <a:xfrm>
            <a:off x="640080" y="3026664"/>
            <a:ext cx="2926079" cy="566928"/>
          </a:xfrm>
          <a:prstGeom prst="rect">
            <a:avLst/>
          </a:prstGeom>
          <a:noFill/>
        </p:spPr>
        <p:txBody>
          <a:bodyPr wrap="square" lIns="0" rIns="0" tIns="0" bIns="0" anchor="ctr">
            <a:spAutoFit/>
          </a:bodyPr>
          <a:lstStyle/>
          <a:p>
            <a:pPr algn="l">
              <a:spcBef>
                <a:spcPts val="0"/>
              </a:spcBef>
              <a:spcAft>
                <a:spcPts val="0"/>
              </a:spcAft>
            </a:pPr>
            <a:r>
              <a:rPr sz="1500" b="1" i="0">
                <a:solidFill>
                  <a:srgbClr val="14202E"/>
                </a:solidFill>
                <a:latin typeface="Calibri"/>
              </a:rPr>
              <a:t>cache </a:t>
            </a:r>
            <a:r>
              <a:rPr sz="1500" b="1" i="1">
                <a:solidFill>
                  <a:srgbClr val="14202E"/>
                </a:solidFill>
                <a:latin typeface="Cambria"/>
              </a:rPr>
              <a:t>C</a:t>
            </a:r>
            <a:r>
              <a:rPr sz="1500" b="1" i="1" baseline="-25000">
                <a:solidFill>
                  <a:srgbClr val="14202E"/>
                </a:solidFill>
                <a:latin typeface="Cambria"/>
              </a:rPr>
              <a:t>i</a:t>
            </a:r>
            <a:r>
              <a:rPr sz="1500" b="1" i="0">
                <a:solidFill>
                  <a:srgbClr val="14202E"/>
                </a:solidFill>
                <a:latin typeface="Calibri"/>
              </a:rPr>
              <a:t> (Verma: </a:t>
            </a:r>
            <a:r>
              <a:rPr sz="1500" b="1" i="1">
                <a:solidFill>
                  <a:srgbClr val="14202E"/>
                </a:solidFill>
                <a:latin typeface="Cambria"/>
              </a:rPr>
              <a:t>h</a:t>
            </a:r>
            <a:r>
              <a:rPr sz="1500" b="1" i="1" baseline="30000">
                <a:solidFill>
                  <a:srgbClr val="14202E"/>
                </a:solidFill>
                <a:latin typeface="Cambria"/>
              </a:rPr>
              <a:t>i</a:t>
            </a:r>
            <a:r>
              <a:rPr sz="1500" b="1" i="0" baseline="-25000">
                <a:solidFill>
                  <a:srgbClr val="14202E"/>
                </a:solidFill>
                <a:latin typeface="Cambria"/>
              </a:rPr>
              <a:t>0</a:t>
            </a:r>
            <a:r>
              <a:rPr sz="1500" b="1" i="1">
                <a:solidFill>
                  <a:srgbClr val="14202E"/>
                </a:solidFill>
                <a:latin typeface="Cambria"/>
              </a:rPr>
              <a:t>P</a:t>
            </a:r>
            <a:r>
              <a:rPr sz="1500" b="1" i="1" baseline="30000">
                <a:solidFill>
                  <a:srgbClr val="14202E"/>
                </a:solidFill>
                <a:latin typeface="Cambria"/>
              </a:rPr>
              <a:t>k</a:t>
            </a:r>
            <a:r>
              <a:rPr sz="1500" b="1" i="1" baseline="-25000">
                <a:solidFill>
                  <a:srgbClr val="14202E"/>
                </a:solidFill>
                <a:latin typeface="Cambria"/>
              </a:rPr>
              <a:t>TA</a:t>
            </a:r>
            <a:r>
              <a:rPr sz="1500" b="1" i="0">
                <a:solidFill>
                  <a:srgbClr val="14202E"/>
                </a:solidFill>
                <a:latin typeface="Calibri"/>
              </a:rPr>
              <a:t>)</a:t>
            </a:r>
          </a:p>
        </p:txBody>
      </p:sp>
      <p:sp>
        <p:nvSpPr>
          <p:cNvPr id="26" name="TextBox 25"/>
          <p:cNvSpPr txBox="1"/>
          <p:nvPr/>
        </p:nvSpPr>
        <p:spPr>
          <a:xfrm>
            <a:off x="3749039" y="3026664"/>
            <a:ext cx="2331720" cy="566928"/>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3</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h</a:t>
            </a:r>
          </a:p>
        </p:txBody>
      </p:sp>
      <p:sp>
        <p:nvSpPr>
          <p:cNvPr id="27" name="TextBox 26"/>
          <p:cNvSpPr txBox="1"/>
          <p:nvPr/>
        </p:nvSpPr>
        <p:spPr>
          <a:xfrm>
            <a:off x="6263640" y="3026664"/>
            <a:ext cx="2331720" cy="566928"/>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2</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+ 1</a:t>
            </a:r>
            <a:r>
              <a:rPr sz="1500" b="0" i="1">
                <a:solidFill>
                  <a:srgbClr val="14202E"/>
                </a:solidFill>
                <a:latin typeface="Cambria"/>
              </a:rPr>
              <a:t>T</a:t>
            </a:r>
            <a:r>
              <a:rPr sz="1500" b="0" i="1" baseline="-25000">
                <a:solidFill>
                  <a:srgbClr val="14202E"/>
                </a:solidFill>
                <a:latin typeface="Cambria"/>
              </a:rPr>
              <a:t>h</a:t>
            </a:r>
          </a:p>
        </p:txBody>
      </p:sp>
      <p:sp>
        <p:nvSpPr>
          <p:cNvPr id="28" name="TextBox 27"/>
          <p:cNvSpPr txBox="1"/>
          <p:nvPr/>
        </p:nvSpPr>
        <p:spPr>
          <a:xfrm>
            <a:off x="8778240" y="3026664"/>
            <a:ext cx="2770632" cy="566928"/>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201</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+ 299</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+ 200</a:t>
            </a:r>
            <a:r>
              <a:rPr sz="1500" b="0" i="1">
                <a:solidFill>
                  <a:srgbClr val="14202E"/>
                </a:solidFill>
                <a:latin typeface="Cambria"/>
              </a:rPr>
              <a:t>T</a:t>
            </a:r>
            <a:r>
              <a:rPr sz="1500" b="0" i="1" baseline="-25000">
                <a:solidFill>
                  <a:srgbClr val="14202E"/>
                </a:solidFill>
                <a:latin typeface="Cambria"/>
              </a:rPr>
              <a:t>h</a:t>
            </a:r>
          </a:p>
        </p:txBody>
      </p:sp>
      <p:cxnSp>
        <p:nvCxnSpPr>
          <p:cNvPr id="29" name="Connector 28"/>
          <p:cNvCxnSpPr/>
          <p:nvPr/>
        </p:nvCxnSpPr>
        <p:spPr>
          <a:xfrm>
            <a:off x="548640" y="3593592"/>
            <a:ext cx="11091671" cy="0"/>
          </a:xfrm>
          <a:prstGeom prst="line">
            <a:avLst/>
          </a:prstGeom>
          <a:ln w="12700">
            <a:solidFill>
              <a:srgbClr val="D3D9E1"/>
            </a:solidFill>
          </a:ln>
        </p:spPr>
      </p:cxnSp>
      <p:sp>
        <p:nvSpPr>
          <p:cNvPr id="30" name="TextBox 29"/>
          <p:cNvSpPr txBox="1"/>
          <p:nvPr/>
        </p:nvSpPr>
        <p:spPr>
          <a:xfrm>
            <a:off x="640080" y="3593592"/>
            <a:ext cx="2926079" cy="566928"/>
          </a:xfrm>
          <a:prstGeom prst="rect">
            <a:avLst/>
          </a:prstGeom>
          <a:noFill/>
        </p:spPr>
        <p:txBody>
          <a:bodyPr wrap="square" lIns="0" rIns="0" tIns="0" bIns="0" anchor="ctr">
            <a:spAutoFit/>
          </a:bodyPr>
          <a:lstStyle/>
          <a:p>
            <a:pPr algn="l">
              <a:spcBef>
                <a:spcPts val="0"/>
              </a:spcBef>
              <a:spcAft>
                <a:spcPts val="0"/>
              </a:spcAft>
            </a:pPr>
            <a:r>
              <a:rPr sz="1500" b="1" i="0">
                <a:solidFill>
                  <a:srgbClr val="5B6675"/>
                </a:solidFill>
                <a:latin typeface="Calibri"/>
              </a:rPr>
              <a:t>printed (Tables II and III)</a:t>
            </a:r>
          </a:p>
        </p:txBody>
      </p:sp>
      <p:sp>
        <p:nvSpPr>
          <p:cNvPr id="31" name="TextBox 30"/>
          <p:cNvSpPr txBox="1"/>
          <p:nvPr/>
        </p:nvSpPr>
        <p:spPr>
          <a:xfrm>
            <a:off x="3749039" y="3593592"/>
            <a:ext cx="2331720" cy="566928"/>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3</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h</a:t>
            </a:r>
          </a:p>
        </p:txBody>
      </p:sp>
      <p:sp>
        <p:nvSpPr>
          <p:cNvPr id="32" name="TextBox 31"/>
          <p:cNvSpPr txBox="1"/>
          <p:nvPr/>
        </p:nvSpPr>
        <p:spPr>
          <a:xfrm>
            <a:off x="6263640" y="3593592"/>
            <a:ext cx="2331720" cy="566928"/>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3</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+ 2</a:t>
            </a:r>
            <a:r>
              <a:rPr sz="1500" b="0" i="1">
                <a:solidFill>
                  <a:srgbClr val="14202E"/>
                </a:solidFill>
                <a:latin typeface="Cambria"/>
              </a:rPr>
              <a:t>T</a:t>
            </a:r>
            <a:r>
              <a:rPr sz="1500" b="0" i="1" baseline="-25000">
                <a:solidFill>
                  <a:srgbClr val="14202E"/>
                </a:solidFill>
                <a:latin typeface="Cambria"/>
              </a:rPr>
              <a:t>h</a:t>
            </a:r>
          </a:p>
        </p:txBody>
      </p:sp>
      <p:sp>
        <p:nvSpPr>
          <p:cNvPr id="33" name="TextBox 32"/>
          <p:cNvSpPr txBox="1"/>
          <p:nvPr/>
        </p:nvSpPr>
        <p:spPr>
          <a:xfrm>
            <a:off x="8778240" y="3593592"/>
            <a:ext cx="2770632" cy="566928"/>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mbria"/>
              </a:rPr>
              <a:t>102</a:t>
            </a:r>
            <a:r>
              <a:rPr sz="1500" b="0" i="1">
                <a:solidFill>
                  <a:srgbClr val="14202E"/>
                </a:solidFill>
                <a:latin typeface="Cambria"/>
              </a:rPr>
              <a:t>T</a:t>
            </a:r>
            <a:r>
              <a:rPr sz="1500" b="0" i="1" baseline="-25000">
                <a:solidFill>
                  <a:srgbClr val="14202E"/>
                </a:solidFill>
                <a:latin typeface="Cambria"/>
              </a:rPr>
              <a:t>e</a:t>
            </a:r>
            <a:r>
              <a:rPr sz="1500" b="0" i="0">
                <a:solidFill>
                  <a:srgbClr val="14202E"/>
                </a:solidFill>
                <a:latin typeface="Cambria"/>
              </a:rPr>
              <a:t> + 101</a:t>
            </a:r>
            <a:r>
              <a:rPr sz="1500" b="0" i="1">
                <a:solidFill>
                  <a:srgbClr val="14202E"/>
                </a:solidFill>
                <a:latin typeface="Cambria"/>
              </a:rPr>
              <a:t>T</a:t>
            </a:r>
            <a:r>
              <a:rPr sz="1500" b="0" i="1" baseline="-25000">
                <a:solidFill>
                  <a:srgbClr val="14202E"/>
                </a:solidFill>
                <a:latin typeface="Cambria"/>
              </a:rPr>
              <a:t>a</a:t>
            </a:r>
            <a:r>
              <a:rPr sz="1500" b="0" i="0">
                <a:solidFill>
                  <a:srgbClr val="14202E"/>
                </a:solidFill>
                <a:latin typeface="Cambria"/>
              </a:rPr>
              <a:t> + 200</a:t>
            </a:r>
            <a:r>
              <a:rPr sz="1500" b="0" i="1">
                <a:solidFill>
                  <a:srgbClr val="14202E"/>
                </a:solidFill>
                <a:latin typeface="Cambria"/>
              </a:rPr>
              <a:t>T</a:t>
            </a:r>
            <a:r>
              <a:rPr sz="1500" b="0" i="1" baseline="-25000">
                <a:solidFill>
                  <a:srgbClr val="14202E"/>
                </a:solidFill>
                <a:latin typeface="Cambria"/>
              </a:rPr>
              <a:t>h</a:t>
            </a:r>
          </a:p>
        </p:txBody>
      </p:sp>
      <p:cxnSp>
        <p:nvCxnSpPr>
          <p:cNvPr id="34" name="Connector 33"/>
          <p:cNvCxnSpPr/>
          <p:nvPr/>
        </p:nvCxnSpPr>
        <p:spPr>
          <a:xfrm>
            <a:off x="548640" y="4160520"/>
            <a:ext cx="11091671" cy="0"/>
          </a:xfrm>
          <a:prstGeom prst="line">
            <a:avLst/>
          </a:prstGeom>
          <a:ln w="12700">
            <a:solidFill>
              <a:srgbClr val="D3D9E1"/>
            </a:solidFill>
          </a:ln>
        </p:spPr>
      </p:cxnSp>
      <p:sp>
        <p:nvSpPr>
          <p:cNvPr id="35" name="TextBox 34"/>
          <p:cNvSpPr txBox="1"/>
          <p:nvPr/>
        </p:nvSpPr>
        <p:spPr>
          <a:xfrm>
            <a:off x="548640" y="4434840"/>
            <a:ext cx="11064240" cy="1371600"/>
          </a:xfrm>
          <a:prstGeom prst="rect">
            <a:avLst/>
          </a:prstGeom>
          <a:noFill/>
        </p:spPr>
        <p:txBody>
          <a:bodyPr wrap="square" lIns="0" rIns="0" tIns="0" bIns="0" anchor="t">
            <a:spAutoFit/>
          </a:bodyPr>
          <a:lstStyle/>
          <a:p>
            <a:pPr algn="l" marL="256032" indent="-256032">
              <a:spcBef>
                <a:spcPts val="0"/>
              </a:spcBef>
              <a:spcAft>
                <a:spcPts val="500"/>
              </a:spcAft>
              <a:buFont typeface="Arial"/>
              <a:buChar char="•"/>
            </a:pPr>
            <a:r>
              <a:rPr sz="1550" b="0" i="1">
                <a:solidFill>
                  <a:srgbClr val="14202E"/>
                </a:solidFill>
                <a:latin typeface="Cambria"/>
              </a:rPr>
              <a:t>C</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R</a:t>
            </a:r>
            <a:r>
              <a:rPr sz="1550" b="0" i="1" baseline="-25000">
                <a:solidFill>
                  <a:srgbClr val="14202E"/>
                </a:solidFill>
                <a:latin typeface="Cambria"/>
              </a:rPr>
              <a:t>i</a:t>
            </a:r>
            <a:r>
              <a:rPr sz="1550" b="0" i="0">
                <a:solidFill>
                  <a:srgbClr val="14202E"/>
                </a:solidFill>
                <a:latin typeface="Cambria"/>
              </a:rPr>
              <a:t> + </a:t>
            </a:r>
            <a:r>
              <a:rPr sz="1550" b="0" i="1">
                <a:solidFill>
                  <a:srgbClr val="14202E"/>
                </a:solidFill>
                <a:latin typeface="Cambria"/>
              </a:rPr>
              <a:t>h</a:t>
            </a:r>
            <a:r>
              <a:rPr sz="1550" b="0" i="1" baseline="30000">
                <a:solidFill>
                  <a:srgbClr val="14202E"/>
                </a:solidFill>
                <a:latin typeface="Cambria"/>
              </a:rPr>
              <a:t>i</a:t>
            </a:r>
            <a:r>
              <a:rPr sz="1550" b="0" i="0" baseline="-25000">
                <a:solidFill>
                  <a:srgbClr val="14202E"/>
                </a:solidFill>
                <a:latin typeface="Cambria"/>
              </a:rPr>
              <a:t>0</a:t>
            </a:r>
            <a:r>
              <a:rPr sz="1550" b="0" i="1">
                <a:solidFill>
                  <a:srgbClr val="14202E"/>
                </a:solidFill>
                <a:latin typeface="Cambria"/>
              </a:rPr>
              <a:t>P</a:t>
            </a:r>
            <a:r>
              <a:rPr sz="1550" b="0" i="1" baseline="30000">
                <a:solidFill>
                  <a:srgbClr val="14202E"/>
                </a:solidFill>
                <a:latin typeface="Cambria"/>
              </a:rPr>
              <a:t>k</a:t>
            </a:r>
            <a:r>
              <a:rPr sz="1550" b="0" i="1" baseline="-25000">
                <a:solidFill>
                  <a:srgbClr val="14202E"/>
                </a:solidFill>
                <a:latin typeface="Cambria"/>
              </a:rPr>
              <a:t>TA</a:t>
            </a:r>
            <a:r>
              <a:rPr sz="1550" b="0" i="0">
                <a:solidFill>
                  <a:srgbClr val="14202E"/>
                </a:solidFill>
                <a:latin typeface="Calibri"/>
              </a:rPr>
              <a:t> equals </a:t>
            </a:r>
            <a:r>
              <a:rPr sz="1550" b="0" i="1">
                <a:solidFill>
                  <a:srgbClr val="14202E"/>
                </a:solidFill>
                <a:latin typeface="Cambria"/>
              </a:rPr>
              <a:t>c</a:t>
            </a:r>
            <a:r>
              <a:rPr sz="1550" b="0" i="1" baseline="-25000">
                <a:solidFill>
                  <a:srgbClr val="14202E"/>
                </a:solidFill>
                <a:latin typeface="Cambria"/>
              </a:rPr>
              <a:t>i</a:t>
            </a:r>
            <a:r>
              <a:rPr sz="1550" b="0" i="1">
                <a:solidFill>
                  <a:srgbClr val="14202E"/>
                </a:solidFill>
                <a:latin typeface="Cambria"/>
              </a:rPr>
              <a:t>P</a:t>
            </a:r>
            <a:r>
              <a:rPr sz="1550" b="0" i="0">
                <a:solidFill>
                  <a:srgbClr val="14202E"/>
                </a:solidFill>
                <a:latin typeface="Calibri"/>
              </a:rPr>
              <a:t>: static per signer, so a verifier serving a fixed fleet could store it.</a:t>
            </a:r>
          </a:p>
          <a:p>
            <a:pPr algn="l" marL="256032" indent="-256032">
              <a:spcBef>
                <a:spcPts val="0"/>
              </a:spcBef>
              <a:spcAft>
                <a:spcPts val="500"/>
              </a:spcAft>
              <a:buFont typeface="Arial"/>
              <a:buChar char="•"/>
            </a:pPr>
            <a:r>
              <a:rPr sz="1550" b="0" i="0">
                <a:solidFill>
                  <a:srgbClr val="14202E"/>
                </a:solidFill>
                <a:latin typeface="Calibri"/>
              </a:rPr>
              <a:t>Folding: </a:t>
            </a:r>
            <a:r>
              <a:rPr sz="1550" b="0" i="0">
                <a:solidFill>
                  <a:srgbClr val="14202E"/>
                </a:solidFill>
                <a:latin typeface="Cambria"/>
              </a:rPr>
              <a:t>Σ</a:t>
            </a:r>
            <a:r>
              <a:rPr sz="1550" b="0" i="1">
                <a:solidFill>
                  <a:srgbClr val="14202E"/>
                </a:solidFill>
                <a:latin typeface="Cambria"/>
              </a:rPr>
              <a:t>u</a:t>
            </a:r>
            <a:r>
              <a:rPr sz="1550" b="0" i="1" baseline="-25000">
                <a:solidFill>
                  <a:srgbClr val="14202E"/>
                </a:solidFill>
                <a:latin typeface="Cambria"/>
              </a:rPr>
              <a:t>i</a:t>
            </a:r>
            <a:r>
              <a:rPr sz="1550" b="0" i="1">
                <a:solidFill>
                  <a:srgbClr val="14202E"/>
                </a:solidFill>
                <a:latin typeface="Cambria"/>
              </a:rPr>
              <a:t>R</a:t>
            </a:r>
            <a:r>
              <a:rPr sz="1550" b="0" i="1" baseline="-25000">
                <a:solidFill>
                  <a:srgbClr val="14202E"/>
                </a:solidFill>
                <a:latin typeface="Cambria"/>
              </a:rPr>
              <a:t>i</a:t>
            </a:r>
            <a:r>
              <a:rPr sz="1550" b="0" i="0">
                <a:solidFill>
                  <a:srgbClr val="14202E"/>
                </a:solidFill>
                <a:latin typeface="Cambria"/>
              </a:rPr>
              <a:t> + (Σ</a:t>
            </a:r>
            <a:r>
              <a:rPr sz="1550" b="0" i="1">
                <a:solidFill>
                  <a:srgbClr val="14202E"/>
                </a:solidFill>
                <a:latin typeface="Cambria"/>
              </a:rPr>
              <a:t>u</a:t>
            </a:r>
            <a:r>
              <a:rPr sz="1550" b="0" i="1" baseline="-25000">
                <a:solidFill>
                  <a:srgbClr val="14202E"/>
                </a:solidFill>
                <a:latin typeface="Cambria"/>
              </a:rPr>
              <a:t>i</a:t>
            </a:r>
            <a:r>
              <a:rPr sz="1550" b="0" i="1">
                <a:solidFill>
                  <a:srgbClr val="14202E"/>
                </a:solidFill>
                <a:latin typeface="Cambria"/>
              </a:rPr>
              <a:t>h</a:t>
            </a:r>
            <a:r>
              <a:rPr sz="1550" b="0" i="1" baseline="30000">
                <a:solidFill>
                  <a:srgbClr val="14202E"/>
                </a:solidFill>
                <a:latin typeface="Cambria"/>
              </a:rPr>
              <a:t>i</a:t>
            </a:r>
            <a:r>
              <a:rPr sz="1550" b="0" i="0" baseline="-25000">
                <a:solidFill>
                  <a:srgbClr val="14202E"/>
                </a:solidFill>
                <a:latin typeface="Cambria"/>
              </a:rPr>
              <a:t>0</a:t>
            </a:r>
            <a:r>
              <a:rPr sz="1550" b="0" i="0">
                <a:solidFill>
                  <a:srgbClr val="14202E"/>
                </a:solidFill>
                <a:latin typeface="Cambria"/>
              </a:rPr>
              <a:t>)</a:t>
            </a:r>
            <a:r>
              <a:rPr sz="1550" b="0" i="1">
                <a:solidFill>
                  <a:srgbClr val="14202E"/>
                </a:solidFill>
                <a:latin typeface="Cambria"/>
              </a:rPr>
              <a:t>P</a:t>
            </a:r>
            <a:r>
              <a:rPr sz="1550" b="0" i="1" baseline="30000">
                <a:solidFill>
                  <a:srgbClr val="14202E"/>
                </a:solidFill>
                <a:latin typeface="Cambria"/>
              </a:rPr>
              <a:t>k</a:t>
            </a:r>
            <a:r>
              <a:rPr sz="1550" b="0" i="1" baseline="-25000">
                <a:solidFill>
                  <a:srgbClr val="14202E"/>
                </a:solidFill>
                <a:latin typeface="Cambria"/>
              </a:rPr>
              <a:t>TA</a:t>
            </a:r>
            <a:r>
              <a:rPr sz="1550" b="0" i="0">
                <a:solidFill>
                  <a:srgbClr val="14202E"/>
                </a:solidFill>
                <a:latin typeface="Cambria"/>
              </a:rPr>
              <a:t> = (Σ</a:t>
            </a:r>
            <a:r>
              <a:rPr sz="1550" b="0" i="1">
                <a:solidFill>
                  <a:srgbClr val="14202E"/>
                </a:solidFill>
                <a:latin typeface="Cambria"/>
              </a:rPr>
              <a:t>u</a:t>
            </a:r>
            <a:r>
              <a:rPr sz="1550" b="0" i="1" baseline="-25000">
                <a:solidFill>
                  <a:srgbClr val="14202E"/>
                </a:solidFill>
                <a:latin typeface="Cambria"/>
              </a:rPr>
              <a:t>i</a:t>
            </a:r>
            <a:r>
              <a:rPr sz="1550" b="0" i="1">
                <a:solidFill>
                  <a:srgbClr val="14202E"/>
                </a:solidFill>
                <a:latin typeface="Cambria"/>
              </a:rPr>
              <a:t>c</a:t>
            </a:r>
            <a:r>
              <a:rPr sz="1550" b="0" i="1" baseline="-25000">
                <a:solidFill>
                  <a:srgbClr val="14202E"/>
                </a:solidFill>
                <a:latin typeface="Cambria"/>
              </a:rPr>
              <a:t>i</a:t>
            </a:r>
            <a:r>
              <a:rPr sz="1550" b="0" i="0">
                <a:solidFill>
                  <a:srgbClr val="14202E"/>
                </a:solidFill>
                <a:latin typeface="Cambria"/>
              </a:rPr>
              <a:t>)</a:t>
            </a:r>
            <a:r>
              <a:rPr sz="1550" b="0" i="1">
                <a:solidFill>
                  <a:srgbClr val="14202E"/>
                </a:solidFill>
                <a:latin typeface="Cambria"/>
              </a:rPr>
              <a:t>P</a:t>
            </a:r>
            <a:r>
              <a:rPr sz="1550" b="0" i="0">
                <a:solidFill>
                  <a:srgbClr val="14202E"/>
                </a:solidFill>
                <a:latin typeface="Calibri"/>
              </a:rPr>
              <a:t> is one multiplication, but needs the secret </a:t>
            </a:r>
            <a:r>
              <a:rPr sz="1550" b="0" i="1">
                <a:solidFill>
                  <a:srgbClr val="14202E"/>
                </a:solidFill>
                <a:latin typeface="Cambria"/>
              </a:rPr>
              <a:t>c</a:t>
            </a:r>
            <a:r>
              <a:rPr sz="1550" b="0" i="1" baseline="-25000">
                <a:solidFill>
                  <a:srgbClr val="14202E"/>
                </a:solidFill>
                <a:latin typeface="Cambria"/>
              </a:rPr>
              <a:t>i</a:t>
            </a:r>
            <a:r>
              <a:rPr sz="1550" b="0" i="0">
                <a:solidFill>
                  <a:srgbClr val="14202E"/>
                </a:solidFill>
                <a:latin typeface="Calibri"/>
              </a:rPr>
              <a:t>.</a:t>
            </a:r>
          </a:p>
          <a:p>
            <a:pPr algn="l" marL="256032" indent="-256032">
              <a:spcBef>
                <a:spcPts val="0"/>
              </a:spcBef>
              <a:spcAft>
                <a:spcPts val="0"/>
              </a:spcAft>
              <a:buFont typeface="Arial"/>
              <a:buChar char="•"/>
            </a:pPr>
            <a:r>
              <a:rPr sz="1550" b="0" i="0">
                <a:solidFill>
                  <a:srgbClr val="14202E"/>
                </a:solidFill>
                <a:latin typeface="Calibri"/>
              </a:rPr>
              <a:t>Multi-scalar multiplication: a different cost model; it applies to both schemes.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9AA5B1"/>
          </a:solidFill>
          <a:ln>
            <a:noFill/>
          </a:ln>
          <a:effectLst/>
        </p:spPr>
        <p:txBody>
          <a:bodyPr rtlCol="0" anchor="ctr" wrap="square" lIns="73152" rIns="73152" tIns="36576" bIns="36576"/>
          <a:lstStyle/>
          <a:p>
            <a:pPr algn="ctr"/>
          </a:p>
        </p:txBody>
      </p:sp>
      <p:sp>
        <p:nvSpPr>
          <p:cNvPr id="3" name="TextBox 2"/>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BACKUP · TIMING</a:t>
            </a:r>
          </a:p>
        </p:txBody>
      </p:sp>
      <p:sp>
        <p:nvSpPr>
          <p:cNvPr id="4" name="TextBox 3"/>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B9 · Benchmark methodology and the P-256 gap</a:t>
            </a:r>
          </a:p>
        </p:txBody>
      </p:sp>
      <p:sp>
        <p:nvSpPr>
          <p:cNvPr id="5" name="Rounded Rectangle 4"/>
          <p:cNvSpPr/>
          <p:nvPr/>
        </p:nvSpPr>
        <p:spPr>
          <a:xfrm>
            <a:off x="10736884" y="274320"/>
            <a:ext cx="903427" cy="246888"/>
          </a:xfrm>
          <a:prstGeom prst="roundRect">
            <a:avLst>
              <a:gd name="adj" fmla="val 50000"/>
            </a:avLst>
          </a:prstGeom>
          <a:solidFill>
            <a:srgbClr val="A21F6B"/>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OUR AUDIT</a:t>
            </a:r>
          </a:p>
        </p:txBody>
      </p:sp>
      <p:sp>
        <p:nvSpPr>
          <p:cNvPr id="6" name="Rounded Rectangle 5"/>
          <p:cNvSpPr/>
          <p:nvPr/>
        </p:nvSpPr>
        <p:spPr>
          <a:xfrm>
            <a:off x="9676180" y="274320"/>
            <a:ext cx="987551" cy="246888"/>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EXPERIMENT</a:t>
            </a:r>
          </a:p>
        </p:txBody>
      </p:sp>
      <p:cxnSp>
        <p:nvCxnSpPr>
          <p:cNvPr id="7" name="Connector 6"/>
          <p:cNvCxnSpPr/>
          <p:nvPr/>
        </p:nvCxnSpPr>
        <p:spPr>
          <a:xfrm>
            <a:off x="548640" y="6419088"/>
            <a:ext cx="11091672" cy="0"/>
          </a:xfrm>
          <a:prstGeom prst="line">
            <a:avLst/>
          </a:prstGeom>
          <a:ln w="12700">
            <a:solidFill>
              <a:srgbClr val="D3D9E1"/>
            </a:solidFill>
          </a:ln>
        </p:spPr>
      </p:cxnSp>
      <p:sp>
        <p:nvSpPr>
          <p:cNvPr id="8" name="TextBox 7"/>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9" name="TextBox 8"/>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Backup B9</a:t>
            </a:r>
          </a:p>
        </p:txBody>
      </p:sp>
      <p:sp>
        <p:nvSpPr>
          <p:cNvPr id="10" name="TextBox 9"/>
          <p:cNvSpPr txBox="1"/>
          <p:nvPr/>
        </p:nvSpPr>
        <p:spPr>
          <a:xfrm>
            <a:off x="548640" y="1554480"/>
            <a:ext cx="5943600" cy="4206240"/>
          </a:xfrm>
          <a:prstGeom prst="rect">
            <a:avLst/>
          </a:prstGeom>
          <a:noFill/>
        </p:spPr>
        <p:txBody>
          <a:bodyPr wrap="square" lIns="0" rIns="0" tIns="0" bIns="0" anchor="t">
            <a:spAutoFit/>
          </a:bodyPr>
          <a:lstStyle/>
          <a:p>
            <a:pPr algn="l" marL="256032" indent="-256032">
              <a:lnSpc>
                <a:spcPct val="100000"/>
              </a:lnSpc>
              <a:spcBef>
                <a:spcPts val="0"/>
              </a:spcBef>
              <a:spcAft>
                <a:spcPts val="800"/>
              </a:spcAft>
              <a:buClr>
                <a:srgbClr val="5B6675"/>
              </a:buClr>
              <a:buFont typeface="Arial"/>
              <a:buChar char="•"/>
            </a:pPr>
            <a:r>
              <a:rPr sz="1550" b="0" i="0">
                <a:solidFill>
                  <a:srgbClr val="14202E"/>
                </a:solidFill>
                <a:latin typeface="Calibri"/>
              </a:rPr>
              <a:t>Warm the CPU to a steady clock first: it ramps ≈ 2× under load, which once made n = 100 look cheaper than n = 50</a:t>
            </a:r>
          </a:p>
          <a:p>
            <a:pPr algn="l" marL="256032" indent="-256032">
              <a:lnSpc>
                <a:spcPct val="100000"/>
              </a:lnSpc>
              <a:spcBef>
                <a:spcPts val="0"/>
              </a:spcBef>
              <a:spcAft>
                <a:spcPts val="800"/>
              </a:spcAft>
              <a:buClr>
                <a:srgbClr val="5B6675"/>
              </a:buClr>
              <a:buFont typeface="Arial"/>
              <a:buChar char="•"/>
            </a:pPr>
            <a:r>
              <a:rPr sz="1550" b="0" i="0">
                <a:solidFill>
                  <a:srgbClr val="14202E"/>
                </a:solidFill>
                <a:latin typeface="Calibri"/>
              </a:rPr>
              <a:t>Time every workload (both schemes, every </a:t>
            </a:r>
            <a:r>
              <a:rPr sz="1550" b="0" i="1">
                <a:solidFill>
                  <a:srgbClr val="14202E"/>
                </a:solidFill>
                <a:latin typeface="Cambria"/>
              </a:rPr>
              <a:t>n</a:t>
            </a:r>
            <a:r>
              <a:rPr sz="1550" b="0" i="0">
                <a:solidFill>
                  <a:srgbClr val="14202E"/>
                </a:solidFill>
                <a:latin typeface="Calibri"/>
              </a:rPr>
              <a:t>) once per round, interleaved; median of 7 rounds</a:t>
            </a:r>
          </a:p>
          <a:p>
            <a:pPr algn="l" marL="256032" indent="-256032">
              <a:lnSpc>
                <a:spcPct val="100000"/>
              </a:lnSpc>
              <a:spcBef>
                <a:spcPts val="0"/>
              </a:spcBef>
              <a:spcAft>
                <a:spcPts val="800"/>
              </a:spcAft>
              <a:buClr>
                <a:srgbClr val="5B6675"/>
              </a:buClr>
              <a:buFont typeface="Arial"/>
              <a:buChar char="•"/>
            </a:pPr>
            <a:r>
              <a:rPr sz="1550" b="0" i="0">
                <a:solidFill>
                  <a:srgbClr val="14202E"/>
                </a:solidFill>
                <a:latin typeface="Calibri"/>
              </a:rPr>
              <a:t>Calibrate repetitions so each sample lasts ≥ 20 ms; report medians</a:t>
            </a:r>
          </a:p>
          <a:p>
            <a:pPr algn="l" marL="256032" indent="-256032">
              <a:lnSpc>
                <a:spcPct val="100000"/>
              </a:lnSpc>
              <a:spcBef>
                <a:spcPts val="0"/>
              </a:spcBef>
              <a:spcAft>
                <a:spcPts val="800"/>
              </a:spcAft>
              <a:buClr>
                <a:srgbClr val="5B6675"/>
              </a:buClr>
              <a:buFont typeface="Arial"/>
              <a:buChar char="•"/>
            </a:pPr>
            <a:r>
              <a:rPr sz="1550" b="0" i="0">
                <a:solidFill>
                  <a:srgbClr val="14202E"/>
                </a:solidFill>
                <a:latin typeface="Calibri"/>
              </a:rPr>
              <a:t>Fit a line over </a:t>
            </a:r>
            <a:r>
              <a:rPr sz="1550" b="0" i="1">
                <a:solidFill>
                  <a:srgbClr val="14202E"/>
                </a:solidFill>
                <a:latin typeface="Cambria"/>
              </a:rPr>
              <a:t>n</a:t>
            </a:r>
            <a:r>
              <a:rPr sz="1550" b="0" i="0">
                <a:solidFill>
                  <a:srgbClr val="14202E"/>
                </a:solidFill>
                <a:latin typeface="Calibri"/>
              </a:rPr>
              <a:t> = 50 … 500; the per-signer slope ratio is the measured quantity</a:t>
            </a:r>
          </a:p>
          <a:p>
            <a:pPr algn="l" marL="256032" indent="-256032">
              <a:lnSpc>
                <a:spcPct val="100000"/>
              </a:lnSpc>
              <a:spcBef>
                <a:spcPts val="0"/>
              </a:spcBef>
              <a:spcAft>
                <a:spcPts val="800"/>
              </a:spcAft>
              <a:buClr>
                <a:srgbClr val="5B6675"/>
              </a:buClr>
              <a:buFont typeface="Arial"/>
              <a:buChar char="•"/>
            </a:pPr>
            <a:r>
              <a:rPr sz="1550" b="0" i="0">
                <a:solidFill>
                  <a:srgbClr val="14202E"/>
                </a:solidFill>
                <a:latin typeface="Calibri"/>
              </a:rPr>
              <a:t>Exclude runs with fit </a:t>
            </a:r>
            <a:r>
              <a:rPr sz="1550" b="0" i="1">
                <a:solidFill>
                  <a:srgbClr val="14202E"/>
                </a:solidFill>
                <a:latin typeface="Cambria"/>
              </a:rPr>
              <a:t>r</a:t>
            </a:r>
            <a:r>
              <a:rPr sz="1550" b="0" i="0" baseline="30000">
                <a:solidFill>
                  <a:srgbClr val="14202E"/>
                </a:solidFill>
                <a:latin typeface="Cambria"/>
              </a:rPr>
              <a:t>2</a:t>
            </a:r>
            <a:r>
              <a:rPr sz="1550" b="0" i="0">
                <a:solidFill>
                  <a:srgbClr val="14202E"/>
                </a:solidFill>
                <a:latin typeface="Cambria"/>
              </a:rPr>
              <a:t> &lt; 0.99</a:t>
            </a:r>
            <a:r>
              <a:rPr sz="1550" b="0" i="0">
                <a:solidFill>
                  <a:srgbClr val="14202E"/>
                </a:solidFill>
                <a:latin typeface="Calibri"/>
              </a:rPr>
              <a:t> from the median: the medians are unchanged without the exclusion</a:t>
            </a:r>
          </a:p>
        </p:txBody>
      </p:sp>
      <p:sp>
        <p:nvSpPr>
          <p:cNvPr id="11" name="Rectangle 10"/>
          <p:cNvSpPr/>
          <p:nvPr/>
        </p:nvSpPr>
        <p:spPr>
          <a:xfrm>
            <a:off x="6766560" y="1554480"/>
            <a:ext cx="4873752" cy="347472"/>
          </a:xfrm>
          <a:prstGeom prst="rect">
            <a:avLst/>
          </a:prstGeom>
          <a:solidFill>
            <a:srgbClr val="F2F5F8"/>
          </a:solidFill>
          <a:ln>
            <a:noFill/>
          </a:ln>
          <a:effectLst/>
        </p:spPr>
        <p:txBody>
          <a:bodyPr rtlCol="0" anchor="ctr" wrap="square" lIns="73152" rIns="73152" tIns="36576" bIns="36576"/>
          <a:lstStyle/>
          <a:p>
            <a:pPr algn="ctr"/>
          </a:p>
        </p:txBody>
      </p:sp>
      <p:sp>
        <p:nvSpPr>
          <p:cNvPr id="12" name="TextBox 11"/>
          <p:cNvSpPr txBox="1"/>
          <p:nvPr/>
        </p:nvSpPr>
        <p:spPr>
          <a:xfrm>
            <a:off x="6858000" y="1554480"/>
            <a:ext cx="2468879" cy="347472"/>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MACHINE</a:t>
            </a:r>
          </a:p>
        </p:txBody>
      </p:sp>
      <p:sp>
        <p:nvSpPr>
          <p:cNvPr id="13" name="TextBox 12"/>
          <p:cNvSpPr txBox="1"/>
          <p:nvPr/>
        </p:nvSpPr>
        <p:spPr>
          <a:xfrm>
            <a:off x="9509760" y="1554480"/>
            <a:ext cx="2039112" cy="347472"/>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SOFTWARE</a:t>
            </a:r>
          </a:p>
        </p:txBody>
      </p:sp>
      <p:cxnSp>
        <p:nvCxnSpPr>
          <p:cNvPr id="14" name="Connector 13"/>
          <p:cNvCxnSpPr/>
          <p:nvPr/>
        </p:nvCxnSpPr>
        <p:spPr>
          <a:xfrm>
            <a:off x="6766560" y="1901952"/>
            <a:ext cx="4873752" cy="0"/>
          </a:xfrm>
          <a:prstGeom prst="line">
            <a:avLst/>
          </a:prstGeom>
          <a:ln w="15875">
            <a:solidFill>
              <a:srgbClr val="5B6675"/>
            </a:solidFill>
          </a:ln>
        </p:spPr>
      </p:cxnSp>
      <p:sp>
        <p:nvSpPr>
          <p:cNvPr id="15" name="TextBox 14"/>
          <p:cNvSpPr txBox="1"/>
          <p:nvPr/>
        </p:nvSpPr>
        <p:spPr>
          <a:xfrm>
            <a:off x="6858000" y="1901952"/>
            <a:ext cx="2468879" cy="566928"/>
          </a:xfrm>
          <a:prstGeom prst="rect">
            <a:avLst/>
          </a:prstGeom>
          <a:noFill/>
        </p:spPr>
        <p:txBody>
          <a:bodyPr wrap="square" lIns="0" rIns="0" tIns="0" bIns="0" anchor="ctr">
            <a:spAutoFit/>
          </a:bodyPr>
          <a:lstStyle/>
          <a:p>
            <a:pPr algn="l">
              <a:spcBef>
                <a:spcPts val="0"/>
              </a:spcBef>
              <a:spcAft>
                <a:spcPts val="0"/>
              </a:spcAft>
            </a:pPr>
            <a:r>
              <a:rPr sz="1300" b="0" i="0">
                <a:solidFill>
                  <a:srgbClr val="14202E"/>
                </a:solidFill>
                <a:latin typeface="Calibri"/>
              </a:rPr>
              <a:t>AMD Ryzen 5 7520U, powersave, boost on</a:t>
            </a:r>
          </a:p>
        </p:txBody>
      </p:sp>
      <p:sp>
        <p:nvSpPr>
          <p:cNvPr id="16" name="TextBox 15"/>
          <p:cNvSpPr txBox="1"/>
          <p:nvPr/>
        </p:nvSpPr>
        <p:spPr>
          <a:xfrm>
            <a:off x="9509760" y="1901952"/>
            <a:ext cx="2039112" cy="566928"/>
          </a:xfrm>
          <a:prstGeom prst="rect">
            <a:avLst/>
          </a:prstGeom>
          <a:noFill/>
        </p:spPr>
        <p:txBody>
          <a:bodyPr wrap="square" lIns="0" rIns="0" tIns="0" bIns="0" anchor="ctr">
            <a:spAutoFit/>
          </a:bodyPr>
          <a:lstStyle/>
          <a:p>
            <a:pPr algn="l">
              <a:spcBef>
                <a:spcPts val="0"/>
              </a:spcBef>
              <a:spcAft>
                <a:spcPts val="0"/>
              </a:spcAft>
            </a:pPr>
            <a:r>
              <a:rPr sz="1300" b="0" i="0">
                <a:solidFill>
                  <a:srgbClr val="14202E"/>
                </a:solidFill>
                <a:latin typeface="Calibri"/>
              </a:rPr>
              <a:t>Python 3.12.3 · libsodium 1.0.18</a:t>
            </a:r>
          </a:p>
        </p:txBody>
      </p:sp>
      <p:cxnSp>
        <p:nvCxnSpPr>
          <p:cNvPr id="17" name="Connector 16"/>
          <p:cNvCxnSpPr/>
          <p:nvPr/>
        </p:nvCxnSpPr>
        <p:spPr>
          <a:xfrm>
            <a:off x="6766560" y="2468880"/>
            <a:ext cx="4873752" cy="0"/>
          </a:xfrm>
          <a:prstGeom prst="line">
            <a:avLst/>
          </a:prstGeom>
          <a:ln w="12700">
            <a:solidFill>
              <a:srgbClr val="D3D9E1"/>
            </a:solidFill>
          </a:ln>
        </p:spPr>
      </p:cxnSp>
      <p:sp>
        <p:nvSpPr>
          <p:cNvPr id="18" name="TextBox 17"/>
          <p:cNvSpPr txBox="1"/>
          <p:nvPr/>
        </p:nvSpPr>
        <p:spPr>
          <a:xfrm>
            <a:off x="6858000" y="2468880"/>
            <a:ext cx="2468879" cy="566928"/>
          </a:xfrm>
          <a:prstGeom prst="rect">
            <a:avLst/>
          </a:prstGeom>
          <a:noFill/>
        </p:spPr>
        <p:txBody>
          <a:bodyPr wrap="square" lIns="0" rIns="0" tIns="0" bIns="0" anchor="ctr">
            <a:spAutoFit/>
          </a:bodyPr>
          <a:lstStyle/>
          <a:p>
            <a:pPr algn="l">
              <a:spcBef>
                <a:spcPts val="0"/>
              </a:spcBef>
              <a:spcAft>
                <a:spcPts val="0"/>
              </a:spcAft>
            </a:pPr>
            <a:r>
              <a:rPr sz="1300" b="0" i="0">
                <a:solidFill>
                  <a:srgbClr val="14202E"/>
                </a:solidFill>
                <a:latin typeface="Calibri"/>
              </a:rPr>
              <a:t>Intel Xeon @ 2.20 GHz (Kaggle)</a:t>
            </a:r>
          </a:p>
        </p:txBody>
      </p:sp>
      <p:sp>
        <p:nvSpPr>
          <p:cNvPr id="19" name="TextBox 18"/>
          <p:cNvSpPr txBox="1"/>
          <p:nvPr/>
        </p:nvSpPr>
        <p:spPr>
          <a:xfrm>
            <a:off x="9509760" y="2468880"/>
            <a:ext cx="2039112" cy="566928"/>
          </a:xfrm>
          <a:prstGeom prst="rect">
            <a:avLst/>
          </a:prstGeom>
          <a:noFill/>
        </p:spPr>
        <p:txBody>
          <a:bodyPr wrap="square" lIns="0" rIns="0" tIns="0" bIns="0" anchor="ctr">
            <a:spAutoFit/>
          </a:bodyPr>
          <a:lstStyle/>
          <a:p>
            <a:pPr algn="l">
              <a:spcBef>
                <a:spcPts val="0"/>
              </a:spcBef>
              <a:spcAft>
                <a:spcPts val="0"/>
              </a:spcAft>
            </a:pPr>
            <a:r>
              <a:rPr sz="1300" b="0" i="0">
                <a:solidFill>
                  <a:srgbClr val="14202E"/>
                </a:solidFill>
                <a:latin typeface="Calibri"/>
              </a:rPr>
              <a:t>Python 3.12.13 · libsodium 1.0.18</a:t>
            </a:r>
          </a:p>
        </p:txBody>
      </p:sp>
      <p:cxnSp>
        <p:nvCxnSpPr>
          <p:cNvPr id="20" name="Connector 19"/>
          <p:cNvCxnSpPr/>
          <p:nvPr/>
        </p:nvCxnSpPr>
        <p:spPr>
          <a:xfrm>
            <a:off x="6766560" y="3035808"/>
            <a:ext cx="4873752" cy="0"/>
          </a:xfrm>
          <a:prstGeom prst="line">
            <a:avLst/>
          </a:prstGeom>
          <a:ln w="12700">
            <a:solidFill>
              <a:srgbClr val="D3D9E1"/>
            </a:solidFill>
          </a:ln>
        </p:spPr>
      </p:cxnSp>
      <p:sp>
        <p:nvSpPr>
          <p:cNvPr id="21" name="TextBox 20"/>
          <p:cNvSpPr txBox="1"/>
          <p:nvPr/>
        </p:nvSpPr>
        <p:spPr>
          <a:xfrm>
            <a:off x="6766560" y="3200400"/>
            <a:ext cx="4846320" cy="274320"/>
          </a:xfrm>
          <a:prstGeom prst="rect">
            <a:avLst/>
          </a:prstGeom>
          <a:noFill/>
        </p:spPr>
        <p:txBody>
          <a:bodyPr wrap="square" lIns="0" rIns="0" tIns="0" bIns="0" anchor="t">
            <a:spAutoFit/>
          </a:bodyPr>
          <a:lstStyle/>
          <a:p>
            <a:pPr algn="l">
              <a:spcBef>
                <a:spcPts val="0"/>
              </a:spcBef>
              <a:spcAft>
                <a:spcPts val="0"/>
              </a:spcAft>
            </a:pPr>
            <a:r>
              <a:rPr sz="1150" b="1" i="0" spc="100">
                <a:solidFill>
                  <a:srgbClr val="5B6675"/>
                </a:solidFill>
                <a:latin typeface="Calibri"/>
              </a:rPr>
              <a:t>P-256 PREDICTED RATIO</a:t>
            </a:r>
          </a:p>
        </p:txBody>
      </p:sp>
      <p:sp>
        <p:nvSpPr>
          <p:cNvPr id="22" name="TextBox 21"/>
          <p:cNvSpPr txBox="1"/>
          <p:nvPr/>
        </p:nvSpPr>
        <p:spPr>
          <a:xfrm>
            <a:off x="6858000" y="3520440"/>
            <a:ext cx="3566159" cy="411480"/>
          </a:xfrm>
          <a:prstGeom prst="rect">
            <a:avLst/>
          </a:prstGeom>
          <a:noFill/>
        </p:spPr>
        <p:txBody>
          <a:bodyPr wrap="square" lIns="0" rIns="0" tIns="0" bIns="0" anchor="ctr">
            <a:spAutoFit/>
          </a:bodyPr>
          <a:lstStyle/>
          <a:p>
            <a:pPr algn="l">
              <a:spcBef>
                <a:spcPts val="0"/>
              </a:spcBef>
              <a:spcAft>
                <a:spcPts val="0"/>
              </a:spcAft>
            </a:pPr>
            <a:r>
              <a:rPr sz="1400" b="0" i="0">
                <a:solidFill>
                  <a:srgbClr val="14202E"/>
                </a:solidFill>
                <a:latin typeface="Calibri"/>
              </a:rPr>
              <a:t>bare </a:t>
            </a:r>
            <a:r>
              <a:rPr sz="1400" b="0" i="1">
                <a:solidFill>
                  <a:srgbClr val="14202E"/>
                </a:solidFill>
                <a:latin typeface="Cambria"/>
              </a:rPr>
              <a:t>T</a:t>
            </a:r>
            <a:r>
              <a:rPr sz="1400" b="0" i="1" baseline="-25000">
                <a:solidFill>
                  <a:srgbClr val="14202E"/>
                </a:solidFill>
                <a:latin typeface="Cambria"/>
              </a:rPr>
              <a:t>e</a:t>
            </a:r>
            <a:r>
              <a:rPr sz="1400" b="0" i="0">
                <a:solidFill>
                  <a:srgbClr val="14202E"/>
                </a:solidFill>
                <a:latin typeface="Cambria"/>
              </a:rPr>
              <a:t>/</a:t>
            </a:r>
            <a:r>
              <a:rPr sz="1400" b="0" i="1">
                <a:solidFill>
                  <a:srgbClr val="14202E"/>
                </a:solidFill>
                <a:latin typeface="Cambria"/>
              </a:rPr>
              <a:t>T</a:t>
            </a:r>
            <a:r>
              <a:rPr sz="1400" b="0" i="1" baseline="-25000">
                <a:solidFill>
                  <a:srgbClr val="14202E"/>
                </a:solidFill>
                <a:latin typeface="Cambria"/>
              </a:rPr>
              <a:t>a</a:t>
            </a:r>
            <a:r>
              <a:rPr sz="1400" b="0" i="0">
                <a:solidFill>
                  <a:srgbClr val="14202E"/>
                </a:solidFill>
                <a:latin typeface="Cambria"/>
              </a:rPr>
              <a:t>/</a:t>
            </a:r>
            <a:r>
              <a:rPr sz="1400" b="0" i="1">
                <a:solidFill>
                  <a:srgbClr val="14202E"/>
                </a:solidFill>
                <a:latin typeface="Cambria"/>
              </a:rPr>
              <a:t>T</a:t>
            </a:r>
            <a:r>
              <a:rPr sz="1400" b="0" i="1" baseline="-25000">
                <a:solidFill>
                  <a:srgbClr val="14202E"/>
                </a:solidFill>
                <a:latin typeface="Cambria"/>
              </a:rPr>
              <a:t>h</a:t>
            </a:r>
            <a:r>
              <a:rPr sz="1400" b="0" i="0">
                <a:solidFill>
                  <a:srgbClr val="14202E"/>
                </a:solidFill>
                <a:latin typeface="Calibri"/>
              </a:rPr>
              <a:t> model</a:t>
            </a:r>
          </a:p>
        </p:txBody>
      </p:sp>
      <p:sp>
        <p:nvSpPr>
          <p:cNvPr id="23" name="TextBox 22"/>
          <p:cNvSpPr txBox="1"/>
          <p:nvPr/>
        </p:nvSpPr>
        <p:spPr>
          <a:xfrm>
            <a:off x="10607040" y="3520440"/>
            <a:ext cx="941832" cy="411480"/>
          </a:xfrm>
          <a:prstGeom prst="rect">
            <a:avLst/>
          </a:prstGeom>
          <a:noFill/>
        </p:spPr>
        <p:txBody>
          <a:bodyPr wrap="square" lIns="0" rIns="0" tIns="0" bIns="0" anchor="ctr">
            <a:spAutoFit/>
          </a:bodyPr>
          <a:lstStyle/>
          <a:p>
            <a:pPr algn="l">
              <a:spcBef>
                <a:spcPts val="0"/>
              </a:spcBef>
              <a:spcAft>
                <a:spcPts val="0"/>
              </a:spcAft>
            </a:pPr>
            <a:r>
              <a:rPr sz="1400" b="0" i="0">
                <a:solidFill>
                  <a:srgbClr val="14202E"/>
                </a:solidFill>
                <a:latin typeface="Calibri"/>
              </a:rPr>
              <a:t>1.99</a:t>
            </a:r>
          </a:p>
        </p:txBody>
      </p:sp>
      <p:cxnSp>
        <p:nvCxnSpPr>
          <p:cNvPr id="24" name="Connector 23"/>
          <p:cNvCxnSpPr/>
          <p:nvPr/>
        </p:nvCxnSpPr>
        <p:spPr>
          <a:xfrm>
            <a:off x="6766560" y="3931920"/>
            <a:ext cx="4873752" cy="0"/>
          </a:xfrm>
          <a:prstGeom prst="line">
            <a:avLst/>
          </a:prstGeom>
          <a:ln w="12700">
            <a:solidFill>
              <a:srgbClr val="D3D9E1"/>
            </a:solidFill>
          </a:ln>
        </p:spPr>
      </p:cxnSp>
      <p:sp>
        <p:nvSpPr>
          <p:cNvPr id="25" name="TextBox 24"/>
          <p:cNvSpPr txBox="1"/>
          <p:nvPr/>
        </p:nvSpPr>
        <p:spPr>
          <a:xfrm>
            <a:off x="6858000" y="3931920"/>
            <a:ext cx="3566159" cy="411480"/>
          </a:xfrm>
          <a:prstGeom prst="rect">
            <a:avLst/>
          </a:prstGeom>
          <a:noFill/>
        </p:spPr>
        <p:txBody>
          <a:bodyPr wrap="square" lIns="0" rIns="0" tIns="0" bIns="0" anchor="ctr">
            <a:spAutoFit/>
          </a:bodyPr>
          <a:lstStyle/>
          <a:p>
            <a:pPr algn="l">
              <a:spcBef>
                <a:spcPts val="0"/>
              </a:spcBef>
              <a:spcAft>
                <a:spcPts val="0"/>
              </a:spcAft>
            </a:pPr>
            <a:r>
              <a:rPr sz="1400" b="0" i="0">
                <a:solidFill>
                  <a:srgbClr val="14202E"/>
                </a:solidFill>
                <a:latin typeface="Calibri"/>
              </a:rPr>
              <a:t>with real hash calls priced</a:t>
            </a:r>
          </a:p>
        </p:txBody>
      </p:sp>
      <p:sp>
        <p:nvSpPr>
          <p:cNvPr id="26" name="TextBox 25"/>
          <p:cNvSpPr txBox="1"/>
          <p:nvPr/>
        </p:nvSpPr>
        <p:spPr>
          <a:xfrm>
            <a:off x="10607040" y="3931920"/>
            <a:ext cx="941832" cy="411480"/>
          </a:xfrm>
          <a:prstGeom prst="rect">
            <a:avLst/>
          </a:prstGeom>
          <a:noFill/>
        </p:spPr>
        <p:txBody>
          <a:bodyPr wrap="square" lIns="0" rIns="0" tIns="0" bIns="0" anchor="ctr">
            <a:spAutoFit/>
          </a:bodyPr>
          <a:lstStyle/>
          <a:p>
            <a:pPr algn="l">
              <a:spcBef>
                <a:spcPts val="0"/>
              </a:spcBef>
              <a:spcAft>
                <a:spcPts val="0"/>
              </a:spcAft>
            </a:pPr>
            <a:r>
              <a:rPr sz="1400" b="0" i="0">
                <a:solidFill>
                  <a:srgbClr val="14202E"/>
                </a:solidFill>
                <a:latin typeface="Calibri"/>
              </a:rPr>
              <a:t>2.37</a:t>
            </a:r>
          </a:p>
        </p:txBody>
      </p:sp>
      <p:cxnSp>
        <p:nvCxnSpPr>
          <p:cNvPr id="27" name="Connector 26"/>
          <p:cNvCxnSpPr/>
          <p:nvPr/>
        </p:nvCxnSpPr>
        <p:spPr>
          <a:xfrm>
            <a:off x="6766560" y="4343400"/>
            <a:ext cx="4873752" cy="0"/>
          </a:xfrm>
          <a:prstGeom prst="line">
            <a:avLst/>
          </a:prstGeom>
          <a:ln w="12700">
            <a:solidFill>
              <a:srgbClr val="D3D9E1"/>
            </a:solidFill>
          </a:ln>
        </p:spPr>
      </p:cxnSp>
      <p:sp>
        <p:nvSpPr>
          <p:cNvPr id="28" name="TextBox 27"/>
          <p:cNvSpPr txBox="1"/>
          <p:nvPr/>
        </p:nvSpPr>
        <p:spPr>
          <a:xfrm>
            <a:off x="6858000" y="4343400"/>
            <a:ext cx="3566159" cy="411480"/>
          </a:xfrm>
          <a:prstGeom prst="rect">
            <a:avLst/>
          </a:prstGeom>
          <a:noFill/>
        </p:spPr>
        <p:txBody>
          <a:bodyPr wrap="square" lIns="0" rIns="0" tIns="0" bIns="0" anchor="ctr">
            <a:spAutoFit/>
          </a:bodyPr>
          <a:lstStyle/>
          <a:p>
            <a:pPr algn="l">
              <a:spcBef>
                <a:spcPts val="0"/>
              </a:spcBef>
              <a:spcAft>
                <a:spcPts val="0"/>
              </a:spcAft>
            </a:pPr>
            <a:r>
              <a:rPr sz="1400" b="0" i="0">
                <a:solidFill>
                  <a:srgbClr val="14202E"/>
                </a:solidFill>
                <a:latin typeface="Calibri"/>
              </a:rPr>
              <a:t>measured median (range 2.18 – 2.40)</a:t>
            </a:r>
          </a:p>
        </p:txBody>
      </p:sp>
      <p:sp>
        <p:nvSpPr>
          <p:cNvPr id="29" name="TextBox 28"/>
          <p:cNvSpPr txBox="1"/>
          <p:nvPr/>
        </p:nvSpPr>
        <p:spPr>
          <a:xfrm>
            <a:off x="10607040" y="4343400"/>
            <a:ext cx="941832" cy="411480"/>
          </a:xfrm>
          <a:prstGeom prst="rect">
            <a:avLst/>
          </a:prstGeom>
          <a:noFill/>
        </p:spPr>
        <p:txBody>
          <a:bodyPr wrap="square" lIns="0" rIns="0" tIns="0" bIns="0" anchor="ctr">
            <a:spAutoFit/>
          </a:bodyPr>
          <a:lstStyle/>
          <a:p>
            <a:pPr algn="l">
              <a:spcBef>
                <a:spcPts val="0"/>
              </a:spcBef>
              <a:spcAft>
                <a:spcPts val="0"/>
              </a:spcAft>
            </a:pPr>
            <a:r>
              <a:rPr sz="1400" b="0" i="0">
                <a:solidFill>
                  <a:srgbClr val="14202E"/>
                </a:solidFill>
                <a:latin typeface="Calibri"/>
              </a:rPr>
              <a:t>2.37</a:t>
            </a:r>
          </a:p>
        </p:txBody>
      </p:sp>
      <p:cxnSp>
        <p:nvCxnSpPr>
          <p:cNvPr id="30" name="Connector 29"/>
          <p:cNvCxnSpPr/>
          <p:nvPr/>
        </p:nvCxnSpPr>
        <p:spPr>
          <a:xfrm>
            <a:off x="6766560" y="4754880"/>
            <a:ext cx="4873752" cy="0"/>
          </a:xfrm>
          <a:prstGeom prst="line">
            <a:avLst/>
          </a:prstGeom>
          <a:ln w="12700">
            <a:solidFill>
              <a:srgbClr val="D3D9E1"/>
            </a:solidFill>
          </a:ln>
        </p:spPr>
      </p:cxnSp>
      <p:sp>
        <p:nvSpPr>
          <p:cNvPr id="31" name="Rounded Rectangle 30"/>
          <p:cNvSpPr/>
          <p:nvPr/>
        </p:nvSpPr>
        <p:spPr>
          <a:xfrm>
            <a:off x="6766560" y="4892040"/>
            <a:ext cx="4873752" cy="868680"/>
          </a:xfrm>
          <a:prstGeom prst="roundRect">
            <a:avLst>
              <a:gd name="adj" fmla="val 8421"/>
            </a:avLst>
          </a:prstGeom>
          <a:solidFill>
            <a:srgbClr val="F2F5F8"/>
          </a:solidFill>
          <a:ln>
            <a:noFill/>
          </a:ln>
          <a:effectLst/>
        </p:spPr>
        <p:txBody>
          <a:bodyPr rtlCol="0" anchor="ctr" wrap="square" lIns="73152" rIns="73152" tIns="36576" bIns="36576"/>
          <a:lstStyle/>
          <a:p>
            <a:pPr algn="ctr"/>
          </a:p>
        </p:txBody>
      </p:sp>
      <p:sp>
        <p:nvSpPr>
          <p:cNvPr id="32" name="TextBox 31"/>
          <p:cNvSpPr txBox="1"/>
          <p:nvPr/>
        </p:nvSpPr>
        <p:spPr>
          <a:xfrm>
            <a:off x="6903720" y="4919472"/>
            <a:ext cx="4617720" cy="822960"/>
          </a:xfrm>
          <a:prstGeom prst="rect">
            <a:avLst/>
          </a:prstGeom>
          <a:noFill/>
        </p:spPr>
        <p:txBody>
          <a:bodyPr wrap="square" lIns="0" rIns="0" tIns="0" bIns="0" anchor="ctr">
            <a:spAutoFit/>
          </a:bodyPr>
          <a:lstStyle/>
          <a:p>
            <a:pPr algn="l">
              <a:lnSpc>
                <a:spcPct val="95000"/>
              </a:lnSpc>
              <a:spcBef>
                <a:spcPts val="0"/>
              </a:spcBef>
              <a:spcAft>
                <a:spcPts val="0"/>
              </a:spcAft>
            </a:pPr>
            <a:r>
              <a:rPr sz="1300" b="0" i="0">
                <a:solidFill>
                  <a:srgbClr val="14202E"/>
                </a:solidFill>
                <a:latin typeface="Calibri"/>
              </a:rPr>
              <a:t>n × Ed25519 verification: 47.3 ms vs 177.7 ms aggregate at n = 500 (Xeon). Aggregation buys bandwidth, not verifier CPU.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9AA5B1"/>
          </a:solidFill>
          <a:ln>
            <a:noFill/>
          </a:ln>
          <a:effectLst/>
        </p:spPr>
        <p:txBody>
          <a:bodyPr rtlCol="0" anchor="ctr" wrap="square" lIns="73152" rIns="73152" tIns="36576" bIns="36576"/>
          <a:lstStyle/>
          <a:p>
            <a:pPr algn="ctr"/>
          </a:p>
        </p:txBody>
      </p:sp>
      <p:sp>
        <p:nvSpPr>
          <p:cNvPr id="3" name="TextBox 2"/>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BACKUP · REPRODUCIBILITY</a:t>
            </a:r>
          </a:p>
        </p:txBody>
      </p:sp>
      <p:sp>
        <p:nvSpPr>
          <p:cNvPr id="4" name="TextBox 3"/>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B10 · Testing and reproducibility</a:t>
            </a:r>
          </a:p>
        </p:txBody>
      </p:sp>
      <p:sp>
        <p:nvSpPr>
          <p:cNvPr id="5" name="Rounded Rectangle 4"/>
          <p:cNvSpPr/>
          <p:nvPr/>
        </p:nvSpPr>
        <p:spPr>
          <a:xfrm>
            <a:off x="10652760" y="274320"/>
            <a:ext cx="987551" cy="246888"/>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EXPERIMENT</a:t>
            </a:r>
          </a:p>
        </p:txBody>
      </p:sp>
      <p:sp>
        <p:nvSpPr>
          <p:cNvPr id="6" name="Rounded Rectangle 5"/>
          <p:cNvSpPr/>
          <p:nvPr/>
        </p:nvSpPr>
        <p:spPr>
          <a:xfrm>
            <a:off x="9255556" y="274320"/>
            <a:ext cx="1324051" cy="246888"/>
          </a:xfrm>
          <a:prstGeom prst="roundRect">
            <a:avLst>
              <a:gd name="adj" fmla="val 50000"/>
            </a:avLst>
          </a:prstGeom>
          <a:solidFill>
            <a:srgbClr val="7A6F63"/>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IMPLEMENTATION</a:t>
            </a:r>
          </a:p>
        </p:txBody>
      </p:sp>
      <p:cxnSp>
        <p:nvCxnSpPr>
          <p:cNvPr id="7" name="Connector 6"/>
          <p:cNvCxnSpPr/>
          <p:nvPr/>
        </p:nvCxnSpPr>
        <p:spPr>
          <a:xfrm>
            <a:off x="548640" y="6419088"/>
            <a:ext cx="11091672" cy="0"/>
          </a:xfrm>
          <a:prstGeom prst="line">
            <a:avLst/>
          </a:prstGeom>
          <a:ln w="12700">
            <a:solidFill>
              <a:srgbClr val="D3D9E1"/>
            </a:solidFill>
          </a:ln>
        </p:spPr>
      </p:cxnSp>
      <p:sp>
        <p:nvSpPr>
          <p:cNvPr id="8" name="TextBox 7"/>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9" name="TextBox 8"/>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Backup B10</a:t>
            </a:r>
          </a:p>
        </p:txBody>
      </p:sp>
      <p:sp>
        <p:nvSpPr>
          <p:cNvPr id="10" name="Rectangle 9"/>
          <p:cNvSpPr/>
          <p:nvPr/>
        </p:nvSpPr>
        <p:spPr>
          <a:xfrm>
            <a:off x="548640" y="1508760"/>
            <a:ext cx="4114800" cy="347472"/>
          </a:xfrm>
          <a:prstGeom prst="rect">
            <a:avLst/>
          </a:prstGeom>
          <a:solidFill>
            <a:srgbClr val="F2F5F8"/>
          </a:solidFill>
          <a:ln>
            <a:noFill/>
          </a:ln>
          <a:effectLst/>
        </p:spPr>
        <p:txBody>
          <a:bodyPr rtlCol="0" anchor="ctr" wrap="square" lIns="73152" rIns="73152" tIns="36576" bIns="36576"/>
          <a:lstStyle/>
          <a:p>
            <a:pPr algn="ctr"/>
          </a:p>
        </p:txBody>
      </p:sp>
      <p:sp>
        <p:nvSpPr>
          <p:cNvPr id="11" name="TextBox 10"/>
          <p:cNvSpPr txBox="1"/>
          <p:nvPr/>
        </p:nvSpPr>
        <p:spPr>
          <a:xfrm>
            <a:off x="640080" y="1508760"/>
            <a:ext cx="2834639" cy="347472"/>
          </a:xfrm>
          <a:prstGeom prst="rect">
            <a:avLst/>
          </a:prstGeom>
          <a:noFill/>
        </p:spPr>
        <p:txBody>
          <a:bodyPr wrap="square" lIns="0" rIns="0" tIns="0" bIns="0" anchor="ctr">
            <a:spAutoFit/>
          </a:bodyPr>
          <a:lstStyle/>
          <a:p>
            <a:pPr algn="l">
              <a:spcBef>
                <a:spcPts val="0"/>
              </a:spcBef>
              <a:spcAft>
                <a:spcPts val="0"/>
              </a:spcAft>
            </a:pPr>
            <a:r>
              <a:rPr sz="1100" b="1" i="0" spc="60">
                <a:solidFill>
                  <a:srgbClr val="5B6675"/>
                </a:solidFill>
                <a:latin typeface="Calibri"/>
              </a:rPr>
              <a:t>AREA</a:t>
            </a:r>
          </a:p>
        </p:txBody>
      </p:sp>
      <p:sp>
        <p:nvSpPr>
          <p:cNvPr id="12" name="TextBox 11"/>
          <p:cNvSpPr txBox="1"/>
          <p:nvPr/>
        </p:nvSpPr>
        <p:spPr>
          <a:xfrm>
            <a:off x="3657600" y="1508760"/>
            <a:ext cx="914400" cy="347472"/>
          </a:xfrm>
          <a:prstGeom prst="rect">
            <a:avLst/>
          </a:prstGeom>
          <a:noFill/>
        </p:spPr>
        <p:txBody>
          <a:bodyPr wrap="square" lIns="0" rIns="0" tIns="0" bIns="0" anchor="ctr">
            <a:spAutoFit/>
          </a:bodyPr>
          <a:lstStyle/>
          <a:p>
            <a:pPr algn="r">
              <a:spcBef>
                <a:spcPts val="0"/>
              </a:spcBef>
              <a:spcAft>
                <a:spcPts val="0"/>
              </a:spcAft>
            </a:pPr>
            <a:r>
              <a:rPr sz="1100" b="1" i="0" spc="60">
                <a:solidFill>
                  <a:srgbClr val="5B6675"/>
                </a:solidFill>
                <a:latin typeface="Calibri"/>
              </a:rPr>
              <a:t>TESTS</a:t>
            </a:r>
          </a:p>
        </p:txBody>
      </p:sp>
      <p:cxnSp>
        <p:nvCxnSpPr>
          <p:cNvPr id="13" name="Connector 12"/>
          <p:cNvCxnSpPr/>
          <p:nvPr/>
        </p:nvCxnSpPr>
        <p:spPr>
          <a:xfrm>
            <a:off x="548640" y="1856231"/>
            <a:ext cx="4114800" cy="0"/>
          </a:xfrm>
          <a:prstGeom prst="line">
            <a:avLst/>
          </a:prstGeom>
          <a:ln w="15875">
            <a:solidFill>
              <a:srgbClr val="5B6675"/>
            </a:solidFill>
          </a:ln>
        </p:spPr>
      </p:cxnSp>
      <p:sp>
        <p:nvSpPr>
          <p:cNvPr id="14" name="TextBox 13"/>
          <p:cNvSpPr txBox="1"/>
          <p:nvPr/>
        </p:nvSpPr>
        <p:spPr>
          <a:xfrm>
            <a:off x="640080" y="1856231"/>
            <a:ext cx="2834639" cy="393192"/>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libri"/>
              </a:rPr>
              <a:t>Backend algebra</a:t>
            </a:r>
          </a:p>
        </p:txBody>
      </p:sp>
      <p:sp>
        <p:nvSpPr>
          <p:cNvPr id="15" name="TextBox 14"/>
          <p:cNvSpPr txBox="1"/>
          <p:nvPr/>
        </p:nvSpPr>
        <p:spPr>
          <a:xfrm>
            <a:off x="3657600" y="1856231"/>
            <a:ext cx="914400" cy="393192"/>
          </a:xfrm>
          <a:prstGeom prst="rect">
            <a:avLst/>
          </a:prstGeom>
          <a:noFill/>
        </p:spPr>
        <p:txBody>
          <a:bodyPr wrap="square" lIns="0" rIns="0" tIns="0" bIns="0" anchor="ctr">
            <a:spAutoFit/>
          </a:bodyPr>
          <a:lstStyle/>
          <a:p>
            <a:pPr algn="r">
              <a:spcBef>
                <a:spcPts val="0"/>
              </a:spcBef>
              <a:spcAft>
                <a:spcPts val="0"/>
              </a:spcAft>
            </a:pPr>
            <a:r>
              <a:rPr sz="1500" b="0" i="0">
                <a:solidFill>
                  <a:srgbClr val="14202E"/>
                </a:solidFill>
                <a:latin typeface="Calibri"/>
              </a:rPr>
              <a:t>36</a:t>
            </a:r>
          </a:p>
        </p:txBody>
      </p:sp>
      <p:cxnSp>
        <p:nvCxnSpPr>
          <p:cNvPr id="16" name="Connector 15"/>
          <p:cNvCxnSpPr/>
          <p:nvPr/>
        </p:nvCxnSpPr>
        <p:spPr>
          <a:xfrm>
            <a:off x="548640" y="2249424"/>
            <a:ext cx="4114800" cy="0"/>
          </a:xfrm>
          <a:prstGeom prst="line">
            <a:avLst/>
          </a:prstGeom>
          <a:ln w="12700">
            <a:solidFill>
              <a:srgbClr val="D3D9E1"/>
            </a:solidFill>
          </a:ln>
        </p:spPr>
      </p:cxnSp>
      <p:sp>
        <p:nvSpPr>
          <p:cNvPr id="17" name="TextBox 16"/>
          <p:cNvSpPr txBox="1"/>
          <p:nvPr/>
        </p:nvSpPr>
        <p:spPr>
          <a:xfrm>
            <a:off x="640080" y="2249424"/>
            <a:ext cx="2834639" cy="393192"/>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libri"/>
              </a:rPr>
              <a:t>Encoding</a:t>
            </a:r>
          </a:p>
        </p:txBody>
      </p:sp>
      <p:sp>
        <p:nvSpPr>
          <p:cNvPr id="18" name="TextBox 17"/>
          <p:cNvSpPr txBox="1"/>
          <p:nvPr/>
        </p:nvSpPr>
        <p:spPr>
          <a:xfrm>
            <a:off x="3657600" y="2249424"/>
            <a:ext cx="914400" cy="393192"/>
          </a:xfrm>
          <a:prstGeom prst="rect">
            <a:avLst/>
          </a:prstGeom>
          <a:noFill/>
        </p:spPr>
        <p:txBody>
          <a:bodyPr wrap="square" lIns="0" rIns="0" tIns="0" bIns="0" anchor="ctr">
            <a:spAutoFit/>
          </a:bodyPr>
          <a:lstStyle/>
          <a:p>
            <a:pPr algn="r">
              <a:spcBef>
                <a:spcPts val="0"/>
              </a:spcBef>
              <a:spcAft>
                <a:spcPts val="0"/>
              </a:spcAft>
            </a:pPr>
            <a:r>
              <a:rPr sz="1500" b="0" i="0">
                <a:solidFill>
                  <a:srgbClr val="14202E"/>
                </a:solidFill>
                <a:latin typeface="Calibri"/>
              </a:rPr>
              <a:t>11</a:t>
            </a:r>
          </a:p>
        </p:txBody>
      </p:sp>
      <p:cxnSp>
        <p:nvCxnSpPr>
          <p:cNvPr id="19" name="Connector 18"/>
          <p:cNvCxnSpPr/>
          <p:nvPr/>
        </p:nvCxnSpPr>
        <p:spPr>
          <a:xfrm>
            <a:off x="548640" y="2642616"/>
            <a:ext cx="4114800" cy="0"/>
          </a:xfrm>
          <a:prstGeom prst="line">
            <a:avLst/>
          </a:prstGeom>
          <a:ln w="12700">
            <a:solidFill>
              <a:srgbClr val="D3D9E1"/>
            </a:solidFill>
          </a:ln>
        </p:spPr>
      </p:cxnSp>
      <p:sp>
        <p:nvSpPr>
          <p:cNvPr id="20" name="TextBox 19"/>
          <p:cNvSpPr txBox="1"/>
          <p:nvPr/>
        </p:nvSpPr>
        <p:spPr>
          <a:xfrm>
            <a:off x="640080" y="2642616"/>
            <a:ext cx="2834639" cy="393192"/>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libri"/>
              </a:rPr>
              <a:t>Hashing</a:t>
            </a:r>
          </a:p>
        </p:txBody>
      </p:sp>
      <p:sp>
        <p:nvSpPr>
          <p:cNvPr id="21" name="TextBox 20"/>
          <p:cNvSpPr txBox="1"/>
          <p:nvPr/>
        </p:nvSpPr>
        <p:spPr>
          <a:xfrm>
            <a:off x="3657600" y="2642616"/>
            <a:ext cx="914400" cy="393192"/>
          </a:xfrm>
          <a:prstGeom prst="rect">
            <a:avLst/>
          </a:prstGeom>
          <a:noFill/>
        </p:spPr>
        <p:txBody>
          <a:bodyPr wrap="square" lIns="0" rIns="0" tIns="0" bIns="0" anchor="ctr">
            <a:spAutoFit/>
          </a:bodyPr>
          <a:lstStyle/>
          <a:p>
            <a:pPr algn="r">
              <a:spcBef>
                <a:spcPts val="0"/>
              </a:spcBef>
              <a:spcAft>
                <a:spcPts val="0"/>
              </a:spcAft>
            </a:pPr>
            <a:r>
              <a:rPr sz="1500" b="0" i="0">
                <a:solidFill>
                  <a:srgbClr val="14202E"/>
                </a:solidFill>
                <a:latin typeface="Calibri"/>
              </a:rPr>
              <a:t>27</a:t>
            </a:r>
          </a:p>
        </p:txBody>
      </p:sp>
      <p:cxnSp>
        <p:nvCxnSpPr>
          <p:cNvPr id="22" name="Connector 21"/>
          <p:cNvCxnSpPr/>
          <p:nvPr/>
        </p:nvCxnSpPr>
        <p:spPr>
          <a:xfrm>
            <a:off x="548640" y="3035808"/>
            <a:ext cx="4114800" cy="0"/>
          </a:xfrm>
          <a:prstGeom prst="line">
            <a:avLst/>
          </a:prstGeom>
          <a:ln w="12700">
            <a:solidFill>
              <a:srgbClr val="D3D9E1"/>
            </a:solidFill>
          </a:ln>
        </p:spPr>
      </p:cxnSp>
      <p:sp>
        <p:nvSpPr>
          <p:cNvPr id="23" name="TextBox 22"/>
          <p:cNvSpPr txBox="1"/>
          <p:nvPr/>
        </p:nvSpPr>
        <p:spPr>
          <a:xfrm>
            <a:off x="640080" y="3035808"/>
            <a:ext cx="2834639" cy="393192"/>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libri"/>
              </a:rPr>
              <a:t>Scheme</a:t>
            </a:r>
          </a:p>
        </p:txBody>
      </p:sp>
      <p:sp>
        <p:nvSpPr>
          <p:cNvPr id="24" name="TextBox 23"/>
          <p:cNvSpPr txBox="1"/>
          <p:nvPr/>
        </p:nvSpPr>
        <p:spPr>
          <a:xfrm>
            <a:off x="3657600" y="3035808"/>
            <a:ext cx="914400" cy="393192"/>
          </a:xfrm>
          <a:prstGeom prst="rect">
            <a:avLst/>
          </a:prstGeom>
          <a:noFill/>
        </p:spPr>
        <p:txBody>
          <a:bodyPr wrap="square" lIns="0" rIns="0" tIns="0" bIns="0" anchor="ctr">
            <a:spAutoFit/>
          </a:bodyPr>
          <a:lstStyle/>
          <a:p>
            <a:pPr algn="r">
              <a:spcBef>
                <a:spcPts val="0"/>
              </a:spcBef>
              <a:spcAft>
                <a:spcPts val="0"/>
              </a:spcAft>
            </a:pPr>
            <a:r>
              <a:rPr sz="1500" b="0" i="0">
                <a:solidFill>
                  <a:srgbClr val="14202E"/>
                </a:solidFill>
                <a:latin typeface="Calibri"/>
              </a:rPr>
              <a:t>44</a:t>
            </a:r>
          </a:p>
        </p:txBody>
      </p:sp>
      <p:cxnSp>
        <p:nvCxnSpPr>
          <p:cNvPr id="25" name="Connector 24"/>
          <p:cNvCxnSpPr/>
          <p:nvPr/>
        </p:nvCxnSpPr>
        <p:spPr>
          <a:xfrm>
            <a:off x="548640" y="3429000"/>
            <a:ext cx="4114800" cy="0"/>
          </a:xfrm>
          <a:prstGeom prst="line">
            <a:avLst/>
          </a:prstGeom>
          <a:ln w="12700">
            <a:solidFill>
              <a:srgbClr val="D3D9E1"/>
            </a:solidFill>
          </a:ln>
        </p:spPr>
      </p:cxnSp>
      <p:sp>
        <p:nvSpPr>
          <p:cNvPr id="26" name="TextBox 25"/>
          <p:cNvSpPr txBox="1"/>
          <p:nvPr/>
        </p:nvSpPr>
        <p:spPr>
          <a:xfrm>
            <a:off x="640080" y="3429000"/>
            <a:ext cx="2834639" cy="393192"/>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libri"/>
              </a:rPr>
              <a:t>Verma</a:t>
            </a:r>
          </a:p>
        </p:txBody>
      </p:sp>
      <p:sp>
        <p:nvSpPr>
          <p:cNvPr id="27" name="TextBox 26"/>
          <p:cNvSpPr txBox="1"/>
          <p:nvPr/>
        </p:nvSpPr>
        <p:spPr>
          <a:xfrm>
            <a:off x="3657600" y="3429000"/>
            <a:ext cx="914400" cy="393192"/>
          </a:xfrm>
          <a:prstGeom prst="rect">
            <a:avLst/>
          </a:prstGeom>
          <a:noFill/>
        </p:spPr>
        <p:txBody>
          <a:bodyPr wrap="square" lIns="0" rIns="0" tIns="0" bIns="0" anchor="ctr">
            <a:spAutoFit/>
          </a:bodyPr>
          <a:lstStyle/>
          <a:p>
            <a:pPr algn="r">
              <a:spcBef>
                <a:spcPts val="0"/>
              </a:spcBef>
              <a:spcAft>
                <a:spcPts val="0"/>
              </a:spcAft>
            </a:pPr>
            <a:r>
              <a:rPr sz="1500" b="0" i="0">
                <a:solidFill>
                  <a:srgbClr val="14202E"/>
                </a:solidFill>
                <a:latin typeface="Calibri"/>
              </a:rPr>
              <a:t>26</a:t>
            </a:r>
          </a:p>
        </p:txBody>
      </p:sp>
      <p:cxnSp>
        <p:nvCxnSpPr>
          <p:cNvPr id="28" name="Connector 27"/>
          <p:cNvCxnSpPr/>
          <p:nvPr/>
        </p:nvCxnSpPr>
        <p:spPr>
          <a:xfrm>
            <a:off x="548640" y="3822192"/>
            <a:ext cx="4114800" cy="0"/>
          </a:xfrm>
          <a:prstGeom prst="line">
            <a:avLst/>
          </a:prstGeom>
          <a:ln w="12700">
            <a:solidFill>
              <a:srgbClr val="D3D9E1"/>
            </a:solidFill>
          </a:ln>
        </p:spPr>
      </p:cxnSp>
      <p:sp>
        <p:nvSpPr>
          <p:cNvPr id="29" name="TextBox 28"/>
          <p:cNvSpPr txBox="1"/>
          <p:nvPr/>
        </p:nvSpPr>
        <p:spPr>
          <a:xfrm>
            <a:off x="640080" y="3822192"/>
            <a:ext cx="2834639" cy="393192"/>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libri"/>
              </a:rPr>
              <a:t>Attack and ablation</a:t>
            </a:r>
          </a:p>
        </p:txBody>
      </p:sp>
      <p:sp>
        <p:nvSpPr>
          <p:cNvPr id="30" name="TextBox 29"/>
          <p:cNvSpPr txBox="1"/>
          <p:nvPr/>
        </p:nvSpPr>
        <p:spPr>
          <a:xfrm>
            <a:off x="3657600" y="3822192"/>
            <a:ext cx="914400" cy="393192"/>
          </a:xfrm>
          <a:prstGeom prst="rect">
            <a:avLst/>
          </a:prstGeom>
          <a:noFill/>
        </p:spPr>
        <p:txBody>
          <a:bodyPr wrap="square" lIns="0" rIns="0" tIns="0" bIns="0" anchor="ctr">
            <a:spAutoFit/>
          </a:bodyPr>
          <a:lstStyle/>
          <a:p>
            <a:pPr algn="r">
              <a:spcBef>
                <a:spcPts val="0"/>
              </a:spcBef>
              <a:spcAft>
                <a:spcPts val="0"/>
              </a:spcAft>
            </a:pPr>
            <a:r>
              <a:rPr sz="1500" b="0" i="0">
                <a:solidFill>
                  <a:srgbClr val="14202E"/>
                </a:solidFill>
                <a:latin typeface="Calibri"/>
              </a:rPr>
              <a:t>36</a:t>
            </a:r>
          </a:p>
        </p:txBody>
      </p:sp>
      <p:cxnSp>
        <p:nvCxnSpPr>
          <p:cNvPr id="31" name="Connector 30"/>
          <p:cNvCxnSpPr/>
          <p:nvPr/>
        </p:nvCxnSpPr>
        <p:spPr>
          <a:xfrm>
            <a:off x="548640" y="4215384"/>
            <a:ext cx="4114800" cy="0"/>
          </a:xfrm>
          <a:prstGeom prst="line">
            <a:avLst/>
          </a:prstGeom>
          <a:ln w="12700">
            <a:solidFill>
              <a:srgbClr val="D3D9E1"/>
            </a:solidFill>
          </a:ln>
        </p:spPr>
      </p:cxnSp>
      <p:sp>
        <p:nvSpPr>
          <p:cNvPr id="32" name="TextBox 31"/>
          <p:cNvSpPr txBox="1"/>
          <p:nvPr/>
        </p:nvSpPr>
        <p:spPr>
          <a:xfrm>
            <a:off x="640080" y="4215384"/>
            <a:ext cx="2834639" cy="393192"/>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libri"/>
              </a:rPr>
              <a:t>Operation counts</a:t>
            </a:r>
          </a:p>
        </p:txBody>
      </p:sp>
      <p:sp>
        <p:nvSpPr>
          <p:cNvPr id="33" name="TextBox 32"/>
          <p:cNvSpPr txBox="1"/>
          <p:nvPr/>
        </p:nvSpPr>
        <p:spPr>
          <a:xfrm>
            <a:off x="3657600" y="4215384"/>
            <a:ext cx="914400" cy="393192"/>
          </a:xfrm>
          <a:prstGeom prst="rect">
            <a:avLst/>
          </a:prstGeom>
          <a:noFill/>
        </p:spPr>
        <p:txBody>
          <a:bodyPr wrap="square" lIns="0" rIns="0" tIns="0" bIns="0" anchor="ctr">
            <a:spAutoFit/>
          </a:bodyPr>
          <a:lstStyle/>
          <a:p>
            <a:pPr algn="r">
              <a:spcBef>
                <a:spcPts val="0"/>
              </a:spcBef>
              <a:spcAft>
                <a:spcPts val="0"/>
              </a:spcAft>
            </a:pPr>
            <a:r>
              <a:rPr sz="1500" b="0" i="0">
                <a:solidFill>
                  <a:srgbClr val="14202E"/>
                </a:solidFill>
                <a:latin typeface="Calibri"/>
              </a:rPr>
              <a:t>34</a:t>
            </a:r>
          </a:p>
        </p:txBody>
      </p:sp>
      <p:cxnSp>
        <p:nvCxnSpPr>
          <p:cNvPr id="34" name="Connector 33"/>
          <p:cNvCxnSpPr/>
          <p:nvPr/>
        </p:nvCxnSpPr>
        <p:spPr>
          <a:xfrm>
            <a:off x="548640" y="4608576"/>
            <a:ext cx="4114800" cy="0"/>
          </a:xfrm>
          <a:prstGeom prst="line">
            <a:avLst/>
          </a:prstGeom>
          <a:ln w="12700">
            <a:solidFill>
              <a:srgbClr val="D3D9E1"/>
            </a:solidFill>
          </a:ln>
        </p:spPr>
      </p:cxnSp>
      <p:sp>
        <p:nvSpPr>
          <p:cNvPr id="35" name="TextBox 34"/>
          <p:cNvSpPr txBox="1"/>
          <p:nvPr/>
        </p:nvSpPr>
        <p:spPr>
          <a:xfrm>
            <a:off x="640080" y="4608576"/>
            <a:ext cx="2834639" cy="393192"/>
          </a:xfrm>
          <a:prstGeom prst="rect">
            <a:avLst/>
          </a:prstGeom>
          <a:noFill/>
        </p:spPr>
        <p:txBody>
          <a:bodyPr wrap="square" lIns="0" rIns="0" tIns="0" bIns="0" anchor="ctr">
            <a:spAutoFit/>
          </a:bodyPr>
          <a:lstStyle/>
          <a:p>
            <a:pPr algn="l">
              <a:spcBef>
                <a:spcPts val="0"/>
              </a:spcBef>
              <a:spcAft>
                <a:spcPts val="0"/>
              </a:spcAft>
            </a:pPr>
            <a:r>
              <a:rPr sz="1500" b="0" i="0">
                <a:solidFill>
                  <a:srgbClr val="14202E"/>
                </a:solidFill>
                <a:latin typeface="Calibri"/>
              </a:rPr>
              <a:t>Timing harness</a:t>
            </a:r>
          </a:p>
        </p:txBody>
      </p:sp>
      <p:sp>
        <p:nvSpPr>
          <p:cNvPr id="36" name="TextBox 35"/>
          <p:cNvSpPr txBox="1"/>
          <p:nvPr/>
        </p:nvSpPr>
        <p:spPr>
          <a:xfrm>
            <a:off x="3657600" y="4608576"/>
            <a:ext cx="914400" cy="393192"/>
          </a:xfrm>
          <a:prstGeom prst="rect">
            <a:avLst/>
          </a:prstGeom>
          <a:noFill/>
        </p:spPr>
        <p:txBody>
          <a:bodyPr wrap="square" lIns="0" rIns="0" tIns="0" bIns="0" anchor="ctr">
            <a:spAutoFit/>
          </a:bodyPr>
          <a:lstStyle/>
          <a:p>
            <a:pPr algn="r">
              <a:spcBef>
                <a:spcPts val="0"/>
              </a:spcBef>
              <a:spcAft>
                <a:spcPts val="0"/>
              </a:spcAft>
            </a:pPr>
            <a:r>
              <a:rPr sz="1500" b="0" i="0">
                <a:solidFill>
                  <a:srgbClr val="14202E"/>
                </a:solidFill>
                <a:latin typeface="Calibri"/>
              </a:rPr>
              <a:t>7</a:t>
            </a:r>
          </a:p>
        </p:txBody>
      </p:sp>
      <p:cxnSp>
        <p:nvCxnSpPr>
          <p:cNvPr id="37" name="Connector 36"/>
          <p:cNvCxnSpPr/>
          <p:nvPr/>
        </p:nvCxnSpPr>
        <p:spPr>
          <a:xfrm>
            <a:off x="548640" y="5001768"/>
            <a:ext cx="4114800" cy="0"/>
          </a:xfrm>
          <a:prstGeom prst="line">
            <a:avLst/>
          </a:prstGeom>
          <a:ln w="12700">
            <a:solidFill>
              <a:srgbClr val="D3D9E1"/>
            </a:solidFill>
          </a:ln>
        </p:spPr>
      </p:cxnSp>
      <p:sp>
        <p:nvSpPr>
          <p:cNvPr id="38" name="TextBox 37"/>
          <p:cNvSpPr txBox="1"/>
          <p:nvPr/>
        </p:nvSpPr>
        <p:spPr>
          <a:xfrm>
            <a:off x="640080" y="5001768"/>
            <a:ext cx="2834639" cy="393192"/>
          </a:xfrm>
          <a:prstGeom prst="rect">
            <a:avLst/>
          </a:prstGeom>
          <a:noFill/>
        </p:spPr>
        <p:txBody>
          <a:bodyPr wrap="square" lIns="0" rIns="0" tIns="0" bIns="0" anchor="ctr">
            <a:spAutoFit/>
          </a:bodyPr>
          <a:lstStyle/>
          <a:p>
            <a:pPr algn="l">
              <a:spcBef>
                <a:spcPts val="0"/>
              </a:spcBef>
              <a:spcAft>
                <a:spcPts val="0"/>
              </a:spcAft>
            </a:pPr>
            <a:r>
              <a:rPr sz="1500" b="1" i="0">
                <a:solidFill>
                  <a:srgbClr val="14202E"/>
                </a:solidFill>
                <a:latin typeface="Calibri"/>
              </a:rPr>
              <a:t>total</a:t>
            </a:r>
          </a:p>
        </p:txBody>
      </p:sp>
      <p:sp>
        <p:nvSpPr>
          <p:cNvPr id="39" name="TextBox 38"/>
          <p:cNvSpPr txBox="1"/>
          <p:nvPr/>
        </p:nvSpPr>
        <p:spPr>
          <a:xfrm>
            <a:off x="3657600" y="5001768"/>
            <a:ext cx="914400" cy="393192"/>
          </a:xfrm>
          <a:prstGeom prst="rect">
            <a:avLst/>
          </a:prstGeom>
          <a:noFill/>
        </p:spPr>
        <p:txBody>
          <a:bodyPr wrap="square" lIns="0" rIns="0" tIns="0" bIns="0" anchor="ctr">
            <a:spAutoFit/>
          </a:bodyPr>
          <a:lstStyle/>
          <a:p>
            <a:pPr algn="r">
              <a:spcBef>
                <a:spcPts val="0"/>
              </a:spcBef>
              <a:spcAft>
                <a:spcPts val="0"/>
              </a:spcAft>
            </a:pPr>
            <a:r>
              <a:rPr sz="1500" b="1" i="0">
                <a:solidFill>
                  <a:srgbClr val="14202E"/>
                </a:solidFill>
                <a:latin typeface="Calibri"/>
              </a:rPr>
              <a:t>221</a:t>
            </a:r>
          </a:p>
        </p:txBody>
      </p:sp>
      <p:cxnSp>
        <p:nvCxnSpPr>
          <p:cNvPr id="40" name="Connector 39"/>
          <p:cNvCxnSpPr/>
          <p:nvPr/>
        </p:nvCxnSpPr>
        <p:spPr>
          <a:xfrm>
            <a:off x="548640" y="5394959"/>
            <a:ext cx="4114800" cy="0"/>
          </a:xfrm>
          <a:prstGeom prst="line">
            <a:avLst/>
          </a:prstGeom>
          <a:ln w="12700">
            <a:solidFill>
              <a:srgbClr val="D3D9E1"/>
            </a:solidFill>
          </a:ln>
        </p:spPr>
      </p:cxnSp>
      <p:sp>
        <p:nvSpPr>
          <p:cNvPr id="41" name="TextBox 40"/>
          <p:cNvSpPr txBox="1"/>
          <p:nvPr/>
        </p:nvSpPr>
        <p:spPr>
          <a:xfrm>
            <a:off x="548640" y="5440680"/>
            <a:ext cx="4114800" cy="548640"/>
          </a:xfrm>
          <a:prstGeom prst="rect">
            <a:avLst/>
          </a:prstGeom>
          <a:noFill/>
        </p:spPr>
        <p:txBody>
          <a:bodyPr wrap="square" lIns="0" rIns="0" tIns="0" bIns="0" anchor="t">
            <a:spAutoFit/>
          </a:bodyPr>
          <a:lstStyle/>
          <a:p>
            <a:pPr algn="l">
              <a:lnSpc>
                <a:spcPct val="95000"/>
              </a:lnSpc>
              <a:spcBef>
                <a:spcPts val="0"/>
              </a:spcBef>
              <a:spcAft>
                <a:spcPts val="0"/>
              </a:spcAft>
            </a:pPr>
            <a:r>
              <a:rPr sz="1300" b="0" i="0">
                <a:solidFill>
                  <a:srgbClr val="5B6675"/>
                </a:solidFill>
                <a:latin typeface="Calibri"/>
              </a:rPr>
              <a:t>101 tests × 2 backends + 19 backend-independent. Self-test: 62 checks.</a:t>
            </a:r>
          </a:p>
        </p:txBody>
      </p:sp>
      <p:sp>
        <p:nvSpPr>
          <p:cNvPr id="42" name="Rounded Rectangle 41"/>
          <p:cNvSpPr/>
          <p:nvPr/>
        </p:nvSpPr>
        <p:spPr>
          <a:xfrm>
            <a:off x="5029200" y="1508760"/>
            <a:ext cx="6611112" cy="4160520"/>
          </a:xfrm>
          <a:prstGeom prst="roundRect">
            <a:avLst>
              <a:gd name="adj" fmla="val 2197"/>
            </a:avLst>
          </a:prstGeom>
          <a:solidFill>
            <a:srgbClr val="101923"/>
          </a:solidFill>
          <a:ln w="12700">
            <a:solidFill>
              <a:srgbClr val="2B3A4A"/>
            </a:solidFill>
          </a:ln>
          <a:effectLst/>
        </p:spPr>
        <p:txBody>
          <a:bodyPr rtlCol="0" anchor="ctr" wrap="square" lIns="73152" rIns="73152" tIns="36576" bIns="36576"/>
          <a:lstStyle/>
          <a:p>
            <a:pPr algn="ctr"/>
          </a:p>
        </p:txBody>
      </p:sp>
      <p:sp>
        <p:nvSpPr>
          <p:cNvPr id="43" name="TextBox 42"/>
          <p:cNvSpPr txBox="1"/>
          <p:nvPr/>
        </p:nvSpPr>
        <p:spPr>
          <a:xfrm>
            <a:off x="5212080" y="1636776"/>
            <a:ext cx="6245352" cy="3941064"/>
          </a:xfrm>
          <a:prstGeom prst="rect">
            <a:avLst/>
          </a:prstGeom>
          <a:noFill/>
        </p:spPr>
        <p:txBody>
          <a:bodyPr wrap="square" lIns="0" rIns="0" tIns="0" bIns="0" anchor="t">
            <a:spAutoFit/>
          </a:bodyPr>
          <a:lstStyle/>
          <a:p>
            <a:pPr algn="l">
              <a:spcBef>
                <a:spcPts val="0"/>
              </a:spcBef>
              <a:spcAft>
                <a:spcPts val="200"/>
              </a:spcAft>
            </a:pPr>
            <a:r>
              <a:rPr sz="1300" b="0" i="0">
                <a:solidFill>
                  <a:srgbClr val="8FA1B3"/>
                </a:solidFill>
                <a:latin typeface="Courier New"/>
              </a:rPr>
              <a:t>$</a:t>
            </a:r>
            <a:r>
              <a:rPr sz="1300" b="0" i="0">
                <a:solidFill>
                  <a:srgbClr val="DDE5EE"/>
                </a:solidFill>
                <a:latin typeface="Courier New"/>
              </a:rPr>
              <a:t> make selftest</a:t>
            </a:r>
          </a:p>
          <a:p>
            <a:pPr algn="l">
              <a:spcBef>
                <a:spcPts val="0"/>
              </a:spcBef>
              <a:spcAft>
                <a:spcPts val="200"/>
              </a:spcAft>
            </a:pPr>
            <a:r>
              <a:rPr sz="1300" b="0" i="0">
                <a:solidFill>
                  <a:srgbClr val="8FA1B3"/>
                </a:solidFill>
                <a:latin typeface="Courier New"/>
              </a:rPr>
              <a:t>$</a:t>
            </a:r>
            <a:r>
              <a:rPr sz="1300" b="0" i="0">
                <a:solidFill>
                  <a:srgbClr val="DDE5EE"/>
                </a:solidFill>
                <a:latin typeface="Courier New"/>
              </a:rPr>
              <a:t> make test</a:t>
            </a:r>
          </a:p>
          <a:p>
            <a:pPr algn="l">
              <a:spcBef>
                <a:spcPts val="0"/>
              </a:spcBef>
              <a:spcAft>
                <a:spcPts val="200"/>
              </a:spcAft>
            </a:pPr>
            <a:r>
              <a:rPr sz="1300" b="0" i="0">
                <a:solidFill>
                  <a:srgbClr val="8FA1B3"/>
                </a:solidFill>
                <a:latin typeface="Courier New"/>
              </a:rPr>
              <a:t>$</a:t>
            </a:r>
            <a:r>
              <a:rPr sz="1300" b="0" i="0">
                <a:solidFill>
                  <a:srgbClr val="DDE5EE"/>
                </a:solidFill>
                <a:latin typeface="Courier New"/>
              </a:rPr>
              <a:t> make attack</a:t>
            </a:r>
          </a:p>
          <a:p>
            <a:pPr algn="l">
              <a:spcBef>
                <a:spcPts val="0"/>
              </a:spcBef>
              <a:spcAft>
                <a:spcPts val="200"/>
              </a:spcAft>
            </a:pPr>
            <a:r>
              <a:rPr sz="1300" b="0" i="0">
                <a:solidFill>
                  <a:srgbClr val="8FA1B3"/>
                </a:solidFill>
                <a:latin typeface="Courier New"/>
              </a:rPr>
              <a:t>$</a:t>
            </a:r>
            <a:r>
              <a:rPr sz="1300" b="0" i="0">
                <a:solidFill>
                  <a:srgbClr val="DDE5EE"/>
                </a:solidFill>
                <a:latin typeface="Courier New"/>
              </a:rPr>
              <a:t> .venv/bin/python -m cbas.demo</a:t>
            </a:r>
          </a:p>
          <a:p>
            <a:pPr algn="l">
              <a:spcBef>
                <a:spcPts val="0"/>
              </a:spcBef>
              <a:spcAft>
                <a:spcPts val="200"/>
              </a:spcAft>
            </a:pPr>
            <a:r>
              <a:rPr sz="1300" b="0" i="0">
                <a:solidFill>
                  <a:srgbClr val="8FA1B3"/>
                </a:solidFill>
                <a:latin typeface="Courier New"/>
              </a:rPr>
              <a:t>$</a:t>
            </a:r>
            <a:r>
              <a:rPr sz="1300" b="0" i="0">
                <a:solidFill>
                  <a:srgbClr val="DDE5EE"/>
                </a:solidFill>
                <a:latin typeface="Courier New"/>
              </a:rPr>
              <a:t> .venv/bin/python -m pytest \</a:t>
            </a:r>
          </a:p>
          <a:p>
            <a:pPr algn="l">
              <a:spcBef>
                <a:spcPts val="0"/>
              </a:spcBef>
              <a:spcAft>
                <a:spcPts val="200"/>
              </a:spcAft>
            </a:pPr>
            <a:r>
              <a:rPr sz="1300" b="0" i="0">
                <a:solidFill>
                  <a:srgbClr val="DDE5EE"/>
                </a:solidFill>
                <a:latin typeface="Courier New"/>
              </a:rPr>
              <a:t>      tests/test_forgery.py -k ablat -vv</a:t>
            </a:r>
          </a:p>
          <a:p>
            <a:pPr algn="l">
              <a:spcBef>
                <a:spcPts val="0"/>
              </a:spcBef>
              <a:spcAft>
                <a:spcPts val="200"/>
              </a:spcAft>
            </a:pPr>
            <a:r>
              <a:rPr sz="1300" b="0" i="0">
                <a:solidFill>
                  <a:srgbClr val="8FA1B3"/>
                </a:solidFill>
                <a:latin typeface="Courier New"/>
              </a:rPr>
              <a:t>$</a:t>
            </a:r>
            <a:r>
              <a:rPr sz="1300" b="0" i="0">
                <a:solidFill>
                  <a:srgbClr val="DDE5EE"/>
                </a:solidFill>
                <a:latin typeface="Courier New"/>
              </a:rPr>
              <a:t> .venv/bin/python -m pytest \</a:t>
            </a:r>
          </a:p>
          <a:p>
            <a:pPr algn="l">
              <a:spcBef>
                <a:spcPts val="0"/>
              </a:spcBef>
              <a:spcAft>
                <a:spcPts val="200"/>
              </a:spcAft>
            </a:pPr>
            <a:r>
              <a:rPr sz="1300" b="0" i="0">
                <a:solidFill>
                  <a:srgbClr val="DDE5EE"/>
                </a:solidFill>
                <a:latin typeface="Courier New"/>
              </a:rPr>
              <a:t>      tests/test_opcount.py tests/test_verma.py \</a:t>
            </a:r>
          </a:p>
          <a:p>
            <a:pPr algn="l">
              <a:spcBef>
                <a:spcPts val="0"/>
              </a:spcBef>
              <a:spcAft>
                <a:spcPts val="200"/>
              </a:spcAft>
            </a:pPr>
            <a:r>
              <a:rPr sz="1300" b="0" i="0">
                <a:solidFill>
                  <a:srgbClr val="DDE5EE"/>
                </a:solidFill>
                <a:latin typeface="Courier New"/>
              </a:rPr>
              <a:t>      -k "opcount or published_row" -vv</a:t>
            </a:r>
          </a:p>
          <a:p>
            <a:pPr algn="l">
              <a:spcBef>
                <a:spcPts val="0"/>
              </a:spcBef>
              <a:spcAft>
                <a:spcPts val="200"/>
              </a:spcAft>
            </a:pPr>
            <a:r>
              <a:rPr sz="1300" b="0" i="0">
                <a:solidFill>
                  <a:srgbClr val="8FA1B3"/>
                </a:solidFill>
                <a:latin typeface="Courier New"/>
              </a:rPr>
              <a:t>$</a:t>
            </a:r>
            <a:r>
              <a:rPr sz="1300" b="0" i="0">
                <a:solidFill>
                  <a:srgbClr val="DDE5EE"/>
                </a:solidFill>
                <a:latin typeface="Courier New"/>
              </a:rPr>
              <a:t> .venv/bin/python \</a:t>
            </a:r>
          </a:p>
          <a:p>
            <a:pPr algn="l">
              <a:spcBef>
                <a:spcPts val="0"/>
              </a:spcBef>
              <a:spcAft>
                <a:spcPts val="200"/>
              </a:spcAft>
            </a:pPr>
            <a:r>
              <a:rPr sz="1300" b="0" i="0">
                <a:solidFill>
                  <a:srgbClr val="DDE5EE"/>
                </a:solidFill>
                <a:latin typeface="Courier New"/>
              </a:rPr>
              <a:t>      presentation/audit/verify_claims.py</a:t>
            </a:r>
          </a:p>
          <a:p>
            <a:pPr algn="l">
              <a:spcBef>
                <a:spcPts val="0"/>
              </a:spcBef>
              <a:spcAft>
                <a:spcPts val="200"/>
              </a:spcAft>
            </a:pPr>
            <a:r>
              <a:rPr sz="1300" b="0" i="0">
                <a:solidFill>
                  <a:srgbClr val="8FA1B3"/>
                </a:solidFill>
                <a:latin typeface="Courier New"/>
              </a:rPr>
              <a:t>$</a:t>
            </a:r>
            <a:r>
              <a:rPr sz="1300" b="0" i="0">
                <a:solidFill>
                  <a:srgbClr val="DDE5EE"/>
                </a:solidFill>
                <a:latin typeface="Courier New"/>
              </a:rPr>
              <a:t> .venv/bin/python \</a:t>
            </a:r>
          </a:p>
          <a:p>
            <a:pPr algn="l">
              <a:spcBef>
                <a:spcPts val="0"/>
              </a:spcBef>
              <a:spcAft>
                <a:spcPts val="200"/>
              </a:spcAft>
            </a:pPr>
            <a:r>
              <a:rPr sz="1300" b="0" i="0">
                <a:solidFill>
                  <a:srgbClr val="DDE5EE"/>
                </a:solidFill>
                <a:latin typeface="Courier New"/>
              </a:rPr>
              <a:t>      presentation/audit/dagger_checks.py</a:t>
            </a:r>
          </a:p>
        </p:txBody>
      </p:sp>
      <p:sp>
        <p:nvSpPr>
          <p:cNvPr id="44" name="TextBox 43"/>
          <p:cNvSpPr txBox="1"/>
          <p:nvPr/>
        </p:nvSpPr>
        <p:spPr>
          <a:xfrm>
            <a:off x="5029200" y="5760720"/>
            <a:ext cx="6583680" cy="457200"/>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Checkpoint: tag presentation-1-interim (881b7b0), branch presentation-1-work.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9AA5B1"/>
          </a:solidFill>
          <a:ln>
            <a:noFill/>
          </a:ln>
          <a:effectLst/>
        </p:spPr>
        <p:txBody>
          <a:bodyPr rtlCol="0" anchor="ctr" wrap="square" lIns="73152" rIns="73152" tIns="36576" bIns="36576"/>
          <a:lstStyle/>
          <a:p>
            <a:pPr algn="ctr"/>
          </a:p>
        </p:txBody>
      </p:sp>
      <p:sp>
        <p:nvSpPr>
          <p:cNvPr id="3" name="TextBox 2"/>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BACKUP · IF THE TERMINAL FAILS</a:t>
            </a:r>
          </a:p>
        </p:txBody>
      </p:sp>
      <p:sp>
        <p:nvSpPr>
          <p:cNvPr id="4" name="TextBox 3"/>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B11 · Demo fallback: captured output of </a:t>
            </a:r>
            <a:r>
              <a:rPr sz="2800" b="1" i="0">
                <a:solidFill>
                  <a:srgbClr val="14202E"/>
                </a:solidFill>
                <a:latin typeface="Courier New"/>
              </a:rPr>
              <a:t>make attack</a:t>
            </a:r>
          </a:p>
        </p:txBody>
      </p:sp>
      <p:sp>
        <p:nvSpPr>
          <p:cNvPr id="5" name="Rounded Rectangle 4"/>
          <p:cNvSpPr/>
          <p:nvPr/>
        </p:nvSpPr>
        <p:spPr>
          <a:xfrm>
            <a:off x="10652760" y="274320"/>
            <a:ext cx="987551" cy="246888"/>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EXPERIMENT</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Backup B11</a:t>
            </a:r>
          </a:p>
        </p:txBody>
      </p:sp>
      <p:pic>
        <p:nvPicPr>
          <p:cNvPr id="9" name="Picture 8" descr="demo1_target1.png"/>
          <p:cNvPicPr>
            <a:picLocks noChangeAspect="1"/>
          </p:cNvPicPr>
          <p:nvPr/>
        </p:nvPicPr>
        <p:blipFill>
          <a:blip r:embed="rId3"/>
          <a:stretch>
            <a:fillRect/>
          </a:stretch>
        </p:blipFill>
        <p:spPr>
          <a:xfrm>
            <a:off x="548640" y="1554480"/>
            <a:ext cx="5303520" cy="2311209"/>
          </a:xfrm>
          <a:prstGeom prst="rect">
            <a:avLst/>
          </a:prstGeom>
        </p:spPr>
      </p:pic>
      <p:pic>
        <p:nvPicPr>
          <p:cNvPr id="10" name="Picture 9" descr="demo2_target2.png"/>
          <p:cNvPicPr>
            <a:picLocks noChangeAspect="1"/>
          </p:cNvPicPr>
          <p:nvPr/>
        </p:nvPicPr>
        <p:blipFill>
          <a:blip r:embed="rId4"/>
          <a:stretch>
            <a:fillRect/>
          </a:stretch>
        </p:blipFill>
        <p:spPr>
          <a:xfrm>
            <a:off x="6336792" y="1554480"/>
            <a:ext cx="5303520" cy="3596007"/>
          </a:xfrm>
          <a:prstGeom prst="rect">
            <a:avLst/>
          </a:prstGeom>
        </p:spPr>
      </p:pic>
      <p:sp>
        <p:nvSpPr>
          <p:cNvPr id="11" name="TextBox 10"/>
          <p:cNvSpPr txBox="1"/>
          <p:nvPr/>
        </p:nvSpPr>
        <p:spPr>
          <a:xfrm>
            <a:off x="548640" y="4114800"/>
            <a:ext cx="5303520" cy="1463040"/>
          </a:xfrm>
          <a:prstGeom prst="rect">
            <a:avLst/>
          </a:prstGeom>
          <a:noFill/>
        </p:spPr>
        <p:txBody>
          <a:bodyPr wrap="square" lIns="0" rIns="0" tIns="0" bIns="0" anchor="t">
            <a:spAutoFit/>
          </a:bodyPr>
          <a:lstStyle/>
          <a:p>
            <a:pPr algn="l">
              <a:spcBef>
                <a:spcPts val="0"/>
              </a:spcBef>
              <a:spcAft>
                <a:spcPts val="300"/>
              </a:spcAft>
            </a:pPr>
            <a:r>
              <a:rPr sz="1800" b="1" i="0">
                <a:solidFill>
                  <a:srgbClr val="B3261E"/>
                </a:solidFill>
                <a:latin typeface="Calibri"/>
              </a:rPr>
              <a:t>Demo 1</a:t>
            </a:r>
          </a:p>
          <a:p>
            <a:pPr algn="l">
              <a:spcBef>
                <a:spcPts val="0"/>
              </a:spcBef>
              <a:spcAft>
                <a:spcPts val="200"/>
              </a:spcAft>
            </a:pPr>
            <a:r>
              <a:rPr sz="1600" b="0" i="0">
                <a:solidFill>
                  <a:srgbClr val="14202E"/>
                </a:solidFill>
                <a:latin typeface="Calibri"/>
              </a:rPr>
              <a:t>forged signature verifies: True</a:t>
            </a:r>
          </a:p>
          <a:p>
            <a:pPr algn="l">
              <a:spcBef>
                <a:spcPts val="0"/>
              </a:spcBef>
              <a:spcAft>
                <a:spcPts val="0"/>
              </a:spcAft>
            </a:pPr>
            <a:r>
              <a:rPr sz="1600" b="0" i="0">
                <a:solidFill>
                  <a:srgbClr val="14202E"/>
                </a:solidFill>
                <a:latin typeface="Calibri"/>
              </a:rPr>
              <a:t>it also survives aggregation</a:t>
            </a:r>
          </a:p>
        </p:txBody>
      </p:sp>
      <p:sp>
        <p:nvSpPr>
          <p:cNvPr id="12" name="TextBox 11"/>
          <p:cNvSpPr txBox="1"/>
          <p:nvPr/>
        </p:nvSpPr>
        <p:spPr>
          <a:xfrm>
            <a:off x="548640" y="5897880"/>
            <a:ext cx="11064240" cy="365760"/>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Actual captured stdout, 2026-10-07, branch presentation-1-work. Candidate bytes differ on every run.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9AA5B1"/>
          </a:solidFill>
          <a:ln>
            <a:noFill/>
          </a:ln>
          <a:effectLst/>
        </p:spPr>
        <p:txBody>
          <a:bodyPr rtlCol="0" anchor="ctr" wrap="square" lIns="73152" rIns="73152" tIns="36576" bIns="36576"/>
          <a:lstStyle/>
          <a:p>
            <a:pPr algn="ctr"/>
          </a:p>
        </p:txBody>
      </p:sp>
      <p:sp>
        <p:nvSpPr>
          <p:cNvPr id="3" name="TextBox 2"/>
          <p:cNvSpPr txBox="1"/>
          <p:nvPr/>
        </p:nvSpPr>
        <p:spPr>
          <a:xfrm>
            <a:off x="548640" y="274320"/>
            <a:ext cx="7863840" cy="256032"/>
          </a:xfrm>
          <a:prstGeom prst="rect">
            <a:avLst/>
          </a:prstGeom>
          <a:noFill/>
        </p:spPr>
        <p:txBody>
          <a:bodyPr wrap="square" lIns="0" rIns="0" tIns="0" bIns="0" anchor="t">
            <a:spAutoFit/>
          </a:bodyPr>
          <a:lstStyle/>
          <a:p>
            <a:pPr algn="l">
              <a:spcBef>
                <a:spcPts val="0"/>
              </a:spcBef>
              <a:spcAft>
                <a:spcPts val="0"/>
              </a:spcAft>
            </a:pPr>
            <a:r>
              <a:rPr sz="1200" b="1" i="0" spc="90">
                <a:solidFill>
                  <a:srgbClr val="5B6675"/>
                </a:solidFill>
                <a:latin typeface="Calibri"/>
              </a:rPr>
              <a:t>BACKUP · IF THE TERMINAL FAILS</a:t>
            </a:r>
          </a:p>
        </p:txBody>
      </p:sp>
      <p:sp>
        <p:nvSpPr>
          <p:cNvPr id="4" name="TextBox 3"/>
          <p:cNvSpPr txBox="1"/>
          <p:nvPr/>
        </p:nvSpPr>
        <p:spPr>
          <a:xfrm>
            <a:off x="548640" y="530352"/>
            <a:ext cx="11064240" cy="896112"/>
          </a:xfrm>
          <a:prstGeom prst="rect">
            <a:avLst/>
          </a:prstGeom>
          <a:noFill/>
        </p:spPr>
        <p:txBody>
          <a:bodyPr wrap="square" lIns="0" rIns="0" tIns="0" bIns="0" anchor="t">
            <a:spAutoFit/>
          </a:bodyPr>
          <a:lstStyle/>
          <a:p>
            <a:pPr algn="l">
              <a:lnSpc>
                <a:spcPct val="95000"/>
              </a:lnSpc>
              <a:spcBef>
                <a:spcPts val="0"/>
              </a:spcBef>
              <a:spcAft>
                <a:spcPts val="0"/>
              </a:spcAft>
            </a:pPr>
            <a:r>
              <a:rPr sz="2800" b="1" i="0">
                <a:solidFill>
                  <a:srgbClr val="14202E"/>
                </a:solidFill>
                <a:latin typeface="Cambria"/>
              </a:rPr>
              <a:t>B12 · Demo fallback: captured output of the ablation tests</a:t>
            </a:r>
          </a:p>
        </p:txBody>
      </p:sp>
      <p:sp>
        <p:nvSpPr>
          <p:cNvPr id="5" name="Rounded Rectangle 4"/>
          <p:cNvSpPr/>
          <p:nvPr/>
        </p:nvSpPr>
        <p:spPr>
          <a:xfrm>
            <a:off x="10652760" y="274320"/>
            <a:ext cx="987551" cy="246888"/>
          </a:xfrm>
          <a:prstGeom prst="roundRect">
            <a:avLst>
              <a:gd name="adj" fmla="val 50000"/>
            </a:avLst>
          </a:prstGeom>
          <a:solidFill>
            <a:srgbClr val="4B4BB8"/>
          </a:solidFill>
          <a:ln>
            <a:noFill/>
          </a:ln>
          <a:effectLst/>
        </p:spPr>
        <p:txBody>
          <a:bodyPr rtlCol="0" anchor="ctr" wrap="square" lIns="36576" rIns="36576" tIns="36576" bIns="36576"/>
          <a:lstStyle/>
          <a:p>
            <a:pPr algn="ctr">
              <a:spcBef>
                <a:spcPts val="0"/>
              </a:spcBef>
              <a:spcAft>
                <a:spcPts val="0"/>
              </a:spcAft>
            </a:pPr>
            <a:r>
              <a:rPr sz="1050" b="1" i="0">
                <a:solidFill>
                  <a:srgbClr val="FFFFFF"/>
                </a:solidFill>
                <a:latin typeface="Calibri"/>
              </a:rPr>
              <a:t>EXPERIMENT</a:t>
            </a:r>
          </a:p>
        </p:txBody>
      </p:sp>
      <p:cxnSp>
        <p:nvCxnSpPr>
          <p:cNvPr id="6" name="Connector 5"/>
          <p:cNvCxnSpPr/>
          <p:nvPr/>
        </p:nvCxnSpPr>
        <p:spPr>
          <a:xfrm>
            <a:off x="548640" y="6419088"/>
            <a:ext cx="11091672" cy="0"/>
          </a:xfrm>
          <a:prstGeom prst="line">
            <a:avLst/>
          </a:prstGeom>
          <a:ln w="12700">
            <a:solidFill>
              <a:srgbClr val="D3D9E1"/>
            </a:solidFill>
          </a:ln>
        </p:spPr>
      </p:cxnSp>
      <p:sp>
        <p:nvSpPr>
          <p:cNvPr id="7" name="TextBox 6"/>
          <p:cNvSpPr txBox="1"/>
          <p:nvPr/>
        </p:nvSpPr>
        <p:spPr>
          <a:xfrm>
            <a:off x="548640" y="6473952"/>
            <a:ext cx="8229600" cy="228600"/>
          </a:xfrm>
          <a:prstGeom prst="rect">
            <a:avLst/>
          </a:prstGeom>
          <a:noFill/>
        </p:spPr>
        <p:txBody>
          <a:bodyPr wrap="square" lIns="0" rIns="0" tIns="0" bIns="0" anchor="t">
            <a:spAutoFit/>
          </a:bodyPr>
          <a:lstStyle/>
          <a:p>
            <a:pPr algn="l">
              <a:spcBef>
                <a:spcPts val="0"/>
              </a:spcBef>
              <a:spcAft>
                <a:spcPts val="0"/>
              </a:spcAft>
            </a:pPr>
            <a:r>
              <a:rPr sz="1050" b="0" i="0">
                <a:solidFill>
                  <a:srgbClr val="5B6675"/>
                </a:solidFill>
                <a:latin typeface="Calibri"/>
              </a:rPr>
              <a:t>Certificate-based aggregate signatures for IIoT · interim research presentation</a:t>
            </a:r>
          </a:p>
        </p:txBody>
      </p:sp>
      <p:sp>
        <p:nvSpPr>
          <p:cNvPr id="8" name="TextBox 7"/>
          <p:cNvSpPr txBox="1"/>
          <p:nvPr/>
        </p:nvSpPr>
        <p:spPr>
          <a:xfrm>
            <a:off x="9784080" y="6473952"/>
            <a:ext cx="1856231" cy="228600"/>
          </a:xfrm>
          <a:prstGeom prst="rect">
            <a:avLst/>
          </a:prstGeom>
          <a:noFill/>
        </p:spPr>
        <p:txBody>
          <a:bodyPr wrap="square" lIns="0" rIns="0" tIns="0" bIns="0" anchor="t">
            <a:spAutoFit/>
          </a:bodyPr>
          <a:lstStyle/>
          <a:p>
            <a:pPr algn="r">
              <a:spcBef>
                <a:spcPts val="0"/>
              </a:spcBef>
              <a:spcAft>
                <a:spcPts val="0"/>
              </a:spcAft>
            </a:pPr>
            <a:r>
              <a:rPr sz="1050" b="0" i="0">
                <a:solidFill>
                  <a:srgbClr val="5B6675"/>
                </a:solidFill>
                <a:latin typeface="Calibri"/>
              </a:rPr>
              <a:t>Backup B12</a:t>
            </a:r>
          </a:p>
        </p:txBody>
      </p:sp>
      <p:pic>
        <p:nvPicPr>
          <p:cNvPr id="9" name="Picture 8" descr="demo3_ablation.png"/>
          <p:cNvPicPr>
            <a:picLocks noChangeAspect="1"/>
          </p:cNvPicPr>
          <p:nvPr/>
        </p:nvPicPr>
        <p:blipFill>
          <a:blip r:embed="rId3"/>
          <a:stretch>
            <a:fillRect/>
          </a:stretch>
        </p:blipFill>
        <p:spPr>
          <a:xfrm>
            <a:off x="548640" y="1600200"/>
            <a:ext cx="11091672" cy="3216381"/>
          </a:xfrm>
          <a:prstGeom prst="rect">
            <a:avLst/>
          </a:prstGeom>
        </p:spPr>
      </p:pic>
      <p:sp>
        <p:nvSpPr>
          <p:cNvPr id="10" name="TextBox 9"/>
          <p:cNvSpPr txBox="1"/>
          <p:nvPr/>
        </p:nvSpPr>
        <p:spPr>
          <a:xfrm>
            <a:off x="548640" y="5074920"/>
            <a:ext cx="11064240" cy="731520"/>
          </a:xfrm>
          <a:prstGeom prst="rect">
            <a:avLst/>
          </a:prstGeom>
          <a:noFill/>
        </p:spPr>
        <p:txBody>
          <a:bodyPr wrap="square" lIns="0" rIns="0" tIns="0" bIns="0" anchor="t">
            <a:spAutoFit/>
          </a:bodyPr>
          <a:lstStyle/>
          <a:p>
            <a:pPr algn="l">
              <a:spcBef>
                <a:spcPts val="0"/>
              </a:spcBef>
              <a:spcAft>
                <a:spcPts val="0"/>
              </a:spcAft>
            </a:pPr>
            <a:r>
              <a:rPr sz="1600" b="0" i="0">
                <a:solidFill>
                  <a:srgbClr val="14202E"/>
                </a:solidFill>
                <a:latin typeface="Calibri"/>
              </a:rPr>
              <a:t>8 forgery-restored cases (4 messages × 2 backends) + 2 checks that the ablated variant is still a working scheme</a:t>
            </a:r>
          </a:p>
        </p:txBody>
      </p:sp>
      <p:sp>
        <p:nvSpPr>
          <p:cNvPr id="11" name="TextBox 10"/>
          <p:cNvSpPr txBox="1"/>
          <p:nvPr/>
        </p:nvSpPr>
        <p:spPr>
          <a:xfrm>
            <a:off x="548640" y="5897880"/>
            <a:ext cx="11064240" cy="365760"/>
          </a:xfrm>
          <a:prstGeom prst="rect">
            <a:avLst/>
          </a:prstGeom>
          <a:noFill/>
        </p:spPr>
        <p:txBody>
          <a:bodyPr wrap="square" lIns="0" rIns="0" tIns="0" bIns="0" anchor="t">
            <a:spAutoFit/>
          </a:bodyPr>
          <a:lstStyle/>
          <a:p>
            <a:pPr algn="l">
              <a:spcBef>
                <a:spcPts val="0"/>
              </a:spcBef>
              <a:spcAft>
                <a:spcPts val="0"/>
              </a:spcAft>
            </a:pPr>
            <a:r>
              <a:rPr sz="1250" b="0" i="0">
                <a:solidFill>
                  <a:srgbClr val="5B6675"/>
                </a:solidFill>
                <a:latin typeface="Calibri"/>
              </a:rPr>
              <a:t>Actual captured stdout, 2026-10-07. Long test ids are shortened with an ellipsis.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